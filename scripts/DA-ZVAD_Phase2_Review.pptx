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not on LAVAD. You match the benchmark's own 2018 baseline using none of its training data. Then concede LAVAD openly.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one is the within-view control because it turns our explanation from a conjecture into a result. Note the infrastructure cost is now paid.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The claim is scoped rather than abandoned, and we named the experiment that settles it. Then hand over.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2 REVIEW  ·  SEMESTER 3  ·  SUMMER PROGRESS</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environment by writing a sentence — with no training, no target data, and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2951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16712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127248"/>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2880360"/>
            <a:ext cx="5074920" cy="228600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127248"/>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52044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44068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Singhal et al. (2023)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783080"/>
            <a:ext cx="6858000" cy="3788685"/>
          </a:xfrm>
          <a:prstGeom prst="rect">
            <a:avLst/>
          </a:prstGeom>
        </p:spPr>
      </p:pic>
      <p:sp>
        <p:nvSpPr>
          <p:cNvPr id="8" name="TextBox 7"/>
          <p:cNvSpPr txBox="1"/>
          <p:nvPr/>
        </p:nvSpPr>
        <p:spPr>
          <a:xfrm>
            <a:off x="7955279" y="1783080"/>
            <a:ext cx="3364992"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7955279" y="2331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3" y="2203704"/>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M1  </a:t>
            </a:r>
            <a:r>
              <a:rPr sz="1300">
                <a:solidFill>
                  <a:srgbClr val="3A4A4C"/>
                </a:solidFill>
                <a:latin typeface="Segoe UI"/>
              </a:rPr>
              <a:t>Frozen CLIP scores each frame against “normal” and “abnormal” text.</a:t>
            </a:r>
          </a:p>
        </p:txBody>
      </p:sp>
      <p:sp>
        <p:nvSpPr>
          <p:cNvPr id="11" name="Rectangle 10"/>
          <p:cNvSpPr/>
          <p:nvPr/>
        </p:nvSpPr>
        <p:spPr>
          <a:xfrm>
            <a:off x="7955279" y="304495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2916936"/>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M2  </a:t>
            </a:r>
            <a:r>
              <a:rPr sz="1300">
                <a:solidFill>
                  <a:srgbClr val="3A4A4C"/>
                </a:solidFill>
                <a:latin typeface="Segoe UI"/>
              </a:rPr>
              <a:t>Moving average over time — no parameters.</a:t>
            </a:r>
          </a:p>
        </p:txBody>
      </p:sp>
      <p:sp>
        <p:nvSpPr>
          <p:cNvPr id="13" name="Rectangle 12"/>
          <p:cNvSpPr/>
          <p:nvPr/>
        </p:nvSpPr>
        <p:spPr>
          <a:xfrm>
            <a:off x="7955279" y="375818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3023" y="3630168"/>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M3  </a:t>
            </a:r>
            <a:r>
              <a:rPr sz="1300">
                <a:solidFill>
                  <a:srgbClr val="3A4A4C"/>
                </a:solidFill>
                <a:latin typeface="Segoe UI"/>
              </a:rPr>
              <a:t>The scene description. The adaptation mechanism.</a:t>
            </a:r>
          </a:p>
        </p:txBody>
      </p:sp>
      <p:sp>
        <p:nvSpPr>
          <p:cNvPr id="15" name="Rectangle 14"/>
          <p:cNvSpPr/>
          <p:nvPr/>
        </p:nvSpPr>
        <p:spPr>
          <a:xfrm>
            <a:off x="7955279" y="447141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3" y="4343400"/>
            <a:ext cx="3127248" cy="365760"/>
          </a:xfrm>
          <a:prstGeom prst="rect">
            <a:avLst/>
          </a:prstGeom>
          <a:noFill/>
        </p:spPr>
        <p:txBody>
          <a:bodyPr wrap="square" lIns="0" rIns="0" tIns="0" bIns="0">
            <a:spAutoFit/>
          </a:bodyPr>
          <a:lstStyle/>
          <a:p>
            <a:pPr>
              <a:lnSpc>
                <a:spcPct val="125000"/>
              </a:lnSpc>
            </a:pPr>
            <a:r>
              <a:rPr sz="1300" b="1">
                <a:solidFill>
                  <a:srgbClr val="141C1E"/>
                </a:solidFill>
                <a:latin typeface="Segoe UI"/>
              </a:rPr>
              <a:t>M4  </a:t>
            </a:r>
            <a:r>
              <a:rPr sz="1300">
                <a:solidFill>
                  <a:srgbClr val="3A4A4C"/>
                </a:solidFill>
                <a:latin typeface="Segoe UI"/>
              </a:rPr>
              <a:t>Frozen LLaVA explains each detected event.</a:t>
            </a:r>
          </a:p>
        </p:txBody>
      </p:sp>
      <p:sp>
        <p:nvSpPr>
          <p:cNvPr id="17" name="Rectangle 16"/>
          <p:cNvSpPr/>
          <p:nvPr/>
        </p:nvSpPr>
        <p:spPr>
          <a:xfrm>
            <a:off x="7955279" y="5166360"/>
            <a:ext cx="3364992"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51663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1" y="5312664"/>
            <a:ext cx="2862072"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DEPLOYMENT</a:t>
            </a:r>
          </a:p>
        </p:txBody>
      </p:sp>
      <p:sp>
        <p:nvSpPr>
          <p:cNvPr id="20" name="TextBox 19"/>
          <p:cNvSpPr txBox="1"/>
          <p:nvPr/>
        </p:nvSpPr>
        <p:spPr>
          <a:xfrm>
            <a:off x="8211311" y="5605272"/>
            <a:ext cx="2862072"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Moving to a new site = editing one sentence. No target data.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or entangled in an LLM prior, or accompanied by a trained adapter.</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(12 views) and CUHK Avenue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71500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71500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861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6153912"/>
            <a:ext cx="10134295" cy="21031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606040"/>
          <a:ext cx="10634472" cy="2048256"/>
        </p:xfrm>
        <a:graphic>
          <a:graphicData uri="http://schemas.openxmlformats.org/drawingml/2006/table">
            <a:tbl>
              <a:tblPr firstRow="1">
                <a:tableStyleId>{5C22544A-7EE6-4342-B048-85BDC9FD1C3A}</a:tableStyleId>
              </a:tblPr>
              <a:tblGrid>
                <a:gridCol w="5120640"/>
                <a:gridCol w="1737360"/>
                <a:gridCol w="2103120"/>
                <a:gridCol w="1673352"/>
              </a:tblGrid>
              <a:tr h="512064">
                <a:tc>
                  <a:txBody>
                    <a:bodyPr wrap="square"/>
                    <a:lstStyle/>
                    <a:p>
                      <a:pPr algn="l"/>
                      <a:r>
                        <a:rPr sz="15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500" b="1">
                          <a:solidFill>
                            <a:srgbClr val="FFFFFF"/>
                          </a:solidFill>
                          <a:latin typeface="Segoe UI"/>
                        </a:rPr>
                        <a:t>Views</a:t>
                      </a:r>
                    </a:p>
                  </a:txBody>
                  <a:tcPr marL="128016" marR="128016" marT="45720" marB="45720" anchor="ctr">
                    <a:solidFill>
                      <a:srgbClr val="141C1E"/>
                    </a:solidFill>
                  </a:tcPr>
                </a:tc>
                <a:tc>
                  <a:txBody>
                    <a:bodyPr wrap="square"/>
                    <a:lstStyle/>
                    <a:p>
                      <a:pPr algn="l"/>
                      <a:r>
                        <a:rPr sz="1500" b="1">
                          <a:solidFill>
                            <a:srgbClr val="FFFFFF"/>
                          </a:solidFill>
                          <a:latin typeface="Segoe UI"/>
                        </a:rPr>
                        <a:t>Clips</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Pooled across views</a:t>
                      </a:r>
                    </a:p>
                  </a:txBody>
                  <a:tcPr marL="128016" marR="128016" marT="45720" marB="45720" anchor="ctr">
                    <a:solidFill>
                      <a:srgbClr val="FFFFFF"/>
                    </a:solidFill>
                  </a:tcPr>
                </a:tc>
                <a:tc>
                  <a:txBody>
                    <a:bodyPr wrap="square"/>
                    <a:lstStyle/>
                    <a:p>
                      <a:pPr algn="l"/>
                      <a:r>
                        <a:rPr sz="1500" b="0">
                          <a:solidFill>
                            <a:srgbClr val="141C1E"/>
                          </a:solidFill>
                          <a:latin typeface="Segoe UI"/>
                        </a:rPr>
                        <a:t>12</a:t>
                      </a:r>
                    </a:p>
                  </a:txBody>
                  <a:tcPr marL="128016" marR="128016" marT="45720" marB="45720" anchor="ctr">
                    <a:solidFill>
                      <a:srgbClr val="FFFFFF"/>
                    </a:solidFill>
                  </a:tcPr>
                </a:tc>
                <a:tc>
                  <a:txBody>
                    <a:bodyPr wrap="square"/>
                    <a:lstStyle/>
                    <a:p>
                      <a:pPr algn="l"/>
                      <a:r>
                        <a:rPr sz="1500" b="0">
                          <a:solidFill>
                            <a:srgbClr val="141C1E"/>
                          </a:solidFill>
                          <a:latin typeface="Segoe UI"/>
                        </a:rPr>
                        <a:t>107</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Within a single view (mean)</a:t>
                      </a:r>
                    </a:p>
                  </a:txBody>
                  <a:tcPr marL="128016" marR="128016" marT="45720" marB="45720" anchor="ctr">
                    <a:solidFill>
                      <a:srgbClr val="DDEDEB"/>
                    </a:solidFill>
                  </a:tcPr>
                </a:tc>
                <a:tc>
                  <a:txBody>
                    <a:bodyPr wrap="square"/>
                    <a:lstStyle/>
                    <a:p>
                      <a:pPr algn="l"/>
                      <a:r>
                        <a:rPr sz="1500" b="1">
                          <a:solidFill>
                            <a:srgbClr val="141C1E"/>
                          </a:solidFill>
                          <a:latin typeface="Segoe UI"/>
                        </a:rPr>
                        <a:t>9</a:t>
                      </a:r>
                    </a:p>
                  </a:txBody>
                  <a:tcPr marL="128016" marR="128016" marT="45720" marB="45720" anchor="ctr">
                    <a:solidFill>
                      <a:srgbClr val="DDEDEB"/>
                    </a:solidFill>
                  </a:tcPr>
                </a:tc>
                <a:tc>
                  <a:txBody>
                    <a:bodyPr wrap="square"/>
                    <a:lstStyle/>
                    <a:p>
                      <a:pPr algn="l"/>
                      <a:r>
                        <a:rPr sz="1500" b="1">
                          <a:solidFill>
                            <a:srgbClr val="141C1E"/>
                          </a:solidFill>
                          <a:latin typeface="Segoe UI"/>
                        </a:rPr>
                        <a:t>5–34 each</a:t>
                      </a:r>
                    </a:p>
                  </a:txBody>
                  <a:tcPr marL="128016" marR="128016" marT="45720" marB="45720" anchor="ctr">
                    <a:solidFill>
                      <a:srgbClr val="DDEDEB"/>
                    </a:solidFill>
                  </a:tcPr>
                </a:tc>
                <a:tc>
                  <a:txBody>
                    <a:bodyPr wrap="square"/>
                    <a:lstStyle/>
                    <a:p>
                      <a:pPr algn="r"/>
                      <a:r>
                        <a:rPr sz="1500" b="1">
                          <a:solidFill>
                            <a:srgbClr val="141C1E"/>
                          </a:solidFill>
                          <a:latin typeface="Consolas"/>
                        </a:rPr>
                        <a:t>+0.033</a:t>
                      </a:r>
                    </a:p>
                  </a:txBody>
                  <a:tcPr marL="128016" marR="128016" marT="45720" marB="45720" anchor="ctr">
                    <a:solidFill>
                      <a:srgbClr val="DDEDEB"/>
                    </a:solidFill>
                  </a:tcPr>
                </a:tc>
              </a:tr>
              <a:tr h="512064">
                <a:tc>
                  <a:txBody>
                    <a:bodyPr wrap="square"/>
                    <a:lstStyle/>
                    <a:p>
                      <a:pPr algn="l"/>
                      <a:r>
                        <a:rPr sz="15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500" b="0">
                          <a:solidFill>
                            <a:srgbClr val="141C1E"/>
                          </a:solidFill>
                          <a:latin typeface="Segoe UI"/>
                        </a:rPr>
                        <a:t>1</a:t>
                      </a:r>
                    </a:p>
                  </a:txBody>
                  <a:tcPr marL="128016" marR="128016" marT="45720" marB="45720" anchor="ctr">
                    <a:solidFill>
                      <a:srgbClr val="FFFFFF"/>
                    </a:solidFill>
                  </a:tcPr>
                </a:tc>
                <a:tc>
                  <a:txBody>
                    <a:bodyPr wrap="square"/>
                    <a:lstStyle/>
                    <a:p>
                      <a:pPr algn="l"/>
                      <a:r>
                        <a:rPr sz="1500" b="0">
                          <a:solidFill>
                            <a:srgbClr val="141C1E"/>
                          </a:solidFill>
                          <a:latin typeface="Segoe UI"/>
                        </a:rPr>
                        <a:t>21</a:t>
                      </a:r>
                    </a:p>
                  </a:txBody>
                  <a:tcPr marL="128016" marR="128016" marT="45720" marB="45720" anchor="ctr">
                    <a:solidFill>
                      <a:srgbClr val="FFFFFF"/>
                    </a:solidFill>
                  </a:tcPr>
                </a:tc>
                <a:tc>
                  <a:txBody>
                    <a:bodyPr wrap="square"/>
                    <a:lstStyle/>
                    <a:p>
                      <a:pPr algn="r"/>
                      <a:r>
                        <a:rPr sz="1500" b="0">
                          <a:solidFill>
                            <a:srgbClr val="141C1E"/>
                          </a:solidFill>
                          <a:latin typeface="Consolas"/>
                        </a:rPr>
                        <a:t>+0.020</a:t>
                      </a:r>
                    </a:p>
                  </a:txBody>
                  <a:tcPr marL="128016" marR="128016" marT="45720" marB="45720" anchor="ctr">
                    <a:solidFill>
                      <a:srgbClr val="FFFFFF"/>
                    </a:solidFill>
                  </a:tcPr>
                </a:tc>
              </a:tr>
            </a:tbl>
          </a:graphicData>
        </a:graphic>
      </p:graphicFrame>
      <p:sp>
        <p:nvSpPr>
          <p:cNvPr id="9" name="Rectangle 8"/>
          <p:cNvSpPr/>
          <p:nvPr/>
        </p:nvSpPr>
        <p:spPr>
          <a:xfrm>
            <a:off x="777240" y="448056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805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6268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4919472"/>
            <a:ext cx="10134295" cy="484631"/>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A within-view gap near +0.105 would have refuted the explanation outright. It came back at a third of that, next to Avenue's figure.</a:t>
            </a:r>
          </a:p>
        </p:txBody>
      </p:sp>
      <p:sp>
        <p:nvSpPr>
          <p:cNvPr id="13" name="TextBox 12"/>
          <p:cNvSpPr txBox="1"/>
          <p:nvPr/>
        </p:nvSpPr>
        <p:spPr>
          <a:xfrm>
            <a:off x="777240" y="571500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048256"/>
        </p:xfrm>
        <a:graphic>
          <a:graphicData uri="http://schemas.openxmlformats.org/drawingml/2006/table">
            <a:tbl>
              <a:tblPr firstRow="1">
                <a:tableStyleId>{5C22544A-7EE6-4342-B048-85BDC9FD1C3A}</a:tableStyleId>
              </a:tblPr>
              <a:tblGrid>
                <a:gridCol w="5120640"/>
                <a:gridCol w="2103120"/>
                <a:gridCol w="3410712"/>
              </a:tblGrid>
              <a:tr h="512064">
                <a:tc>
                  <a:txBody>
                    <a:bodyPr wrap="square"/>
                    <a:lstStyle/>
                    <a:p>
                      <a:pPr algn="l"/>
                      <a:r>
                        <a:rPr sz="1450" b="1">
                          <a:solidFill>
                            <a:srgbClr val="FFFFFF"/>
                          </a:solidFill>
                          <a:latin typeface="Segoe UI"/>
                        </a:rPr>
                        <a:t>Method</a:t>
                      </a:r>
                    </a:p>
                  </a:txBody>
                  <a:tcPr marL="128016" marR="128016" marT="45720" marB="45720" anchor="ctr">
                    <a:solidFill>
                      <a:srgbClr val="141C1E"/>
                    </a:solidFill>
                  </a:tcPr>
                </a:tc>
                <a:tc>
                  <a:txBody>
                    <a:bodyPr wrap="square"/>
                    <a:lstStyle/>
                    <a:p>
                      <a:pPr algn="l"/>
                      <a:r>
                        <a:rPr sz="1450" b="1">
                          <a:solidFill>
                            <a:srgbClr val="FFFFFF"/>
                          </a:solidFill>
                          <a:latin typeface="Segoe UI"/>
                        </a:rPr>
                        <a:t>AUROC</a:t>
                      </a:r>
                    </a:p>
                  </a:txBody>
                  <a:tcPr marL="128016" marR="128016" marT="45720" marB="45720" anchor="ctr">
                    <a:solidFill>
                      <a:srgbClr val="141C1E"/>
                    </a:solidFill>
                  </a:tcPr>
                </a:tc>
                <a:tc>
                  <a:txBody>
                    <a:bodyPr wrap="square"/>
                    <a:lstStyle/>
                    <a:p>
                      <a:pPr algn="l"/>
                      <a:r>
                        <a:rPr sz="1450" b="1">
                          <a:solidFill>
                            <a:srgbClr val="FFFFFF"/>
                          </a:solidFill>
                          <a:latin typeface="Segoe UI"/>
                        </a:rPr>
                        <a:t>Cost per frame</a:t>
                      </a:r>
                    </a:p>
                  </a:txBody>
                  <a:tcPr marL="128016" marR="128016" marT="45720" marB="45720" anchor="ctr">
                    <a:solidFill>
                      <a:srgbClr val="141C1E"/>
                    </a:solidFill>
                  </a:tcPr>
                </a:tc>
              </a:tr>
              <a:tr h="512064">
                <a:tc>
                  <a:txBody>
                    <a:bodyPr wrap="square"/>
                    <a:lstStyle/>
                    <a:p>
                      <a:pPr algn="l"/>
                      <a:r>
                        <a:rPr sz="1450" b="0">
                          <a:solidFill>
                            <a:srgbClr val="141C1E"/>
                          </a:solidFill>
                          <a:latin typeface="Segoe UI"/>
                        </a:rPr>
                        <a:t>Liu et al. 2018 — trained on the target scene</a:t>
                      </a:r>
                    </a:p>
                  </a:txBody>
                  <a:tcPr marL="128016" marR="128016" marT="45720" marB="45720" anchor="ctr">
                    <a:solidFill>
                      <a:srgbClr val="FFFFFF"/>
                    </a:solidFill>
                  </a:tcPr>
                </a:tc>
                <a:tc>
                  <a:txBody>
                    <a:bodyPr wrap="square"/>
                    <a:lstStyle/>
                    <a:p>
                      <a:pPr algn="l"/>
                      <a:r>
                        <a:rPr sz="1450" b="0">
                          <a:solidFill>
                            <a:srgbClr val="141C1E"/>
                          </a:solidFill>
                          <a:latin typeface="Segoe UI"/>
                        </a:rPr>
                        <a:t>≈ 0.728</a:t>
                      </a:r>
                    </a:p>
                  </a:txBody>
                  <a:tcPr marL="128016" marR="128016" marT="45720" marB="45720" anchor="ctr">
                    <a:solidFill>
                      <a:srgbClr val="FFFFFF"/>
                    </a:solidFill>
                  </a:tcPr>
                </a:tc>
                <a:tc>
                  <a:txBody>
                    <a:bodyPr wrap="square"/>
                    <a:lstStyle/>
                    <a:p>
                      <a:pPr algn="l"/>
                      <a:r>
                        <a:rPr sz="1450" b="0">
                          <a:solidFill>
                            <a:srgbClr val="141C1E"/>
                          </a:solidFill>
                          <a:latin typeface="Segoe UI"/>
                        </a:rPr>
                        <a:t>1 trained model</a:t>
                      </a:r>
                    </a:p>
                  </a:txBody>
                  <a:tcPr marL="128016" marR="128016" marT="45720" marB="45720" anchor="ctr">
                    <a:solidFill>
                      <a:srgbClr val="FFFFFF"/>
                    </a:solidFill>
                  </a:tcPr>
                </a:tc>
              </a:tr>
              <a:tr h="512064">
                <a:tc>
                  <a:txBody>
                    <a:bodyPr wrap="square"/>
                    <a:lstStyle/>
                    <a:p>
                      <a:pPr algn="l"/>
                      <a:r>
                        <a:rPr sz="1450" b="0">
                          <a:solidFill>
                            <a:srgbClr val="141C1E"/>
                          </a:solidFill>
                          <a:latin typeface="Segoe UI"/>
                        </a:rPr>
                        <a:t>LAVAD (CVPR 2024), training-free</a:t>
                      </a:r>
                    </a:p>
                  </a:txBody>
                  <a:tcPr marL="128016" marR="128016" marT="45720" marB="45720" anchor="ctr">
                    <a:solidFill>
                      <a:srgbClr val="F5F7F7"/>
                    </a:solidFill>
                  </a:tcPr>
                </a:tc>
                <a:tc>
                  <a:txBody>
                    <a:bodyPr wrap="square"/>
                    <a:lstStyle/>
                    <a:p>
                      <a:pPr algn="l"/>
                      <a:r>
                        <a:rPr sz="1450" b="0">
                          <a:solidFill>
                            <a:srgbClr val="141C1E"/>
                          </a:solidFill>
                          <a:latin typeface="Segoe UI"/>
                        </a:rPr>
                        <a:t>≈ 0.85</a:t>
                      </a:r>
                    </a:p>
                  </a:txBody>
                  <a:tcPr marL="128016" marR="128016" marT="45720" marB="45720" anchor="ctr">
                    <a:solidFill>
                      <a:srgbClr val="F5F7F7"/>
                    </a:solidFill>
                  </a:tcPr>
                </a:tc>
                <a:tc>
                  <a:txBody>
                    <a:bodyPr wrap="square"/>
                    <a:lstStyle/>
                    <a:p>
                      <a:pPr algn="l"/>
                      <a:r>
                        <a:rPr sz="1450" b="0">
                          <a:solidFill>
                            <a:srgbClr val="141C1E"/>
                          </a:solidFill>
                          <a:latin typeface="Segoe UI"/>
                        </a:rPr>
                        <a:t>Captioner + LLM + refiner</a:t>
                      </a:r>
                    </a:p>
                  </a:txBody>
                  <a:tcPr marL="128016" marR="128016" marT="45720" marB="45720" anchor="ctr">
                    <a:solidFill>
                      <a:srgbClr val="F5F7F7"/>
                    </a:solidFill>
                  </a:tcPr>
                </a:tc>
              </a:tr>
              <a:tr h="512064">
                <a:tc>
                  <a:txBody>
                    <a:bodyPr wrap="square"/>
                    <a:lstStyle/>
                    <a:p>
                      <a:pPr algn="l"/>
                      <a:r>
                        <a:rPr sz="1450" b="1">
                          <a:solidFill>
                            <a:srgbClr val="141C1E"/>
                          </a:solidFill>
                          <a:latin typeface="Segoe UI"/>
                        </a:rPr>
                        <a:t>DA-ZVAD (ours), training-free</a:t>
                      </a:r>
                    </a:p>
                  </a:txBody>
                  <a:tcPr marL="128016" marR="128016" marT="45720" marB="45720" anchor="ctr">
                    <a:solidFill>
                      <a:srgbClr val="DDEDEB"/>
                    </a:solidFill>
                  </a:tcPr>
                </a:tc>
                <a:tc>
                  <a:txBody>
                    <a:bodyPr wrap="square"/>
                    <a:lstStyle/>
                    <a:p>
                      <a:pPr algn="l"/>
                      <a:r>
                        <a:rPr sz="1450" b="1">
                          <a:solidFill>
                            <a:srgbClr val="141C1E"/>
                          </a:solidFill>
                          <a:latin typeface="Segoe UI"/>
                        </a:rPr>
                        <a:t>0.734</a:t>
                      </a:r>
                    </a:p>
                  </a:txBody>
                  <a:tcPr marL="128016" marR="128016" marT="45720" marB="45720" anchor="ctr">
                    <a:solidFill>
                      <a:srgbClr val="DDEDEB"/>
                    </a:solidFill>
                  </a:tcPr>
                </a:tc>
                <a:tc>
                  <a:txBody>
                    <a:bodyPr wrap="square"/>
                    <a:lstStyle/>
                    <a:p>
                      <a:pPr algn="l"/>
                      <a:r>
                        <a:rPr sz="1450" b="1">
                          <a:solidFill>
                            <a:srgbClr val="141C1E"/>
                          </a:solidFill>
                          <a:latin typeface="Segoe UI"/>
                        </a:rPr>
                        <a:t>One frozen encoder + a sentence</a:t>
                      </a:r>
                    </a:p>
                  </a:txBody>
                  <a:tcPr marL="128016" marR="128016" marT="45720" marB="45720" anchor="ctr">
                    <a:solidFill>
                      <a:srgbClr val="DDEDEB"/>
                    </a:solidFill>
                  </a:tcPr>
                </a:tc>
              </a:tr>
            </a:tbl>
          </a:graphicData>
        </a:graphic>
      </p:graphicFrame>
      <p:sp>
        <p:nvSpPr>
          <p:cNvPr id="8" name="Rectangle 7"/>
          <p:cNvSpPr/>
          <p:nvPr/>
        </p:nvSpPr>
        <p:spPr>
          <a:xfrm>
            <a:off x="777240" y="3931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38039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fair comparison is the trained baseline.  </a:t>
            </a:r>
            <a:r>
              <a:rPr sz="1600">
                <a:solidFill>
                  <a:srgbClr val="3A4A4C"/>
                </a:solidFill>
                <a:latin typeface="Segoe UI"/>
              </a:rPr>
              <a:t>We match the benchmark's own 2018 baseline while using none of its training data.</a:t>
            </a:r>
          </a:p>
        </p:txBody>
      </p:sp>
      <p:sp>
        <p:nvSpPr>
          <p:cNvPr id="10" name="Rectangle 9"/>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We do not match LAVAD, and say so.  </a:t>
            </a:r>
            <a:r>
              <a:rPr sz="1600">
                <a:solidFill>
                  <a:srgbClr val="3A4A4C"/>
                </a:solidFill>
                <a:latin typeface="Segoe UI"/>
              </a:rPr>
              <a:t>It runs three large models per frame. We run in about 7 GB.</a:t>
            </a:r>
          </a:p>
        </p:txBody>
      </p:sp>
      <p:sp>
        <p:nvSpPr>
          <p:cNvPr id="12" name="Rectangle 11"/>
          <p:cNvSpPr/>
          <p:nvPr/>
        </p:nvSpPr>
        <p:spPr>
          <a:xfrm>
            <a:off x="777240" y="548640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4864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HONEST POSITION</a:t>
            </a:r>
          </a:p>
        </p:txBody>
      </p:sp>
      <p:sp>
        <p:nvSpPr>
          <p:cNvPr id="15" name="TextBox 14"/>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We do not expect to exceed trained state-of-the-art detectors on absolute AUROC, and the paper makes no such claim.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nearly vanishes on Avenue. The scene-diversity explanation rests on two datasets and is not established.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Both video domains are outdoor pedestrian surveillance.  </a:t>
            </a:r>
            <a:r>
              <a:rPr sz="1450">
                <a:solidFill>
                  <a:srgbClr val="3A4A4C"/>
                </a:solidFill>
                <a:latin typeface="Segoe UI"/>
              </a:rPr>
              <a:t>The industrial contrast is evaluated for detection but not for the sweep.</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M4 not yet run.  </a:t>
            </a:r>
            <a:r>
              <a:rPr sz="1450">
                <a:solidFill>
                  <a:srgbClr val="3A4A4C"/>
                </a:solidFill>
                <a:latin typeface="Segoe UI"/>
              </a:rPr>
              <a:t>The explanation module has produced no video results.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Phase 3 plan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Sweep within a single ShanghaiTech camera view</a:t>
                      </a:r>
                    </a:p>
                  </a:txBody>
                  <a:tcPr marL="128016" marR="128016" marT="45720" marB="45720" anchor="ctr">
                    <a:solidFill>
                      <a:srgbClr val="FFFFFF"/>
                    </a:solidFill>
                  </a:tcPr>
                </a:tc>
                <a:tc>
                  <a:txBody>
                    <a:bodyPr wrap="square"/>
                    <a:lstStyle/>
                    <a:p>
                      <a:pPr algn="l"/>
                      <a:r>
                        <a:rPr sz="1350" b="0">
                          <a:solidFill>
                            <a:srgbClr val="141C1E"/>
                          </a:solidFill>
                          <a:latin typeface="Segoe UI"/>
                        </a:rPr>
                        <a:t>Settles whether scene diversity is the operative variable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Context sweep on MVTec AD</a:t>
                      </a:r>
                    </a:p>
                  </a:txBody>
                  <a:tcPr marL="128016" marR="128016" marT="45720" marB="45720" anchor="ctr">
                    <a:solidFill>
                      <a:srgbClr val="F5F7F7"/>
                    </a:solidFill>
                  </a:tcPr>
                </a:tc>
                <a:tc>
                  <a:txBody>
                    <a:bodyPr wrap="square"/>
                    <a:lstStyle/>
                    <a:p>
                      <a:pPr algn="l"/>
                      <a:r>
                        <a:rPr sz="1350" b="0">
                          <a:solidFill>
                            <a:srgbClr val="141C1E"/>
                          </a:solidFill>
                          <a:latin typeface="Segoe UI"/>
                        </a:rPr>
                        <a:t>Gives the industrial–surveillance contrast for adaptation, not just detection</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FFFFF"/>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Run M4 — explanations under matched vs mismatched context</a:t>
                      </a:r>
                    </a:p>
                  </a:txBody>
                  <a:tcPr marL="128016" marR="128016" marT="45720" marB="45720" anchor="ctr">
                    <a:solidFill>
                      <a:srgbClr val="F5F7F7"/>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INFRASTRUCTURE IS NOW BUILT</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Server, datasets, driver and embedding cache are in place. Encoding a benchmark once takes 21 minutes, after which a new scoring hypothesis is evaluated in seconds rather than 50 minutes.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entirely by a sentence — which is what makes the claim identifiable.</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0.734 AUROC on ShanghaiTech with no training, and a wrong description costs 0.105 — evidence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does not replicate on a single-scene benchmark, and a within-view control shows why: the sentence tells the model which scene it is in. The claim is scoped, and the scoping is measured.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