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Introduce yourself and the one-line premise: adapting an anomaly detector to a new place by writing a sentence, with nothing retrained.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example, not the definition. Mall versus factory - the same forklift, opposite answers. Then the cost: every new customer means new footage and a retraining cycle. That cost is what we are removing.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you read the six surveys. Read the Liu quote aloud - the field scopes concept shift OUT by explicit decision. Make clear you are not criticising them: for object recognition it is the right call.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consequence. In anomaly detection normality IS the deployment context. Mention the 2026 position paper yourself - an independent group reached the same premise, which answers 'did you invent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modules left to right in about thirty seconds. Then stop on M3 - the orange box - and say that is the only place the domain enters.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methodological point in the deck. Say it slowly. And note that the competing systems CANNOT run our experiment - their text is learned on source data, or entangled in an LLM prior, or paired with a trained adapter.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the interpretation was fixed BEFORE any measurement, and that the mismatched condition is designed to refute us. A panel will respect a test you could have failed - and later in the deck, one you partly did.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it is the credibility slide. If anyone doubts the work is yours, offer to open a manifest. Five runs, all recorded.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no more. Point down one column and say the scene never changes - only the event does. If someone asks later why context matters, come back to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past this and do not apologise for it. The first run was chance, and the key experiment came out backwards. Then pause. The next two slides are what makes this presentation worth listening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schools analogy works on everyone - use it. Stress twice that the fix uses no labels and is the benchmark's own published protocol, and that both figures appear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interesting slide. Point at the two prompts and let them see the shared words. Then the punchline: the more accurate the description, the more damage it does. That is why the result inverted.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proof that the diagnosis was not invented after the fact. Say clearly that neither panel uses labels. The cameras are separate regions of the space and sit at different similarity levels, which is exactly why pooling raw scores destroyed the ordering.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Point at the none column being identical in both rows - that is the control, and it proves only the injection point changed. Then point at 0.628 and say a wrong sentence costs ten points.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scrupulous. The +0.027 is positive at every window but sits inside the spread, so we report direction and not magnitude. The claim rests on the mismatched penalty. Understating here protects you.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surprise: we expected motion to help and it does not. The pooled embedding already registers enough of it. Reporting the prediction that failed is stronger than reporting only the ones that held.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of the previous table. Trace the two arrows with a finger. The grey arrow points the wrong way and the orange one points the right way, and the only thing separating them is where the sentence was attached.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slide in the deck. Detection transfers almost exactly; the adaptation does not. Give the honest reading - on Avenue a placeholder beats an accurate description, so that benefit cannot be domain adaptation. Then give the conjecture AND the experiment that would settle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persuasive slide in the deck for a sceptical panel, because there is no aggregation to argue with - two runs over identical frames with identical frozen weights. Say that the curves coincide outside the event on purpose: that is the control.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a full cycle: we saw something odd, formed an explanation, designed a test that could have killed it, ran it, and it held. Say out loud that a gap near +0.105 here would have refuted us. Then give the caveat yourself - three of nine views are negative, so within one scene the effect is not reliable.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why you are showing failures: the claim is that the minimal configuration is right, and that is only credible next to what was tried. If the panel suspects generated work, this slide is your best answer.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on the trained baseline, not on LAVAD. You match the benchmark's own 2018 baseline using none of its training data. Then concede LAVAD openly.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weakness before anyone asks. The error bars overlap, so the top three are statistically tied. The claim is that nothing we added beat plain language, which is a negative result about our own elaborations, not a win over the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these confidently rather than apologetically. The metric limitation is worth dwelling on - it is a real methodological point about a protocol the whole field uses, and we found it by chasing our own bug.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Priority one is the within-view control because it turns our explanation from a conjecture into a result. Note the infrastructure cost is now paid.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boundary, not the number. The claim is scoped rather than abandoned, and we named the experiment that settles it. Then hand over.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spread yourself. Three views are negative and two nearly reach the pooled figure, so the result is a shift in the mean rather than a collapse everywhere. Saying this before the panel spots it is the difference between a caveat and a hole.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not read aloud. If asked how the work is positioned, this slide is the answer: the frozen models are all off-the-shelf, the benchmarks and metrics are the standard ones, and every method we compare against is here.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these out. They are here because they are the evidence base for the gap: the six surveys are what let us say the field scopes concept shift out. Be ready to say which one contains the quote - it is Liu et al. 2022.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92608" cy="68580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00200"/>
            <a:ext cx="9601200" cy="274320"/>
          </a:xfrm>
          <a:prstGeom prst="rect">
            <a:avLst/>
          </a:prstGeom>
          <a:noFill/>
        </p:spPr>
        <p:txBody>
          <a:bodyPr wrap="square" lIns="0" rIns="0" tIns="0" bIns="0">
            <a:spAutoFit/>
          </a:bodyPr>
          <a:lstStyle/>
          <a:p>
            <a:pPr algn="l">
              <a:lnSpc>
                <a:spcPct val="100000"/>
              </a:lnSpc>
            </a:pPr>
            <a:r>
              <a:rPr sz="1200" b="1" i="0">
                <a:solidFill>
                  <a:srgbClr val="0D6B67"/>
                </a:solidFill>
                <a:latin typeface="Segoe UI"/>
              </a:rPr>
              <a:t>PHASE 2 REVIEW  ·  SEMESTER 3  ·  SUMMER PROGRESS</a:t>
            </a:r>
          </a:p>
        </p:txBody>
      </p:sp>
      <p:sp>
        <p:nvSpPr>
          <p:cNvPr id="5" name="TextBox 4"/>
          <p:cNvSpPr txBox="1"/>
          <p:nvPr/>
        </p:nvSpPr>
        <p:spPr>
          <a:xfrm>
            <a:off x="1371600" y="2057400"/>
            <a:ext cx="9692640" cy="1371600"/>
          </a:xfrm>
          <a:prstGeom prst="rect">
            <a:avLst/>
          </a:prstGeom>
          <a:noFill/>
        </p:spPr>
        <p:txBody>
          <a:bodyPr wrap="square" lIns="0" rIns="0" tIns="0" bIns="0">
            <a:spAutoFit/>
          </a:bodyPr>
          <a:lstStyle/>
          <a:p>
            <a:pPr algn="l">
              <a:lnSpc>
                <a:spcPct val="106000"/>
              </a:lnSpc>
            </a:pPr>
            <a:r>
              <a:rPr sz="3800" b="1" i="0">
                <a:solidFill>
                  <a:srgbClr val="141C1E"/>
                </a:solidFill>
                <a:latin typeface="Segoe UI"/>
              </a:rPr>
              <a:t>Domain-Adaptive Zero-Shot Anomaly Detection Using Vision-Language Models</a:t>
            </a:r>
          </a:p>
        </p:txBody>
      </p:sp>
      <p:sp>
        <p:nvSpPr>
          <p:cNvPr id="6" name="Rectangle 5"/>
          <p:cNvSpPr/>
          <p:nvPr/>
        </p:nvSpPr>
        <p:spPr>
          <a:xfrm>
            <a:off x="1371600" y="3611880"/>
            <a:ext cx="1828800" cy="36576"/>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886200"/>
            <a:ext cx="9144000" cy="457200"/>
          </a:xfrm>
          <a:prstGeom prst="rect">
            <a:avLst/>
          </a:prstGeom>
          <a:noFill/>
        </p:spPr>
        <p:txBody>
          <a:bodyPr wrap="square" lIns="0" rIns="0" tIns="0" bIns="0">
            <a:spAutoFit/>
          </a:bodyPr>
          <a:lstStyle/>
          <a:p>
            <a:pPr algn="l">
              <a:lnSpc>
                <a:spcPct val="130000"/>
              </a:lnSpc>
            </a:pPr>
            <a:r>
              <a:rPr sz="1600" b="0" i="0">
                <a:solidFill>
                  <a:srgbClr val="3A4A4C"/>
                </a:solidFill>
                <a:latin typeface="Segoe UI"/>
              </a:rPr>
              <a:t>Adapting a video anomaly detector to a new environment by writing a sentence — with no training, no target data, and every model frozen.</a:t>
            </a:r>
          </a:p>
        </p:txBody>
      </p:sp>
      <p:sp>
        <p:nvSpPr>
          <p:cNvPr id="8" name="TextBox 7"/>
          <p:cNvSpPr txBox="1"/>
          <p:nvPr/>
        </p:nvSpPr>
        <p:spPr>
          <a:xfrm>
            <a:off x="1371600" y="5074920"/>
            <a:ext cx="5486400" cy="320040"/>
          </a:xfrm>
          <a:prstGeom prst="rect">
            <a:avLst/>
          </a:prstGeom>
          <a:noFill/>
        </p:spPr>
        <p:txBody>
          <a:bodyPr wrap="square" lIns="0" rIns="0" tIns="0" bIns="0">
            <a:spAutoFit/>
          </a:bodyPr>
          <a:lstStyle/>
          <a:p>
            <a:pPr algn="l">
              <a:lnSpc>
                <a:spcPct val="100000"/>
              </a:lnSpc>
            </a:pPr>
            <a:r>
              <a:rPr sz="1700" b="1" i="0">
                <a:solidFill>
                  <a:srgbClr val="141C1E"/>
                </a:solidFill>
                <a:latin typeface="Segoe UI"/>
              </a:rPr>
              <a:t>Prakash Kumar Sarangi</a:t>
            </a:r>
          </a:p>
        </p:txBody>
      </p:sp>
      <p:sp>
        <p:nvSpPr>
          <p:cNvPr id="9" name="TextBox 8"/>
          <p:cNvSpPr txBox="1"/>
          <p:nvPr/>
        </p:nvSpPr>
        <p:spPr>
          <a:xfrm>
            <a:off x="1371600" y="5413248"/>
            <a:ext cx="6400800" cy="548640"/>
          </a:xfrm>
          <a:prstGeom prst="rect">
            <a:avLst/>
          </a:prstGeom>
          <a:noFill/>
        </p:spPr>
        <p:txBody>
          <a:bodyPr wrap="square" lIns="0" rIns="0" tIns="0" bIns="0">
            <a:spAutoFit/>
          </a:bodyPr>
          <a:lstStyle/>
          <a:p>
            <a:pPr algn="l">
              <a:lnSpc>
                <a:spcPct val="135000"/>
              </a:lnSpc>
            </a:pPr>
            <a:r>
              <a:rPr sz="1250" b="0" i="0">
                <a:solidFill>
                  <a:srgbClr val="617274"/>
                </a:solidFill>
                <a:latin typeface="Segoe UI"/>
              </a:rPr>
              <a:t>M.Tech Computer Science and Engineering
Supervisors: Dr. Pranesh Das  ·  Dr. Raju Hazari</a:t>
            </a:r>
          </a:p>
        </p:txBody>
      </p:sp>
      <p:sp>
        <p:nvSpPr>
          <p:cNvPr id="10" name="TextBox 9"/>
          <p:cNvSpPr txBox="1"/>
          <p:nvPr/>
        </p:nvSpPr>
        <p:spPr>
          <a:xfrm>
            <a:off x="1371600" y="6172200"/>
            <a:ext cx="6400800" cy="274320"/>
          </a:xfrm>
          <a:prstGeom prst="rect">
            <a:avLst/>
          </a:prstGeom>
          <a:noFill/>
        </p:spPr>
        <p:txBody>
          <a:bodyPr wrap="square" lIns="0" rIns="0" tIns="0" bIns="0">
            <a:spAutoFit/>
          </a:bodyPr>
          <a:lstStyle/>
          <a:p>
            <a:pPr algn="l">
              <a:lnSpc>
                <a:spcPct val="100000"/>
              </a:lnSpc>
            </a:pPr>
            <a:r>
              <a:rPr sz="1250" b="1" i="0">
                <a:solidFill>
                  <a:srgbClr val="0D6B67"/>
                </a:solidFill>
                <a:latin typeface="Segoe UI"/>
              </a:rPr>
              <a:t>National Institute of Technology Calicut</a:t>
            </a:r>
          </a:p>
        </p:txBody>
      </p:sp>
      <p:sp>
        <p:nvSpPr>
          <p:cNvPr id="11" name="TextBox 10"/>
          <p:cNvSpPr txBox="1"/>
          <p:nvPr/>
        </p:nvSpPr>
        <p:spPr>
          <a:xfrm>
            <a:off x="9402775" y="6172200"/>
            <a:ext cx="2011680" cy="274320"/>
          </a:xfrm>
          <a:prstGeom prst="rect">
            <a:avLst/>
          </a:prstGeom>
          <a:noFill/>
        </p:spPr>
        <p:txBody>
          <a:bodyPr wrap="square" lIns="0" rIns="0" tIns="0" bIns="0">
            <a:spAutoFit/>
          </a:bodyPr>
          <a:lstStyle/>
          <a:p>
            <a:pPr algn="r">
              <a:lnSpc>
                <a:spcPct val="100000"/>
              </a:lnSpc>
            </a:pPr>
            <a:r>
              <a:rPr sz="1250" b="0" i="0">
                <a:solidFill>
                  <a:srgbClr val="617274"/>
                </a:solidFill>
                <a:latin typeface="Segoe UI"/>
              </a:rPr>
              <a:t>18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THE PROBLEM</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detector is tied to the place it learned</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a:t>
            </a:r>
          </a:p>
        </p:txBody>
      </p:sp>
      <p:sp>
        <p:nvSpPr>
          <p:cNvPr id="7" name="Rectangle 6"/>
          <p:cNvSpPr/>
          <p:nvPr/>
        </p:nvSpPr>
        <p:spPr>
          <a:xfrm>
            <a:off x="777240" y="1874519"/>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4650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Standard approach.  </a:t>
            </a:r>
            <a:r>
              <a:rPr sz="1650">
                <a:solidFill>
                  <a:srgbClr val="3A4A4C"/>
                </a:solidFill>
                <a:latin typeface="Segoe UI"/>
              </a:rPr>
              <a:t>Show the system weeks of ordinary footage from one camera until it learns what normal looks like there.</a:t>
            </a:r>
          </a:p>
        </p:txBody>
      </p:sp>
      <p:sp>
        <p:nvSpPr>
          <p:cNvPr id="9" name="Rectangle 8"/>
          <p:cNvSpPr/>
          <p:nvPr/>
        </p:nvSpPr>
        <p:spPr>
          <a:xfrm>
            <a:off x="777240" y="256946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441448"/>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The cost.  </a:t>
            </a:r>
            <a:r>
              <a:rPr sz="1650">
                <a:solidFill>
                  <a:srgbClr val="3A4A4C"/>
                </a:solidFill>
                <a:latin typeface="Segoe UI"/>
              </a:rPr>
              <a:t>Move it anywhere else and it fails — a new site means new footage collection and a full retraining cycle.</a:t>
            </a:r>
          </a:p>
        </p:txBody>
      </p:sp>
      <p:sp>
        <p:nvSpPr>
          <p:cNvPr id="11" name="Rectangle 10"/>
          <p:cNvSpPr/>
          <p:nvPr/>
        </p:nvSpPr>
        <p:spPr>
          <a:xfrm>
            <a:off x="777240" y="3246120"/>
            <a:ext cx="5074920" cy="2194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474720"/>
            <a:ext cx="4480560" cy="274320"/>
          </a:xfrm>
          <a:prstGeom prst="rect">
            <a:avLst/>
          </a:prstGeom>
          <a:noFill/>
        </p:spPr>
        <p:txBody>
          <a:bodyPr wrap="square" lIns="0" rIns="0" tIns="0" bIns="0">
            <a:spAutoFit/>
          </a:bodyPr>
          <a:lstStyle/>
          <a:p>
            <a:pPr algn="l">
              <a:lnSpc>
                <a:spcPct val="100000"/>
              </a:lnSpc>
            </a:pPr>
            <a:r>
              <a:rPr sz="1200" b="1" i="0">
                <a:solidFill>
                  <a:srgbClr val="0D6B67"/>
                </a:solidFill>
                <a:latin typeface="Segoe UI"/>
              </a:rPr>
              <a:t>SHOPPING MALL</a:t>
            </a:r>
          </a:p>
        </p:txBody>
      </p:sp>
      <p:sp>
        <p:nvSpPr>
          <p:cNvPr id="13" name="TextBox 12"/>
          <p:cNvSpPr txBox="1"/>
          <p:nvPr/>
        </p:nvSpPr>
        <p:spPr>
          <a:xfrm>
            <a:off x="1097280" y="3840480"/>
            <a:ext cx="4480560" cy="1371600"/>
          </a:xfrm>
          <a:prstGeom prst="rect">
            <a:avLst/>
          </a:prstGeom>
          <a:noFill/>
        </p:spPr>
        <p:txBody>
          <a:bodyPr wrap="square" lIns="0" rIns="0" tIns="0" bIns="0">
            <a:spAutoFit/>
          </a:bodyPr>
          <a:lstStyle/>
          <a:p>
            <a:pPr algn="l">
              <a:lnSpc>
                <a:spcPct val="135000"/>
              </a:lnSpc>
            </a:pPr>
            <a:r>
              <a:rPr sz="1700" b="0" i="0">
                <a:solidFill>
                  <a:srgbClr val="141C1E"/>
                </a:solidFill>
                <a:latin typeface="Segoe UI"/>
              </a:rPr>
              <a:t>A forklift moving through the aisles is
an immediate alarm.</a:t>
            </a:r>
          </a:p>
        </p:txBody>
      </p:sp>
      <p:sp>
        <p:nvSpPr>
          <p:cNvPr id="14" name="Rectangle 13"/>
          <p:cNvSpPr/>
          <p:nvPr/>
        </p:nvSpPr>
        <p:spPr>
          <a:xfrm>
            <a:off x="6217920" y="3246120"/>
            <a:ext cx="5074920" cy="2194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3474720"/>
            <a:ext cx="4480560" cy="274320"/>
          </a:xfrm>
          <a:prstGeom prst="rect">
            <a:avLst/>
          </a:prstGeom>
          <a:noFill/>
        </p:spPr>
        <p:txBody>
          <a:bodyPr wrap="square" lIns="0" rIns="0" tIns="0" bIns="0">
            <a:spAutoFit/>
          </a:bodyPr>
          <a:lstStyle/>
          <a:p>
            <a:pPr algn="l">
              <a:lnSpc>
                <a:spcPct val="100000"/>
              </a:lnSpc>
            </a:pPr>
            <a:r>
              <a:rPr sz="1200" b="1" i="0">
                <a:solidFill>
                  <a:srgbClr val="8A5715"/>
                </a:solidFill>
                <a:latin typeface="Segoe UI"/>
              </a:rPr>
              <a:t>FACTORY FLOOR</a:t>
            </a:r>
          </a:p>
        </p:txBody>
      </p:sp>
      <p:sp>
        <p:nvSpPr>
          <p:cNvPr id="16" name="TextBox 15"/>
          <p:cNvSpPr txBox="1"/>
          <p:nvPr/>
        </p:nvSpPr>
        <p:spPr>
          <a:xfrm>
            <a:off x="6537959" y="3840480"/>
            <a:ext cx="4480560" cy="1371600"/>
          </a:xfrm>
          <a:prstGeom prst="rect">
            <a:avLst/>
          </a:prstGeom>
          <a:noFill/>
        </p:spPr>
        <p:txBody>
          <a:bodyPr wrap="square" lIns="0" rIns="0" tIns="0" bIns="0">
            <a:spAutoFit/>
          </a:bodyPr>
          <a:lstStyle/>
          <a:p>
            <a:pPr algn="l">
              <a:lnSpc>
                <a:spcPct val="135000"/>
              </a:lnSpc>
            </a:pPr>
            <a:r>
              <a:rPr sz="1700" b="0" i="0">
                <a:solidFill>
                  <a:srgbClr val="141C1E"/>
                </a:solidFill>
                <a:latin typeface="Segoe UI"/>
              </a:rPr>
              <a:t>The identical forklift is completely
routine.</a:t>
            </a:r>
          </a:p>
        </p:txBody>
      </p:sp>
      <p:sp>
        <p:nvSpPr>
          <p:cNvPr id="17" name="TextBox 16"/>
          <p:cNvSpPr txBox="1"/>
          <p:nvPr/>
        </p:nvSpPr>
        <p:spPr>
          <a:xfrm>
            <a:off x="777240" y="5760720"/>
            <a:ext cx="10637215" cy="457200"/>
          </a:xfrm>
          <a:prstGeom prst="rect">
            <a:avLst/>
          </a:prstGeom>
          <a:noFill/>
        </p:spPr>
        <p:txBody>
          <a:bodyPr wrap="square" lIns="0" rIns="0" tIns="0" bIns="0">
            <a:spAutoFit/>
          </a:bodyPr>
          <a:lstStyle/>
          <a:p>
            <a:pPr algn="ctr">
              <a:lnSpc>
                <a:spcPct val="100000"/>
              </a:lnSpc>
            </a:pPr>
            <a:r>
              <a:rPr sz="1700" b="1" i="0">
                <a:solidFill>
                  <a:srgbClr val="141C1E"/>
                </a:solidFill>
                <a:latin typeface="Segoe UI"/>
              </a:rPr>
              <a:t>Same footage. Opposite answers. The picture did not change — the rule did.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RESEARCH GAP  ·  1 OF 2</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literature solves the adjacent problem</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a:t>
            </a:r>
          </a:p>
        </p:txBody>
      </p:sp>
      <p:sp>
        <p:nvSpPr>
          <p:cNvPr id="7" name="TextBox 6"/>
          <p:cNvSpPr txBox="1"/>
          <p:nvPr/>
        </p:nvSpPr>
        <p:spPr>
          <a:xfrm>
            <a:off x="777240" y="1783080"/>
            <a:ext cx="10637215" cy="365760"/>
          </a:xfrm>
          <a:prstGeom prst="rect">
            <a:avLst/>
          </a:prstGeom>
          <a:noFill/>
        </p:spPr>
        <p:txBody>
          <a:bodyPr wrap="square" lIns="0" rIns="0" tIns="0" bIns="0">
            <a:spAutoFit/>
          </a:bodyPr>
          <a:lstStyle/>
          <a:p>
            <a:pPr algn="l">
              <a:lnSpc>
                <a:spcPct val="100000"/>
              </a:lnSpc>
            </a:pPr>
            <a:r>
              <a:rPr sz="1600" b="0" i="0">
                <a:solidFill>
                  <a:srgbClr val="3A4A4C"/>
                </a:solidFill>
                <a:latin typeface="Segoe UI"/>
              </a:rPr>
              <a:t>Domain adaptation distinguishes between kinds of difference between places.</a:t>
            </a:r>
          </a:p>
        </p:txBody>
      </p:sp>
      <p:graphicFrame>
        <p:nvGraphicFramePr>
          <p:cNvPr id="8" name="Table 7"/>
          <p:cNvGraphicFramePr>
            <a:graphicFrameLocks noGrp="1"/>
          </p:cNvGraphicFramePr>
          <p:nvPr/>
        </p:nvGraphicFramePr>
        <p:xfrm>
          <a:off x="777240" y="2331720"/>
          <a:ext cx="10634472" cy="1975104"/>
        </p:xfrm>
        <a:graphic>
          <a:graphicData uri="http://schemas.openxmlformats.org/drawingml/2006/table">
            <a:tbl>
              <a:tblPr firstRow="1">
                <a:tableStyleId>{5C22544A-7EE6-4342-B048-85BDC9FD1C3A}</a:tableStyleId>
              </a:tblPr>
              <a:tblGrid>
                <a:gridCol w="2651760"/>
                <a:gridCol w="2011680"/>
                <a:gridCol w="5971032"/>
              </a:tblGrid>
              <a:tr h="658368">
                <a:tc>
                  <a:txBody>
                    <a:bodyPr wrap="square"/>
                    <a:lstStyle/>
                    <a:p>
                      <a:pPr algn="l"/>
                      <a:r>
                        <a:rPr sz="1400" b="1">
                          <a:solidFill>
                            <a:srgbClr val="FFFFFF"/>
                          </a:solidFill>
                          <a:latin typeface="Segoe UI"/>
                        </a:rPr>
                        <a:t>Type of shift</a:t>
                      </a:r>
                    </a:p>
                  </a:txBody>
                  <a:tcPr marL="128016" marR="128016" marT="45720" marB="45720" anchor="ctr">
                    <a:solidFill>
                      <a:srgbClr val="141C1E"/>
                    </a:solidFill>
                  </a:tcPr>
                </a:tc>
                <a:tc>
                  <a:txBody>
                    <a:bodyPr wrap="square"/>
                    <a:lstStyle/>
                    <a:p>
                      <a:pPr algn="l"/>
                      <a:r>
                        <a:rPr sz="1400" b="1">
                          <a:solidFill>
                            <a:srgbClr val="FFFFFF"/>
                          </a:solidFill>
                          <a:latin typeface="Segoe UI"/>
                        </a:rPr>
                        <a:t>What moves</a:t>
                      </a:r>
                    </a:p>
                  </a:txBody>
                  <a:tcPr marL="128016" marR="128016" marT="45720" marB="45720" anchor="ctr">
                    <a:solidFill>
                      <a:srgbClr val="141C1E"/>
                    </a:solidFill>
                  </a:tcPr>
                </a:tc>
                <a:tc>
                  <a:txBody>
                    <a:bodyPr wrap="square"/>
                    <a:lstStyle/>
                    <a:p>
                      <a:pPr algn="l"/>
                      <a:r>
                        <a:rPr sz="1400" b="1">
                          <a:solidFill>
                            <a:srgbClr val="FFFFFF"/>
                          </a:solidFill>
                          <a:latin typeface="Segoe UI"/>
                        </a:rPr>
                        <a:t>Example</a:t>
                      </a:r>
                    </a:p>
                  </a:txBody>
                  <a:tcPr marL="128016" marR="128016" marT="45720" marB="45720" anchor="ctr">
                    <a:solidFill>
                      <a:srgbClr val="141C1E"/>
                    </a:solidFill>
                  </a:tcPr>
                </a:tc>
              </a:tr>
              <a:tr h="658368">
                <a:tc>
                  <a:txBody>
                    <a:bodyPr wrap="square"/>
                    <a:lstStyle/>
                    <a:p>
                      <a:pPr algn="l"/>
                      <a:r>
                        <a:rPr sz="1400" b="0">
                          <a:solidFill>
                            <a:srgbClr val="141C1E"/>
                          </a:solidFill>
                          <a:latin typeface="Segoe UI"/>
                        </a:rPr>
                        <a:t>Covariate shift</a:t>
                      </a:r>
                    </a:p>
                  </a:txBody>
                  <a:tcPr marL="128016" marR="128016" marT="45720" marB="45720" anchor="ctr">
                    <a:solidFill>
                      <a:srgbClr val="FFFFFF"/>
                    </a:solidFill>
                  </a:tcPr>
                </a:tc>
                <a:tc>
                  <a:txBody>
                    <a:bodyPr wrap="square"/>
                    <a:lstStyle/>
                    <a:p>
                      <a:pPr algn="l"/>
                      <a:r>
                        <a:rPr sz="1400" b="0">
                          <a:solidFill>
                            <a:srgbClr val="141C1E"/>
                          </a:solidFill>
                          <a:latin typeface="Segoe UI"/>
                        </a:rPr>
                        <a:t>Appearance</a:t>
                      </a:r>
                    </a:p>
                  </a:txBody>
                  <a:tcPr marL="128016" marR="128016" marT="45720" marB="45720" anchor="ctr">
                    <a:solidFill>
                      <a:srgbClr val="FFFFFF"/>
                    </a:solidFill>
                  </a:tcPr>
                </a:tc>
                <a:tc>
                  <a:txBody>
                    <a:bodyPr wrap="square"/>
                    <a:lstStyle/>
                    <a:p>
                      <a:pPr algn="l"/>
                      <a:r>
                        <a:rPr sz="1400" b="0">
                          <a:solidFill>
                            <a:srgbClr val="141C1E"/>
                          </a:solidFill>
                          <a:latin typeface="Segoe UI"/>
                        </a:rPr>
                        <a:t>A stop sign in fog versus sunshine. Still a stop sign.</a:t>
                      </a:r>
                    </a:p>
                  </a:txBody>
                  <a:tcPr marL="128016" marR="128016" marT="45720" marB="45720" anchor="ctr">
                    <a:solidFill>
                      <a:srgbClr val="FFFFFF"/>
                    </a:solidFill>
                  </a:tcPr>
                </a:tc>
              </a:tr>
              <a:tr h="658368">
                <a:tc>
                  <a:txBody>
                    <a:bodyPr wrap="square"/>
                    <a:lstStyle/>
                    <a:p>
                      <a:pPr algn="l"/>
                      <a:r>
                        <a:rPr sz="1400" b="1">
                          <a:solidFill>
                            <a:srgbClr val="141C1E"/>
                          </a:solidFill>
                          <a:latin typeface="Segoe UI"/>
                        </a:rPr>
                        <a:t>Concept shift</a:t>
                      </a:r>
                    </a:p>
                  </a:txBody>
                  <a:tcPr marL="128016" marR="128016" marT="45720" marB="45720" anchor="ctr">
                    <a:solidFill>
                      <a:srgbClr val="DDEDEB"/>
                    </a:solidFill>
                  </a:tcPr>
                </a:tc>
                <a:tc>
                  <a:txBody>
                    <a:bodyPr wrap="square"/>
                    <a:lstStyle/>
                    <a:p>
                      <a:pPr algn="l"/>
                      <a:r>
                        <a:rPr sz="1400" b="1">
                          <a:solidFill>
                            <a:srgbClr val="141C1E"/>
                          </a:solidFill>
                          <a:latin typeface="Segoe UI"/>
                        </a:rPr>
                        <a:t>The rule itself</a:t>
                      </a:r>
                    </a:p>
                  </a:txBody>
                  <a:tcPr marL="128016" marR="128016" marT="45720" marB="45720" anchor="ctr">
                    <a:solidFill>
                      <a:srgbClr val="DDEDEB"/>
                    </a:solidFill>
                  </a:tcPr>
                </a:tc>
                <a:tc>
                  <a:txBody>
                    <a:bodyPr wrap="square"/>
                    <a:lstStyle/>
                    <a:p>
                      <a:pPr algn="l"/>
                      <a:r>
                        <a:rPr sz="1400" b="1">
                          <a:solidFill>
                            <a:srgbClr val="141C1E"/>
                          </a:solidFill>
                          <a:latin typeface="Segoe UI"/>
                        </a:rPr>
                        <a:t>A bicycle on a road versus on a footpath. Identical image, opposite label.</a:t>
                      </a:r>
                    </a:p>
                  </a:txBody>
                  <a:tcPr marL="128016" marR="128016" marT="45720" marB="45720" anchor="ctr">
                    <a:solidFill>
                      <a:srgbClr val="DDEDEB"/>
                    </a:solidFill>
                  </a:tcPr>
                </a:tc>
              </a:tr>
            </a:tbl>
          </a:graphicData>
        </a:graphic>
      </p:graphicFrame>
      <p:sp>
        <p:nvSpPr>
          <p:cNvPr id="9" name="Rectangle 8"/>
          <p:cNvSpPr/>
          <p:nvPr/>
        </p:nvSpPr>
        <p:spPr>
          <a:xfrm>
            <a:off x="777240" y="4434840"/>
            <a:ext cx="10637215" cy="1234440"/>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434840"/>
            <a:ext cx="45720" cy="1234440"/>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581144"/>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WHAT THE SURVEYS SAY</a:t>
            </a:r>
          </a:p>
        </p:txBody>
      </p:sp>
      <p:sp>
        <p:nvSpPr>
          <p:cNvPr id="12" name="TextBox 11"/>
          <p:cNvSpPr txBox="1"/>
          <p:nvPr/>
        </p:nvSpPr>
        <p:spPr>
          <a:xfrm>
            <a:off x="1033271" y="4873752"/>
            <a:ext cx="10134295" cy="667512"/>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“Concept shift is usually not a common problem in popular object classification… this review mainly focuses on covariate shift.”   — Liu et al., 2022.   Singhal et al. (2023) list stable p(y|x) as the first condition under which domain adaptation is justified.</a:t>
            </a:r>
          </a:p>
        </p:txBody>
      </p:sp>
      <p:sp>
        <p:nvSpPr>
          <p:cNvPr id="13" name="TextBox 12"/>
          <p:cNvSpPr txBox="1"/>
          <p:nvPr/>
        </p:nvSpPr>
        <p:spPr>
          <a:xfrm>
            <a:off x="777240" y="5897880"/>
            <a:ext cx="10637215" cy="365760"/>
          </a:xfrm>
          <a:prstGeom prst="rect">
            <a:avLst/>
          </a:prstGeom>
          <a:noFill/>
        </p:spPr>
        <p:txBody>
          <a:bodyPr wrap="square" lIns="0" rIns="0" tIns="0" bIns="0">
            <a:spAutoFit/>
          </a:bodyPr>
          <a:lstStyle/>
          <a:p>
            <a:pPr algn="l">
              <a:lnSpc>
                <a:spcPct val="100000"/>
              </a:lnSpc>
            </a:pPr>
            <a:r>
              <a:rPr sz="1600" b="1" i="0">
                <a:solidFill>
                  <a:srgbClr val="141C1E"/>
                </a:solidFill>
                <a:latin typeface="Segoe UI"/>
              </a:rPr>
              <a:t>Fair for object recognition — a cat is a cat everywhere. But anomaly detection is built on concept shift.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RESEARCH GAP  ·  2 OF 2</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Why that matters for anomaly detection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3</a:t>
            </a:r>
          </a:p>
        </p:txBody>
      </p:sp>
      <p:sp>
        <p:nvSpPr>
          <p:cNvPr id="7" name="TextBox 6"/>
          <p:cNvSpPr txBox="1"/>
          <p:nvPr/>
        </p:nvSpPr>
        <p:spPr>
          <a:xfrm>
            <a:off x="777240" y="1737360"/>
            <a:ext cx="10637215" cy="365760"/>
          </a:xfrm>
          <a:prstGeom prst="rect">
            <a:avLst/>
          </a:prstGeom>
          <a:noFill/>
        </p:spPr>
        <p:txBody>
          <a:bodyPr wrap="square" lIns="0" rIns="0" tIns="0" bIns="0">
            <a:spAutoFit/>
          </a:bodyPr>
          <a:lstStyle/>
          <a:p>
            <a:pPr algn="l">
              <a:lnSpc>
                <a:spcPct val="130000"/>
              </a:lnSpc>
            </a:pPr>
            <a:r>
              <a:rPr sz="1650" b="0" i="0">
                <a:solidFill>
                  <a:srgbClr val="3A4A4C"/>
                </a:solidFill>
                <a:latin typeface="Segoe UI"/>
              </a:rPr>
              <a:t>In anomaly detection, “normal” is defined by the deployment context — not by the object. That is the definition of the task.</a:t>
            </a:r>
          </a:p>
        </p:txBody>
      </p:sp>
      <p:graphicFrame>
        <p:nvGraphicFramePr>
          <p:cNvPr id="8" name="Table 7"/>
          <p:cNvGraphicFramePr>
            <a:graphicFrameLocks noGrp="1"/>
          </p:cNvGraphicFramePr>
          <p:nvPr/>
        </p:nvGraphicFramePr>
        <p:xfrm>
          <a:off x="777240" y="2468880"/>
          <a:ext cx="10634472" cy="1828800"/>
        </p:xfrm>
        <a:graphic>
          <a:graphicData uri="http://schemas.openxmlformats.org/drawingml/2006/table">
            <a:tbl>
              <a:tblPr firstRow="1">
                <a:tableStyleId>{5C22544A-7EE6-4342-B048-85BDC9FD1C3A}</a:tableStyleId>
              </a:tblPr>
              <a:tblGrid>
                <a:gridCol w="3291840"/>
                <a:gridCol w="3657600"/>
                <a:gridCol w="3685032"/>
              </a:tblGrid>
              <a:tr h="457200">
                <a:tc>
                  <a:txBody>
                    <a:bodyPr wrap="square"/>
                    <a:lstStyle/>
                    <a:p>
                      <a:pPr algn="l"/>
                      <a:r>
                        <a:rPr sz="1450" b="1">
                          <a:solidFill>
                            <a:srgbClr val="FFFFFF"/>
                          </a:solidFill>
                          <a:latin typeface="Segoe UI"/>
                        </a:rPr>
                        <a:t>Input</a:t>
                      </a:r>
                    </a:p>
                  </a:txBody>
                  <a:tcPr marL="128016" marR="128016" marT="45720" marB="45720" anchor="ctr">
                    <a:solidFill>
                      <a:srgbClr val="141C1E"/>
                    </a:solidFill>
                  </a:tcPr>
                </a:tc>
                <a:tc>
                  <a:txBody>
                    <a:bodyPr wrap="square"/>
                    <a:lstStyle/>
                    <a:p>
                      <a:pPr algn="l"/>
                      <a:r>
                        <a:rPr sz="1450" b="1">
                          <a:solidFill>
                            <a:srgbClr val="FFFFFF"/>
                          </a:solidFill>
                          <a:latin typeface="Segoe UI"/>
                        </a:rPr>
                        <a:t>Domain A</a:t>
                      </a:r>
                    </a:p>
                  </a:txBody>
                  <a:tcPr marL="128016" marR="128016" marT="45720" marB="45720" anchor="ctr">
                    <a:solidFill>
                      <a:srgbClr val="141C1E"/>
                    </a:solidFill>
                  </a:tcPr>
                </a:tc>
                <a:tc>
                  <a:txBody>
                    <a:bodyPr wrap="square"/>
                    <a:lstStyle/>
                    <a:p>
                      <a:pPr algn="l"/>
                      <a:r>
                        <a:rPr sz="1450" b="1">
                          <a:solidFill>
                            <a:srgbClr val="FFFFFF"/>
                          </a:solidFill>
                          <a:latin typeface="Segoe UI"/>
                        </a:rPr>
                        <a:t>Domain B</a:t>
                      </a:r>
                    </a:p>
                  </a:txBody>
                  <a:tcPr marL="128016" marR="128016" marT="45720" marB="45720" anchor="ctr">
                    <a:solidFill>
                      <a:srgbClr val="141C1E"/>
                    </a:solidFill>
                  </a:tcPr>
                </a:tc>
              </a:tr>
              <a:tr h="457200">
                <a:tc>
                  <a:txBody>
                    <a:bodyPr wrap="square"/>
                    <a:lstStyle/>
                    <a:p>
                      <a:pPr algn="l"/>
                      <a:r>
                        <a:rPr sz="1450" b="0">
                          <a:solidFill>
                            <a:srgbClr val="141C1E"/>
                          </a:solidFill>
                          <a:latin typeface="Segoe UI"/>
                        </a:rPr>
                        <a:t>A person running</a:t>
                      </a:r>
                    </a:p>
                  </a:txBody>
                  <a:tcPr marL="128016" marR="128016" marT="45720" marB="45720" anchor="ctr">
                    <a:solidFill>
                      <a:srgbClr val="FFFFFF"/>
                    </a:solidFill>
                  </a:tcPr>
                </a:tc>
                <a:tc>
                  <a:txBody>
                    <a:bodyPr wrap="square"/>
                    <a:lstStyle/>
                    <a:p>
                      <a:pPr algn="l"/>
                      <a:r>
                        <a:rPr sz="1450" b="0">
                          <a:solidFill>
                            <a:srgbClr val="141C1E"/>
                          </a:solidFill>
                          <a:latin typeface="Segoe UI"/>
                        </a:rPr>
                        <a:t>Park — normal</a:t>
                      </a:r>
                    </a:p>
                  </a:txBody>
                  <a:tcPr marL="128016" marR="128016" marT="45720" marB="45720" anchor="ctr">
                    <a:solidFill>
                      <a:srgbClr val="FFFFFF"/>
                    </a:solidFill>
                  </a:tcPr>
                </a:tc>
                <a:tc>
                  <a:txBody>
                    <a:bodyPr wrap="square"/>
                    <a:lstStyle/>
                    <a:p>
                      <a:pPr algn="l"/>
                      <a:r>
                        <a:rPr sz="1450" b="0">
                          <a:solidFill>
                            <a:srgbClr val="141C1E"/>
                          </a:solidFill>
                          <a:latin typeface="Segoe UI"/>
                        </a:rPr>
                        <a:t>Bank vault — anomalous</a:t>
                      </a:r>
                    </a:p>
                  </a:txBody>
                  <a:tcPr marL="128016" marR="128016" marT="45720" marB="45720" anchor="ctr">
                    <a:solidFill>
                      <a:srgbClr val="FFFFFF"/>
                    </a:solidFill>
                  </a:tcPr>
                </a:tc>
              </a:tr>
              <a:tr h="457200">
                <a:tc>
                  <a:txBody>
                    <a:bodyPr wrap="square"/>
                    <a:lstStyle/>
                    <a:p>
                      <a:pPr algn="l"/>
                      <a:r>
                        <a:rPr sz="1450" b="0">
                          <a:solidFill>
                            <a:srgbClr val="141C1E"/>
                          </a:solidFill>
                          <a:latin typeface="Segoe UI"/>
                        </a:rPr>
                        <a:t>A person lying down</a:t>
                      </a:r>
                    </a:p>
                  </a:txBody>
                  <a:tcPr marL="128016" marR="128016" marT="45720" marB="45720" anchor="ctr">
                    <a:solidFill>
                      <a:srgbClr val="F5F7F7"/>
                    </a:solidFill>
                  </a:tcPr>
                </a:tc>
                <a:tc>
                  <a:txBody>
                    <a:bodyPr wrap="square"/>
                    <a:lstStyle/>
                    <a:p>
                      <a:pPr algn="l"/>
                      <a:r>
                        <a:rPr sz="1450" b="0">
                          <a:solidFill>
                            <a:srgbClr val="141C1E"/>
                          </a:solidFill>
                          <a:latin typeface="Segoe UI"/>
                        </a:rPr>
                        <a:t>Beach — normal</a:t>
                      </a:r>
                    </a:p>
                  </a:txBody>
                  <a:tcPr marL="128016" marR="128016" marT="45720" marB="45720" anchor="ctr">
                    <a:solidFill>
                      <a:srgbClr val="F5F7F7"/>
                    </a:solidFill>
                  </a:tcPr>
                </a:tc>
                <a:tc>
                  <a:txBody>
                    <a:bodyPr wrap="square"/>
                    <a:lstStyle/>
                    <a:p>
                      <a:pPr algn="l"/>
                      <a:r>
                        <a:rPr sz="1450" b="0">
                          <a:solidFill>
                            <a:srgbClr val="141C1E"/>
                          </a:solidFill>
                          <a:latin typeface="Segoe UI"/>
                        </a:rPr>
                        <a:t>Factory aisle — anomalous</a:t>
                      </a:r>
                    </a:p>
                  </a:txBody>
                  <a:tcPr marL="128016" marR="128016" marT="45720" marB="45720" anchor="ctr">
                    <a:solidFill>
                      <a:srgbClr val="F5F7F7"/>
                    </a:solidFill>
                  </a:tcPr>
                </a:tc>
              </a:tr>
              <a:tr h="457200">
                <a:tc>
                  <a:txBody>
                    <a:bodyPr wrap="square"/>
                    <a:lstStyle/>
                    <a:p>
                      <a:pPr algn="l"/>
                      <a:r>
                        <a:rPr sz="1450" b="0">
                          <a:solidFill>
                            <a:srgbClr val="141C1E"/>
                          </a:solidFill>
                          <a:latin typeface="Segoe UI"/>
                        </a:rPr>
                        <a:t>A vehicle</a:t>
                      </a:r>
                    </a:p>
                  </a:txBody>
                  <a:tcPr marL="128016" marR="128016" marT="45720" marB="45720" anchor="ctr">
                    <a:solidFill>
                      <a:srgbClr val="FFFFFF"/>
                    </a:solidFill>
                  </a:tcPr>
                </a:tc>
                <a:tc>
                  <a:txBody>
                    <a:bodyPr wrap="square"/>
                    <a:lstStyle/>
                    <a:p>
                      <a:pPr algn="l"/>
                      <a:r>
                        <a:rPr sz="1450" b="0">
                          <a:solidFill>
                            <a:srgbClr val="141C1E"/>
                          </a:solidFill>
                          <a:latin typeface="Segoe UI"/>
                        </a:rPr>
                        <a:t>Road — normal</a:t>
                      </a:r>
                    </a:p>
                  </a:txBody>
                  <a:tcPr marL="128016" marR="128016" marT="45720" marB="45720" anchor="ctr">
                    <a:solidFill>
                      <a:srgbClr val="FFFFFF"/>
                    </a:solidFill>
                  </a:tcPr>
                </a:tc>
                <a:tc>
                  <a:txBody>
                    <a:bodyPr wrap="square"/>
                    <a:lstStyle/>
                    <a:p>
                      <a:pPr algn="l"/>
                      <a:r>
                        <a:rPr sz="1450" b="0">
                          <a:solidFill>
                            <a:srgbClr val="141C1E"/>
                          </a:solidFill>
                          <a:latin typeface="Segoe UI"/>
                        </a:rPr>
                        <a:t>Walkway — anomalous</a:t>
                      </a:r>
                    </a:p>
                  </a:txBody>
                  <a:tcPr marL="128016" marR="128016" marT="45720" marB="45720" anchor="ctr">
                    <a:solidFill>
                      <a:srgbClr val="FFFFFF"/>
                    </a:solidFill>
                  </a:tcPr>
                </a:tc>
              </a:tr>
            </a:tbl>
          </a:graphicData>
        </a:graphic>
      </p:graphicFrame>
      <p:sp>
        <p:nvSpPr>
          <p:cNvPr id="9" name="Rectangle 8"/>
          <p:cNvSpPr/>
          <p:nvPr/>
        </p:nvSpPr>
        <p:spPr>
          <a:xfrm>
            <a:off x="777240" y="4572000"/>
            <a:ext cx="10637215" cy="12344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572000"/>
            <a:ext cx="45720" cy="123444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71830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THE GAP WE TARGET</a:t>
            </a:r>
          </a:p>
        </p:txBody>
      </p:sp>
      <p:sp>
        <p:nvSpPr>
          <p:cNvPr id="12" name="TextBox 11"/>
          <p:cNvSpPr txBox="1"/>
          <p:nvPr/>
        </p:nvSpPr>
        <p:spPr>
          <a:xfrm>
            <a:off x="1033271" y="5010912"/>
            <a:ext cx="10134295" cy="667512"/>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Methods that align appearance cannot help here — the appearance is already identical. Two domains can share p(x) exactly while the labelling function differs. A 2026 position paper argues the same premise independently; what is missing is a test of whether supplied context does any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PROPOSED FRAMEWORK</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DA-ZVAD: adapt by writing a sentence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4</a:t>
            </a:r>
          </a:p>
        </p:txBody>
      </p:sp>
      <p:pic>
        <p:nvPicPr>
          <p:cNvPr id="7" name="Picture 6" descr="dazvad_architecture.png"/>
          <p:cNvPicPr>
            <a:picLocks noChangeAspect="1"/>
          </p:cNvPicPr>
          <p:nvPr/>
        </p:nvPicPr>
        <p:blipFill>
          <a:blip r:embed="rId2"/>
          <a:stretch>
            <a:fillRect/>
          </a:stretch>
        </p:blipFill>
        <p:spPr>
          <a:xfrm>
            <a:off x="777240" y="1783080"/>
            <a:ext cx="6858000" cy="3788685"/>
          </a:xfrm>
          <a:prstGeom prst="rect">
            <a:avLst/>
          </a:prstGeom>
        </p:spPr>
      </p:pic>
      <p:sp>
        <p:nvSpPr>
          <p:cNvPr id="8" name="TextBox 7"/>
          <p:cNvSpPr txBox="1"/>
          <p:nvPr/>
        </p:nvSpPr>
        <p:spPr>
          <a:xfrm>
            <a:off x="7955279" y="1783080"/>
            <a:ext cx="3364992" cy="274320"/>
          </a:xfrm>
          <a:prstGeom prst="rect">
            <a:avLst/>
          </a:prstGeom>
          <a:noFill/>
        </p:spPr>
        <p:txBody>
          <a:bodyPr wrap="square" lIns="0" rIns="0" tIns="0" bIns="0">
            <a:spAutoFit/>
          </a:bodyPr>
          <a:lstStyle/>
          <a:p>
            <a:pPr algn="l">
              <a:lnSpc>
                <a:spcPct val="100000"/>
              </a:lnSpc>
            </a:pPr>
            <a:r>
              <a:rPr sz="1150" b="1" i="0">
                <a:solidFill>
                  <a:srgbClr val="0D6B67"/>
                </a:solidFill>
                <a:latin typeface="Segoe UI"/>
              </a:rPr>
              <a:t>EVERY MODEL FROZEN</a:t>
            </a:r>
          </a:p>
        </p:txBody>
      </p:sp>
      <p:sp>
        <p:nvSpPr>
          <p:cNvPr id="9" name="Rectangle 8"/>
          <p:cNvSpPr/>
          <p:nvPr/>
        </p:nvSpPr>
        <p:spPr>
          <a:xfrm>
            <a:off x="7955279" y="23317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3" y="2203704"/>
            <a:ext cx="3127248" cy="365760"/>
          </a:xfrm>
          <a:prstGeom prst="rect">
            <a:avLst/>
          </a:prstGeom>
          <a:noFill/>
        </p:spPr>
        <p:txBody>
          <a:bodyPr wrap="square" lIns="0" rIns="0" tIns="0" bIns="0">
            <a:spAutoFit/>
          </a:bodyPr>
          <a:lstStyle/>
          <a:p>
            <a:pPr>
              <a:lnSpc>
                <a:spcPct val="125000"/>
              </a:lnSpc>
            </a:pPr>
            <a:r>
              <a:rPr sz="1300" b="1">
                <a:solidFill>
                  <a:srgbClr val="141C1E"/>
                </a:solidFill>
                <a:latin typeface="Segoe UI"/>
              </a:rPr>
              <a:t>M1  </a:t>
            </a:r>
            <a:r>
              <a:rPr sz="1300">
                <a:solidFill>
                  <a:srgbClr val="3A4A4C"/>
                </a:solidFill>
                <a:latin typeface="Segoe UI"/>
              </a:rPr>
              <a:t>Frozen CLIP scores each frame against “normal” and “abnormal” text.</a:t>
            </a:r>
          </a:p>
        </p:txBody>
      </p:sp>
      <p:sp>
        <p:nvSpPr>
          <p:cNvPr id="11" name="Rectangle 10"/>
          <p:cNvSpPr/>
          <p:nvPr/>
        </p:nvSpPr>
        <p:spPr>
          <a:xfrm>
            <a:off x="7955279" y="304495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2916936"/>
            <a:ext cx="3127248" cy="365760"/>
          </a:xfrm>
          <a:prstGeom prst="rect">
            <a:avLst/>
          </a:prstGeom>
          <a:noFill/>
        </p:spPr>
        <p:txBody>
          <a:bodyPr wrap="square" lIns="0" rIns="0" tIns="0" bIns="0">
            <a:spAutoFit/>
          </a:bodyPr>
          <a:lstStyle/>
          <a:p>
            <a:pPr>
              <a:lnSpc>
                <a:spcPct val="125000"/>
              </a:lnSpc>
            </a:pPr>
            <a:r>
              <a:rPr sz="1300" b="1">
                <a:solidFill>
                  <a:srgbClr val="141C1E"/>
                </a:solidFill>
                <a:latin typeface="Segoe UI"/>
              </a:rPr>
              <a:t>M2  </a:t>
            </a:r>
            <a:r>
              <a:rPr sz="1300">
                <a:solidFill>
                  <a:srgbClr val="3A4A4C"/>
                </a:solidFill>
                <a:latin typeface="Segoe UI"/>
              </a:rPr>
              <a:t>Moving average over time — no parameters.</a:t>
            </a:r>
          </a:p>
        </p:txBody>
      </p:sp>
      <p:sp>
        <p:nvSpPr>
          <p:cNvPr id="13" name="Rectangle 12"/>
          <p:cNvSpPr/>
          <p:nvPr/>
        </p:nvSpPr>
        <p:spPr>
          <a:xfrm>
            <a:off x="7955279" y="375818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3023" y="3630168"/>
            <a:ext cx="3127248" cy="365760"/>
          </a:xfrm>
          <a:prstGeom prst="rect">
            <a:avLst/>
          </a:prstGeom>
          <a:noFill/>
        </p:spPr>
        <p:txBody>
          <a:bodyPr wrap="square" lIns="0" rIns="0" tIns="0" bIns="0">
            <a:spAutoFit/>
          </a:bodyPr>
          <a:lstStyle/>
          <a:p>
            <a:pPr>
              <a:lnSpc>
                <a:spcPct val="125000"/>
              </a:lnSpc>
            </a:pPr>
            <a:r>
              <a:rPr sz="1300" b="1">
                <a:solidFill>
                  <a:srgbClr val="141C1E"/>
                </a:solidFill>
                <a:latin typeface="Segoe UI"/>
              </a:rPr>
              <a:t>M3  </a:t>
            </a:r>
            <a:r>
              <a:rPr sz="1300">
                <a:solidFill>
                  <a:srgbClr val="3A4A4C"/>
                </a:solidFill>
                <a:latin typeface="Segoe UI"/>
              </a:rPr>
              <a:t>The scene description. The adaptation mechanism.</a:t>
            </a:r>
          </a:p>
        </p:txBody>
      </p:sp>
      <p:sp>
        <p:nvSpPr>
          <p:cNvPr id="15" name="Rectangle 14"/>
          <p:cNvSpPr/>
          <p:nvPr/>
        </p:nvSpPr>
        <p:spPr>
          <a:xfrm>
            <a:off x="7955279" y="4471416"/>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3" y="4343400"/>
            <a:ext cx="3127248" cy="365760"/>
          </a:xfrm>
          <a:prstGeom prst="rect">
            <a:avLst/>
          </a:prstGeom>
          <a:noFill/>
        </p:spPr>
        <p:txBody>
          <a:bodyPr wrap="square" lIns="0" rIns="0" tIns="0" bIns="0">
            <a:spAutoFit/>
          </a:bodyPr>
          <a:lstStyle/>
          <a:p>
            <a:pPr>
              <a:lnSpc>
                <a:spcPct val="125000"/>
              </a:lnSpc>
            </a:pPr>
            <a:r>
              <a:rPr sz="1300" b="1">
                <a:solidFill>
                  <a:srgbClr val="141C1E"/>
                </a:solidFill>
                <a:latin typeface="Segoe UI"/>
              </a:rPr>
              <a:t>M4  </a:t>
            </a:r>
            <a:r>
              <a:rPr sz="1300">
                <a:solidFill>
                  <a:srgbClr val="3A4A4C"/>
                </a:solidFill>
                <a:latin typeface="Segoe UI"/>
              </a:rPr>
              <a:t>Frozen LLaVA explains each detected event.</a:t>
            </a:r>
          </a:p>
        </p:txBody>
      </p:sp>
      <p:sp>
        <p:nvSpPr>
          <p:cNvPr id="17" name="Rectangle 16"/>
          <p:cNvSpPr/>
          <p:nvPr/>
        </p:nvSpPr>
        <p:spPr>
          <a:xfrm>
            <a:off x="7955279" y="5166360"/>
            <a:ext cx="3364992" cy="10515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55279" y="5166360"/>
            <a:ext cx="45720" cy="105156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1" y="5312664"/>
            <a:ext cx="2862072"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DEPLOYMENT</a:t>
            </a:r>
          </a:p>
        </p:txBody>
      </p:sp>
      <p:sp>
        <p:nvSpPr>
          <p:cNvPr id="20" name="TextBox 19"/>
          <p:cNvSpPr txBox="1"/>
          <p:nvPr/>
        </p:nvSpPr>
        <p:spPr>
          <a:xfrm>
            <a:off x="8211311" y="5605272"/>
            <a:ext cx="2862072" cy="484631"/>
          </a:xfrm>
          <a:prstGeom prst="rect">
            <a:avLst/>
          </a:prstGeom>
          <a:noFill/>
        </p:spPr>
        <p:txBody>
          <a:bodyPr wrap="square" lIns="0" rIns="0" tIns="0" bIns="0">
            <a:spAutoFit/>
          </a:bodyPr>
          <a:lstStyle/>
          <a:p>
            <a:pPr algn="l">
              <a:lnSpc>
                <a:spcPct val="100000"/>
              </a:lnSpc>
            </a:pPr>
            <a:r>
              <a:rPr sz="1300" b="0" i="0">
                <a:solidFill>
                  <a:srgbClr val="141C1E"/>
                </a:solidFill>
                <a:latin typeface="Segoe UI"/>
              </a:rPr>
              <a:t>Moving to a new site = editing one sentence. No target data. No gradients.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METHOD  ·  DESIGN RATIONALE</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Why freezing everything is the point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5</a:t>
            </a:r>
          </a:p>
        </p:txBody>
      </p:sp>
      <p:sp>
        <p:nvSpPr>
          <p:cNvPr id="7" name="Rectangle 6"/>
          <p:cNvSpPr/>
          <p:nvPr/>
        </p:nvSpPr>
        <p:spPr>
          <a:xfrm>
            <a:off x="777240" y="192024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9222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The risk.  </a:t>
            </a:r>
            <a:r>
              <a:rPr sz="1650">
                <a:solidFill>
                  <a:srgbClr val="3A4A4C"/>
                </a:solidFill>
                <a:latin typeface="Segoe UI"/>
              </a:rPr>
              <a:t>If the system learned even a little from the new site, and performance improved, we could not say what caused it — the sentence, or the learning.</a:t>
            </a:r>
          </a:p>
        </p:txBody>
      </p:sp>
      <p:sp>
        <p:nvSpPr>
          <p:cNvPr id="9" name="Rectangle 8"/>
          <p:cNvSpPr/>
          <p:nvPr/>
        </p:nvSpPr>
        <p:spPr>
          <a:xfrm>
            <a:off x="777240" y="27889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66090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Our design.  </a:t>
            </a:r>
            <a:r>
              <a:rPr sz="1650">
                <a:solidFill>
                  <a:srgbClr val="3A4A4C"/>
                </a:solidFill>
                <a:latin typeface="Segoe UI"/>
              </a:rPr>
              <a:t>No parameter anywhere is allowed to change. Exactly one thing in the system can vary: the text.</a:t>
            </a:r>
          </a:p>
        </p:txBody>
      </p:sp>
      <p:sp>
        <p:nvSpPr>
          <p:cNvPr id="11" name="Rectangle 10"/>
          <p:cNvSpPr/>
          <p:nvPr/>
        </p:nvSpPr>
        <p:spPr>
          <a:xfrm>
            <a:off x="777240" y="365760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529584"/>
            <a:ext cx="10399471" cy="365760"/>
          </a:xfrm>
          <a:prstGeom prst="rect">
            <a:avLst/>
          </a:prstGeom>
          <a:noFill/>
        </p:spPr>
        <p:txBody>
          <a:bodyPr wrap="square" lIns="0" rIns="0" tIns="0" bIns="0">
            <a:spAutoFit/>
          </a:bodyPr>
          <a:lstStyle/>
          <a:p>
            <a:pPr>
              <a:lnSpc>
                <a:spcPct val="125000"/>
              </a:lnSpc>
            </a:pPr>
            <a:r>
              <a:rPr sz="1650" b="1">
                <a:solidFill>
                  <a:srgbClr val="141C1E"/>
                </a:solidFill>
                <a:latin typeface="Segoe UI"/>
              </a:rPr>
              <a:t>The consequence.  </a:t>
            </a:r>
            <a:r>
              <a:rPr sz="1650">
                <a:solidFill>
                  <a:srgbClr val="3A4A4C"/>
                </a:solidFill>
                <a:latin typeface="Segoe UI"/>
              </a:rPr>
              <a:t>Any measured difference is attributable to the sentence. There is no other candidate.</a:t>
            </a:r>
          </a:p>
        </p:txBody>
      </p:sp>
      <p:sp>
        <p:nvSpPr>
          <p:cNvPr id="13" name="Rectangle 12"/>
          <p:cNvSpPr/>
          <p:nvPr/>
        </p:nvSpPr>
        <p:spPr>
          <a:xfrm>
            <a:off x="777240" y="4343400"/>
            <a:ext cx="10637215" cy="13716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343400"/>
            <a:ext cx="45720" cy="13716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48970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IDENTIFIABILITY</a:t>
            </a:r>
          </a:p>
        </p:txBody>
      </p:sp>
      <p:sp>
        <p:nvSpPr>
          <p:cNvPr id="16" name="TextBox 15"/>
          <p:cNvSpPr txBox="1"/>
          <p:nvPr/>
        </p:nvSpPr>
        <p:spPr>
          <a:xfrm>
            <a:off x="1033271" y="4782312"/>
            <a:ext cx="10134295" cy="804672"/>
          </a:xfrm>
          <a:prstGeom prst="rect">
            <a:avLst/>
          </a:prstGeom>
          <a:noFill/>
        </p:spPr>
        <p:txBody>
          <a:bodyPr wrap="square" lIns="0" rIns="0" tIns="0" bIns="0">
            <a:spAutoFit/>
          </a:bodyPr>
          <a:lstStyle/>
          <a:p>
            <a:pPr algn="l">
              <a:lnSpc>
                <a:spcPct val="100000"/>
              </a:lnSpc>
            </a:pPr>
            <a:r>
              <a:rPr sz="1600" b="0" i="0">
                <a:solidFill>
                  <a:srgbClr val="141C1E"/>
                </a:solidFill>
                <a:latin typeface="Segoe UI"/>
              </a:rPr>
              <a:t>This is what makes the adaptation claim testable rather than asserted. You cannot run our central experiment on the competing systems — their text is learned on source data, or entangled in an LLM prior, or accompanied by a trained adapter.</a:t>
            </a:r>
          </a:p>
        </p:txBody>
      </p:sp>
      <p:sp>
        <p:nvSpPr>
          <p:cNvPr id="17" name="TextBox 16"/>
          <p:cNvSpPr txBox="1"/>
          <p:nvPr/>
        </p:nvSpPr>
        <p:spPr>
          <a:xfrm>
            <a:off x="777240" y="5943600"/>
            <a:ext cx="10637215" cy="365760"/>
          </a:xfrm>
          <a:prstGeom prst="rect">
            <a:avLst/>
          </a:prstGeom>
          <a:noFill/>
        </p:spPr>
        <p:txBody>
          <a:bodyPr wrap="square" lIns="0" rIns="0" tIns="0" bIns="0">
            <a:spAutoFit/>
          </a:bodyPr>
          <a:lstStyle/>
          <a:p>
            <a:pPr algn="l">
              <a:lnSpc>
                <a:spcPct val="100000"/>
              </a:lnSpc>
            </a:pPr>
            <a:r>
              <a:rPr sz="1500" b="0" i="1">
                <a:solidFill>
                  <a:srgbClr val="617274"/>
                </a:solidFill>
                <a:latin typeface="Segoe UI"/>
              </a:rPr>
              <a:t>It also means the claim can be falsified — which is the next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EVALUATION DESIGN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protocol that can prove us wrong</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6</a:t>
            </a:r>
          </a:p>
        </p:txBody>
      </p:sp>
      <p:sp>
        <p:nvSpPr>
          <p:cNvPr id="7" name="TextBox 6"/>
          <p:cNvSpPr txBox="1"/>
          <p:nvPr/>
        </p:nvSpPr>
        <p:spPr>
          <a:xfrm>
            <a:off x="777240" y="1783080"/>
            <a:ext cx="10637215" cy="365760"/>
          </a:xfrm>
          <a:prstGeom prst="rect">
            <a:avLst/>
          </a:prstGeom>
          <a:noFill/>
        </p:spPr>
        <p:txBody>
          <a:bodyPr wrap="square" lIns="0" rIns="0" tIns="0" bIns="0">
            <a:spAutoFit/>
          </a:bodyPr>
          <a:lstStyle/>
          <a:p>
            <a:pPr algn="l">
              <a:lnSpc>
                <a:spcPct val="100000"/>
              </a:lnSpc>
            </a:pPr>
            <a:r>
              <a:rPr sz="1650" b="0" i="0">
                <a:solidFill>
                  <a:srgbClr val="3A4A4C"/>
                </a:solidFill>
                <a:latin typeface="Segoe UI"/>
              </a:rPr>
              <a:t>Run the identical pipeline four times. Change only the sentence.</a:t>
            </a:r>
          </a:p>
        </p:txBody>
      </p:sp>
      <p:graphicFrame>
        <p:nvGraphicFramePr>
          <p:cNvPr id="8" name="Table 7"/>
          <p:cNvGraphicFramePr>
            <a:graphicFrameLocks noGrp="1"/>
          </p:cNvGraphicFramePr>
          <p:nvPr/>
        </p:nvGraphicFramePr>
        <p:xfrm>
          <a:off x="777240" y="2377440"/>
          <a:ext cx="10634472" cy="2377440"/>
        </p:xfrm>
        <a:graphic>
          <a:graphicData uri="http://schemas.openxmlformats.org/drawingml/2006/table">
            <a:tbl>
              <a:tblPr firstRow="1">
                <a:tableStyleId>{5C22544A-7EE6-4342-B048-85BDC9FD1C3A}</a:tableStyleId>
              </a:tblPr>
              <a:tblGrid>
                <a:gridCol w="2194560"/>
                <a:gridCol w="4206240"/>
                <a:gridCol w="4233672"/>
              </a:tblGrid>
              <a:tr h="475488">
                <a:tc>
                  <a:txBody>
                    <a:bodyPr wrap="square"/>
                    <a:lstStyle/>
                    <a:p>
                      <a:pPr algn="l"/>
                      <a:r>
                        <a:rPr sz="1400" b="1">
                          <a:solidFill>
                            <a:srgbClr val="FFFFFF"/>
                          </a:solidFill>
                          <a:latin typeface="Segoe UI"/>
                        </a:rPr>
                        <a:t>Condition</a:t>
                      </a:r>
                    </a:p>
                  </a:txBody>
                  <a:tcPr marL="128016" marR="128016" marT="45720" marB="45720" anchor="ctr">
                    <a:solidFill>
                      <a:srgbClr val="141C1E"/>
                    </a:solidFill>
                  </a:tcPr>
                </a:tc>
                <a:tc>
                  <a:txBody>
                    <a:bodyPr wrap="square"/>
                    <a:lstStyle/>
                    <a:p>
                      <a:pPr algn="l"/>
                      <a:r>
                        <a:rPr sz="1400" b="1">
                          <a:solidFill>
                            <a:srgbClr val="FFFFFF"/>
                          </a:solidFill>
                          <a:latin typeface="Segoe UI"/>
                        </a:rPr>
                        <a:t>Sentence supplied</a:t>
                      </a:r>
                    </a:p>
                  </a:txBody>
                  <a:tcPr marL="128016" marR="128016" marT="45720" marB="45720" anchor="ctr">
                    <a:solidFill>
                      <a:srgbClr val="141C1E"/>
                    </a:solidFill>
                  </a:tcPr>
                </a:tc>
                <a:tc>
                  <a:txBody>
                    <a:bodyPr wrap="square"/>
                    <a:lstStyle/>
                    <a:p>
                      <a:pPr algn="l"/>
                      <a:r>
                        <a:rPr sz="1400" b="1">
                          <a:solidFill>
                            <a:srgbClr val="FFFFFF"/>
                          </a:solidFill>
                          <a:latin typeface="Segoe UI"/>
                        </a:rPr>
                        <a:t>Purpose</a:t>
                      </a:r>
                    </a:p>
                  </a:txBody>
                  <a:tcPr marL="128016" marR="128016" marT="45720" marB="45720" anchor="ctr">
                    <a:solidFill>
                      <a:srgbClr val="141C1E"/>
                    </a:solidFill>
                  </a:tcPr>
                </a:tc>
              </a:tr>
              <a:tr h="475488">
                <a:tc>
                  <a:txBody>
                    <a:bodyPr wrap="square"/>
                    <a:lstStyle/>
                    <a:p>
                      <a:pPr algn="l"/>
                      <a:r>
                        <a:rPr sz="1400" b="0">
                          <a:solidFill>
                            <a:srgbClr val="141C1E"/>
                          </a:solidFill>
                          <a:latin typeface="Segoe UI"/>
                        </a:rPr>
                        <a:t>none</a:t>
                      </a:r>
                    </a:p>
                  </a:txBody>
                  <a:tcPr marL="128016" marR="128016" marT="45720" marB="45720" anchor="ctr">
                    <a:solidFill>
                      <a:srgbClr val="FFFFFF"/>
                    </a:solidFill>
                  </a:tcPr>
                </a:tc>
                <a:tc>
                  <a:txBody>
                    <a:bodyPr wrap="square"/>
                    <a:lstStyle/>
                    <a:p>
                      <a:pPr algn="l"/>
                      <a:r>
                        <a:rPr sz="1400" b="0">
                          <a:solidFill>
                            <a:srgbClr val="141C1E"/>
                          </a:solidFill>
                          <a:latin typeface="Segoe UI"/>
                        </a:rPr>
                        <a:t>M3 disabled</a:t>
                      </a:r>
                    </a:p>
                  </a:txBody>
                  <a:tcPr marL="128016" marR="128016" marT="45720" marB="45720" anchor="ctr">
                    <a:solidFill>
                      <a:srgbClr val="FFFFFF"/>
                    </a:solidFill>
                  </a:tcPr>
                </a:tc>
                <a:tc>
                  <a:txBody>
                    <a:bodyPr wrap="square"/>
                    <a:lstStyle/>
                    <a:p>
                      <a:pPr algn="l"/>
                      <a:r>
                        <a:rPr sz="1400" b="0">
                          <a:solidFill>
                            <a:srgbClr val="141C1E"/>
                          </a:solidFill>
                          <a:latin typeface="Segoe UI"/>
                        </a:rPr>
                        <a:t>Lower reference</a:t>
                      </a:r>
                    </a:p>
                  </a:txBody>
                  <a:tcPr marL="128016" marR="128016" marT="45720" marB="45720" anchor="ctr">
                    <a:solidFill>
                      <a:srgbClr val="FFFFFF"/>
                    </a:solidFill>
                  </a:tcPr>
                </a:tc>
              </a:tr>
              <a:tr h="475488">
                <a:tc>
                  <a:txBody>
                    <a:bodyPr wrap="square"/>
                    <a:lstStyle/>
                    <a:p>
                      <a:pPr algn="l"/>
                      <a:r>
                        <a:rPr sz="1400" b="0">
                          <a:solidFill>
                            <a:srgbClr val="141C1E"/>
                          </a:solidFill>
                          <a:latin typeface="Segoe UI"/>
                        </a:rPr>
                        <a:t>generic</a:t>
                      </a:r>
                    </a:p>
                  </a:txBody>
                  <a:tcPr marL="128016" marR="128016" marT="45720" marB="45720" anchor="ctr">
                    <a:solidFill>
                      <a:srgbClr val="F5F7F7"/>
                    </a:solidFill>
                  </a:tcPr>
                </a:tc>
                <a:tc>
                  <a:txBody>
                    <a:bodyPr wrap="square"/>
                    <a:lstStyle/>
                    <a:p>
                      <a:pPr algn="l"/>
                      <a:r>
                        <a:rPr sz="1400" b="0">
                          <a:solidFill>
                            <a:srgbClr val="141C1E"/>
                          </a:solidFill>
                          <a:latin typeface="Segoe UI"/>
                        </a:rPr>
                        <a:t>“a generic scene”</a:t>
                      </a:r>
                    </a:p>
                  </a:txBody>
                  <a:tcPr marL="128016" marR="128016" marT="45720" marB="45720" anchor="ctr">
                    <a:solidFill>
                      <a:srgbClr val="F5F7F7"/>
                    </a:solidFill>
                  </a:tcPr>
                </a:tc>
                <a:tc>
                  <a:txBody>
                    <a:bodyPr wrap="square"/>
                    <a:lstStyle/>
                    <a:p>
                      <a:pPr algn="l"/>
                      <a:r>
                        <a:rPr sz="1400" b="0">
                          <a:solidFill>
                            <a:srgbClr val="141C1E"/>
                          </a:solidFill>
                          <a:latin typeface="Segoe UI"/>
                        </a:rPr>
                        <a:t>Controls for merely having context</a:t>
                      </a:r>
                    </a:p>
                  </a:txBody>
                  <a:tcPr marL="128016" marR="128016" marT="45720" marB="45720" anchor="ctr">
                    <a:solidFill>
                      <a:srgbClr val="F5F7F7"/>
                    </a:solidFill>
                  </a:tcPr>
                </a:tc>
              </a:tr>
              <a:tr h="475488">
                <a:tc>
                  <a:txBody>
                    <a:bodyPr wrap="square"/>
                    <a:lstStyle/>
                    <a:p>
                      <a:pPr algn="l"/>
                      <a:r>
                        <a:rPr sz="1400" b="0">
                          <a:solidFill>
                            <a:srgbClr val="141C1E"/>
                          </a:solidFill>
                          <a:latin typeface="Segoe UI"/>
                        </a:rPr>
                        <a:t>matched</a:t>
                      </a:r>
                    </a:p>
                  </a:txBody>
                  <a:tcPr marL="128016" marR="128016" marT="45720" marB="45720" anchor="ctr">
                    <a:solidFill>
                      <a:srgbClr val="FFFFFF"/>
                    </a:solidFill>
                  </a:tcPr>
                </a:tc>
                <a:tc>
                  <a:txBody>
                    <a:bodyPr wrap="square"/>
                    <a:lstStyle/>
                    <a:p>
                      <a:pPr algn="l"/>
                      <a:r>
                        <a:rPr sz="1400" b="0">
                          <a:solidFill>
                            <a:srgbClr val="141C1E"/>
                          </a:solidFill>
                          <a:latin typeface="Segoe UI"/>
                        </a:rPr>
                        <a:t>Correct description of the scene</a:t>
                      </a:r>
                    </a:p>
                  </a:txBody>
                  <a:tcPr marL="128016" marR="128016" marT="45720" marB="45720" anchor="ctr">
                    <a:solidFill>
                      <a:srgbClr val="FFFFFF"/>
                    </a:solidFill>
                  </a:tcPr>
                </a:tc>
                <a:tc>
                  <a:txBody>
                    <a:bodyPr wrap="square"/>
                    <a:lstStyle/>
                    <a:p>
                      <a:pPr algn="l"/>
                      <a:r>
                        <a:rPr sz="1400" b="0">
                          <a:solidFill>
                            <a:srgbClr val="141C1E"/>
                          </a:solidFill>
                          <a:latin typeface="Segoe UI"/>
                        </a:rPr>
                        <a:t>The proposed operating condition</a:t>
                      </a:r>
                    </a:p>
                  </a:txBody>
                  <a:tcPr marL="128016" marR="128016" marT="45720" marB="45720" anchor="ctr">
                    <a:solidFill>
                      <a:srgbClr val="FFFFFF"/>
                    </a:solidFill>
                  </a:tcPr>
                </a:tc>
              </a:tr>
              <a:tr h="475488">
                <a:tc>
                  <a:txBody>
                    <a:bodyPr wrap="square"/>
                    <a:lstStyle/>
                    <a:p>
                      <a:pPr algn="l"/>
                      <a:r>
                        <a:rPr sz="1400" b="1">
                          <a:solidFill>
                            <a:srgbClr val="141C1E"/>
                          </a:solidFill>
                          <a:latin typeface="Segoe UI"/>
                        </a:rPr>
                        <a:t>mismatched</a:t>
                      </a:r>
                    </a:p>
                  </a:txBody>
                  <a:tcPr marL="128016" marR="128016" marT="45720" marB="45720" anchor="ctr">
                    <a:solidFill>
                      <a:srgbClr val="DDEDEB"/>
                    </a:solidFill>
                  </a:tcPr>
                </a:tc>
                <a:tc>
                  <a:txBody>
                    <a:bodyPr wrap="square"/>
                    <a:lstStyle/>
                    <a:p>
                      <a:pPr algn="l"/>
                      <a:r>
                        <a:rPr sz="1400" b="1">
                          <a:solidFill>
                            <a:srgbClr val="141C1E"/>
                          </a:solidFill>
                          <a:latin typeface="Segoe UI"/>
                        </a:rPr>
                        <a:t>Description of the wrong domain</a:t>
                      </a:r>
                    </a:p>
                  </a:txBody>
                  <a:tcPr marL="128016" marR="128016" marT="45720" marB="45720" anchor="ctr">
                    <a:solidFill>
                      <a:srgbClr val="DDEDEB"/>
                    </a:solidFill>
                  </a:tcPr>
                </a:tc>
                <a:tc>
                  <a:txBody>
                    <a:bodyPr wrap="square"/>
                    <a:lstStyle/>
                    <a:p>
                      <a:pPr algn="l"/>
                      <a:r>
                        <a:rPr sz="1400" b="1">
                          <a:solidFill>
                            <a:srgbClr val="141C1E"/>
                          </a:solidFill>
                          <a:latin typeface="Segoe UI"/>
                        </a:rPr>
                        <a:t>FALSIFYING CONTROL</a:t>
                      </a:r>
                    </a:p>
                  </a:txBody>
                  <a:tcPr marL="128016" marR="128016" marT="45720" marB="45720" anchor="ctr">
                    <a:solidFill>
                      <a:srgbClr val="DDEDEB"/>
                    </a:solidFill>
                  </a:tcPr>
                </a:tc>
              </a:tr>
            </a:tbl>
          </a:graphicData>
        </a:graphic>
      </p:graphicFrame>
      <p:sp>
        <p:nvSpPr>
          <p:cNvPr id="9" name="Rectangle 8"/>
          <p:cNvSpPr/>
          <p:nvPr/>
        </p:nvSpPr>
        <p:spPr>
          <a:xfrm>
            <a:off x="777240" y="4709160"/>
            <a:ext cx="10637215" cy="12344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709160"/>
            <a:ext cx="45720" cy="123444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85546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PREDICTED SIGNATURE, FIXED BEFORE MEASUREMENT</a:t>
            </a:r>
          </a:p>
        </p:txBody>
      </p:sp>
      <p:sp>
        <p:nvSpPr>
          <p:cNvPr id="12" name="TextBox 11"/>
          <p:cNvSpPr txBox="1"/>
          <p:nvPr/>
        </p:nvSpPr>
        <p:spPr>
          <a:xfrm>
            <a:off x="1033271" y="5148072"/>
            <a:ext cx="10134295" cy="667512"/>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matched ≥ generic ≥ none, with mismatched measurably WORSE. If a deliberately wrong description costs nothing, the method ignores its context and our claim is refuted.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SETUP</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What we ran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7</a:t>
            </a:r>
          </a:p>
        </p:txBody>
      </p:sp>
      <p:graphicFrame>
        <p:nvGraphicFramePr>
          <p:cNvPr id="7" name="Table 6"/>
          <p:cNvGraphicFramePr>
            <a:graphicFrameLocks noGrp="1"/>
          </p:cNvGraphicFramePr>
          <p:nvPr/>
        </p:nvGraphicFramePr>
        <p:xfrm>
          <a:off x="777240" y="1828800"/>
          <a:ext cx="10634472" cy="2377440"/>
        </p:xfrm>
        <a:graphic>
          <a:graphicData uri="http://schemas.openxmlformats.org/drawingml/2006/table">
            <a:tbl>
              <a:tblPr>
                <a:tableStyleId>{5C22544A-7EE6-4342-B048-85BDC9FD1C3A}</a:tableStyleId>
              </a:tblPr>
              <a:tblGrid>
                <a:gridCol w="2194560"/>
                <a:gridCol w="8439912"/>
              </a:tblGrid>
              <a:tr h="475488">
                <a:tc>
                  <a:txBody>
                    <a:bodyPr wrap="square"/>
                    <a:lstStyle/>
                    <a:p>
                      <a:pPr algn="l"/>
                      <a:r>
                        <a:rPr sz="1500" b="0">
                          <a:solidFill>
                            <a:srgbClr val="141C1E"/>
                          </a:solidFill>
                          <a:latin typeface="Segoe UI"/>
                        </a:rPr>
                        <a:t>Benchmarks</a:t>
                      </a:r>
                    </a:p>
                  </a:txBody>
                  <a:tcPr marL="128016" marR="128016" marT="45720" marB="45720" anchor="ctr">
                    <a:solidFill>
                      <a:srgbClr val="F5F7F7"/>
                    </a:solidFill>
                  </a:tcPr>
                </a:tc>
                <a:tc>
                  <a:txBody>
                    <a:bodyPr wrap="square"/>
                    <a:lstStyle/>
                    <a:p>
                      <a:pPr algn="l"/>
                      <a:r>
                        <a:rPr sz="1500" b="0">
                          <a:solidFill>
                            <a:srgbClr val="141C1E"/>
                          </a:solidFill>
                          <a:latin typeface="Segoe UI"/>
                        </a:rPr>
                        <a:t>ShanghaiTech (12 views) and CUHK Avenue (1 view)</a:t>
                      </a:r>
                    </a:p>
                  </a:txBody>
                  <a:tcPr marL="128016" marR="128016" marT="45720" marB="45720" anchor="ctr">
                    <a:solidFill>
                      <a:srgbClr val="F5F7F7"/>
                    </a:solidFill>
                  </a:tcPr>
                </a:tc>
              </a:tr>
              <a:tr h="475488">
                <a:tc>
                  <a:txBody>
                    <a:bodyPr wrap="square"/>
                    <a:lstStyle/>
                    <a:p>
                      <a:pPr algn="l"/>
                      <a:r>
                        <a:rPr sz="1500" b="0">
                          <a:solidFill>
                            <a:srgbClr val="141C1E"/>
                          </a:solidFill>
                          <a:latin typeface="Segoe UI"/>
                        </a:rPr>
                        <a:t>Scale</a:t>
                      </a:r>
                    </a:p>
                  </a:txBody>
                  <a:tcPr marL="128016" marR="128016" marT="45720" marB="45720" anchor="ctr">
                    <a:solidFill>
                      <a:srgbClr val="FFFFFF"/>
                    </a:solidFill>
                  </a:tcPr>
                </a:tc>
                <a:tc>
                  <a:txBody>
                    <a:bodyPr wrap="square"/>
                    <a:lstStyle/>
                    <a:p>
                      <a:pPr algn="l"/>
                      <a:r>
                        <a:rPr sz="1500" b="0">
                          <a:solidFill>
                            <a:srgbClr val="141C1E"/>
                          </a:solidFill>
                          <a:latin typeface="Segoe UI"/>
                        </a:rPr>
                        <a:t>128 test clips · 28,118 frames · frame-level ground truth</a:t>
                      </a:r>
                    </a:p>
                  </a:txBody>
                  <a:tcPr marL="128016" marR="128016" marT="45720" marB="45720" anchor="ctr">
                    <a:solidFill>
                      <a:srgbClr val="FFFFFF"/>
                    </a:solidFill>
                  </a:tcPr>
                </a:tc>
              </a:tr>
              <a:tr h="475488">
                <a:tc>
                  <a:txBody>
                    <a:bodyPr wrap="square"/>
                    <a:lstStyle/>
                    <a:p>
                      <a:pPr algn="l"/>
                      <a:r>
                        <a:rPr sz="1500" b="0">
                          <a:solidFill>
                            <a:srgbClr val="141C1E"/>
                          </a:solidFill>
                          <a:latin typeface="Segoe UI"/>
                        </a:rPr>
                        <a:t>Hardware</a:t>
                      </a:r>
                    </a:p>
                  </a:txBody>
                  <a:tcPr marL="128016" marR="128016" marT="45720" marB="45720" anchor="ctr">
                    <a:solidFill>
                      <a:srgbClr val="F5F7F7"/>
                    </a:solidFill>
                  </a:tcPr>
                </a:tc>
                <a:tc>
                  <a:txBody>
                    <a:bodyPr wrap="square"/>
                    <a:lstStyle/>
                    <a:p>
                      <a:pPr algn="l"/>
                      <a:r>
                        <a:rPr sz="1500" b="0">
                          <a:solidFill>
                            <a:srgbClr val="141C1E"/>
                          </a:solidFill>
                          <a:latin typeface="Segoe UI"/>
                        </a:rPr>
                        <a:t>NVIDIA A40, college GPU server</a:t>
                      </a:r>
                    </a:p>
                  </a:txBody>
                  <a:tcPr marL="128016" marR="128016" marT="45720" marB="45720" anchor="ctr">
                    <a:solidFill>
                      <a:srgbClr val="F5F7F7"/>
                    </a:solidFill>
                  </a:tcPr>
                </a:tc>
              </a:tr>
              <a:tr h="475488">
                <a:tc>
                  <a:txBody>
                    <a:bodyPr wrap="square"/>
                    <a:lstStyle/>
                    <a:p>
                      <a:pPr algn="l"/>
                      <a:r>
                        <a:rPr sz="1500" b="0">
                          <a:solidFill>
                            <a:srgbClr val="141C1E"/>
                          </a:solidFill>
                          <a:latin typeface="Segoe UI"/>
                        </a:rPr>
                        <a:t>Backbone</a:t>
                      </a:r>
                    </a:p>
                  </a:txBody>
                  <a:tcPr marL="128016" marR="128016" marT="45720" marB="45720" anchor="ctr">
                    <a:solidFill>
                      <a:srgbClr val="FFFFFF"/>
                    </a:solidFill>
                  </a:tcPr>
                </a:tc>
                <a:tc>
                  <a:txBody>
                    <a:bodyPr wrap="square"/>
                    <a:lstStyle/>
                    <a:p>
                      <a:pPr algn="l"/>
                      <a:r>
                        <a:rPr sz="1500" b="0">
                          <a:solidFill>
                            <a:srgbClr val="141C1E"/>
                          </a:solidFill>
                          <a:latin typeface="Segoe UI"/>
                        </a:rPr>
                        <a:t>CLIP ViT-L/14 (LAION-2B), frozen · PyTorch 2.3.1 / CUDA 12.1</a:t>
                      </a:r>
                    </a:p>
                  </a:txBody>
                  <a:tcPr marL="128016" marR="128016" marT="45720" marB="45720" anchor="ctr">
                    <a:solidFill>
                      <a:srgbClr val="FFFFFF"/>
                    </a:solidFill>
                  </a:tcPr>
                </a:tc>
              </a:tr>
              <a:tr h="475488">
                <a:tc>
                  <a:txBody>
                    <a:bodyPr wrap="square"/>
                    <a:lstStyle/>
                    <a:p>
                      <a:pPr algn="l"/>
                      <a:r>
                        <a:rPr sz="1500" b="0">
                          <a:solidFill>
                            <a:srgbClr val="141C1E"/>
                          </a:solidFill>
                          <a:latin typeface="Segoe UI"/>
                        </a:rPr>
                        <a:t>Runs</a:t>
                      </a:r>
                    </a:p>
                  </a:txBody>
                  <a:tcPr marL="128016" marR="128016" marT="45720" marB="45720" anchor="ctr">
                    <a:solidFill>
                      <a:srgbClr val="F5F7F7"/>
                    </a:solidFill>
                  </a:tcPr>
                </a:tc>
                <a:tc>
                  <a:txBody>
                    <a:bodyPr wrap="square"/>
                    <a:lstStyle/>
                    <a:p>
                      <a:pPr algn="l"/>
                      <a:r>
                        <a:rPr sz="1500" b="0">
                          <a:solidFill>
                            <a:srgbClr val="141C1E"/>
                          </a:solidFill>
                          <a:latin typeface="Segoe UI"/>
                        </a:rPr>
                        <a:t>5 full experiment runs + cached-embedding analysis</a:t>
                      </a:r>
                    </a:p>
                  </a:txBody>
                  <a:tcPr marL="128016" marR="128016" marT="45720" marB="45720" anchor="ctr">
                    <a:solidFill>
                      <a:srgbClr val="F5F7F7"/>
                    </a:solidFill>
                  </a:tcPr>
                </a:tc>
              </a:tr>
            </a:tbl>
          </a:graphicData>
        </a:graphic>
      </p:graphicFrame>
      <p:sp>
        <p:nvSpPr>
          <p:cNvPr id="8" name="Rectangle 7"/>
          <p:cNvSpPr/>
          <p:nvPr/>
        </p:nvSpPr>
        <p:spPr>
          <a:xfrm>
            <a:off x="777240" y="4389120"/>
            <a:ext cx="10637215" cy="16002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389120"/>
            <a:ext cx="45720" cy="16002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53542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EVERY RUN RECORDS ITS OWN CONDITIONS</a:t>
            </a:r>
          </a:p>
        </p:txBody>
      </p:sp>
      <p:sp>
        <p:nvSpPr>
          <p:cNvPr id="11" name="TextBox 10"/>
          <p:cNvSpPr txBox="1"/>
          <p:nvPr/>
        </p:nvSpPr>
        <p:spPr>
          <a:xfrm>
            <a:off x="1033271" y="4828031"/>
            <a:ext cx="10134295" cy="1033271"/>
          </a:xfrm>
          <a:prstGeom prst="rect">
            <a:avLst/>
          </a:prstGeom>
          <a:noFill/>
        </p:spPr>
        <p:txBody>
          <a:bodyPr wrap="square" lIns="0" rIns="0" tIns="0" bIns="0">
            <a:spAutoFit/>
          </a:bodyPr>
          <a:lstStyle/>
          <a:p>
            <a:pPr algn="l">
              <a:lnSpc>
                <a:spcPct val="100000"/>
              </a:lnSpc>
            </a:pPr>
            <a:r>
              <a:rPr sz="1500" b="0" i="0">
                <a:solidFill>
                  <a:srgbClr val="141C1E"/>
                </a:solidFill>
                <a:latin typeface="Segoe UI"/>
              </a:rPr>
              <a:t>Each run writes a manifest: the exact code commit, whether the working tree was clean, host, GPU, driver and library versions, full configuration, and per-dataset frame and label counts. Committed alongside the results — every figure in this deck is traceable to the state that produced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THE DATA</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What the two benchmarks actually look like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8</a:t>
            </a:r>
          </a:p>
        </p:txBody>
      </p:sp>
      <p:pic>
        <p:nvPicPr>
          <p:cNvPr id="7" name="Picture 6" descr="fig_dataset_samples.png"/>
          <p:cNvPicPr>
            <a:picLocks noChangeAspect="1"/>
          </p:cNvPicPr>
          <p:nvPr/>
        </p:nvPicPr>
        <p:blipFill>
          <a:blip r:embed="rId2"/>
          <a:stretch>
            <a:fillRect/>
          </a:stretch>
        </p:blipFill>
        <p:spPr>
          <a:xfrm>
            <a:off x="2331619" y="1783079"/>
            <a:ext cx="7528456"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Each column is one fixed camera, so the scene, the angle and the lighting are constant down a column and only the event changes. That is the whole argument in a photograph: an empty walkway and the same walkway with a cyclist look alike and are labelled opposite.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WHAT HAPPENED</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first result was a failure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9</a:t>
            </a:r>
          </a:p>
        </p:txBody>
      </p:sp>
      <p:sp>
        <p:nvSpPr>
          <p:cNvPr id="7" name="Rectangle 6"/>
          <p:cNvSpPr/>
          <p:nvPr/>
        </p:nvSpPr>
        <p:spPr>
          <a:xfrm>
            <a:off x="777240" y="1783080"/>
            <a:ext cx="10637215" cy="1737360"/>
          </a:xfrm>
          <a:prstGeom prst="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45720" cy="1737360"/>
          </a:xfrm>
          <a:prstGeom prst="rect">
            <a:avLst/>
          </a:prstGeom>
          <a:solidFill>
            <a:srgbClr val="8C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1965960"/>
            <a:ext cx="2743200" cy="1005840"/>
          </a:xfrm>
          <a:prstGeom prst="rect">
            <a:avLst/>
          </a:prstGeom>
          <a:noFill/>
        </p:spPr>
        <p:txBody>
          <a:bodyPr wrap="square" lIns="0" rIns="0" tIns="0" bIns="0">
            <a:spAutoFit/>
          </a:bodyPr>
          <a:lstStyle/>
          <a:p>
            <a:pPr algn="l">
              <a:lnSpc>
                <a:spcPct val="100000"/>
              </a:lnSpc>
            </a:pPr>
            <a:r>
              <a:rPr sz="6400" b="1" i="0">
                <a:solidFill>
                  <a:srgbClr val="8C3A31"/>
                </a:solidFill>
                <a:latin typeface="Segoe UI"/>
              </a:rPr>
              <a:t>0.49</a:t>
            </a:r>
          </a:p>
        </p:txBody>
      </p:sp>
      <p:sp>
        <p:nvSpPr>
          <p:cNvPr id="10" name="TextBox 9"/>
          <p:cNvSpPr txBox="1"/>
          <p:nvPr/>
        </p:nvSpPr>
        <p:spPr>
          <a:xfrm>
            <a:off x="1234440" y="2953512"/>
            <a:ext cx="274320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frame-level AUROC — 0.50 is random guessing</a:t>
            </a:r>
          </a:p>
        </p:txBody>
      </p:sp>
      <p:sp>
        <p:nvSpPr>
          <p:cNvPr id="11" name="TextBox 10"/>
          <p:cNvSpPr txBox="1"/>
          <p:nvPr/>
        </p:nvSpPr>
        <p:spPr>
          <a:xfrm>
            <a:off x="4617720" y="2148840"/>
            <a:ext cx="6583680" cy="1097280"/>
          </a:xfrm>
          <a:prstGeom prst="rect">
            <a:avLst/>
          </a:prstGeom>
          <a:noFill/>
        </p:spPr>
        <p:txBody>
          <a:bodyPr wrap="square" lIns="0" rIns="0" tIns="0" bIns="0">
            <a:spAutoFit/>
          </a:bodyPr>
          <a:lstStyle/>
          <a:p>
            <a:pPr algn="l">
              <a:lnSpc>
                <a:spcPct val="130000"/>
              </a:lnSpc>
            </a:pPr>
            <a:r>
              <a:rPr sz="1700" b="0" i="0">
                <a:solidFill>
                  <a:srgbClr val="141C1E"/>
                </a:solidFill>
                <a:latin typeface="Segoe UI"/>
              </a:rPr>
              <a:t>Fifty minutes of GPU time produced a detector performing exactly as well as a coin flip.</a:t>
            </a:r>
          </a:p>
        </p:txBody>
      </p:sp>
      <p:sp>
        <p:nvSpPr>
          <p:cNvPr id="12" name="TextBox 11"/>
          <p:cNvSpPr txBox="1"/>
          <p:nvPr/>
        </p:nvSpPr>
        <p:spPr>
          <a:xfrm>
            <a:off x="777240" y="3840480"/>
            <a:ext cx="10637215" cy="365760"/>
          </a:xfrm>
          <a:prstGeom prst="rect">
            <a:avLst/>
          </a:prstGeom>
          <a:noFill/>
        </p:spPr>
        <p:txBody>
          <a:bodyPr wrap="square" lIns="0" rIns="0" tIns="0" bIns="0">
            <a:spAutoFit/>
          </a:bodyPr>
          <a:lstStyle/>
          <a:p>
            <a:pPr algn="l">
              <a:lnSpc>
                <a:spcPct val="100000"/>
              </a:lnSpc>
            </a:pPr>
            <a:r>
              <a:rPr sz="1650" b="1" i="0">
                <a:solidFill>
                  <a:srgbClr val="141C1E"/>
                </a:solidFill>
                <a:latin typeface="Segoe UI"/>
              </a:rPr>
              <a:t>And the central experiment came out backwards:</a:t>
            </a:r>
          </a:p>
        </p:txBody>
      </p:sp>
      <p:graphicFrame>
        <p:nvGraphicFramePr>
          <p:cNvPr id="13" name="Table 12"/>
          <p:cNvGraphicFramePr>
            <a:graphicFrameLocks noGrp="1"/>
          </p:cNvGraphicFramePr>
          <p:nvPr/>
        </p:nvGraphicFramePr>
        <p:xfrm>
          <a:off x="777240" y="4389120"/>
          <a:ext cx="10634472" cy="1371600"/>
        </p:xfrm>
        <a:graphic>
          <a:graphicData uri="http://schemas.openxmlformats.org/drawingml/2006/table">
            <a:tbl>
              <a:tblPr firstRow="1">
                <a:tableStyleId>{5C22544A-7EE6-4342-B048-85BDC9FD1C3A}</a:tableStyleId>
              </a:tblPr>
              <a:tblGrid>
                <a:gridCol w="4599432"/>
                <a:gridCol w="3017520"/>
                <a:gridCol w="3017520"/>
              </a:tblGrid>
              <a:tr h="457200">
                <a:tc>
                  <a:txBody>
                    <a:bodyPr wrap="square"/>
                    <a:lstStyle/>
                    <a:p>
                      <a:pPr algn="l"/>
                      <a:r>
                        <a:rPr sz="1450" b="1">
                          <a:solidFill>
                            <a:srgbClr val="FFFFFF"/>
                          </a:solidFill>
                          <a:latin typeface="Segoe UI"/>
                        </a:rPr>
                        <a:t>Condition</a:t>
                      </a:r>
                    </a:p>
                  </a:txBody>
                  <a:tcPr marL="128016" marR="128016" marT="45720" marB="45720" anchor="ctr">
                    <a:solidFill>
                      <a:srgbClr val="141C1E"/>
                    </a:solidFill>
                  </a:tcPr>
                </a:tc>
                <a:tc>
                  <a:txBody>
                    <a:bodyPr wrap="square"/>
                    <a:lstStyle/>
                    <a:p>
                      <a:pPr algn="l"/>
                      <a:r>
                        <a:rPr sz="1450" b="1">
                          <a:solidFill>
                            <a:srgbClr val="FFFFFF"/>
                          </a:solidFill>
                          <a:latin typeface="Segoe UI"/>
                        </a:rPr>
                        <a:t>Predicted</a:t>
                      </a:r>
                    </a:p>
                  </a:txBody>
                  <a:tcPr marL="128016" marR="128016" marT="45720" marB="45720" anchor="ctr">
                    <a:solidFill>
                      <a:srgbClr val="141C1E"/>
                    </a:solidFill>
                  </a:tcPr>
                </a:tc>
                <a:tc>
                  <a:txBody>
                    <a:bodyPr wrap="square"/>
                    <a:lstStyle/>
                    <a:p>
                      <a:pPr algn="l"/>
                      <a:r>
                        <a:rPr sz="1450" b="1">
                          <a:solidFill>
                            <a:srgbClr val="FFFFFF"/>
                          </a:solidFill>
                          <a:latin typeface="Segoe UI"/>
                        </a:rPr>
                        <a:t>Observed</a:t>
                      </a:r>
                    </a:p>
                  </a:txBody>
                  <a:tcPr marL="128016" marR="128016" marT="45720" marB="45720" anchor="ctr">
                    <a:solidFill>
                      <a:srgbClr val="141C1E"/>
                    </a:solidFill>
                  </a:tcPr>
                </a:tc>
              </a:tr>
              <a:tr h="457200">
                <a:tc>
                  <a:txBody>
                    <a:bodyPr wrap="square"/>
                    <a:lstStyle/>
                    <a:p>
                      <a:pPr algn="l"/>
                      <a:r>
                        <a:rPr sz="1450" b="0">
                          <a:solidFill>
                            <a:srgbClr val="141C1E"/>
                          </a:solidFill>
                          <a:latin typeface="Segoe UI"/>
                        </a:rPr>
                        <a:t>matched (correct description)</a:t>
                      </a:r>
                    </a:p>
                  </a:txBody>
                  <a:tcPr marL="128016" marR="128016" marT="45720" marB="45720" anchor="ctr">
                    <a:solidFill>
                      <a:srgbClr val="FFFFFF"/>
                    </a:solidFill>
                  </a:tcPr>
                </a:tc>
                <a:tc>
                  <a:txBody>
                    <a:bodyPr wrap="square"/>
                    <a:lstStyle/>
                    <a:p>
                      <a:pPr algn="l"/>
                      <a:r>
                        <a:rPr sz="1450" b="0">
                          <a:solidFill>
                            <a:srgbClr val="141C1E"/>
                          </a:solidFill>
                          <a:latin typeface="Segoe UI"/>
                        </a:rPr>
                        <a:t>Best</a:t>
                      </a:r>
                    </a:p>
                  </a:txBody>
                  <a:tcPr marL="128016" marR="128016" marT="45720" marB="45720" anchor="ctr">
                    <a:solidFill>
                      <a:srgbClr val="FFFFFF"/>
                    </a:solidFill>
                  </a:tcPr>
                </a:tc>
                <a:tc>
                  <a:txBody>
                    <a:bodyPr wrap="square"/>
                    <a:lstStyle/>
                    <a:p>
                      <a:pPr algn="l"/>
                      <a:r>
                        <a:rPr sz="1450" b="0">
                          <a:solidFill>
                            <a:srgbClr val="141C1E"/>
                          </a:solidFill>
                          <a:latin typeface="Segoe UI"/>
                        </a:rPr>
                        <a:t>WORST — 0.666</a:t>
                      </a:r>
                    </a:p>
                  </a:txBody>
                  <a:tcPr marL="128016" marR="128016" marT="45720" marB="45720" anchor="ctr">
                    <a:solidFill>
                      <a:srgbClr val="FFFFFF"/>
                    </a:solidFill>
                  </a:tcPr>
                </a:tc>
              </a:tr>
              <a:tr h="457200">
                <a:tc>
                  <a:txBody>
                    <a:bodyPr wrap="square"/>
                    <a:lstStyle/>
                    <a:p>
                      <a:pPr algn="l"/>
                      <a:r>
                        <a:rPr sz="1450" b="0">
                          <a:solidFill>
                            <a:srgbClr val="141C1E"/>
                          </a:solidFill>
                          <a:latin typeface="Segoe UI"/>
                        </a:rPr>
                        <a:t>mismatched (wrong description)</a:t>
                      </a:r>
                    </a:p>
                  </a:txBody>
                  <a:tcPr marL="128016" marR="128016" marT="45720" marB="45720" anchor="ctr">
                    <a:solidFill>
                      <a:srgbClr val="F5F7F7"/>
                    </a:solidFill>
                  </a:tcPr>
                </a:tc>
                <a:tc>
                  <a:txBody>
                    <a:bodyPr wrap="square"/>
                    <a:lstStyle/>
                    <a:p>
                      <a:pPr algn="l"/>
                      <a:r>
                        <a:rPr sz="1450" b="0">
                          <a:solidFill>
                            <a:srgbClr val="141C1E"/>
                          </a:solidFill>
                          <a:latin typeface="Segoe UI"/>
                        </a:rPr>
                        <a:t>Worst</a:t>
                      </a:r>
                    </a:p>
                  </a:txBody>
                  <a:tcPr marL="128016" marR="128016" marT="45720" marB="45720" anchor="ctr">
                    <a:solidFill>
                      <a:srgbClr val="F5F7F7"/>
                    </a:solidFill>
                  </a:tcPr>
                </a:tc>
                <a:tc>
                  <a:txBody>
                    <a:bodyPr wrap="square"/>
                    <a:lstStyle/>
                    <a:p>
                      <a:pPr algn="l"/>
                      <a:r>
                        <a:rPr sz="1450" b="0">
                          <a:solidFill>
                            <a:srgbClr val="141C1E"/>
                          </a:solidFill>
                          <a:latin typeface="Segoe UI"/>
                        </a:rPr>
                        <a:t>Among the best — 0.695</a:t>
                      </a:r>
                    </a:p>
                  </a:txBody>
                  <a:tcPr marL="128016" marR="128016" marT="45720" marB="45720" anchor="ctr">
                    <a:solidFill>
                      <a:srgbClr val="F5F7F7"/>
                    </a:solidFill>
                  </a:tcPr>
                </a:tc>
              </a:tr>
            </a:tbl>
          </a:graphicData>
        </a:graphic>
      </p:graphicFrame>
      <p:sp>
        <p:nvSpPr>
          <p:cNvPr id="14" name="TextBox 13"/>
          <p:cNvSpPr txBox="1"/>
          <p:nvPr/>
        </p:nvSpPr>
        <p:spPr>
          <a:xfrm>
            <a:off x="777240" y="5989320"/>
            <a:ext cx="10637215" cy="365760"/>
          </a:xfrm>
          <a:prstGeom prst="rect">
            <a:avLst/>
          </a:prstGeom>
          <a:noFill/>
        </p:spPr>
        <p:txBody>
          <a:bodyPr wrap="square" lIns="0" rIns="0" tIns="0" bIns="0">
            <a:spAutoFit/>
          </a:bodyPr>
          <a:lstStyle/>
          <a:p>
            <a:pPr algn="l">
              <a:lnSpc>
                <a:spcPct val="100000"/>
              </a:lnSpc>
            </a:pPr>
            <a:r>
              <a:rPr sz="1600" b="0" i="1">
                <a:solidFill>
                  <a:srgbClr val="8C3A31"/>
                </a:solidFill>
                <a:latin typeface="Segoe UI"/>
              </a:rPr>
              <a:t>This is the point at which the idea looks broken.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DIAGNOSIS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Diagnosis 1 — we were measuring it wrong</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10</a:t>
            </a:r>
          </a:p>
        </p:txBody>
      </p:sp>
      <p:sp>
        <p:nvSpPr>
          <p:cNvPr id="7" name="Rectangle 6"/>
          <p:cNvSpPr/>
          <p:nvPr/>
        </p:nvSpPr>
        <p:spPr>
          <a:xfrm>
            <a:off x="777240" y="1874519"/>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46504"/>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12 camera views.  </a:t>
            </a:r>
            <a:r>
              <a:rPr sz="1600">
                <a:solidFill>
                  <a:srgbClr val="3A4A4C"/>
                </a:solidFill>
                <a:latin typeface="Segoe UI"/>
              </a:rPr>
              <a:t>CLIP sits at a different baseline score under each one — different lighting, different angle.</a:t>
            </a:r>
          </a:p>
        </p:txBody>
      </p:sp>
      <p:sp>
        <p:nvSpPr>
          <p:cNvPr id="9" name="Rectangle 8"/>
          <p:cNvSpPr/>
          <p:nvPr/>
        </p:nvSpPr>
        <p:spPr>
          <a:xfrm>
            <a:off x="777240" y="267919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551176"/>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Our error.  </a:t>
            </a:r>
            <a:r>
              <a:rPr sz="1600">
                <a:solidFill>
                  <a:srgbClr val="3A4A4C"/>
                </a:solidFill>
                <a:latin typeface="Segoe UI"/>
              </a:rPr>
              <a:t>We pooled every frame from all 12 cameras into one ranking.</a:t>
            </a:r>
          </a:p>
        </p:txBody>
      </p:sp>
      <p:sp>
        <p:nvSpPr>
          <p:cNvPr id="11" name="Rectangle 10"/>
          <p:cNvSpPr/>
          <p:nvPr/>
        </p:nvSpPr>
        <p:spPr>
          <a:xfrm>
            <a:off x="777240" y="348386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355848"/>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The analogy.  </a:t>
            </a:r>
            <a:r>
              <a:rPr sz="1600">
                <a:solidFill>
                  <a:srgbClr val="3A4A4C"/>
                </a:solidFill>
                <a:latin typeface="Segoe UI"/>
              </a:rPr>
              <a:t>Ranking students from different schools by raw marks when the schools grade differently. The comparison destroys the ordering.</a:t>
            </a:r>
          </a:p>
        </p:txBody>
      </p:sp>
      <p:sp>
        <p:nvSpPr>
          <p:cNvPr id="13" name="TextBox 12"/>
          <p:cNvSpPr txBox="1"/>
          <p:nvPr/>
        </p:nvSpPr>
        <p:spPr>
          <a:xfrm>
            <a:off x="777240" y="4114800"/>
            <a:ext cx="10637215" cy="320040"/>
          </a:xfrm>
          <a:prstGeom prst="rect">
            <a:avLst/>
          </a:prstGeom>
          <a:noFill/>
        </p:spPr>
        <p:txBody>
          <a:bodyPr wrap="square" lIns="0" rIns="0" tIns="0" bIns="0">
            <a:spAutoFit/>
          </a:bodyPr>
          <a:lstStyle/>
          <a:p>
            <a:pPr algn="l">
              <a:lnSpc>
                <a:spcPct val="100000"/>
              </a:lnSpc>
            </a:pPr>
            <a:r>
              <a:rPr sz="1550" b="0" i="0">
                <a:solidFill>
                  <a:srgbClr val="617274"/>
                </a:solidFill>
                <a:latin typeface="Segoe UI"/>
              </a:rPr>
              <a:t>The published protocol for this benchmark normalises each clip first. We were not doing it.</a:t>
            </a:r>
          </a:p>
        </p:txBody>
      </p:sp>
      <p:sp>
        <p:nvSpPr>
          <p:cNvPr id="14" name="Rectangle 13"/>
          <p:cNvSpPr/>
          <p:nvPr/>
        </p:nvSpPr>
        <p:spPr>
          <a:xfrm>
            <a:off x="777240" y="4617720"/>
            <a:ext cx="10637215" cy="123444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4681728"/>
            <a:ext cx="2011680" cy="1005840"/>
          </a:xfrm>
          <a:prstGeom prst="rect">
            <a:avLst/>
          </a:prstGeom>
          <a:noFill/>
        </p:spPr>
        <p:txBody>
          <a:bodyPr wrap="square" lIns="0" rIns="0" tIns="0" bIns="0">
            <a:spAutoFit/>
          </a:bodyPr>
          <a:lstStyle/>
          <a:p>
            <a:pPr algn="l">
              <a:lnSpc>
                <a:spcPct val="100000"/>
              </a:lnSpc>
            </a:pPr>
            <a:r>
              <a:rPr sz="4200" b="1" i="0">
                <a:solidFill>
                  <a:srgbClr val="617274"/>
                </a:solidFill>
                <a:latin typeface="Segoe UI"/>
              </a:rPr>
              <a:t>0.49</a:t>
            </a:r>
          </a:p>
        </p:txBody>
      </p:sp>
      <p:sp>
        <p:nvSpPr>
          <p:cNvPr id="16" name="TextBox 15"/>
          <p:cNvSpPr txBox="1"/>
          <p:nvPr/>
        </p:nvSpPr>
        <p:spPr>
          <a:xfrm>
            <a:off x="1325880" y="5669280"/>
            <a:ext cx="201168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as reported</a:t>
            </a:r>
          </a:p>
        </p:txBody>
      </p:sp>
      <p:sp>
        <p:nvSpPr>
          <p:cNvPr id="17" name="TextBox 16"/>
          <p:cNvSpPr txBox="1"/>
          <p:nvPr/>
        </p:nvSpPr>
        <p:spPr>
          <a:xfrm>
            <a:off x="3520440" y="4956048"/>
            <a:ext cx="822960" cy="548640"/>
          </a:xfrm>
          <a:prstGeom prst="rect">
            <a:avLst/>
          </a:prstGeom>
          <a:noFill/>
        </p:spPr>
        <p:txBody>
          <a:bodyPr wrap="square" lIns="0" rIns="0" tIns="0" bIns="0">
            <a:spAutoFit/>
          </a:bodyPr>
          <a:lstStyle/>
          <a:p>
            <a:pPr algn="l">
              <a:lnSpc>
                <a:spcPct val="100000"/>
              </a:lnSpc>
            </a:pPr>
            <a:r>
              <a:rPr sz="3400" b="1" i="0">
                <a:solidFill>
                  <a:srgbClr val="0D6B67"/>
                </a:solidFill>
                <a:latin typeface="Segoe UI"/>
              </a:rPr>
              <a:t>→</a:t>
            </a:r>
          </a:p>
        </p:txBody>
      </p:sp>
      <p:sp>
        <p:nvSpPr>
          <p:cNvPr id="18" name="TextBox 17"/>
          <p:cNvSpPr txBox="1"/>
          <p:nvPr/>
        </p:nvSpPr>
        <p:spPr>
          <a:xfrm>
            <a:off x="4617720" y="4681728"/>
            <a:ext cx="2194560" cy="1005840"/>
          </a:xfrm>
          <a:prstGeom prst="rect">
            <a:avLst/>
          </a:prstGeom>
          <a:noFill/>
        </p:spPr>
        <p:txBody>
          <a:bodyPr wrap="square" lIns="0" rIns="0" tIns="0" bIns="0">
            <a:spAutoFit/>
          </a:bodyPr>
          <a:lstStyle/>
          <a:p>
            <a:pPr algn="l">
              <a:lnSpc>
                <a:spcPct val="100000"/>
              </a:lnSpc>
            </a:pPr>
            <a:r>
              <a:rPr sz="4200" b="1" i="0">
                <a:solidFill>
                  <a:srgbClr val="0D6B67"/>
                </a:solidFill>
                <a:latin typeface="Segoe UI"/>
              </a:rPr>
              <a:t>0.71</a:t>
            </a:r>
          </a:p>
        </p:txBody>
      </p:sp>
      <p:sp>
        <p:nvSpPr>
          <p:cNvPr id="19" name="TextBox 18"/>
          <p:cNvSpPr txBox="1"/>
          <p:nvPr/>
        </p:nvSpPr>
        <p:spPr>
          <a:xfrm>
            <a:off x="4617720" y="5669280"/>
            <a:ext cx="219456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correctly pooled</a:t>
            </a:r>
          </a:p>
        </p:txBody>
      </p:sp>
      <p:sp>
        <p:nvSpPr>
          <p:cNvPr id="20" name="TextBox 19"/>
          <p:cNvSpPr txBox="1"/>
          <p:nvPr/>
        </p:nvSpPr>
        <p:spPr>
          <a:xfrm>
            <a:off x="7452360" y="4892040"/>
            <a:ext cx="3749039" cy="822960"/>
          </a:xfrm>
          <a:prstGeom prst="rect">
            <a:avLst/>
          </a:prstGeom>
          <a:noFill/>
        </p:spPr>
        <p:txBody>
          <a:bodyPr wrap="square" lIns="0" rIns="0" tIns="0" bIns="0">
            <a:spAutoFit/>
          </a:bodyPr>
          <a:lstStyle/>
          <a:p>
            <a:pPr algn="l">
              <a:lnSpc>
                <a:spcPct val="130000"/>
              </a:lnSpc>
            </a:pPr>
            <a:r>
              <a:rPr sz="1400" b="0" i="0">
                <a:solidFill>
                  <a:srgbClr val="141C1E"/>
                </a:solidFill>
                <a:latin typeface="Segoe UI"/>
              </a:rPr>
              <a:t>Identical scores. Uses no labels.
We report both figures in the paper.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DIAGNOSIS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evidence for that diagnosis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11</a:t>
            </a:r>
          </a:p>
        </p:txBody>
      </p:sp>
      <p:pic>
        <p:nvPicPr>
          <p:cNvPr id="7" name="Picture 6" descr="fig_camera_baselines.png"/>
          <p:cNvPicPr>
            <a:picLocks noChangeAspect="1"/>
          </p:cNvPicPr>
          <p:nvPr/>
        </p:nvPicPr>
        <p:blipFill>
          <a:blip r:embed="rId2"/>
          <a:stretch>
            <a:fillRect/>
          </a:stretch>
        </p:blipFill>
        <p:spPr>
          <a:xfrm>
            <a:off x="2199541" y="1783080"/>
            <a:ext cx="7792613"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Left: every frame projected to two dimensions and coloured by camera — the views sit in separate regions. Right: how similar each view is to the average frame, differing by more than 0.13 between views. Neither panel uses labels, so this is not hindsight.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EXPERIMENTS  ·  THE FINDING</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Diagnosis 2 — the description cancelled itself out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12</a:t>
            </a:r>
          </a:p>
        </p:txBody>
      </p:sp>
      <p:sp>
        <p:nvSpPr>
          <p:cNvPr id="7" name="TextBox 6"/>
          <p:cNvSpPr txBox="1"/>
          <p:nvPr/>
        </p:nvSpPr>
        <p:spPr>
          <a:xfrm>
            <a:off x="777240" y="1737360"/>
            <a:ext cx="10637215" cy="320040"/>
          </a:xfrm>
          <a:prstGeom prst="rect">
            <a:avLst/>
          </a:prstGeom>
          <a:noFill/>
        </p:spPr>
        <p:txBody>
          <a:bodyPr wrap="square" lIns="0" rIns="0" tIns="0" bIns="0">
            <a:spAutoFit/>
          </a:bodyPr>
          <a:lstStyle/>
          <a:p>
            <a:pPr algn="l">
              <a:lnSpc>
                <a:spcPct val="100000"/>
              </a:lnSpc>
            </a:pPr>
            <a:r>
              <a:rPr sz="1600" b="0" i="0">
                <a:solidFill>
                  <a:srgbClr val="3A4A4C"/>
                </a:solidFill>
                <a:latin typeface="Segoe UI"/>
              </a:rPr>
              <a:t>We were appending the scene sentence to BOTH prompt sets:</a:t>
            </a:r>
          </a:p>
        </p:txBody>
      </p:sp>
      <p:sp>
        <p:nvSpPr>
          <p:cNvPr id="8" name="Rectangle 7"/>
          <p:cNvSpPr/>
          <p:nvPr/>
        </p:nvSpPr>
        <p:spPr>
          <a:xfrm>
            <a:off x="777240" y="2240280"/>
            <a:ext cx="5074920" cy="1051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95728"/>
            <a:ext cx="4572000" cy="228600"/>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NORMAL PROMPT</a:t>
            </a:r>
          </a:p>
        </p:txBody>
      </p:sp>
      <p:sp>
        <p:nvSpPr>
          <p:cNvPr id="10" name="TextBox 9"/>
          <p:cNvSpPr txBox="1"/>
          <p:nvPr/>
        </p:nvSpPr>
        <p:spPr>
          <a:xfrm>
            <a:off x="1051560" y="2697480"/>
            <a:ext cx="4572000" cy="548640"/>
          </a:xfrm>
          <a:prstGeom prst="rect">
            <a:avLst/>
          </a:prstGeom>
          <a:noFill/>
        </p:spPr>
        <p:txBody>
          <a:bodyPr wrap="square" lIns="0" rIns="0" tIns="0" bIns="0">
            <a:spAutoFit/>
          </a:bodyPr>
          <a:lstStyle/>
          <a:p>
            <a:pPr algn="l">
              <a:lnSpc>
                <a:spcPct val="130000"/>
              </a:lnSpc>
            </a:pPr>
            <a:r>
              <a:rPr sz="1300" b="0" i="0">
                <a:solidFill>
                  <a:srgbClr val="141C1E"/>
                </a:solidFill>
                <a:latin typeface="Consolas"/>
              </a:rPr>
              <a:t>“a campus walkway with pedestrians,
 everything is normal”</a:t>
            </a:r>
          </a:p>
        </p:txBody>
      </p:sp>
      <p:sp>
        <p:nvSpPr>
          <p:cNvPr id="11" name="Rectangle 10"/>
          <p:cNvSpPr/>
          <p:nvPr/>
        </p:nvSpPr>
        <p:spPr>
          <a:xfrm>
            <a:off x="6217920" y="2240280"/>
            <a:ext cx="5074920" cy="10515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395728"/>
            <a:ext cx="4572000" cy="228600"/>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ABNORMAL PROMPT</a:t>
            </a:r>
          </a:p>
        </p:txBody>
      </p:sp>
      <p:sp>
        <p:nvSpPr>
          <p:cNvPr id="13" name="TextBox 12"/>
          <p:cNvSpPr txBox="1"/>
          <p:nvPr/>
        </p:nvSpPr>
        <p:spPr>
          <a:xfrm>
            <a:off x="6492240" y="2697480"/>
            <a:ext cx="4572000" cy="548640"/>
          </a:xfrm>
          <a:prstGeom prst="rect">
            <a:avLst/>
          </a:prstGeom>
          <a:noFill/>
        </p:spPr>
        <p:txBody>
          <a:bodyPr wrap="square" lIns="0" rIns="0" tIns="0" bIns="0">
            <a:spAutoFit/>
          </a:bodyPr>
          <a:lstStyle/>
          <a:p>
            <a:pPr algn="l">
              <a:lnSpc>
                <a:spcPct val="130000"/>
              </a:lnSpc>
            </a:pPr>
            <a:r>
              <a:rPr sz="1300" b="0" i="0">
                <a:solidFill>
                  <a:srgbClr val="141C1E"/>
                </a:solidFill>
                <a:latin typeface="Consolas"/>
              </a:rPr>
              <a:t>“a campus walkway with pedestrians,
 but something is wrong”</a:t>
            </a:r>
          </a:p>
        </p:txBody>
      </p:sp>
      <p:sp>
        <p:nvSpPr>
          <p:cNvPr id="14" name="Rectangle 13"/>
          <p:cNvSpPr/>
          <p:nvPr/>
        </p:nvSpPr>
        <p:spPr>
          <a:xfrm>
            <a:off x="777240" y="361188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3" y="3483864"/>
            <a:ext cx="10399471" cy="365760"/>
          </a:xfrm>
          <a:prstGeom prst="rect">
            <a:avLst/>
          </a:prstGeom>
          <a:noFill/>
        </p:spPr>
        <p:txBody>
          <a:bodyPr wrap="square" lIns="0" rIns="0" tIns="0" bIns="0">
            <a:spAutoFit/>
          </a:bodyPr>
          <a:lstStyle/>
          <a:p>
            <a:pPr>
              <a:lnSpc>
                <a:spcPct val="125000"/>
              </a:lnSpc>
            </a:pPr>
            <a:r>
              <a:rPr sz="1550" b="1">
                <a:solidFill>
                  <a:srgbClr val="141C1E"/>
                </a:solidFill>
                <a:latin typeface="Segoe UI"/>
              </a:rPr>
              <a:t>Shared words.  </a:t>
            </a:r>
            <a:r>
              <a:rPr sz="1550">
                <a:solidFill>
                  <a:srgbClr val="3A4A4C"/>
                </a:solidFill>
                <a:latin typeface="Segoe UI"/>
              </a:rPr>
              <a:t>Each prompt set is averaged into one summary vector. Shared text enters both — so the two summaries move toward each other.</a:t>
            </a:r>
          </a:p>
        </p:txBody>
      </p:sp>
      <p:sp>
        <p:nvSpPr>
          <p:cNvPr id="16" name="Rectangle 15"/>
          <p:cNvSpPr/>
          <p:nvPr/>
        </p:nvSpPr>
        <p:spPr>
          <a:xfrm>
            <a:off x="777240" y="432511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3" y="4197096"/>
            <a:ext cx="10399471" cy="365760"/>
          </a:xfrm>
          <a:prstGeom prst="rect">
            <a:avLst/>
          </a:prstGeom>
          <a:noFill/>
        </p:spPr>
        <p:txBody>
          <a:bodyPr wrap="square" lIns="0" rIns="0" tIns="0" bIns="0">
            <a:spAutoFit/>
          </a:bodyPr>
          <a:lstStyle/>
          <a:p>
            <a:pPr>
              <a:lnSpc>
                <a:spcPct val="125000"/>
              </a:lnSpc>
            </a:pPr>
            <a:r>
              <a:rPr sz="1550" b="1">
                <a:solidFill>
                  <a:srgbClr val="141C1E"/>
                </a:solidFill>
                <a:latin typeface="Segoe UI"/>
              </a:rPr>
              <a:t>The method depends on them being different.  </a:t>
            </a:r>
            <a:r>
              <a:rPr sz="1550">
                <a:solidFill>
                  <a:srgbClr val="3A4A4C"/>
                </a:solidFill>
                <a:latin typeface="Segoe UI"/>
              </a:rPr>
              <a:t>We were erasing the very contrast the decision rests on.</a:t>
            </a:r>
          </a:p>
        </p:txBody>
      </p:sp>
      <p:sp>
        <p:nvSpPr>
          <p:cNvPr id="18" name="Rectangle 17"/>
          <p:cNvSpPr/>
          <p:nvPr/>
        </p:nvSpPr>
        <p:spPr>
          <a:xfrm>
            <a:off x="777240" y="503834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3" y="4910328"/>
            <a:ext cx="10399471" cy="365760"/>
          </a:xfrm>
          <a:prstGeom prst="rect">
            <a:avLst/>
          </a:prstGeom>
          <a:noFill/>
        </p:spPr>
        <p:txBody>
          <a:bodyPr wrap="square" lIns="0" rIns="0" tIns="0" bIns="0">
            <a:spAutoFit/>
          </a:bodyPr>
          <a:lstStyle/>
          <a:p>
            <a:pPr>
              <a:lnSpc>
                <a:spcPct val="125000"/>
              </a:lnSpc>
            </a:pPr>
            <a:r>
              <a:rPr sz="1550" b="1">
                <a:solidFill>
                  <a:srgbClr val="141C1E"/>
                </a:solidFill>
                <a:latin typeface="Segoe UI"/>
              </a:rPr>
              <a:t>Which explains the inversion.  </a:t>
            </a:r>
            <a:r>
              <a:rPr sz="1550">
                <a:solidFill>
                  <a:srgbClr val="3A4A4C"/>
                </a:solidFill>
                <a:latin typeface="Segoe UI"/>
              </a:rPr>
              <a:t>An accurate description matches every frame strongly, so it absorbs the most contrast. A wrong one matches nothing, so it does no damage.</a:t>
            </a:r>
          </a:p>
        </p:txBody>
      </p:sp>
      <p:sp>
        <p:nvSpPr>
          <p:cNvPr id="20" name="Rectangle 19"/>
          <p:cNvSpPr/>
          <p:nvPr/>
        </p:nvSpPr>
        <p:spPr>
          <a:xfrm>
            <a:off x="777240" y="5376672"/>
            <a:ext cx="10637215" cy="96012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376672"/>
            <a:ext cx="45720" cy="96012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1" y="5522976"/>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THE FIX</a:t>
            </a:r>
          </a:p>
        </p:txBody>
      </p:sp>
      <p:sp>
        <p:nvSpPr>
          <p:cNvPr id="23" name="TextBox 22"/>
          <p:cNvSpPr txBox="1"/>
          <p:nvPr/>
        </p:nvSpPr>
        <p:spPr>
          <a:xfrm>
            <a:off x="1033271" y="5815583"/>
            <a:ext cx="10134295" cy="393192"/>
          </a:xfrm>
          <a:prstGeom prst="rect">
            <a:avLst/>
          </a:prstGeom>
          <a:noFill/>
        </p:spPr>
        <p:txBody>
          <a:bodyPr wrap="square" lIns="0" rIns="0" tIns="0" bIns="0">
            <a:spAutoFit/>
          </a:bodyPr>
          <a:lstStyle/>
          <a:p>
            <a:pPr algn="l">
              <a:lnSpc>
                <a:spcPct val="100000"/>
              </a:lnSpc>
            </a:pPr>
            <a:r>
              <a:rPr sz="1500" b="0" i="0">
                <a:solidFill>
                  <a:srgbClr val="141C1E"/>
                </a:solidFill>
                <a:latin typeface="Segoe UI"/>
              </a:rPr>
              <a:t>Attach the description to the normal prompts only — the scene defines what normal looks like here; an anomaly is a departure from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CENTRAL EXPERIMENT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After the fix: the predicted signature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13</a:t>
            </a:r>
          </a:p>
        </p:txBody>
      </p:sp>
      <p:sp>
        <p:nvSpPr>
          <p:cNvPr id="7" name="TextBox 6"/>
          <p:cNvSpPr txBox="1"/>
          <p:nvPr/>
        </p:nvSpPr>
        <p:spPr>
          <a:xfrm>
            <a:off x="777240" y="1737360"/>
            <a:ext cx="10637215" cy="320040"/>
          </a:xfrm>
          <a:prstGeom prst="rect">
            <a:avLst/>
          </a:prstGeom>
          <a:noFill/>
        </p:spPr>
        <p:txBody>
          <a:bodyPr wrap="square" lIns="0" rIns="0" tIns="0" bIns="0">
            <a:spAutoFit/>
          </a:bodyPr>
          <a:lstStyle/>
          <a:p>
            <a:pPr algn="l">
              <a:lnSpc>
                <a:spcPct val="100000"/>
              </a:lnSpc>
            </a:pPr>
            <a:r>
              <a:rPr sz="1450" b="0" i="0">
                <a:solidFill>
                  <a:srgbClr val="617274"/>
                </a:solidFill>
                <a:latin typeface="Segoe UI"/>
              </a:rPr>
              <a:t>ShanghaiTech, all 107 clips, per-clip normalised. Every model frozen; only the sentence and its injection point vary.</a:t>
            </a:r>
          </a:p>
        </p:txBody>
      </p:sp>
      <p:graphicFrame>
        <p:nvGraphicFramePr>
          <p:cNvPr id="8" name="Table 7"/>
          <p:cNvGraphicFramePr>
            <a:graphicFrameLocks noGrp="1"/>
          </p:cNvGraphicFramePr>
          <p:nvPr/>
        </p:nvGraphicFramePr>
        <p:xfrm>
          <a:off x="777240" y="2286000"/>
          <a:ext cx="10634472" cy="1591056"/>
        </p:xfrm>
        <a:graphic>
          <a:graphicData uri="http://schemas.openxmlformats.org/drawingml/2006/table">
            <a:tbl>
              <a:tblPr firstRow="1">
                <a:tableStyleId>{5C22544A-7EE6-4342-B048-85BDC9FD1C3A}</a:tableStyleId>
              </a:tblPr>
              <a:tblGrid>
                <a:gridCol w="2953512"/>
                <a:gridCol w="1536192"/>
                <a:gridCol w="1536192"/>
                <a:gridCol w="1536192"/>
                <a:gridCol w="1536192"/>
                <a:gridCol w="1536192"/>
              </a:tblGrid>
              <a:tr h="530352">
                <a:tc>
                  <a:txBody>
                    <a:bodyPr wrap="square"/>
                    <a:lstStyle/>
                    <a:p>
                      <a:pPr algn="l"/>
                      <a:r>
                        <a:rPr sz="1500" b="1">
                          <a:solidFill>
                            <a:srgbClr val="FFFFFF"/>
                          </a:solidFill>
                          <a:latin typeface="Segoe UI"/>
                        </a:rPr>
                        <a:t>Injection point</a:t>
                      </a:r>
                    </a:p>
                  </a:txBody>
                  <a:tcPr marL="128016" marR="128016" marT="45720" marB="45720" anchor="ctr">
                    <a:solidFill>
                      <a:srgbClr val="141C1E"/>
                    </a:solidFill>
                  </a:tcPr>
                </a:tc>
                <a:tc>
                  <a:txBody>
                    <a:bodyPr wrap="square"/>
                    <a:lstStyle/>
                    <a:p>
                      <a:pPr algn="r"/>
                      <a:r>
                        <a:rPr sz="1500" b="1">
                          <a:solidFill>
                            <a:srgbClr val="FFFFFF"/>
                          </a:solidFill>
                          <a:latin typeface="Segoe UI"/>
                        </a:rPr>
                        <a:t>none</a:t>
                      </a:r>
                    </a:p>
                  </a:txBody>
                  <a:tcPr marL="128016" marR="128016" marT="45720" marB="45720" anchor="ctr">
                    <a:solidFill>
                      <a:srgbClr val="141C1E"/>
                    </a:solidFill>
                  </a:tcPr>
                </a:tc>
                <a:tc>
                  <a:txBody>
                    <a:bodyPr wrap="square"/>
                    <a:lstStyle/>
                    <a:p>
                      <a:pPr algn="r"/>
                      <a:r>
                        <a:rPr sz="1500" b="1">
                          <a:solidFill>
                            <a:srgbClr val="FFFFFF"/>
                          </a:solidFill>
                          <a:latin typeface="Segoe UI"/>
                        </a:rPr>
                        <a:t>generic</a:t>
                      </a:r>
                    </a:p>
                  </a:txBody>
                  <a:tcPr marL="128016" marR="128016" marT="45720" marB="45720" anchor="ctr">
                    <a:solidFill>
                      <a:srgbClr val="141C1E"/>
                    </a:solidFill>
                  </a:tcPr>
                </a:tc>
                <a:tc>
                  <a:txBody>
                    <a:bodyPr wrap="square"/>
                    <a:lstStyle/>
                    <a:p>
                      <a:pPr algn="r"/>
                      <a:r>
                        <a:rPr sz="1500" b="1">
                          <a:solidFill>
                            <a:srgbClr val="FFFFFF"/>
                          </a:solidFill>
                          <a:latin typeface="Segoe UI"/>
                        </a:rPr>
                        <a:t>matched</a:t>
                      </a:r>
                    </a:p>
                  </a:txBody>
                  <a:tcPr marL="128016" marR="128016" marT="45720" marB="45720" anchor="ctr">
                    <a:solidFill>
                      <a:srgbClr val="141C1E"/>
                    </a:solidFill>
                  </a:tcPr>
                </a:tc>
                <a:tc>
                  <a:txBody>
                    <a:bodyPr wrap="square"/>
                    <a:lstStyle/>
                    <a:p>
                      <a:pPr algn="r"/>
                      <a:r>
                        <a:rPr sz="1500" b="1">
                          <a:solidFill>
                            <a:srgbClr val="FFFFFF"/>
                          </a:solidFill>
                          <a:latin typeface="Segoe UI"/>
                        </a:rPr>
                        <a:t>mismatched</a:t>
                      </a:r>
                    </a:p>
                  </a:txBody>
                  <a:tcPr marL="128016" marR="128016" marT="45720" marB="45720" anchor="ctr">
                    <a:solidFill>
                      <a:srgbClr val="141C1E"/>
                    </a:solidFill>
                  </a:tcPr>
                </a:tc>
                <a:tc>
                  <a:txBody>
                    <a:bodyPr wrap="square"/>
                    <a:lstStyle/>
                    <a:p>
                      <a:pPr algn="r"/>
                      <a:r>
                        <a:rPr sz="1500" b="1">
                          <a:solidFill>
                            <a:srgbClr val="FFFFFF"/>
                          </a:solidFill>
                          <a:latin typeface="Segoe UI"/>
                        </a:rPr>
                        <a:t>gap</a:t>
                      </a:r>
                    </a:p>
                  </a:txBody>
                  <a:tcPr marL="128016" marR="128016" marT="45720" marB="45720" anchor="ctr">
                    <a:solidFill>
                      <a:srgbClr val="141C1E"/>
                    </a:solidFill>
                  </a:tcPr>
                </a:tc>
              </a:tr>
              <a:tr h="530352">
                <a:tc>
                  <a:txBody>
                    <a:bodyPr wrap="square"/>
                    <a:lstStyle/>
                    <a:p>
                      <a:pPr algn="l"/>
                      <a:r>
                        <a:rPr sz="1500" b="0">
                          <a:solidFill>
                            <a:srgbClr val="141C1E"/>
                          </a:solidFill>
                          <a:latin typeface="Segoe UI"/>
                        </a:rPr>
                        <a:t>Both prompt sets</a:t>
                      </a:r>
                    </a:p>
                  </a:txBody>
                  <a:tcPr marL="128016" marR="128016" marT="45720" marB="45720" anchor="ctr">
                    <a:solidFill>
                      <a:srgbClr val="FFFFFF"/>
                    </a:solidFill>
                  </a:tcPr>
                </a:tc>
                <a:tc>
                  <a:txBody>
                    <a:bodyPr wrap="square"/>
                    <a:lstStyle/>
                    <a:p>
                      <a:pPr algn="r"/>
                      <a:r>
                        <a:rPr sz="1500" b="0">
                          <a:solidFill>
                            <a:srgbClr val="141C1E"/>
                          </a:solidFill>
                          <a:latin typeface="Consolas"/>
                        </a:rPr>
                        <a:t>0.707</a:t>
                      </a:r>
                    </a:p>
                  </a:txBody>
                  <a:tcPr marL="128016" marR="128016" marT="45720" marB="45720" anchor="ctr">
                    <a:solidFill>
                      <a:srgbClr val="FFFFFF"/>
                    </a:solidFill>
                  </a:tcPr>
                </a:tc>
                <a:tc>
                  <a:txBody>
                    <a:bodyPr wrap="square"/>
                    <a:lstStyle/>
                    <a:p>
                      <a:pPr algn="r"/>
                      <a:r>
                        <a:rPr sz="1500" b="0">
                          <a:solidFill>
                            <a:srgbClr val="141C1E"/>
                          </a:solidFill>
                          <a:latin typeface="Consolas"/>
                        </a:rPr>
                        <a:t>0.670</a:t>
                      </a:r>
                    </a:p>
                  </a:txBody>
                  <a:tcPr marL="128016" marR="128016" marT="45720" marB="45720" anchor="ctr">
                    <a:solidFill>
                      <a:srgbClr val="FFFFFF"/>
                    </a:solidFill>
                  </a:tcPr>
                </a:tc>
                <a:tc>
                  <a:txBody>
                    <a:bodyPr wrap="square"/>
                    <a:lstStyle/>
                    <a:p>
                      <a:pPr algn="r"/>
                      <a:r>
                        <a:rPr sz="1500" b="0">
                          <a:solidFill>
                            <a:srgbClr val="141C1E"/>
                          </a:solidFill>
                          <a:latin typeface="Consolas"/>
                        </a:rPr>
                        <a:t>0.666</a:t>
                      </a:r>
                    </a:p>
                  </a:txBody>
                  <a:tcPr marL="128016" marR="128016" marT="45720" marB="45720" anchor="ctr">
                    <a:solidFill>
                      <a:srgbClr val="FFFFFF"/>
                    </a:solidFill>
                  </a:tcPr>
                </a:tc>
                <a:tc>
                  <a:txBody>
                    <a:bodyPr wrap="square"/>
                    <a:lstStyle/>
                    <a:p>
                      <a:pPr algn="r"/>
                      <a:r>
                        <a:rPr sz="1500" b="0">
                          <a:solidFill>
                            <a:srgbClr val="141C1E"/>
                          </a:solidFill>
                          <a:latin typeface="Consolas"/>
                        </a:rPr>
                        <a:t>0.695</a:t>
                      </a:r>
                    </a:p>
                  </a:txBody>
                  <a:tcPr marL="128016" marR="128016" marT="45720" marB="45720" anchor="ctr">
                    <a:solidFill>
                      <a:srgbClr val="FFFFFF"/>
                    </a:solidFill>
                  </a:tcPr>
                </a:tc>
                <a:tc>
                  <a:txBody>
                    <a:bodyPr wrap="square"/>
                    <a:lstStyle/>
                    <a:p>
                      <a:pPr algn="r"/>
                      <a:r>
                        <a:rPr sz="1500" b="0">
                          <a:solidFill>
                            <a:srgbClr val="141C1E"/>
                          </a:solidFill>
                          <a:latin typeface="Consolas"/>
                        </a:rPr>
                        <a:t>−0.029</a:t>
                      </a:r>
                    </a:p>
                  </a:txBody>
                  <a:tcPr marL="128016" marR="128016" marT="45720" marB="45720" anchor="ctr">
                    <a:solidFill>
                      <a:srgbClr val="FFFFFF"/>
                    </a:solidFill>
                  </a:tcPr>
                </a:tc>
              </a:tr>
              <a:tr h="530352">
                <a:tc>
                  <a:txBody>
                    <a:bodyPr wrap="square"/>
                    <a:lstStyle/>
                    <a:p>
                      <a:pPr algn="l"/>
                      <a:r>
                        <a:rPr sz="1500" b="1">
                          <a:solidFill>
                            <a:srgbClr val="141C1E"/>
                          </a:solidFill>
                          <a:latin typeface="Segoe UI"/>
                        </a:rPr>
                        <a:t>Normal set only</a:t>
                      </a:r>
                    </a:p>
                  </a:txBody>
                  <a:tcPr marL="128016" marR="128016" marT="45720" marB="45720" anchor="ctr">
                    <a:solidFill>
                      <a:srgbClr val="DDEDEB"/>
                    </a:solidFill>
                  </a:tcPr>
                </a:tc>
                <a:tc>
                  <a:txBody>
                    <a:bodyPr wrap="square"/>
                    <a:lstStyle/>
                    <a:p>
                      <a:pPr algn="r"/>
                      <a:r>
                        <a:rPr sz="1500" b="1">
                          <a:solidFill>
                            <a:srgbClr val="141C1E"/>
                          </a:solidFill>
                          <a:latin typeface="Consolas"/>
                        </a:rPr>
                        <a:t>0.707</a:t>
                      </a:r>
                    </a:p>
                  </a:txBody>
                  <a:tcPr marL="128016" marR="128016" marT="45720" marB="45720" anchor="ctr">
                    <a:solidFill>
                      <a:srgbClr val="DDEDEB"/>
                    </a:solidFill>
                  </a:tcPr>
                </a:tc>
                <a:tc>
                  <a:txBody>
                    <a:bodyPr wrap="square"/>
                    <a:lstStyle/>
                    <a:p>
                      <a:pPr algn="r"/>
                      <a:r>
                        <a:rPr sz="1500" b="1">
                          <a:solidFill>
                            <a:srgbClr val="141C1E"/>
                          </a:solidFill>
                          <a:latin typeface="Consolas"/>
                        </a:rPr>
                        <a:t>0.691</a:t>
                      </a:r>
                    </a:p>
                  </a:txBody>
                  <a:tcPr marL="128016" marR="128016" marT="45720" marB="45720" anchor="ctr">
                    <a:solidFill>
                      <a:srgbClr val="DDEDEB"/>
                    </a:solidFill>
                  </a:tcPr>
                </a:tc>
                <a:tc>
                  <a:txBody>
                    <a:bodyPr wrap="square"/>
                    <a:lstStyle/>
                    <a:p>
                      <a:pPr algn="r"/>
                      <a:r>
                        <a:rPr sz="1500" b="1">
                          <a:solidFill>
                            <a:srgbClr val="141C1E"/>
                          </a:solidFill>
                          <a:latin typeface="Consolas"/>
                        </a:rPr>
                        <a:t>0.734</a:t>
                      </a:r>
                    </a:p>
                  </a:txBody>
                  <a:tcPr marL="128016" marR="128016" marT="45720" marB="45720" anchor="ctr">
                    <a:solidFill>
                      <a:srgbClr val="DDEDEB"/>
                    </a:solidFill>
                  </a:tcPr>
                </a:tc>
                <a:tc>
                  <a:txBody>
                    <a:bodyPr wrap="square"/>
                    <a:lstStyle/>
                    <a:p>
                      <a:pPr algn="r"/>
                      <a:r>
                        <a:rPr sz="1500" b="1">
                          <a:solidFill>
                            <a:srgbClr val="141C1E"/>
                          </a:solidFill>
                          <a:latin typeface="Consolas"/>
                        </a:rPr>
                        <a:t>0.628</a:t>
                      </a:r>
                    </a:p>
                  </a:txBody>
                  <a:tcPr marL="128016" marR="128016" marT="45720" marB="45720" anchor="ctr">
                    <a:solidFill>
                      <a:srgbClr val="DDEDEB"/>
                    </a:solidFill>
                  </a:tcPr>
                </a:tc>
                <a:tc>
                  <a:txBody>
                    <a:bodyPr wrap="square"/>
                    <a:lstStyle/>
                    <a:p>
                      <a:pPr algn="r"/>
                      <a:r>
                        <a:rPr sz="1500" b="1">
                          <a:solidFill>
                            <a:srgbClr val="141C1E"/>
                          </a:solidFill>
                          <a:latin typeface="Consolas"/>
                        </a:rPr>
                        <a:t>+0.105</a:t>
                      </a:r>
                    </a:p>
                  </a:txBody>
                  <a:tcPr marL="128016" marR="128016" marT="45720" marB="45720" anchor="ctr">
                    <a:solidFill>
                      <a:srgbClr val="DDEDEB"/>
                    </a:solidFill>
                  </a:tcPr>
                </a:tc>
              </a:tr>
            </a:tbl>
          </a:graphicData>
        </a:graphic>
      </p:graphicFrame>
      <p:sp>
        <p:nvSpPr>
          <p:cNvPr id="9" name="TextBox 8"/>
          <p:cNvSpPr txBox="1"/>
          <p:nvPr/>
        </p:nvSpPr>
        <p:spPr>
          <a:xfrm>
            <a:off x="777240" y="3977639"/>
            <a:ext cx="10637215" cy="320040"/>
          </a:xfrm>
          <a:prstGeom prst="rect">
            <a:avLst/>
          </a:prstGeom>
          <a:noFill/>
        </p:spPr>
        <p:txBody>
          <a:bodyPr wrap="square" lIns="0" rIns="0" tIns="0" bIns="0">
            <a:spAutoFit/>
          </a:bodyPr>
          <a:lstStyle/>
          <a:p>
            <a:pPr algn="l">
              <a:lnSpc>
                <a:spcPct val="100000"/>
              </a:lnSpc>
            </a:pPr>
            <a:r>
              <a:rPr sz="1400" b="0" i="1">
                <a:solidFill>
                  <a:srgbClr val="617274"/>
                </a:solidFill>
                <a:latin typeface="Segoe UI"/>
              </a:rPr>
              <a:t>The “none” column is identical in both rows — confirming nothing but the injection point changed.</a:t>
            </a:r>
          </a:p>
        </p:txBody>
      </p:sp>
      <p:sp>
        <p:nvSpPr>
          <p:cNvPr id="10" name="Rectangle 9"/>
          <p:cNvSpPr/>
          <p:nvPr/>
        </p:nvSpPr>
        <p:spPr>
          <a:xfrm>
            <a:off x="777240" y="4526280"/>
            <a:ext cx="5074920" cy="16002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663440"/>
            <a:ext cx="3200400" cy="1005840"/>
          </a:xfrm>
          <a:prstGeom prst="rect">
            <a:avLst/>
          </a:prstGeom>
          <a:noFill/>
        </p:spPr>
        <p:txBody>
          <a:bodyPr wrap="square" lIns="0" rIns="0" tIns="0" bIns="0">
            <a:spAutoFit/>
          </a:bodyPr>
          <a:lstStyle/>
          <a:p>
            <a:pPr algn="l">
              <a:lnSpc>
                <a:spcPct val="100000"/>
              </a:lnSpc>
            </a:pPr>
            <a:r>
              <a:rPr sz="4400" b="1" i="0">
                <a:solidFill>
                  <a:srgbClr val="0D6B67"/>
                </a:solidFill>
                <a:latin typeface="Segoe UI"/>
              </a:rPr>
              <a:t>0.734</a:t>
            </a:r>
          </a:p>
        </p:txBody>
      </p:sp>
      <p:sp>
        <p:nvSpPr>
          <p:cNvPr id="12" name="TextBox 11"/>
          <p:cNvSpPr txBox="1"/>
          <p:nvPr/>
        </p:nvSpPr>
        <p:spPr>
          <a:xfrm>
            <a:off x="1188720" y="5650992"/>
            <a:ext cx="320040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correct description</a:t>
            </a:r>
          </a:p>
        </p:txBody>
      </p:sp>
      <p:sp>
        <p:nvSpPr>
          <p:cNvPr id="13" name="Rectangle 12"/>
          <p:cNvSpPr/>
          <p:nvPr/>
        </p:nvSpPr>
        <p:spPr>
          <a:xfrm>
            <a:off x="6217920" y="4526280"/>
            <a:ext cx="5074920" cy="1600200"/>
          </a:xfrm>
          <a:prstGeom prst="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4663440"/>
            <a:ext cx="4480560" cy="1005840"/>
          </a:xfrm>
          <a:prstGeom prst="rect">
            <a:avLst/>
          </a:prstGeom>
          <a:noFill/>
        </p:spPr>
        <p:txBody>
          <a:bodyPr wrap="square" lIns="0" rIns="0" tIns="0" bIns="0">
            <a:spAutoFit/>
          </a:bodyPr>
          <a:lstStyle/>
          <a:p>
            <a:pPr algn="l">
              <a:lnSpc>
                <a:spcPct val="100000"/>
              </a:lnSpc>
            </a:pPr>
            <a:r>
              <a:rPr sz="4400" b="1" i="0">
                <a:solidFill>
                  <a:srgbClr val="8C3A31"/>
                </a:solidFill>
                <a:latin typeface="Segoe UI"/>
              </a:rPr>
              <a:t>0.628</a:t>
            </a:r>
          </a:p>
        </p:txBody>
      </p:sp>
      <p:sp>
        <p:nvSpPr>
          <p:cNvPr id="15" name="TextBox 14"/>
          <p:cNvSpPr txBox="1"/>
          <p:nvPr/>
        </p:nvSpPr>
        <p:spPr>
          <a:xfrm>
            <a:off x="6629400" y="5650992"/>
            <a:ext cx="4480560" cy="457200"/>
          </a:xfrm>
          <a:prstGeom prst="rect">
            <a:avLst/>
          </a:prstGeom>
          <a:noFill/>
        </p:spPr>
        <p:txBody>
          <a:bodyPr wrap="square" lIns="0" rIns="0" tIns="0" bIns="0">
            <a:spAutoFit/>
          </a:bodyPr>
          <a:lstStyle/>
          <a:p>
            <a:pPr algn="l">
              <a:lnSpc>
                <a:spcPct val="100000"/>
              </a:lnSpc>
            </a:pPr>
            <a:r>
              <a:rPr sz="1300" b="0" i="0">
                <a:solidFill>
                  <a:srgbClr val="617274"/>
                </a:solidFill>
                <a:latin typeface="Segoe UI"/>
              </a:rPr>
              <a:t>wrong description  —  a 10-point penalty</a:t>
            </a:r>
          </a:p>
        </p:txBody>
      </p:sp>
      <p:sp>
        <p:nvSpPr>
          <p:cNvPr id="16" name="TextBox 15"/>
          <p:cNvSpPr txBox="1"/>
          <p:nvPr/>
        </p:nvSpPr>
        <p:spPr>
          <a:xfrm>
            <a:off x="777240" y="6309360"/>
            <a:ext cx="10637215" cy="320040"/>
          </a:xfrm>
          <a:prstGeom prst="rect">
            <a:avLst/>
          </a:prstGeom>
          <a:noFill/>
        </p:spPr>
        <p:txBody>
          <a:bodyPr wrap="square" lIns="0" rIns="0" tIns="0" bIns="0">
            <a:spAutoFit/>
          </a:bodyPr>
          <a:lstStyle/>
          <a:p>
            <a:pPr algn="ctr">
              <a:lnSpc>
                <a:spcPct val="100000"/>
              </a:lnSpc>
            </a:pPr>
            <a:r>
              <a:rPr sz="1550" b="1" i="0">
                <a:solidFill>
                  <a:srgbClr val="141C1E"/>
                </a:solidFill>
                <a:latin typeface="Segoe UI"/>
              </a:rPr>
              <a:t>Nothing else in the system was permitted to change. The text caused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CENTRAL EXPERIMENT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The same experiment, drawn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14</a:t>
            </a:r>
          </a:p>
        </p:txBody>
      </p:sp>
      <p:pic>
        <p:nvPicPr>
          <p:cNvPr id="7" name="Picture 6" descr="fig_chart_sweep.png"/>
          <p:cNvPicPr>
            <a:picLocks noChangeAspect="1"/>
          </p:cNvPicPr>
          <p:nvPr/>
        </p:nvPicPr>
        <p:blipFill>
          <a:blip r:embed="rId2"/>
          <a:stretch>
            <a:fillRect/>
          </a:stretch>
        </p:blipFill>
        <p:spPr>
          <a:xfrm>
            <a:off x="1983079" y="1783080"/>
            <a:ext cx="8225535"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The number the experiment exists to produce is the arrow: the distance between the matched and mismatched bars. Grey bars put the sentence in both prompt sets and that distance is negative. Orange bars put it in the normal set only and it becomes +0.105.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WHAT THE GAP LOOKS LIKE</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One clip, two sentences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15</a:t>
            </a:r>
          </a:p>
        </p:txBody>
      </p:sp>
      <p:pic>
        <p:nvPicPr>
          <p:cNvPr id="7" name="Picture 6" descr="fig_context_effect.png"/>
          <p:cNvPicPr>
            <a:picLocks noChangeAspect="1"/>
          </p:cNvPicPr>
          <p:nvPr/>
        </p:nvPicPr>
        <p:blipFill>
          <a:blip r:embed="rId2"/>
          <a:stretch>
            <a:fillRect/>
          </a:stretch>
        </p:blipFill>
        <p:spPr>
          <a:xfrm>
            <a:off x="1654058" y="1783080"/>
            <a:ext cx="8883578" cy="3218688"/>
          </a:xfrm>
          <a:prstGeom prst="rect">
            <a:avLst/>
          </a:prstGeom>
        </p:spPr>
      </p:pic>
      <p:sp>
        <p:nvSpPr>
          <p:cNvPr id="8" name="Rectangle 7"/>
          <p:cNvSpPr/>
          <p:nvPr/>
        </p:nvSpPr>
        <p:spPr>
          <a:xfrm>
            <a:off x="777240" y="5230368"/>
            <a:ext cx="10637215" cy="1298448"/>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Same frozen models, same frames, same smoothing — the only difference is whether the sentence describes a campus walkway or an industrial site. The curves track each other outside the event and separate inside it. Nothing else was free to vary, so the text caused the separation.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INTERPRETATION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Stating the claim precisely</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16</a:t>
            </a:r>
          </a:p>
        </p:txBody>
      </p:sp>
      <p:sp>
        <p:nvSpPr>
          <p:cNvPr id="7" name="Rectangle 6"/>
          <p:cNvSpPr/>
          <p:nvPr/>
        </p:nvSpPr>
        <p:spPr>
          <a:xfrm>
            <a:off x="777240" y="1783080"/>
            <a:ext cx="5074920" cy="1965960"/>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11680"/>
            <a:ext cx="4389120" cy="274320"/>
          </a:xfrm>
          <a:prstGeom prst="rect">
            <a:avLst/>
          </a:prstGeom>
          <a:noFill/>
        </p:spPr>
        <p:txBody>
          <a:bodyPr wrap="square" lIns="0" rIns="0" tIns="0" bIns="0">
            <a:spAutoFit/>
          </a:bodyPr>
          <a:lstStyle/>
          <a:p>
            <a:pPr algn="l">
              <a:lnSpc>
                <a:spcPct val="100000"/>
              </a:lnSpc>
            </a:pPr>
            <a:r>
              <a:rPr sz="1150" b="1" i="0">
                <a:solidFill>
                  <a:srgbClr val="617274"/>
                </a:solidFill>
                <a:latin typeface="Segoe UI"/>
              </a:rPr>
              <a:t>THE WEAKER HALF</a:t>
            </a:r>
          </a:p>
        </p:txBody>
      </p:sp>
      <p:sp>
        <p:nvSpPr>
          <p:cNvPr id="9" name="TextBox 8"/>
          <p:cNvSpPr txBox="1"/>
          <p:nvPr/>
        </p:nvSpPr>
        <p:spPr>
          <a:xfrm>
            <a:off x="1143000" y="2377440"/>
            <a:ext cx="4389120" cy="11887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A correct description beats none by +0.027.
Positive at every window, but inside the ±0.036 split-to-split spread.</a:t>
            </a:r>
          </a:p>
        </p:txBody>
      </p:sp>
      <p:sp>
        <p:nvSpPr>
          <p:cNvPr id="10" name="Rectangle 9"/>
          <p:cNvSpPr/>
          <p:nvPr/>
        </p:nvSpPr>
        <p:spPr>
          <a:xfrm>
            <a:off x="6217920" y="1783080"/>
            <a:ext cx="5074920" cy="19659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79" y="2011680"/>
            <a:ext cx="4389120" cy="274320"/>
          </a:xfrm>
          <a:prstGeom prst="rect">
            <a:avLst/>
          </a:prstGeom>
          <a:noFill/>
        </p:spPr>
        <p:txBody>
          <a:bodyPr wrap="square" lIns="0" rIns="0" tIns="0" bIns="0">
            <a:spAutoFit/>
          </a:bodyPr>
          <a:lstStyle/>
          <a:p>
            <a:pPr algn="l">
              <a:lnSpc>
                <a:spcPct val="100000"/>
              </a:lnSpc>
            </a:pPr>
            <a:r>
              <a:rPr sz="1150" b="1" i="0">
                <a:solidFill>
                  <a:srgbClr val="0D6B67"/>
                </a:solidFill>
                <a:latin typeface="Segoe UI"/>
              </a:rPr>
              <a:t>THE CLAIM WE MAKE</a:t>
            </a:r>
          </a:p>
        </p:txBody>
      </p:sp>
      <p:sp>
        <p:nvSpPr>
          <p:cNvPr id="12" name="TextBox 11"/>
          <p:cNvSpPr txBox="1"/>
          <p:nvPr/>
        </p:nvSpPr>
        <p:spPr>
          <a:xfrm>
            <a:off x="6583679" y="2377440"/>
            <a:ext cx="4389120" cy="11887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A WRONG description costs −0.105.
Unambiguous, and nothing else could have caused it.</a:t>
            </a:r>
          </a:p>
        </p:txBody>
      </p:sp>
      <p:sp>
        <p:nvSpPr>
          <p:cNvPr id="13" name="Rectangle 12"/>
          <p:cNvSpPr/>
          <p:nvPr/>
        </p:nvSpPr>
        <p:spPr>
          <a:xfrm>
            <a:off x="777240" y="4023360"/>
            <a:ext cx="10637215" cy="12801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023360"/>
            <a:ext cx="45720" cy="128016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16966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HOW TO READ THE MECHANISM</a:t>
            </a:r>
          </a:p>
        </p:txBody>
      </p:sp>
      <p:sp>
        <p:nvSpPr>
          <p:cNvPr id="16" name="TextBox 15"/>
          <p:cNvSpPr txBox="1"/>
          <p:nvPr/>
        </p:nvSpPr>
        <p:spPr>
          <a:xfrm>
            <a:off x="1033271" y="4462272"/>
            <a:ext cx="10134295" cy="713231"/>
          </a:xfrm>
          <a:prstGeom prst="rect">
            <a:avLst/>
          </a:prstGeom>
          <a:noFill/>
        </p:spPr>
        <p:txBody>
          <a:bodyPr wrap="square" lIns="0" rIns="0" tIns="0" bIns="0">
            <a:spAutoFit/>
          </a:bodyPr>
          <a:lstStyle/>
          <a:p>
            <a:pPr algn="l">
              <a:lnSpc>
                <a:spcPct val="100000"/>
              </a:lnSpc>
            </a:pPr>
            <a:r>
              <a:rPr sz="1600" b="0" i="0">
                <a:solidFill>
                  <a:srgbClr val="141C1E"/>
                </a:solidFill>
                <a:latin typeface="Segoe UI"/>
              </a:rPr>
              <a:t>The description constrains a decision boundary rather than adding information. It does not reliably lift performance when correct; it degrades performance sharply when misdirected.</a:t>
            </a:r>
          </a:p>
        </p:txBody>
      </p:sp>
      <p:sp>
        <p:nvSpPr>
          <p:cNvPr id="17" name="TextBox 16"/>
          <p:cNvSpPr txBox="1"/>
          <p:nvPr/>
        </p:nvSpPr>
        <p:spPr>
          <a:xfrm>
            <a:off x="777240" y="5623560"/>
            <a:ext cx="10637215" cy="640080"/>
          </a:xfrm>
          <a:prstGeom prst="rect">
            <a:avLst/>
          </a:prstGeom>
          <a:noFill/>
        </p:spPr>
        <p:txBody>
          <a:bodyPr wrap="square" lIns="0" rIns="0" tIns="0" bIns="0">
            <a:spAutoFit/>
          </a:bodyPr>
          <a:lstStyle/>
          <a:p>
            <a:pPr algn="l">
              <a:lnSpc>
                <a:spcPct val="130000"/>
              </a:lnSpc>
            </a:pPr>
            <a:r>
              <a:rPr sz="1600" b="1" i="0">
                <a:solidFill>
                  <a:srgbClr val="141C1E"/>
                </a:solidFill>
                <a:latin typeface="Segoe UI"/>
              </a:rPr>
              <a:t>A secondary finding, not present in the literature: WHERE the description is injected dominates WHAT it says — to the point of reversing the direction of the effect.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COMPONENT ABLATION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Which components earn their place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17</a:t>
            </a:r>
          </a:p>
        </p:txBody>
      </p:sp>
      <p:graphicFrame>
        <p:nvGraphicFramePr>
          <p:cNvPr id="7" name="Table 6"/>
          <p:cNvGraphicFramePr>
            <a:graphicFrameLocks noGrp="1"/>
          </p:cNvGraphicFramePr>
          <p:nvPr/>
        </p:nvGraphicFramePr>
        <p:xfrm>
          <a:off x="777240" y="1828800"/>
          <a:ext cx="10634472" cy="2578608"/>
        </p:xfrm>
        <a:graphic>
          <a:graphicData uri="http://schemas.openxmlformats.org/drawingml/2006/table">
            <a:tbl>
              <a:tblPr firstRow="1">
                <a:tableStyleId>{5C22544A-7EE6-4342-B048-85BDC9FD1C3A}</a:tableStyleId>
              </a:tblPr>
              <a:tblGrid>
                <a:gridCol w="4754880"/>
                <a:gridCol w="2971800"/>
                <a:gridCol w="2907792"/>
              </a:tblGrid>
              <a:tr h="429768">
                <a:tc>
                  <a:txBody>
                    <a:bodyPr wrap="square"/>
                    <a:lstStyle/>
                    <a:p>
                      <a:pPr algn="l"/>
                      <a:r>
                        <a:rPr sz="1450" b="1">
                          <a:solidFill>
                            <a:srgbClr val="FFFFFF"/>
                          </a:solidFill>
                          <a:latin typeface="Segoe UI"/>
                        </a:rPr>
                        <a:t>Scoring signal</a:t>
                      </a:r>
                    </a:p>
                  </a:txBody>
                  <a:tcPr marL="128016" marR="128016" marT="45720" marB="45720" anchor="ctr">
                    <a:solidFill>
                      <a:srgbClr val="141C1E"/>
                    </a:solidFill>
                  </a:tcPr>
                </a:tc>
                <a:tc>
                  <a:txBody>
                    <a:bodyPr wrap="square"/>
                    <a:lstStyle/>
                    <a:p>
                      <a:pPr algn="r"/>
                      <a:r>
                        <a:rPr sz="1450" b="1">
                          <a:solidFill>
                            <a:srgbClr val="FFFFFF"/>
                          </a:solidFill>
                          <a:latin typeface="Segoe UI"/>
                        </a:rPr>
                        <a:t>Held-out AUROC</a:t>
                      </a:r>
                    </a:p>
                  </a:txBody>
                  <a:tcPr marL="128016" marR="128016" marT="45720" marB="45720" anchor="ctr">
                    <a:solidFill>
                      <a:srgbClr val="141C1E"/>
                    </a:solidFill>
                  </a:tcPr>
                </a:tc>
                <a:tc>
                  <a:txBody>
                    <a:bodyPr wrap="square"/>
                    <a:lstStyle/>
                    <a:p>
                      <a:pPr algn="r"/>
                      <a:r>
                        <a:rPr sz="1450" b="1">
                          <a:solidFill>
                            <a:srgbClr val="FFFFFF"/>
                          </a:solidFill>
                          <a:latin typeface="Segoe UI"/>
                        </a:rPr>
                        <a:t>Full test set</a:t>
                      </a:r>
                    </a:p>
                  </a:txBody>
                  <a:tcPr marL="128016" marR="128016" marT="45720" marB="45720" anchor="ctr">
                    <a:solidFill>
                      <a:srgbClr val="141C1E"/>
                    </a:solidFill>
                  </a:tcPr>
                </a:tc>
              </a:tr>
              <a:tr h="429768">
                <a:tc>
                  <a:txBody>
                    <a:bodyPr wrap="square"/>
                    <a:lstStyle/>
                    <a:p>
                      <a:pPr algn="l"/>
                      <a:r>
                        <a:rPr sz="1450" b="0">
                          <a:solidFill>
                            <a:srgbClr val="141C1E"/>
                          </a:solidFill>
                          <a:latin typeface="Segoe UI"/>
                        </a:rPr>
                        <a:t>Scene-centre normality only</a:t>
                      </a:r>
                    </a:p>
                  </a:txBody>
                  <a:tcPr marL="128016" marR="128016" marT="45720" marB="45720" anchor="ctr">
                    <a:solidFill>
                      <a:srgbClr val="FFFFFF"/>
                    </a:solidFill>
                  </a:tcPr>
                </a:tc>
                <a:tc>
                  <a:txBody>
                    <a:bodyPr wrap="square"/>
                    <a:lstStyle/>
                    <a:p>
                      <a:pPr algn="r"/>
                      <a:r>
                        <a:rPr sz="1450" b="0">
                          <a:solidFill>
                            <a:srgbClr val="141C1E"/>
                          </a:solidFill>
                          <a:latin typeface="Consolas"/>
                        </a:rPr>
                        <a:t>0.585 ± 0.025</a:t>
                      </a:r>
                    </a:p>
                  </a:txBody>
                  <a:tcPr marL="128016" marR="128016" marT="45720" marB="45720" anchor="ctr">
                    <a:solidFill>
                      <a:srgbClr val="FFFFFF"/>
                    </a:solidFill>
                  </a:tcPr>
                </a:tc>
                <a:tc>
                  <a:txBody>
                    <a:bodyPr wrap="square"/>
                    <a:lstStyle/>
                    <a:p>
                      <a:pPr algn="r"/>
                      <a:r>
                        <a:rPr sz="1450" b="0">
                          <a:solidFill>
                            <a:srgbClr val="141C1E"/>
                          </a:solidFill>
                          <a:latin typeface="Consolas"/>
                        </a:rPr>
                        <a:t>0.585</a:t>
                      </a:r>
                    </a:p>
                  </a:txBody>
                  <a:tcPr marL="128016" marR="128016" marT="45720" marB="45720" anchor="ctr">
                    <a:solidFill>
                      <a:srgbClr val="FFFFFF"/>
                    </a:solidFill>
                  </a:tcPr>
                </a:tc>
              </a:tr>
              <a:tr h="429768">
                <a:tc>
                  <a:txBody>
                    <a:bodyPr wrap="square"/>
                    <a:lstStyle/>
                    <a:p>
                      <a:pPr algn="l"/>
                      <a:r>
                        <a:rPr sz="1450" b="0">
                          <a:solidFill>
                            <a:srgbClr val="141C1E"/>
                          </a:solidFill>
                          <a:latin typeface="Segoe UI"/>
                        </a:rPr>
                        <a:t>Semantic + scene-centre</a:t>
                      </a:r>
                    </a:p>
                  </a:txBody>
                  <a:tcPr marL="128016" marR="128016" marT="45720" marB="45720" anchor="ctr">
                    <a:solidFill>
                      <a:srgbClr val="F5F7F7"/>
                    </a:solidFill>
                  </a:tcPr>
                </a:tc>
                <a:tc>
                  <a:txBody>
                    <a:bodyPr wrap="square"/>
                    <a:lstStyle/>
                    <a:p>
                      <a:pPr algn="r"/>
                      <a:r>
                        <a:rPr sz="1450" b="0">
                          <a:solidFill>
                            <a:srgbClr val="141C1E"/>
                          </a:solidFill>
                          <a:latin typeface="Consolas"/>
                        </a:rPr>
                        <a:t>0.645 ± 0.034</a:t>
                      </a:r>
                    </a:p>
                  </a:txBody>
                  <a:tcPr marL="128016" marR="128016" marT="45720" marB="45720" anchor="ctr">
                    <a:solidFill>
                      <a:srgbClr val="F5F7F7"/>
                    </a:solidFill>
                  </a:tcPr>
                </a:tc>
                <a:tc>
                  <a:txBody>
                    <a:bodyPr wrap="square"/>
                    <a:lstStyle/>
                    <a:p>
                      <a:pPr algn="r"/>
                      <a:r>
                        <a:rPr sz="1450" b="0">
                          <a:solidFill>
                            <a:srgbClr val="141C1E"/>
                          </a:solidFill>
                          <a:latin typeface="Consolas"/>
                        </a:rPr>
                        <a:t>0.640</a:t>
                      </a:r>
                    </a:p>
                  </a:txBody>
                  <a:tcPr marL="128016" marR="128016" marT="45720" marB="45720" anchor="ctr">
                    <a:solidFill>
                      <a:srgbClr val="F5F7F7"/>
                    </a:solidFill>
                  </a:tcPr>
                </a:tc>
              </a:tr>
              <a:tr h="429768">
                <a:tc>
                  <a:txBody>
                    <a:bodyPr wrap="square"/>
                    <a:lstStyle/>
                    <a:p>
                      <a:pPr algn="l"/>
                      <a:r>
                        <a:rPr sz="1450" b="0">
                          <a:solidFill>
                            <a:srgbClr val="141C1E"/>
                          </a:solidFill>
                          <a:latin typeface="Segoe UI"/>
                        </a:rPr>
                        <a:t>Kinematic — motion only</a:t>
                      </a:r>
                    </a:p>
                  </a:txBody>
                  <a:tcPr marL="128016" marR="128016" marT="45720" marB="45720" anchor="ctr">
                    <a:solidFill>
                      <a:srgbClr val="FFFFFF"/>
                    </a:solidFill>
                  </a:tcPr>
                </a:tc>
                <a:tc>
                  <a:txBody>
                    <a:bodyPr wrap="square"/>
                    <a:lstStyle/>
                    <a:p>
                      <a:pPr algn="r"/>
                      <a:r>
                        <a:rPr sz="1450" b="0">
                          <a:solidFill>
                            <a:srgbClr val="141C1E"/>
                          </a:solidFill>
                          <a:latin typeface="Consolas"/>
                        </a:rPr>
                        <a:t>0.685 ± 0.015</a:t>
                      </a:r>
                    </a:p>
                  </a:txBody>
                  <a:tcPr marL="128016" marR="128016" marT="45720" marB="45720" anchor="ctr">
                    <a:solidFill>
                      <a:srgbClr val="FFFFFF"/>
                    </a:solidFill>
                  </a:tcPr>
                </a:tc>
                <a:tc>
                  <a:txBody>
                    <a:bodyPr wrap="square"/>
                    <a:lstStyle/>
                    <a:p>
                      <a:pPr algn="r"/>
                      <a:r>
                        <a:rPr sz="1450" b="0">
                          <a:solidFill>
                            <a:srgbClr val="141C1E"/>
                          </a:solidFill>
                          <a:latin typeface="Consolas"/>
                        </a:rPr>
                        <a:t>0.686</a:t>
                      </a:r>
                    </a:p>
                  </a:txBody>
                  <a:tcPr marL="128016" marR="128016" marT="45720" marB="45720" anchor="ctr">
                    <a:solidFill>
                      <a:srgbClr val="FFFFFF"/>
                    </a:solidFill>
                  </a:tcPr>
                </a:tc>
              </a:tr>
              <a:tr h="429768">
                <a:tc>
                  <a:txBody>
                    <a:bodyPr wrap="square"/>
                    <a:lstStyle/>
                    <a:p>
                      <a:pPr algn="l"/>
                      <a:r>
                        <a:rPr sz="1450" b="0">
                          <a:solidFill>
                            <a:srgbClr val="141C1E"/>
                          </a:solidFill>
                          <a:latin typeface="Segoe UI"/>
                        </a:rPr>
                        <a:t>Semantic + kinematic</a:t>
                      </a:r>
                    </a:p>
                  </a:txBody>
                  <a:tcPr marL="128016" marR="128016" marT="45720" marB="45720" anchor="ctr">
                    <a:solidFill>
                      <a:srgbClr val="F5F7F7"/>
                    </a:solidFill>
                  </a:tcPr>
                </a:tc>
                <a:tc>
                  <a:txBody>
                    <a:bodyPr wrap="square"/>
                    <a:lstStyle/>
                    <a:p>
                      <a:pPr algn="r"/>
                      <a:r>
                        <a:rPr sz="1450" b="0">
                          <a:solidFill>
                            <a:srgbClr val="141C1E"/>
                          </a:solidFill>
                          <a:latin typeface="Consolas"/>
                        </a:rPr>
                        <a:t>0.711 ± 0.034</a:t>
                      </a:r>
                    </a:p>
                  </a:txBody>
                  <a:tcPr marL="128016" marR="128016" marT="45720" marB="45720" anchor="ctr">
                    <a:solidFill>
                      <a:srgbClr val="F5F7F7"/>
                    </a:solidFill>
                  </a:tcPr>
                </a:tc>
                <a:tc>
                  <a:txBody>
                    <a:bodyPr wrap="square"/>
                    <a:lstStyle/>
                    <a:p>
                      <a:pPr algn="r"/>
                      <a:r>
                        <a:rPr sz="1450" b="0">
                          <a:solidFill>
                            <a:srgbClr val="141C1E"/>
                          </a:solidFill>
                          <a:latin typeface="Consolas"/>
                        </a:rPr>
                        <a:t>0.706</a:t>
                      </a:r>
                    </a:p>
                  </a:txBody>
                  <a:tcPr marL="128016" marR="128016" marT="45720" marB="45720" anchor="ctr">
                    <a:solidFill>
                      <a:srgbClr val="F5F7F7"/>
                    </a:solidFill>
                  </a:tcPr>
                </a:tc>
              </a:tr>
              <a:tr h="429768">
                <a:tc>
                  <a:txBody>
                    <a:bodyPr wrap="square"/>
                    <a:lstStyle/>
                    <a:p>
                      <a:pPr algn="l"/>
                      <a:r>
                        <a:rPr sz="1450" b="1">
                          <a:solidFill>
                            <a:srgbClr val="141C1E"/>
                          </a:solidFill>
                          <a:latin typeface="Segoe UI"/>
                        </a:rPr>
                        <a:t>Semantic — language only</a:t>
                      </a:r>
                    </a:p>
                  </a:txBody>
                  <a:tcPr marL="128016" marR="128016" marT="45720" marB="45720" anchor="ctr">
                    <a:solidFill>
                      <a:srgbClr val="DDEDEB"/>
                    </a:solidFill>
                  </a:tcPr>
                </a:tc>
                <a:tc>
                  <a:txBody>
                    <a:bodyPr wrap="square"/>
                    <a:lstStyle/>
                    <a:p>
                      <a:pPr algn="r"/>
                      <a:r>
                        <a:rPr sz="1450" b="1">
                          <a:solidFill>
                            <a:srgbClr val="141C1E"/>
                          </a:solidFill>
                          <a:latin typeface="Consolas"/>
                        </a:rPr>
                        <a:t>0.718 ± 0.036</a:t>
                      </a:r>
                    </a:p>
                  </a:txBody>
                  <a:tcPr marL="128016" marR="128016" marT="45720" marB="45720" anchor="ctr">
                    <a:solidFill>
                      <a:srgbClr val="DDEDEB"/>
                    </a:solidFill>
                  </a:tcPr>
                </a:tc>
                <a:tc>
                  <a:txBody>
                    <a:bodyPr wrap="square"/>
                    <a:lstStyle/>
                    <a:p>
                      <a:pPr algn="r"/>
                      <a:r>
                        <a:rPr sz="1450" b="1">
                          <a:solidFill>
                            <a:srgbClr val="141C1E"/>
                          </a:solidFill>
                          <a:latin typeface="Consolas"/>
                        </a:rPr>
                        <a:t>0.707</a:t>
                      </a:r>
                    </a:p>
                  </a:txBody>
                  <a:tcPr marL="128016" marR="128016" marT="45720" marB="45720" anchor="ctr">
                    <a:solidFill>
                      <a:srgbClr val="DDEDEB"/>
                    </a:solidFill>
                  </a:tcPr>
                </a:tc>
              </a:tr>
            </a:tbl>
          </a:graphicData>
        </a:graphic>
      </p:graphicFrame>
      <p:sp>
        <p:nvSpPr>
          <p:cNvPr id="8" name="TextBox 7"/>
          <p:cNvSpPr txBox="1"/>
          <p:nvPr/>
        </p:nvSpPr>
        <p:spPr>
          <a:xfrm>
            <a:off x="777240" y="4251960"/>
            <a:ext cx="10637215" cy="320040"/>
          </a:xfrm>
          <a:prstGeom prst="rect">
            <a:avLst/>
          </a:prstGeom>
          <a:noFill/>
        </p:spPr>
        <p:txBody>
          <a:bodyPr wrap="square" lIns="0" rIns="0" tIns="0" bIns="0">
            <a:spAutoFit/>
          </a:bodyPr>
          <a:lstStyle/>
          <a:p>
            <a:pPr algn="l">
              <a:lnSpc>
                <a:spcPct val="100000"/>
              </a:lnSpc>
            </a:pPr>
            <a:r>
              <a:rPr sz="1350" b="0" i="1">
                <a:solidFill>
                  <a:srgbClr val="617274"/>
                </a:solidFill>
                <a:latin typeface="Segoe UI"/>
              </a:rPr>
              <a:t>Held-out figures are means over five clip-level partitions, with the spread across them.</a:t>
            </a:r>
          </a:p>
        </p:txBody>
      </p:sp>
      <p:sp>
        <p:nvSpPr>
          <p:cNvPr id="9" name="Rectangle 8"/>
          <p:cNvSpPr/>
          <p:nvPr/>
        </p:nvSpPr>
        <p:spPr>
          <a:xfrm>
            <a:off x="777240" y="48463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4718304"/>
            <a:ext cx="10399471" cy="365760"/>
          </a:xfrm>
          <a:prstGeom prst="rect">
            <a:avLst/>
          </a:prstGeom>
          <a:noFill/>
        </p:spPr>
        <p:txBody>
          <a:bodyPr wrap="square" lIns="0" rIns="0" tIns="0" bIns="0">
            <a:spAutoFit/>
          </a:bodyPr>
          <a:lstStyle/>
          <a:p>
            <a:pPr>
              <a:lnSpc>
                <a:spcPct val="125000"/>
              </a:lnSpc>
            </a:pPr>
            <a:r>
              <a:rPr sz="1500" b="1">
                <a:solidFill>
                  <a:srgbClr val="141C1E"/>
                </a:solidFill>
                <a:latin typeface="Segoe UI"/>
              </a:rPr>
              <a:t>The language pathway alone is best.  </a:t>
            </a:r>
            <a:r>
              <a:rPr sz="1500">
                <a:solidFill>
                  <a:srgbClr val="3A4A4C"/>
                </a:solidFill>
                <a:latin typeface="Segoe UI"/>
              </a:rPr>
              <a:t>Adding a motion signal costs 0.001 on the full set; adding scene-centre normality costs 0.067.</a:t>
            </a:r>
          </a:p>
        </p:txBody>
      </p:sp>
      <p:sp>
        <p:nvSpPr>
          <p:cNvPr id="11" name="Rectangle 10"/>
          <p:cNvSpPr/>
          <p:nvPr/>
        </p:nvSpPr>
        <p:spPr>
          <a:xfrm>
            <a:off x="777240" y="57607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5632704"/>
            <a:ext cx="10399471" cy="365760"/>
          </a:xfrm>
          <a:prstGeom prst="rect">
            <a:avLst/>
          </a:prstGeom>
          <a:noFill/>
        </p:spPr>
        <p:txBody>
          <a:bodyPr wrap="square" lIns="0" rIns="0" tIns="0" bIns="0">
            <a:spAutoFit/>
          </a:bodyPr>
          <a:lstStyle/>
          <a:p>
            <a:pPr>
              <a:lnSpc>
                <a:spcPct val="125000"/>
              </a:lnSpc>
            </a:pPr>
            <a:r>
              <a:rPr sz="1500" b="1">
                <a:solidFill>
                  <a:srgbClr val="141C1E"/>
                </a:solidFill>
                <a:latin typeface="Segoe UI"/>
              </a:rPr>
              <a:t>This was not the expected answer.  </a:t>
            </a:r>
            <a:r>
              <a:rPr sz="1500">
                <a:solidFill>
                  <a:srgbClr val="3A4A4C"/>
                </a:solidFill>
                <a:latin typeface="Segoe UI"/>
              </a:rPr>
              <a:t>ShanghaiTech's anomalies look kinematic — a bicycle at cycling speed — so appearance and motion should be complementary. Measured here, they are 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ABLATION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Window length, and what each component adds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18</a:t>
            </a:r>
          </a:p>
        </p:txBody>
      </p:sp>
      <p:pic>
        <p:nvPicPr>
          <p:cNvPr id="7" name="Picture 6" descr="fig_chart_ablation.png"/>
          <p:cNvPicPr>
            <a:picLocks noChangeAspect="1"/>
          </p:cNvPicPr>
          <p:nvPr/>
        </p:nvPicPr>
        <p:blipFill>
          <a:blip r:embed="rId2"/>
          <a:stretch>
            <a:fillRect/>
          </a:stretch>
        </p:blipFill>
        <p:spPr>
          <a:xfrm>
            <a:off x="2057857" y="1783080"/>
            <a:ext cx="8075980" cy="3218688"/>
          </a:xfrm>
          <a:prstGeom prst="rect">
            <a:avLst/>
          </a:prstGeom>
        </p:spPr>
      </p:pic>
      <p:sp>
        <p:nvSpPr>
          <p:cNvPr id="8" name="Rectangle 7"/>
          <p:cNvSpPr/>
          <p:nvPr/>
        </p:nvSpPr>
        <p:spPr>
          <a:xfrm>
            <a:off x="777240" y="5230368"/>
            <a:ext cx="10637215" cy="1298448"/>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Left: smoothing helps up to w=31 and then hurts, so the window has a real optimum rather than the metric rewarding more blur; the grey curve is the wrong pooling and never leaves chance. Right: the error bars overlap, so the honest claim is that nothing added beats language alone — not that language alone wins.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CROSS-DOMAIN</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A second domain — the replication test</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19</a:t>
            </a:r>
          </a:p>
        </p:txBody>
      </p:sp>
      <p:sp>
        <p:nvSpPr>
          <p:cNvPr id="7" name="TextBox 6"/>
          <p:cNvSpPr txBox="1"/>
          <p:nvPr/>
        </p:nvSpPr>
        <p:spPr>
          <a:xfrm>
            <a:off x="777240" y="1737360"/>
            <a:ext cx="10637215" cy="320040"/>
          </a:xfrm>
          <a:prstGeom prst="rect">
            <a:avLst/>
          </a:prstGeom>
          <a:noFill/>
        </p:spPr>
        <p:txBody>
          <a:bodyPr wrap="square" lIns="0" rIns="0" tIns="0" bIns="0">
            <a:spAutoFit/>
          </a:bodyPr>
          <a:lstStyle/>
          <a:p>
            <a:pPr algn="l">
              <a:lnSpc>
                <a:spcPct val="100000"/>
              </a:lnSpc>
            </a:pPr>
            <a:r>
              <a:rPr sz="1500" b="0" i="0">
                <a:solidFill>
                  <a:srgbClr val="3A4A4C"/>
                </a:solidFill>
                <a:latin typeface="Segoe UI"/>
              </a:rPr>
              <a:t>Identical frozen configuration applied to CUHK Avenue. Nothing retuned. Only the scene sentence changed.</a:t>
            </a:r>
          </a:p>
        </p:txBody>
      </p:sp>
      <p:graphicFrame>
        <p:nvGraphicFramePr>
          <p:cNvPr id="8" name="Table 7"/>
          <p:cNvGraphicFramePr>
            <a:graphicFrameLocks noGrp="1"/>
          </p:cNvGraphicFramePr>
          <p:nvPr/>
        </p:nvGraphicFramePr>
        <p:xfrm>
          <a:off x="777240" y="2286000"/>
          <a:ext cx="10634472" cy="1591056"/>
        </p:xfrm>
        <a:graphic>
          <a:graphicData uri="http://schemas.openxmlformats.org/drawingml/2006/table">
            <a:tbl>
              <a:tblPr firstRow="1">
                <a:tableStyleId>{5C22544A-7EE6-4342-B048-85BDC9FD1C3A}</a:tableStyleId>
              </a:tblPr>
              <a:tblGrid>
                <a:gridCol w="2953512"/>
                <a:gridCol w="1536192"/>
                <a:gridCol w="1536192"/>
                <a:gridCol w="1536192"/>
                <a:gridCol w="1536192"/>
                <a:gridCol w="1536192"/>
              </a:tblGrid>
              <a:tr h="530352">
                <a:tc>
                  <a:txBody>
                    <a:bodyPr wrap="square"/>
                    <a:lstStyle/>
                    <a:p>
                      <a:pPr algn="l"/>
                      <a:r>
                        <a:rPr sz="1500" b="1">
                          <a:solidFill>
                            <a:srgbClr val="FFFFFF"/>
                          </a:solidFill>
                          <a:latin typeface="Segoe UI"/>
                        </a:rPr>
                        <a:t>Dataset</a:t>
                      </a:r>
                    </a:p>
                  </a:txBody>
                  <a:tcPr marL="128016" marR="128016" marT="45720" marB="45720" anchor="ctr">
                    <a:solidFill>
                      <a:srgbClr val="141C1E"/>
                    </a:solidFill>
                  </a:tcPr>
                </a:tc>
                <a:tc>
                  <a:txBody>
                    <a:bodyPr wrap="square"/>
                    <a:lstStyle/>
                    <a:p>
                      <a:pPr algn="r"/>
                      <a:r>
                        <a:rPr sz="1500" b="1">
                          <a:solidFill>
                            <a:srgbClr val="FFFFFF"/>
                          </a:solidFill>
                          <a:latin typeface="Segoe UI"/>
                        </a:rPr>
                        <a:t>none</a:t>
                      </a:r>
                    </a:p>
                  </a:txBody>
                  <a:tcPr marL="128016" marR="128016" marT="45720" marB="45720" anchor="ctr">
                    <a:solidFill>
                      <a:srgbClr val="141C1E"/>
                    </a:solidFill>
                  </a:tcPr>
                </a:tc>
                <a:tc>
                  <a:txBody>
                    <a:bodyPr wrap="square"/>
                    <a:lstStyle/>
                    <a:p>
                      <a:pPr algn="r"/>
                      <a:r>
                        <a:rPr sz="1500" b="1">
                          <a:solidFill>
                            <a:srgbClr val="FFFFFF"/>
                          </a:solidFill>
                          <a:latin typeface="Segoe UI"/>
                        </a:rPr>
                        <a:t>generic</a:t>
                      </a:r>
                    </a:p>
                  </a:txBody>
                  <a:tcPr marL="128016" marR="128016" marT="45720" marB="45720" anchor="ctr">
                    <a:solidFill>
                      <a:srgbClr val="141C1E"/>
                    </a:solidFill>
                  </a:tcPr>
                </a:tc>
                <a:tc>
                  <a:txBody>
                    <a:bodyPr wrap="square"/>
                    <a:lstStyle/>
                    <a:p>
                      <a:pPr algn="r"/>
                      <a:r>
                        <a:rPr sz="1500" b="1">
                          <a:solidFill>
                            <a:srgbClr val="FFFFFF"/>
                          </a:solidFill>
                          <a:latin typeface="Segoe UI"/>
                        </a:rPr>
                        <a:t>matched</a:t>
                      </a:r>
                    </a:p>
                  </a:txBody>
                  <a:tcPr marL="128016" marR="128016" marT="45720" marB="45720" anchor="ctr">
                    <a:solidFill>
                      <a:srgbClr val="141C1E"/>
                    </a:solidFill>
                  </a:tcPr>
                </a:tc>
                <a:tc>
                  <a:txBody>
                    <a:bodyPr wrap="square"/>
                    <a:lstStyle/>
                    <a:p>
                      <a:pPr algn="r"/>
                      <a:r>
                        <a:rPr sz="1500" b="1">
                          <a:solidFill>
                            <a:srgbClr val="FFFFFF"/>
                          </a:solidFill>
                          <a:latin typeface="Segoe UI"/>
                        </a:rPr>
                        <a:t>mismatched</a:t>
                      </a:r>
                    </a:p>
                  </a:txBody>
                  <a:tcPr marL="128016" marR="128016" marT="45720" marB="45720" anchor="ctr">
                    <a:solidFill>
                      <a:srgbClr val="141C1E"/>
                    </a:solidFill>
                  </a:tcPr>
                </a:tc>
                <a:tc>
                  <a:txBody>
                    <a:bodyPr wrap="square"/>
                    <a:lstStyle/>
                    <a:p>
                      <a:pPr algn="r"/>
                      <a:r>
                        <a:rPr sz="1500" b="1">
                          <a:solidFill>
                            <a:srgbClr val="FFFFFF"/>
                          </a:solidFill>
                          <a:latin typeface="Segoe UI"/>
                        </a:rPr>
                        <a:t>gap</a:t>
                      </a:r>
                    </a:p>
                  </a:txBody>
                  <a:tcPr marL="128016" marR="128016" marT="45720" marB="45720" anchor="ctr">
                    <a:solidFill>
                      <a:srgbClr val="141C1E"/>
                    </a:solidFill>
                  </a:tcPr>
                </a:tc>
              </a:tr>
              <a:tr h="530352">
                <a:tc>
                  <a:txBody>
                    <a:bodyPr wrap="square"/>
                    <a:lstStyle/>
                    <a:p>
                      <a:pPr algn="l"/>
                      <a:r>
                        <a:rPr sz="1500" b="0">
                          <a:solidFill>
                            <a:srgbClr val="141C1E"/>
                          </a:solidFill>
                          <a:latin typeface="Segoe UI"/>
                        </a:rPr>
                        <a:t>ShanghaiTech  (12 views)</a:t>
                      </a:r>
                    </a:p>
                  </a:txBody>
                  <a:tcPr marL="128016" marR="128016" marT="45720" marB="45720" anchor="ctr">
                    <a:solidFill>
                      <a:srgbClr val="FFFFFF"/>
                    </a:solidFill>
                  </a:tcPr>
                </a:tc>
                <a:tc>
                  <a:txBody>
                    <a:bodyPr wrap="square"/>
                    <a:lstStyle/>
                    <a:p>
                      <a:pPr algn="r"/>
                      <a:r>
                        <a:rPr sz="1500" b="0">
                          <a:solidFill>
                            <a:srgbClr val="141C1E"/>
                          </a:solidFill>
                          <a:latin typeface="Consolas"/>
                        </a:rPr>
                        <a:t>0.707</a:t>
                      </a:r>
                    </a:p>
                  </a:txBody>
                  <a:tcPr marL="128016" marR="128016" marT="45720" marB="45720" anchor="ctr">
                    <a:solidFill>
                      <a:srgbClr val="FFFFFF"/>
                    </a:solidFill>
                  </a:tcPr>
                </a:tc>
                <a:tc>
                  <a:txBody>
                    <a:bodyPr wrap="square"/>
                    <a:lstStyle/>
                    <a:p>
                      <a:pPr algn="r"/>
                      <a:r>
                        <a:rPr sz="1500" b="0">
                          <a:solidFill>
                            <a:srgbClr val="141C1E"/>
                          </a:solidFill>
                          <a:latin typeface="Consolas"/>
                        </a:rPr>
                        <a:t>0.691</a:t>
                      </a:r>
                    </a:p>
                  </a:txBody>
                  <a:tcPr marL="128016" marR="128016" marT="45720" marB="45720" anchor="ctr">
                    <a:solidFill>
                      <a:srgbClr val="FFFFFF"/>
                    </a:solidFill>
                  </a:tcPr>
                </a:tc>
                <a:tc>
                  <a:txBody>
                    <a:bodyPr wrap="square"/>
                    <a:lstStyle/>
                    <a:p>
                      <a:pPr algn="r"/>
                      <a:r>
                        <a:rPr sz="1500" b="0">
                          <a:solidFill>
                            <a:srgbClr val="141C1E"/>
                          </a:solidFill>
                          <a:latin typeface="Consolas"/>
                        </a:rPr>
                        <a:t>0.734</a:t>
                      </a:r>
                    </a:p>
                  </a:txBody>
                  <a:tcPr marL="128016" marR="128016" marT="45720" marB="45720" anchor="ctr">
                    <a:solidFill>
                      <a:srgbClr val="FFFFFF"/>
                    </a:solidFill>
                  </a:tcPr>
                </a:tc>
                <a:tc>
                  <a:txBody>
                    <a:bodyPr wrap="square"/>
                    <a:lstStyle/>
                    <a:p>
                      <a:pPr algn="r"/>
                      <a:r>
                        <a:rPr sz="1500" b="0">
                          <a:solidFill>
                            <a:srgbClr val="141C1E"/>
                          </a:solidFill>
                          <a:latin typeface="Consolas"/>
                        </a:rPr>
                        <a:t>0.628</a:t>
                      </a:r>
                    </a:p>
                  </a:txBody>
                  <a:tcPr marL="128016" marR="128016" marT="45720" marB="45720" anchor="ctr">
                    <a:solidFill>
                      <a:srgbClr val="FFFFFF"/>
                    </a:solidFill>
                  </a:tcPr>
                </a:tc>
                <a:tc>
                  <a:txBody>
                    <a:bodyPr wrap="square"/>
                    <a:lstStyle/>
                    <a:p>
                      <a:pPr algn="r"/>
                      <a:r>
                        <a:rPr sz="1500" b="0">
                          <a:solidFill>
                            <a:srgbClr val="141C1E"/>
                          </a:solidFill>
                          <a:latin typeface="Consolas"/>
                        </a:rPr>
                        <a:t>+0.105</a:t>
                      </a:r>
                    </a:p>
                  </a:txBody>
                  <a:tcPr marL="128016" marR="128016" marT="45720" marB="45720" anchor="ctr">
                    <a:solidFill>
                      <a:srgbClr val="FFFFFF"/>
                    </a:solidFill>
                  </a:tcPr>
                </a:tc>
              </a:tr>
              <a:tr h="530352">
                <a:tc>
                  <a:txBody>
                    <a:bodyPr wrap="square"/>
                    <a:lstStyle/>
                    <a:p>
                      <a:pPr algn="l"/>
                      <a:r>
                        <a:rPr sz="1500" b="1">
                          <a:solidFill>
                            <a:srgbClr val="141C1E"/>
                          </a:solidFill>
                          <a:latin typeface="Segoe UI"/>
                        </a:rPr>
                        <a:t>CUHK Avenue  (1 view)</a:t>
                      </a:r>
                    </a:p>
                  </a:txBody>
                  <a:tcPr marL="128016" marR="128016" marT="45720" marB="45720" anchor="ctr">
                    <a:solidFill>
                      <a:srgbClr val="DDEDEB"/>
                    </a:solidFill>
                  </a:tcPr>
                </a:tc>
                <a:tc>
                  <a:txBody>
                    <a:bodyPr wrap="square"/>
                    <a:lstStyle/>
                    <a:p>
                      <a:pPr algn="r"/>
                      <a:r>
                        <a:rPr sz="1500" b="1">
                          <a:solidFill>
                            <a:srgbClr val="141C1E"/>
                          </a:solidFill>
                          <a:latin typeface="Consolas"/>
                        </a:rPr>
                        <a:t>0.706</a:t>
                      </a:r>
                    </a:p>
                  </a:txBody>
                  <a:tcPr marL="128016" marR="128016" marT="45720" marB="45720" anchor="ctr">
                    <a:solidFill>
                      <a:srgbClr val="DDEDEB"/>
                    </a:solidFill>
                  </a:tcPr>
                </a:tc>
                <a:tc>
                  <a:txBody>
                    <a:bodyPr wrap="square"/>
                    <a:lstStyle/>
                    <a:p>
                      <a:pPr algn="r"/>
                      <a:r>
                        <a:rPr sz="1500" b="1">
                          <a:solidFill>
                            <a:srgbClr val="141C1E"/>
                          </a:solidFill>
                          <a:latin typeface="Consolas"/>
                        </a:rPr>
                        <a:t>0.729</a:t>
                      </a:r>
                    </a:p>
                  </a:txBody>
                  <a:tcPr marL="128016" marR="128016" marT="45720" marB="45720" anchor="ctr">
                    <a:solidFill>
                      <a:srgbClr val="DDEDEB"/>
                    </a:solidFill>
                  </a:tcPr>
                </a:tc>
                <a:tc>
                  <a:txBody>
                    <a:bodyPr wrap="square"/>
                    <a:lstStyle/>
                    <a:p>
                      <a:pPr algn="r"/>
                      <a:r>
                        <a:rPr sz="1500" b="1">
                          <a:solidFill>
                            <a:srgbClr val="141C1E"/>
                          </a:solidFill>
                          <a:latin typeface="Consolas"/>
                        </a:rPr>
                        <a:t>0.677</a:t>
                      </a:r>
                    </a:p>
                  </a:txBody>
                  <a:tcPr marL="128016" marR="128016" marT="45720" marB="45720" anchor="ctr">
                    <a:solidFill>
                      <a:srgbClr val="DDEDEB"/>
                    </a:solidFill>
                  </a:tcPr>
                </a:tc>
                <a:tc>
                  <a:txBody>
                    <a:bodyPr wrap="square"/>
                    <a:lstStyle/>
                    <a:p>
                      <a:pPr algn="r"/>
                      <a:r>
                        <a:rPr sz="1500" b="1">
                          <a:solidFill>
                            <a:srgbClr val="141C1E"/>
                          </a:solidFill>
                          <a:latin typeface="Consolas"/>
                        </a:rPr>
                        <a:t>0.657</a:t>
                      </a:r>
                    </a:p>
                  </a:txBody>
                  <a:tcPr marL="128016" marR="128016" marT="45720" marB="45720" anchor="ctr">
                    <a:solidFill>
                      <a:srgbClr val="DDEDEB"/>
                    </a:solidFill>
                  </a:tcPr>
                </a:tc>
                <a:tc>
                  <a:txBody>
                    <a:bodyPr wrap="square"/>
                    <a:lstStyle/>
                    <a:p>
                      <a:pPr algn="r"/>
                      <a:r>
                        <a:rPr sz="1500" b="1">
                          <a:solidFill>
                            <a:srgbClr val="141C1E"/>
                          </a:solidFill>
                          <a:latin typeface="Consolas"/>
                        </a:rPr>
                        <a:t>+0.020</a:t>
                      </a:r>
                    </a:p>
                  </a:txBody>
                  <a:tcPr marL="128016" marR="128016" marT="45720" marB="45720" anchor="ctr">
                    <a:solidFill>
                      <a:srgbClr val="DDEDEB"/>
                    </a:solidFill>
                  </a:tcPr>
                </a:tc>
              </a:tr>
            </a:tbl>
          </a:graphicData>
        </a:graphic>
      </p:graphicFrame>
      <p:sp>
        <p:nvSpPr>
          <p:cNvPr id="9" name="Rectangle 8"/>
          <p:cNvSpPr/>
          <p:nvPr/>
        </p:nvSpPr>
        <p:spPr>
          <a:xfrm>
            <a:off x="777240" y="3977639"/>
            <a:ext cx="5074920" cy="13716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160520"/>
            <a:ext cx="4480560" cy="274320"/>
          </a:xfrm>
          <a:prstGeom prst="rect">
            <a:avLst/>
          </a:prstGeom>
          <a:noFill/>
        </p:spPr>
        <p:txBody>
          <a:bodyPr wrap="square" lIns="0" rIns="0" tIns="0" bIns="0">
            <a:spAutoFit/>
          </a:bodyPr>
          <a:lstStyle/>
          <a:p>
            <a:pPr algn="l">
              <a:lnSpc>
                <a:spcPct val="100000"/>
              </a:lnSpc>
            </a:pPr>
            <a:r>
              <a:rPr sz="1150" b="1" i="0">
                <a:solidFill>
                  <a:srgbClr val="0D6B67"/>
                </a:solidFill>
                <a:latin typeface="Segoe UI"/>
              </a:rPr>
              <a:t>DETECTION TRANSFERS</a:t>
            </a:r>
          </a:p>
        </p:txBody>
      </p:sp>
      <p:sp>
        <p:nvSpPr>
          <p:cNvPr id="11" name="TextBox 10"/>
          <p:cNvSpPr txBox="1"/>
          <p:nvPr/>
        </p:nvSpPr>
        <p:spPr>
          <a:xfrm>
            <a:off x="1097280" y="4480560"/>
            <a:ext cx="4480560" cy="7315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0.706 vs 0.707 with no descriptor.
The detector works equally well.</a:t>
            </a:r>
          </a:p>
        </p:txBody>
      </p:sp>
      <p:sp>
        <p:nvSpPr>
          <p:cNvPr id="12" name="Rectangle 11"/>
          <p:cNvSpPr/>
          <p:nvPr/>
        </p:nvSpPr>
        <p:spPr>
          <a:xfrm>
            <a:off x="6217920" y="3977639"/>
            <a:ext cx="5074920" cy="1371600"/>
          </a:xfrm>
          <a:prstGeom prst="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4160520"/>
            <a:ext cx="4480560" cy="274320"/>
          </a:xfrm>
          <a:prstGeom prst="rect">
            <a:avLst/>
          </a:prstGeom>
          <a:noFill/>
        </p:spPr>
        <p:txBody>
          <a:bodyPr wrap="square" lIns="0" rIns="0" tIns="0" bIns="0">
            <a:spAutoFit/>
          </a:bodyPr>
          <a:lstStyle/>
          <a:p>
            <a:pPr algn="l">
              <a:lnSpc>
                <a:spcPct val="100000"/>
              </a:lnSpc>
            </a:pPr>
            <a:r>
              <a:rPr sz="1150" b="1" i="0">
                <a:solidFill>
                  <a:srgbClr val="8C3A31"/>
                </a:solidFill>
                <a:latin typeface="Segoe UI"/>
              </a:rPr>
              <a:t>ADAPTATION DOES NOT</a:t>
            </a:r>
          </a:p>
        </p:txBody>
      </p:sp>
      <p:sp>
        <p:nvSpPr>
          <p:cNvPr id="14" name="TextBox 13"/>
          <p:cNvSpPr txBox="1"/>
          <p:nvPr/>
        </p:nvSpPr>
        <p:spPr>
          <a:xfrm>
            <a:off x="6537959" y="4480560"/>
            <a:ext cx="4480560" cy="731520"/>
          </a:xfrm>
          <a:prstGeom prst="rect">
            <a:avLst/>
          </a:prstGeom>
          <a:noFill/>
        </p:spPr>
        <p:txBody>
          <a:bodyPr wrap="square" lIns="0" rIns="0" tIns="0" bIns="0">
            <a:spAutoFit/>
          </a:bodyPr>
          <a:lstStyle/>
          <a:p>
            <a:pPr algn="l">
              <a:lnSpc>
                <a:spcPct val="130000"/>
              </a:lnSpc>
            </a:pPr>
            <a:r>
              <a:rPr sz="1500" b="0" i="0">
                <a:solidFill>
                  <a:srgbClr val="141C1E"/>
                </a:solidFill>
                <a:latin typeface="Segoe UI"/>
              </a:rPr>
              <a:t>Gap 5× smaller, and the correct
description scores BELOW none.</a:t>
            </a:r>
          </a:p>
        </p:txBody>
      </p:sp>
      <p:sp>
        <p:nvSpPr>
          <p:cNvPr id="15" name="Rectangle 14"/>
          <p:cNvSpPr/>
          <p:nvPr/>
        </p:nvSpPr>
        <p:spPr>
          <a:xfrm>
            <a:off x="777240" y="5486400"/>
            <a:ext cx="10637215" cy="1051560"/>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486400"/>
            <a:ext cx="45720" cy="1051560"/>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5632704"/>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OUR EXPLANATION — STATED AS A CONJECTURE</a:t>
            </a:r>
          </a:p>
        </p:txBody>
      </p:sp>
      <p:sp>
        <p:nvSpPr>
          <p:cNvPr id="18" name="TextBox 17"/>
          <p:cNvSpPr txBox="1"/>
          <p:nvPr/>
        </p:nvSpPr>
        <p:spPr>
          <a:xfrm>
            <a:off x="1033271" y="5925312"/>
            <a:ext cx="10134295" cy="484631"/>
          </a:xfrm>
          <a:prstGeom prst="rect">
            <a:avLst/>
          </a:prstGeom>
          <a:noFill/>
        </p:spPr>
        <p:txBody>
          <a:bodyPr wrap="square" lIns="0" rIns="0" tIns="0" bIns="0">
            <a:spAutoFit/>
          </a:bodyPr>
          <a:lstStyle/>
          <a:p>
            <a:pPr algn="l">
              <a:lnSpc>
                <a:spcPct val="100000"/>
              </a:lnSpc>
            </a:pPr>
            <a:r>
              <a:rPr sz="1450" b="0" i="0">
                <a:solidFill>
                  <a:srgbClr val="141C1E"/>
                </a:solidFill>
                <a:latin typeface="Segoe UI"/>
              </a:rPr>
              <a:t>ShanghaiTech has 12 camera views; Avenue has one. A scene description has work to do only when there are several environments to tell apart. Testable: run the sweep inside a single ShanghaiTech 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THE CONTROL</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We tested that explanation, and it held</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20</a:t>
            </a:r>
          </a:p>
        </p:txBody>
      </p:sp>
      <p:sp>
        <p:nvSpPr>
          <p:cNvPr id="7" name="TextBox 6"/>
          <p:cNvSpPr txBox="1"/>
          <p:nvPr/>
        </p:nvSpPr>
        <p:spPr>
          <a:xfrm>
            <a:off x="777240" y="1737360"/>
            <a:ext cx="10637215" cy="640080"/>
          </a:xfrm>
          <a:prstGeom prst="rect">
            <a:avLst/>
          </a:prstGeom>
          <a:noFill/>
        </p:spPr>
        <p:txBody>
          <a:bodyPr wrap="square" lIns="0" rIns="0" tIns="0" bIns="0">
            <a:spAutoFit/>
          </a:bodyPr>
          <a:lstStyle/>
          <a:p>
            <a:pPr algn="l">
              <a:lnSpc>
                <a:spcPct val="130000"/>
              </a:lnSpc>
            </a:pPr>
            <a:r>
              <a:rPr sz="1550" b="0" i="0">
                <a:solidFill>
                  <a:srgbClr val="3A4A4C"/>
                </a:solidFill>
                <a:latin typeface="Segoe UI"/>
              </a:rPr>
              <a:t>ShanghaiTech is twelve single-view datasets stacked together. If the descriptor works by telling the model WHICH scene it is in, then confining the sweep to one camera view should reproduce Avenue's flat result.</a:t>
            </a:r>
          </a:p>
        </p:txBody>
      </p:sp>
      <p:graphicFrame>
        <p:nvGraphicFramePr>
          <p:cNvPr id="8" name="Table 7"/>
          <p:cNvGraphicFramePr>
            <a:graphicFrameLocks noGrp="1"/>
          </p:cNvGraphicFramePr>
          <p:nvPr/>
        </p:nvGraphicFramePr>
        <p:xfrm>
          <a:off x="777240" y="2606040"/>
          <a:ext cx="10634472" cy="2048256"/>
        </p:xfrm>
        <a:graphic>
          <a:graphicData uri="http://schemas.openxmlformats.org/drawingml/2006/table">
            <a:tbl>
              <a:tblPr firstRow="1">
                <a:tableStyleId>{5C22544A-7EE6-4342-B048-85BDC9FD1C3A}</a:tableStyleId>
              </a:tblPr>
              <a:tblGrid>
                <a:gridCol w="5120640"/>
                <a:gridCol w="1737360"/>
                <a:gridCol w="2103120"/>
                <a:gridCol w="1673352"/>
              </a:tblGrid>
              <a:tr h="512064">
                <a:tc>
                  <a:txBody>
                    <a:bodyPr wrap="square"/>
                    <a:lstStyle/>
                    <a:p>
                      <a:pPr algn="l"/>
                      <a:r>
                        <a:rPr sz="1500" b="1">
                          <a:solidFill>
                            <a:srgbClr val="FFFFFF"/>
                          </a:solidFill>
                          <a:latin typeface="Segoe UI"/>
                        </a:rPr>
                        <a:t>Evaluation</a:t>
                      </a:r>
                    </a:p>
                  </a:txBody>
                  <a:tcPr marL="128016" marR="128016" marT="45720" marB="45720" anchor="ctr">
                    <a:solidFill>
                      <a:srgbClr val="141C1E"/>
                    </a:solidFill>
                  </a:tcPr>
                </a:tc>
                <a:tc>
                  <a:txBody>
                    <a:bodyPr wrap="square"/>
                    <a:lstStyle/>
                    <a:p>
                      <a:pPr algn="l"/>
                      <a:r>
                        <a:rPr sz="1500" b="1">
                          <a:solidFill>
                            <a:srgbClr val="FFFFFF"/>
                          </a:solidFill>
                          <a:latin typeface="Segoe UI"/>
                        </a:rPr>
                        <a:t>Views</a:t>
                      </a:r>
                    </a:p>
                  </a:txBody>
                  <a:tcPr marL="128016" marR="128016" marT="45720" marB="45720" anchor="ctr">
                    <a:solidFill>
                      <a:srgbClr val="141C1E"/>
                    </a:solidFill>
                  </a:tcPr>
                </a:tc>
                <a:tc>
                  <a:txBody>
                    <a:bodyPr wrap="square"/>
                    <a:lstStyle/>
                    <a:p>
                      <a:pPr algn="l"/>
                      <a:r>
                        <a:rPr sz="1500" b="1">
                          <a:solidFill>
                            <a:srgbClr val="FFFFFF"/>
                          </a:solidFill>
                          <a:latin typeface="Segoe UI"/>
                        </a:rPr>
                        <a:t>Clips</a:t>
                      </a:r>
                    </a:p>
                  </a:txBody>
                  <a:tcPr marL="128016" marR="128016" marT="45720" marB="45720" anchor="ctr">
                    <a:solidFill>
                      <a:srgbClr val="141C1E"/>
                    </a:solidFill>
                  </a:tcPr>
                </a:tc>
                <a:tc>
                  <a:txBody>
                    <a:bodyPr wrap="square"/>
                    <a:lstStyle/>
                    <a:p>
                      <a:pPr algn="r"/>
                      <a:r>
                        <a:rPr sz="1500" b="1">
                          <a:solidFill>
                            <a:srgbClr val="FFFFFF"/>
                          </a:solidFill>
                          <a:latin typeface="Segoe UI"/>
                        </a:rPr>
                        <a:t>Gap</a:t>
                      </a:r>
                    </a:p>
                  </a:txBody>
                  <a:tcPr marL="128016" marR="128016" marT="45720" marB="45720" anchor="ctr">
                    <a:solidFill>
                      <a:srgbClr val="141C1E"/>
                    </a:solidFill>
                  </a:tcPr>
                </a:tc>
              </a:tr>
              <a:tr h="512064">
                <a:tc>
                  <a:txBody>
                    <a:bodyPr wrap="square"/>
                    <a:lstStyle/>
                    <a:p>
                      <a:pPr algn="l"/>
                      <a:r>
                        <a:rPr sz="1500" b="0">
                          <a:solidFill>
                            <a:srgbClr val="141C1E"/>
                          </a:solidFill>
                          <a:latin typeface="Segoe UI"/>
                        </a:rPr>
                        <a:t>Pooled across views</a:t>
                      </a:r>
                    </a:p>
                  </a:txBody>
                  <a:tcPr marL="128016" marR="128016" marT="45720" marB="45720" anchor="ctr">
                    <a:solidFill>
                      <a:srgbClr val="FFFFFF"/>
                    </a:solidFill>
                  </a:tcPr>
                </a:tc>
                <a:tc>
                  <a:txBody>
                    <a:bodyPr wrap="square"/>
                    <a:lstStyle/>
                    <a:p>
                      <a:pPr algn="l"/>
                      <a:r>
                        <a:rPr sz="1500" b="0">
                          <a:solidFill>
                            <a:srgbClr val="141C1E"/>
                          </a:solidFill>
                          <a:latin typeface="Segoe UI"/>
                        </a:rPr>
                        <a:t>12</a:t>
                      </a:r>
                    </a:p>
                  </a:txBody>
                  <a:tcPr marL="128016" marR="128016" marT="45720" marB="45720" anchor="ctr">
                    <a:solidFill>
                      <a:srgbClr val="FFFFFF"/>
                    </a:solidFill>
                  </a:tcPr>
                </a:tc>
                <a:tc>
                  <a:txBody>
                    <a:bodyPr wrap="square"/>
                    <a:lstStyle/>
                    <a:p>
                      <a:pPr algn="l"/>
                      <a:r>
                        <a:rPr sz="1500" b="0">
                          <a:solidFill>
                            <a:srgbClr val="141C1E"/>
                          </a:solidFill>
                          <a:latin typeface="Segoe UI"/>
                        </a:rPr>
                        <a:t>107</a:t>
                      </a:r>
                    </a:p>
                  </a:txBody>
                  <a:tcPr marL="128016" marR="128016" marT="45720" marB="45720" anchor="ctr">
                    <a:solidFill>
                      <a:srgbClr val="FFFFFF"/>
                    </a:solidFill>
                  </a:tcPr>
                </a:tc>
                <a:tc>
                  <a:txBody>
                    <a:bodyPr wrap="square"/>
                    <a:lstStyle/>
                    <a:p>
                      <a:pPr algn="r"/>
                      <a:r>
                        <a:rPr sz="1500" b="0">
                          <a:solidFill>
                            <a:srgbClr val="141C1E"/>
                          </a:solidFill>
                          <a:latin typeface="Consolas"/>
                        </a:rPr>
                        <a:t>+0.105</a:t>
                      </a:r>
                    </a:p>
                  </a:txBody>
                  <a:tcPr marL="128016" marR="128016" marT="45720" marB="45720" anchor="ctr">
                    <a:solidFill>
                      <a:srgbClr val="FFFFFF"/>
                    </a:solidFill>
                  </a:tcPr>
                </a:tc>
              </a:tr>
              <a:tr h="512064">
                <a:tc>
                  <a:txBody>
                    <a:bodyPr wrap="square"/>
                    <a:lstStyle/>
                    <a:p>
                      <a:pPr algn="l"/>
                      <a:r>
                        <a:rPr sz="1500" b="1">
                          <a:solidFill>
                            <a:srgbClr val="141C1E"/>
                          </a:solidFill>
                          <a:latin typeface="Segoe UI"/>
                        </a:rPr>
                        <a:t>Within a single view (mean)</a:t>
                      </a:r>
                    </a:p>
                  </a:txBody>
                  <a:tcPr marL="128016" marR="128016" marT="45720" marB="45720" anchor="ctr">
                    <a:solidFill>
                      <a:srgbClr val="DDEDEB"/>
                    </a:solidFill>
                  </a:tcPr>
                </a:tc>
                <a:tc>
                  <a:txBody>
                    <a:bodyPr wrap="square"/>
                    <a:lstStyle/>
                    <a:p>
                      <a:pPr algn="l"/>
                      <a:r>
                        <a:rPr sz="1500" b="1">
                          <a:solidFill>
                            <a:srgbClr val="141C1E"/>
                          </a:solidFill>
                          <a:latin typeface="Segoe UI"/>
                        </a:rPr>
                        <a:t>9</a:t>
                      </a:r>
                    </a:p>
                  </a:txBody>
                  <a:tcPr marL="128016" marR="128016" marT="45720" marB="45720" anchor="ctr">
                    <a:solidFill>
                      <a:srgbClr val="DDEDEB"/>
                    </a:solidFill>
                  </a:tcPr>
                </a:tc>
                <a:tc>
                  <a:txBody>
                    <a:bodyPr wrap="square"/>
                    <a:lstStyle/>
                    <a:p>
                      <a:pPr algn="l"/>
                      <a:r>
                        <a:rPr sz="1500" b="1">
                          <a:solidFill>
                            <a:srgbClr val="141C1E"/>
                          </a:solidFill>
                          <a:latin typeface="Segoe UI"/>
                        </a:rPr>
                        <a:t>5–34 each</a:t>
                      </a:r>
                    </a:p>
                  </a:txBody>
                  <a:tcPr marL="128016" marR="128016" marT="45720" marB="45720" anchor="ctr">
                    <a:solidFill>
                      <a:srgbClr val="DDEDEB"/>
                    </a:solidFill>
                  </a:tcPr>
                </a:tc>
                <a:tc>
                  <a:txBody>
                    <a:bodyPr wrap="square"/>
                    <a:lstStyle/>
                    <a:p>
                      <a:pPr algn="r"/>
                      <a:r>
                        <a:rPr sz="1500" b="1">
                          <a:solidFill>
                            <a:srgbClr val="141C1E"/>
                          </a:solidFill>
                          <a:latin typeface="Consolas"/>
                        </a:rPr>
                        <a:t>+0.033</a:t>
                      </a:r>
                    </a:p>
                  </a:txBody>
                  <a:tcPr marL="128016" marR="128016" marT="45720" marB="45720" anchor="ctr">
                    <a:solidFill>
                      <a:srgbClr val="DDEDEB"/>
                    </a:solidFill>
                  </a:tcPr>
                </a:tc>
              </a:tr>
              <a:tr h="512064">
                <a:tc>
                  <a:txBody>
                    <a:bodyPr wrap="square"/>
                    <a:lstStyle/>
                    <a:p>
                      <a:pPr algn="l"/>
                      <a:r>
                        <a:rPr sz="1500" b="0">
                          <a:solidFill>
                            <a:srgbClr val="141C1E"/>
                          </a:solidFill>
                          <a:latin typeface="Segoe UI"/>
                        </a:rPr>
                        <a:t>CUHK Avenue (single view)</a:t>
                      </a:r>
                    </a:p>
                  </a:txBody>
                  <a:tcPr marL="128016" marR="128016" marT="45720" marB="45720" anchor="ctr">
                    <a:solidFill>
                      <a:srgbClr val="FFFFFF"/>
                    </a:solidFill>
                  </a:tcPr>
                </a:tc>
                <a:tc>
                  <a:txBody>
                    <a:bodyPr wrap="square"/>
                    <a:lstStyle/>
                    <a:p>
                      <a:pPr algn="l"/>
                      <a:r>
                        <a:rPr sz="1500" b="0">
                          <a:solidFill>
                            <a:srgbClr val="141C1E"/>
                          </a:solidFill>
                          <a:latin typeface="Segoe UI"/>
                        </a:rPr>
                        <a:t>1</a:t>
                      </a:r>
                    </a:p>
                  </a:txBody>
                  <a:tcPr marL="128016" marR="128016" marT="45720" marB="45720" anchor="ctr">
                    <a:solidFill>
                      <a:srgbClr val="FFFFFF"/>
                    </a:solidFill>
                  </a:tcPr>
                </a:tc>
                <a:tc>
                  <a:txBody>
                    <a:bodyPr wrap="square"/>
                    <a:lstStyle/>
                    <a:p>
                      <a:pPr algn="l"/>
                      <a:r>
                        <a:rPr sz="1500" b="0">
                          <a:solidFill>
                            <a:srgbClr val="141C1E"/>
                          </a:solidFill>
                          <a:latin typeface="Segoe UI"/>
                        </a:rPr>
                        <a:t>21</a:t>
                      </a:r>
                    </a:p>
                  </a:txBody>
                  <a:tcPr marL="128016" marR="128016" marT="45720" marB="45720" anchor="ctr">
                    <a:solidFill>
                      <a:srgbClr val="FFFFFF"/>
                    </a:solidFill>
                  </a:tcPr>
                </a:tc>
                <a:tc>
                  <a:txBody>
                    <a:bodyPr wrap="square"/>
                    <a:lstStyle/>
                    <a:p>
                      <a:pPr algn="r"/>
                      <a:r>
                        <a:rPr sz="1500" b="0">
                          <a:solidFill>
                            <a:srgbClr val="141C1E"/>
                          </a:solidFill>
                          <a:latin typeface="Consolas"/>
                        </a:rPr>
                        <a:t>+0.020</a:t>
                      </a:r>
                    </a:p>
                  </a:txBody>
                  <a:tcPr marL="128016" marR="128016" marT="45720" marB="45720" anchor="ctr">
                    <a:solidFill>
                      <a:srgbClr val="FFFFFF"/>
                    </a:solidFill>
                  </a:tcPr>
                </a:tc>
              </a:tr>
            </a:tbl>
          </a:graphicData>
        </a:graphic>
      </p:graphicFrame>
      <p:sp>
        <p:nvSpPr>
          <p:cNvPr id="9" name="Rectangle 8"/>
          <p:cNvSpPr/>
          <p:nvPr/>
        </p:nvSpPr>
        <p:spPr>
          <a:xfrm>
            <a:off x="777240" y="4480560"/>
            <a:ext cx="10637215" cy="10515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480560"/>
            <a:ext cx="45720" cy="105156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462686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THE PREDICTION COULD HAVE FAILED</a:t>
            </a:r>
          </a:p>
        </p:txBody>
      </p:sp>
      <p:sp>
        <p:nvSpPr>
          <p:cNvPr id="12" name="TextBox 11"/>
          <p:cNvSpPr txBox="1"/>
          <p:nvPr/>
        </p:nvSpPr>
        <p:spPr>
          <a:xfrm>
            <a:off x="1033271" y="4919472"/>
            <a:ext cx="10134295" cy="484631"/>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A within-view gap near +0.105 would have refuted the explanation outright. It came back at a third of that, next to Avenue's figure.</a:t>
            </a:r>
          </a:p>
        </p:txBody>
      </p:sp>
      <p:sp>
        <p:nvSpPr>
          <p:cNvPr id="13" name="TextBox 12"/>
          <p:cNvSpPr txBox="1"/>
          <p:nvPr/>
        </p:nvSpPr>
        <p:spPr>
          <a:xfrm>
            <a:off x="777240" y="5715000"/>
            <a:ext cx="10637215" cy="640080"/>
          </a:xfrm>
          <a:prstGeom prst="rect">
            <a:avLst/>
          </a:prstGeom>
          <a:noFill/>
        </p:spPr>
        <p:txBody>
          <a:bodyPr wrap="square" lIns="0" rIns="0" tIns="0" bIns="0">
            <a:spAutoFit/>
          </a:bodyPr>
          <a:lstStyle/>
          <a:p>
            <a:pPr algn="l">
              <a:lnSpc>
                <a:spcPct val="130000"/>
              </a:lnSpc>
            </a:pPr>
            <a:r>
              <a:rPr sz="1550" b="1" i="0">
                <a:solidFill>
                  <a:srgbClr val="141C1E"/>
                </a:solidFill>
                <a:latin typeface="Segoe UI"/>
              </a:rPr>
              <a:t>What the sentence mainly supplies is WHICH scene you are in — not what counts as normal within it. Three of nine views show a negative gap, so inside one scene the effect is not reliable.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THE CONTROL</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Every camera view, one at a time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21</a:t>
            </a:r>
          </a:p>
        </p:txBody>
      </p:sp>
      <p:pic>
        <p:nvPicPr>
          <p:cNvPr id="7" name="Picture 6" descr="fig_chart_within_view.png"/>
          <p:cNvPicPr>
            <a:picLocks noChangeAspect="1"/>
          </p:cNvPicPr>
          <p:nvPr/>
        </p:nvPicPr>
        <p:blipFill>
          <a:blip r:embed="rId2"/>
          <a:stretch>
            <a:fillRect/>
          </a:stretch>
        </p:blipFill>
        <p:spPr>
          <a:xfrm>
            <a:off x="1824896" y="1783080"/>
            <a:ext cx="8541902" cy="3218688"/>
          </a:xfrm>
          <a:prstGeom prst="rect">
            <a:avLst/>
          </a:prstGeom>
        </p:spPr>
      </p:pic>
      <p:sp>
        <p:nvSpPr>
          <p:cNvPr id="8" name="Rectangle 7"/>
          <p:cNvSpPr/>
          <p:nvPr/>
        </p:nvSpPr>
        <p:spPr>
          <a:xfrm>
            <a:off x="777240" y="5230368"/>
            <a:ext cx="10637215" cy="1298448"/>
          </a:xfrm>
          <a:prstGeom prst="rect">
            <a:avLst/>
          </a:prstGeom>
          <a:solidFill>
            <a:srgbClr val="F6E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5720" cy="1298448"/>
          </a:xfrm>
          <a:prstGeom prst="rect">
            <a:avLst/>
          </a:prstGeom>
          <a:solidFill>
            <a:srgbClr val="8A5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5376672"/>
            <a:ext cx="10134295" cy="219456"/>
          </a:xfrm>
          <a:prstGeom prst="rect">
            <a:avLst/>
          </a:prstGeom>
          <a:noFill/>
        </p:spPr>
        <p:txBody>
          <a:bodyPr wrap="square" lIns="0" rIns="0" tIns="0" bIns="0">
            <a:spAutoFit/>
          </a:bodyPr>
          <a:lstStyle/>
          <a:p>
            <a:pPr algn="l">
              <a:lnSpc>
                <a:spcPct val="100000"/>
              </a:lnSpc>
            </a:pPr>
            <a:r>
              <a:rPr sz="1050" b="1" i="0">
                <a:solidFill>
                  <a:srgbClr val="8A5715"/>
                </a:solidFill>
                <a:latin typeface="Segoe UI"/>
              </a:rPr>
              <a:t>HOW TO READ IT</a:t>
            </a:r>
          </a:p>
        </p:txBody>
      </p:sp>
      <p:sp>
        <p:nvSpPr>
          <p:cNvPr id="11" name="TextBox 10"/>
          <p:cNvSpPr txBox="1"/>
          <p:nvPr/>
        </p:nvSpPr>
        <p:spPr>
          <a:xfrm>
            <a:off x="1033271" y="5669279"/>
            <a:ext cx="10134295" cy="731519"/>
          </a:xfrm>
          <a:prstGeom prst="rect">
            <a:avLst/>
          </a:prstGeom>
          <a:noFill/>
        </p:spPr>
        <p:txBody>
          <a:bodyPr wrap="square" lIns="0" rIns="0" tIns="0" bIns="0">
            <a:spAutoFit/>
          </a:bodyPr>
          <a:lstStyle/>
          <a:p>
            <a:pPr algn="l">
              <a:lnSpc>
                <a:spcPct val="100000"/>
              </a:lnSpc>
            </a:pPr>
            <a:r>
              <a:rPr sz="1400" b="0" i="0">
                <a:solidFill>
                  <a:srgbClr val="141C1E"/>
                </a:solidFill>
                <a:latin typeface="Segoe UI"/>
              </a:rPr>
              <a:t>The orange line is the pooled result; each bar is one view on its own. Most fall well short of it and three are negative — but views 03 and 07 nearly reach it, so this is a shift in the average, not a clean collapse. The bars rest on between five and thirty-four clips each.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RESULTS  ·  NEGATIVE FINDINGS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Six things that did not work</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22</a:t>
            </a:r>
          </a:p>
        </p:txBody>
      </p:sp>
      <p:graphicFrame>
        <p:nvGraphicFramePr>
          <p:cNvPr id="7" name="Table 6"/>
          <p:cNvGraphicFramePr>
            <a:graphicFrameLocks noGrp="1"/>
          </p:cNvGraphicFramePr>
          <p:nvPr/>
        </p:nvGraphicFramePr>
        <p:xfrm>
          <a:off x="777240" y="1828800"/>
          <a:ext cx="10634472" cy="3200400"/>
        </p:xfrm>
        <a:graphic>
          <a:graphicData uri="http://schemas.openxmlformats.org/drawingml/2006/table">
            <a:tbl>
              <a:tblPr firstRow="1">
                <a:tableStyleId>{5C22544A-7EE6-4342-B048-85BDC9FD1C3A}</a:tableStyleId>
              </a:tblPr>
              <a:tblGrid>
                <a:gridCol w="6035040"/>
                <a:gridCol w="4599432"/>
              </a:tblGrid>
              <a:tr h="457200">
                <a:tc>
                  <a:txBody>
                    <a:bodyPr wrap="square"/>
                    <a:lstStyle/>
                    <a:p>
                      <a:pPr algn="l"/>
                      <a:r>
                        <a:rPr sz="1350" b="1">
                          <a:solidFill>
                            <a:srgbClr val="FFFFFF"/>
                          </a:solidFill>
                          <a:latin typeface="Segoe UI"/>
                        </a:rPr>
                        <a:t>Modification</a:t>
                      </a:r>
                    </a:p>
                  </a:txBody>
                  <a:tcPr marL="128016" marR="128016" marT="45720" marB="45720" anchor="ctr">
                    <a:solidFill>
                      <a:srgbClr val="141C1E"/>
                    </a:solidFill>
                  </a:tcPr>
                </a:tc>
                <a:tc>
                  <a:txBody>
                    <a:bodyPr wrap="square"/>
                    <a:lstStyle/>
                    <a:p>
                      <a:pPr algn="l"/>
                      <a:r>
                        <a:rPr sz="1350" b="1">
                          <a:solidFill>
                            <a:srgbClr val="FFFFFF"/>
                          </a:solidFill>
                          <a:latin typeface="Segoe UI"/>
                        </a:rPr>
                        <a:t>Outcome</a:t>
                      </a:r>
                    </a:p>
                  </a:txBody>
                  <a:tcPr marL="128016" marR="128016" marT="45720" marB="45720" anchor="ctr">
                    <a:solidFill>
                      <a:srgbClr val="141C1E"/>
                    </a:solidFill>
                  </a:tcPr>
                </a:tc>
              </a:tr>
              <a:tr h="457200">
                <a:tc>
                  <a:txBody>
                    <a:bodyPr wrap="square"/>
                    <a:lstStyle/>
                    <a:p>
                      <a:pPr algn="l"/>
                      <a:r>
                        <a:rPr sz="1350" b="0">
                          <a:solidFill>
                            <a:srgbClr val="141C1E"/>
                          </a:solidFill>
                          <a:latin typeface="Segoe UI"/>
                        </a:rPr>
                        <a:t>Quadrant scoring, to catch small objects</a:t>
                      </a:r>
                    </a:p>
                  </a:txBody>
                  <a:tcPr marL="128016" marR="128016" marT="45720" marB="45720" anchor="ctr">
                    <a:solidFill>
                      <a:srgbClr val="FFFFFF"/>
                    </a:solidFill>
                  </a:tcPr>
                </a:tc>
                <a:tc>
                  <a:txBody>
                    <a:bodyPr wrap="square"/>
                    <a:lstStyle/>
                    <a:p>
                      <a:pPr algn="l"/>
                      <a:r>
                        <a:rPr sz="1350" b="0">
                          <a:solidFill>
                            <a:srgbClr val="141C1E"/>
                          </a:solidFill>
                          <a:latin typeface="Segoe UI"/>
                        </a:rPr>
                        <a:t>No improvement in any configuration</a:t>
                      </a:r>
                    </a:p>
                  </a:txBody>
                  <a:tcPr marL="128016" marR="128016" marT="45720" marB="45720" anchor="ctr">
                    <a:solidFill>
                      <a:srgbClr val="FFFFFF"/>
                    </a:solidFill>
                  </a:tcPr>
                </a:tc>
              </a:tr>
              <a:tr h="457200">
                <a:tc>
                  <a:txBody>
                    <a:bodyPr wrap="square"/>
                    <a:lstStyle/>
                    <a:p>
                      <a:pPr algn="l"/>
                      <a:r>
                        <a:rPr sz="1350" b="0">
                          <a:solidFill>
                            <a:srgbClr val="141C1E"/>
                          </a:solidFill>
                          <a:latin typeface="Segoe UI"/>
                        </a:rPr>
                        <a:t>Prompts naming bicycles and vehicles</a:t>
                      </a:r>
                    </a:p>
                  </a:txBody>
                  <a:tcPr marL="128016" marR="128016" marT="45720" marB="45720" anchor="ctr">
                    <a:solidFill>
                      <a:srgbClr val="F5F7F7"/>
                    </a:solidFill>
                  </a:tcPr>
                </a:tc>
                <a:tc>
                  <a:txBody>
                    <a:bodyPr wrap="square"/>
                    <a:lstStyle/>
                    <a:p>
                      <a:pPr algn="l"/>
                      <a:r>
                        <a:rPr sz="1350" b="0">
                          <a:solidFill>
                            <a:srgbClr val="141C1E"/>
                          </a:solidFill>
                          <a:latin typeface="Segoe UI"/>
                        </a:rPr>
                        <a:t>Much worse alone — 0.486</a:t>
                      </a:r>
                    </a:p>
                  </a:txBody>
                  <a:tcPr marL="128016" marR="128016" marT="45720" marB="45720" anchor="ctr">
                    <a:solidFill>
                      <a:srgbClr val="F5F7F7"/>
                    </a:solidFill>
                  </a:tcPr>
                </a:tc>
              </a:tr>
              <a:tr h="457200">
                <a:tc>
                  <a:txBody>
                    <a:bodyPr wrap="square"/>
                    <a:lstStyle/>
                    <a:p>
                      <a:pPr algn="l"/>
                      <a:r>
                        <a:rPr sz="1350" b="0">
                          <a:solidFill>
                            <a:srgbClr val="141C1E"/>
                          </a:solidFill>
                          <a:latin typeface="Segoe UI"/>
                        </a:rPr>
                        <a:t>Clip's own average as the normality reference</a:t>
                      </a:r>
                    </a:p>
                  </a:txBody>
                  <a:tcPr marL="128016" marR="128016" marT="45720" marB="45720" anchor="ctr">
                    <a:solidFill>
                      <a:srgbClr val="FFFFFF"/>
                    </a:solidFill>
                  </a:tcPr>
                </a:tc>
                <a:tc>
                  <a:txBody>
                    <a:bodyPr wrap="square"/>
                    <a:lstStyle/>
                    <a:p>
                      <a:pPr algn="l"/>
                      <a:r>
                        <a:rPr sz="1350" b="0">
                          <a:solidFill>
                            <a:srgbClr val="141C1E"/>
                          </a:solidFill>
                          <a:latin typeface="Segoe UI"/>
                        </a:rPr>
                        <a:t>0.585, and it degrades the language signal</a:t>
                      </a:r>
                    </a:p>
                  </a:txBody>
                  <a:tcPr marL="128016" marR="128016" marT="45720" marB="45720" anchor="ctr">
                    <a:solidFill>
                      <a:srgbClr val="FFFFFF"/>
                    </a:solidFill>
                  </a:tcPr>
                </a:tc>
              </a:tr>
              <a:tr h="457200">
                <a:tc>
                  <a:txBody>
                    <a:bodyPr wrap="square"/>
                    <a:lstStyle/>
                    <a:p>
                      <a:pPr algn="l"/>
                      <a:r>
                        <a:rPr sz="1350" b="0">
                          <a:solidFill>
                            <a:srgbClr val="141C1E"/>
                          </a:solidFill>
                          <a:latin typeface="Segoe UI"/>
                        </a:rPr>
                        <a:t>Adding a motion signal</a:t>
                      </a:r>
                    </a:p>
                  </a:txBody>
                  <a:tcPr marL="128016" marR="128016" marT="45720" marB="45720" anchor="ctr">
                    <a:solidFill>
                      <a:srgbClr val="F5F7F7"/>
                    </a:solidFill>
                  </a:tcPr>
                </a:tc>
                <a:tc>
                  <a:txBody>
                    <a:bodyPr wrap="square"/>
                    <a:lstStyle/>
                    <a:p>
                      <a:pPr algn="l"/>
                      <a:r>
                        <a:rPr sz="1350" b="0">
                          <a:solidFill>
                            <a:srgbClr val="141C1E"/>
                          </a:solidFill>
                          <a:latin typeface="Segoe UI"/>
                        </a:rPr>
                        <a:t>Costs 0.001 — not complementary</a:t>
                      </a:r>
                    </a:p>
                  </a:txBody>
                  <a:tcPr marL="128016" marR="128016" marT="45720" marB="45720" anchor="ctr">
                    <a:solidFill>
                      <a:srgbClr val="F5F7F7"/>
                    </a:solidFill>
                  </a:tcPr>
                </a:tc>
              </a:tr>
              <a:tr h="457200">
                <a:tc>
                  <a:txBody>
                    <a:bodyPr wrap="square"/>
                    <a:lstStyle/>
                    <a:p>
                      <a:pPr algn="l"/>
                      <a:r>
                        <a:rPr sz="1350" b="0">
                          <a:solidFill>
                            <a:srgbClr val="141C1E"/>
                          </a:solidFill>
                          <a:latin typeface="Segoe UI"/>
                        </a:rPr>
                        <a:t>Local temporal deviation before projection</a:t>
                      </a:r>
                    </a:p>
                  </a:txBody>
                  <a:tcPr marL="128016" marR="128016" marT="45720" marB="45720" anchor="ctr">
                    <a:solidFill>
                      <a:srgbClr val="FFFFFF"/>
                    </a:solidFill>
                  </a:tcPr>
                </a:tc>
                <a:tc>
                  <a:txBody>
                    <a:bodyPr wrap="square"/>
                    <a:lstStyle/>
                    <a:p>
                      <a:pPr algn="l"/>
                      <a:r>
                        <a:rPr sz="1350" b="0">
                          <a:solidFill>
                            <a:srgbClr val="141C1E"/>
                          </a:solidFill>
                          <a:latin typeface="Segoe UI"/>
                        </a:rPr>
                        <a:t>Better scorer, but narrows the context gap</a:t>
                      </a:r>
                    </a:p>
                  </a:txBody>
                  <a:tcPr marL="128016" marR="128016" marT="45720" marB="45720" anchor="ctr">
                    <a:solidFill>
                      <a:srgbClr val="FFFFFF"/>
                    </a:solidFill>
                  </a:tcPr>
                </a:tc>
              </a:tr>
              <a:tr h="457200">
                <a:tc>
                  <a:txBody>
                    <a:bodyPr wrap="square"/>
                    <a:lstStyle/>
                    <a:p>
                      <a:pPr algn="l"/>
                      <a:r>
                        <a:rPr sz="1350" b="0">
                          <a:solidFill>
                            <a:srgbClr val="141C1E"/>
                          </a:solidFill>
                          <a:latin typeface="Segoe UI"/>
                        </a:rPr>
                        <a:t>Per-prompt max pooling</a:t>
                      </a:r>
                    </a:p>
                  </a:txBody>
                  <a:tcPr marL="128016" marR="128016" marT="45720" marB="45720" anchor="ctr">
                    <a:solidFill>
                      <a:srgbClr val="F5F7F7"/>
                    </a:solidFill>
                  </a:tcPr>
                </a:tc>
                <a:tc>
                  <a:txBody>
                    <a:bodyPr wrap="square"/>
                    <a:lstStyle/>
                    <a:p>
                      <a:pPr algn="l"/>
                      <a:r>
                        <a:rPr sz="1350" b="0">
                          <a:solidFill>
                            <a:srgbClr val="141C1E"/>
                          </a:solidFill>
                          <a:latin typeface="Segoe UI"/>
                        </a:rPr>
                        <a:t>0.678 against 0.707</a:t>
                      </a:r>
                    </a:p>
                  </a:txBody>
                  <a:tcPr marL="128016" marR="128016" marT="45720" marB="45720" anchor="ctr">
                    <a:solidFill>
                      <a:srgbClr val="F5F7F7"/>
                    </a:solidFill>
                  </a:tcPr>
                </a:tc>
              </a:tr>
            </a:tbl>
          </a:graphicData>
        </a:graphic>
      </p:graphicFrame>
      <p:sp>
        <p:nvSpPr>
          <p:cNvPr id="8" name="Rectangle 7"/>
          <p:cNvSpPr/>
          <p:nvPr/>
        </p:nvSpPr>
        <p:spPr>
          <a:xfrm>
            <a:off x="777240" y="4846320"/>
            <a:ext cx="10637215" cy="141732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46320"/>
            <a:ext cx="45720" cy="141732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99262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WHY THESE ARE IN THE DECK</a:t>
            </a:r>
          </a:p>
        </p:txBody>
      </p:sp>
      <p:sp>
        <p:nvSpPr>
          <p:cNvPr id="11" name="TextBox 10"/>
          <p:cNvSpPr txBox="1"/>
          <p:nvPr/>
        </p:nvSpPr>
        <p:spPr>
          <a:xfrm>
            <a:off x="1033271" y="5285231"/>
            <a:ext cx="10134295" cy="850392"/>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The claim is that the minimal configuration is the right one. That is only credible alongside the alternatives that were tried. A clean table of successes is the artefact that is easy to fabricate; six diagnosed failures are not.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ASSESSMENT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Where this sits against the literature</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23</a:t>
            </a:r>
          </a:p>
        </p:txBody>
      </p:sp>
      <p:graphicFrame>
        <p:nvGraphicFramePr>
          <p:cNvPr id="7" name="Table 6"/>
          <p:cNvGraphicFramePr>
            <a:graphicFrameLocks noGrp="1"/>
          </p:cNvGraphicFramePr>
          <p:nvPr/>
        </p:nvGraphicFramePr>
        <p:xfrm>
          <a:off x="777240" y="1828800"/>
          <a:ext cx="10634472" cy="2048256"/>
        </p:xfrm>
        <a:graphic>
          <a:graphicData uri="http://schemas.openxmlformats.org/drawingml/2006/table">
            <a:tbl>
              <a:tblPr firstRow="1">
                <a:tableStyleId>{5C22544A-7EE6-4342-B048-85BDC9FD1C3A}</a:tableStyleId>
              </a:tblPr>
              <a:tblGrid>
                <a:gridCol w="5120640"/>
                <a:gridCol w="2103120"/>
                <a:gridCol w="3410712"/>
              </a:tblGrid>
              <a:tr h="512064">
                <a:tc>
                  <a:txBody>
                    <a:bodyPr wrap="square"/>
                    <a:lstStyle/>
                    <a:p>
                      <a:pPr algn="l"/>
                      <a:r>
                        <a:rPr sz="1450" b="1">
                          <a:solidFill>
                            <a:srgbClr val="FFFFFF"/>
                          </a:solidFill>
                          <a:latin typeface="Segoe UI"/>
                        </a:rPr>
                        <a:t>Method</a:t>
                      </a:r>
                    </a:p>
                  </a:txBody>
                  <a:tcPr marL="128016" marR="128016" marT="45720" marB="45720" anchor="ctr">
                    <a:solidFill>
                      <a:srgbClr val="141C1E"/>
                    </a:solidFill>
                  </a:tcPr>
                </a:tc>
                <a:tc>
                  <a:txBody>
                    <a:bodyPr wrap="square"/>
                    <a:lstStyle/>
                    <a:p>
                      <a:pPr algn="l"/>
                      <a:r>
                        <a:rPr sz="1450" b="1">
                          <a:solidFill>
                            <a:srgbClr val="FFFFFF"/>
                          </a:solidFill>
                          <a:latin typeface="Segoe UI"/>
                        </a:rPr>
                        <a:t>AUROC</a:t>
                      </a:r>
                    </a:p>
                  </a:txBody>
                  <a:tcPr marL="128016" marR="128016" marT="45720" marB="45720" anchor="ctr">
                    <a:solidFill>
                      <a:srgbClr val="141C1E"/>
                    </a:solidFill>
                  </a:tcPr>
                </a:tc>
                <a:tc>
                  <a:txBody>
                    <a:bodyPr wrap="square"/>
                    <a:lstStyle/>
                    <a:p>
                      <a:pPr algn="l"/>
                      <a:r>
                        <a:rPr sz="1450" b="1">
                          <a:solidFill>
                            <a:srgbClr val="FFFFFF"/>
                          </a:solidFill>
                          <a:latin typeface="Segoe UI"/>
                        </a:rPr>
                        <a:t>Cost per frame</a:t>
                      </a:r>
                    </a:p>
                  </a:txBody>
                  <a:tcPr marL="128016" marR="128016" marT="45720" marB="45720" anchor="ctr">
                    <a:solidFill>
                      <a:srgbClr val="141C1E"/>
                    </a:solidFill>
                  </a:tcPr>
                </a:tc>
              </a:tr>
              <a:tr h="512064">
                <a:tc>
                  <a:txBody>
                    <a:bodyPr wrap="square"/>
                    <a:lstStyle/>
                    <a:p>
                      <a:pPr algn="l"/>
                      <a:r>
                        <a:rPr sz="1450" b="0">
                          <a:solidFill>
                            <a:srgbClr val="141C1E"/>
                          </a:solidFill>
                          <a:latin typeface="Segoe UI"/>
                        </a:rPr>
                        <a:t>Liu et al. 2018 — trained on the target scene</a:t>
                      </a:r>
                    </a:p>
                  </a:txBody>
                  <a:tcPr marL="128016" marR="128016" marT="45720" marB="45720" anchor="ctr">
                    <a:solidFill>
                      <a:srgbClr val="FFFFFF"/>
                    </a:solidFill>
                  </a:tcPr>
                </a:tc>
                <a:tc>
                  <a:txBody>
                    <a:bodyPr wrap="square"/>
                    <a:lstStyle/>
                    <a:p>
                      <a:pPr algn="l"/>
                      <a:r>
                        <a:rPr sz="1450" b="0">
                          <a:solidFill>
                            <a:srgbClr val="141C1E"/>
                          </a:solidFill>
                          <a:latin typeface="Segoe UI"/>
                        </a:rPr>
                        <a:t>≈ 0.728</a:t>
                      </a:r>
                    </a:p>
                  </a:txBody>
                  <a:tcPr marL="128016" marR="128016" marT="45720" marB="45720" anchor="ctr">
                    <a:solidFill>
                      <a:srgbClr val="FFFFFF"/>
                    </a:solidFill>
                  </a:tcPr>
                </a:tc>
                <a:tc>
                  <a:txBody>
                    <a:bodyPr wrap="square"/>
                    <a:lstStyle/>
                    <a:p>
                      <a:pPr algn="l"/>
                      <a:r>
                        <a:rPr sz="1450" b="0">
                          <a:solidFill>
                            <a:srgbClr val="141C1E"/>
                          </a:solidFill>
                          <a:latin typeface="Segoe UI"/>
                        </a:rPr>
                        <a:t>1 trained model</a:t>
                      </a:r>
                    </a:p>
                  </a:txBody>
                  <a:tcPr marL="128016" marR="128016" marT="45720" marB="45720" anchor="ctr">
                    <a:solidFill>
                      <a:srgbClr val="FFFFFF"/>
                    </a:solidFill>
                  </a:tcPr>
                </a:tc>
              </a:tr>
              <a:tr h="512064">
                <a:tc>
                  <a:txBody>
                    <a:bodyPr wrap="square"/>
                    <a:lstStyle/>
                    <a:p>
                      <a:pPr algn="l"/>
                      <a:r>
                        <a:rPr sz="1450" b="0">
                          <a:solidFill>
                            <a:srgbClr val="141C1E"/>
                          </a:solidFill>
                          <a:latin typeface="Segoe UI"/>
                        </a:rPr>
                        <a:t>LAVAD (CVPR 2024), training-free</a:t>
                      </a:r>
                    </a:p>
                  </a:txBody>
                  <a:tcPr marL="128016" marR="128016" marT="45720" marB="45720" anchor="ctr">
                    <a:solidFill>
                      <a:srgbClr val="F5F7F7"/>
                    </a:solidFill>
                  </a:tcPr>
                </a:tc>
                <a:tc>
                  <a:txBody>
                    <a:bodyPr wrap="square"/>
                    <a:lstStyle/>
                    <a:p>
                      <a:pPr algn="l"/>
                      <a:r>
                        <a:rPr sz="1450" b="0">
                          <a:solidFill>
                            <a:srgbClr val="141C1E"/>
                          </a:solidFill>
                          <a:latin typeface="Segoe UI"/>
                        </a:rPr>
                        <a:t>≈ 0.85</a:t>
                      </a:r>
                    </a:p>
                  </a:txBody>
                  <a:tcPr marL="128016" marR="128016" marT="45720" marB="45720" anchor="ctr">
                    <a:solidFill>
                      <a:srgbClr val="F5F7F7"/>
                    </a:solidFill>
                  </a:tcPr>
                </a:tc>
                <a:tc>
                  <a:txBody>
                    <a:bodyPr wrap="square"/>
                    <a:lstStyle/>
                    <a:p>
                      <a:pPr algn="l"/>
                      <a:r>
                        <a:rPr sz="1450" b="0">
                          <a:solidFill>
                            <a:srgbClr val="141C1E"/>
                          </a:solidFill>
                          <a:latin typeface="Segoe UI"/>
                        </a:rPr>
                        <a:t>Captioner + LLM + refiner</a:t>
                      </a:r>
                    </a:p>
                  </a:txBody>
                  <a:tcPr marL="128016" marR="128016" marT="45720" marB="45720" anchor="ctr">
                    <a:solidFill>
                      <a:srgbClr val="F5F7F7"/>
                    </a:solidFill>
                  </a:tcPr>
                </a:tc>
              </a:tr>
              <a:tr h="512064">
                <a:tc>
                  <a:txBody>
                    <a:bodyPr wrap="square"/>
                    <a:lstStyle/>
                    <a:p>
                      <a:pPr algn="l"/>
                      <a:r>
                        <a:rPr sz="1450" b="1">
                          <a:solidFill>
                            <a:srgbClr val="141C1E"/>
                          </a:solidFill>
                          <a:latin typeface="Segoe UI"/>
                        </a:rPr>
                        <a:t>DA-ZVAD (ours), training-free</a:t>
                      </a:r>
                    </a:p>
                  </a:txBody>
                  <a:tcPr marL="128016" marR="128016" marT="45720" marB="45720" anchor="ctr">
                    <a:solidFill>
                      <a:srgbClr val="DDEDEB"/>
                    </a:solidFill>
                  </a:tcPr>
                </a:tc>
                <a:tc>
                  <a:txBody>
                    <a:bodyPr wrap="square"/>
                    <a:lstStyle/>
                    <a:p>
                      <a:pPr algn="l"/>
                      <a:r>
                        <a:rPr sz="1450" b="1">
                          <a:solidFill>
                            <a:srgbClr val="141C1E"/>
                          </a:solidFill>
                          <a:latin typeface="Segoe UI"/>
                        </a:rPr>
                        <a:t>0.734</a:t>
                      </a:r>
                    </a:p>
                  </a:txBody>
                  <a:tcPr marL="128016" marR="128016" marT="45720" marB="45720" anchor="ctr">
                    <a:solidFill>
                      <a:srgbClr val="DDEDEB"/>
                    </a:solidFill>
                  </a:tcPr>
                </a:tc>
                <a:tc>
                  <a:txBody>
                    <a:bodyPr wrap="square"/>
                    <a:lstStyle/>
                    <a:p>
                      <a:pPr algn="l"/>
                      <a:r>
                        <a:rPr sz="1450" b="1">
                          <a:solidFill>
                            <a:srgbClr val="141C1E"/>
                          </a:solidFill>
                          <a:latin typeface="Segoe UI"/>
                        </a:rPr>
                        <a:t>One frozen encoder + a sentence</a:t>
                      </a:r>
                    </a:p>
                  </a:txBody>
                  <a:tcPr marL="128016" marR="128016" marT="45720" marB="45720" anchor="ctr">
                    <a:solidFill>
                      <a:srgbClr val="DDEDEB"/>
                    </a:solidFill>
                  </a:tcPr>
                </a:tc>
              </a:tr>
            </a:tbl>
          </a:graphicData>
        </a:graphic>
      </p:graphicFrame>
      <p:sp>
        <p:nvSpPr>
          <p:cNvPr id="8" name="Rectangle 7"/>
          <p:cNvSpPr/>
          <p:nvPr/>
        </p:nvSpPr>
        <p:spPr>
          <a:xfrm>
            <a:off x="777240" y="39319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3" y="3803904"/>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The fair comparison is the trained baseline.  </a:t>
            </a:r>
            <a:r>
              <a:rPr sz="1600">
                <a:solidFill>
                  <a:srgbClr val="3A4A4C"/>
                </a:solidFill>
                <a:latin typeface="Segoe UI"/>
              </a:rPr>
              <a:t>We match the benchmark's own 2018 baseline while using none of its training data.</a:t>
            </a:r>
          </a:p>
        </p:txBody>
      </p:sp>
      <p:sp>
        <p:nvSpPr>
          <p:cNvPr id="10" name="Rectangle 9"/>
          <p:cNvSpPr/>
          <p:nvPr/>
        </p:nvSpPr>
        <p:spPr>
          <a:xfrm>
            <a:off x="777240" y="484632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3" y="4718304"/>
            <a:ext cx="10399471" cy="365760"/>
          </a:xfrm>
          <a:prstGeom prst="rect">
            <a:avLst/>
          </a:prstGeom>
          <a:noFill/>
        </p:spPr>
        <p:txBody>
          <a:bodyPr wrap="square" lIns="0" rIns="0" tIns="0" bIns="0">
            <a:spAutoFit/>
          </a:bodyPr>
          <a:lstStyle/>
          <a:p>
            <a:pPr>
              <a:lnSpc>
                <a:spcPct val="125000"/>
              </a:lnSpc>
            </a:pPr>
            <a:r>
              <a:rPr sz="1600" b="1">
                <a:solidFill>
                  <a:srgbClr val="141C1E"/>
                </a:solidFill>
                <a:latin typeface="Segoe UI"/>
              </a:rPr>
              <a:t>We do not match LAVAD, and say so.  </a:t>
            </a:r>
            <a:r>
              <a:rPr sz="1600">
                <a:solidFill>
                  <a:srgbClr val="3A4A4C"/>
                </a:solidFill>
                <a:latin typeface="Segoe UI"/>
              </a:rPr>
              <a:t>It runs three large models per frame. We run in about 7 GB.</a:t>
            </a:r>
          </a:p>
        </p:txBody>
      </p:sp>
      <p:sp>
        <p:nvSpPr>
          <p:cNvPr id="12" name="Rectangle 11"/>
          <p:cNvSpPr/>
          <p:nvPr/>
        </p:nvSpPr>
        <p:spPr>
          <a:xfrm>
            <a:off x="777240" y="5486400"/>
            <a:ext cx="10637215" cy="105156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486400"/>
            <a:ext cx="45720" cy="105156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563270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HONEST POSITION</a:t>
            </a:r>
          </a:p>
        </p:txBody>
      </p:sp>
      <p:sp>
        <p:nvSpPr>
          <p:cNvPr id="15" name="TextBox 14"/>
          <p:cNvSpPr txBox="1"/>
          <p:nvPr/>
        </p:nvSpPr>
        <p:spPr>
          <a:xfrm>
            <a:off x="1033271" y="5925312"/>
            <a:ext cx="10134295" cy="484631"/>
          </a:xfrm>
          <a:prstGeom prst="rect">
            <a:avLst/>
          </a:prstGeom>
          <a:noFill/>
        </p:spPr>
        <p:txBody>
          <a:bodyPr wrap="square" lIns="0" rIns="0" tIns="0" bIns="0">
            <a:spAutoFit/>
          </a:bodyPr>
          <a:lstStyle/>
          <a:p>
            <a:pPr algn="l">
              <a:lnSpc>
                <a:spcPct val="100000"/>
              </a:lnSpc>
            </a:pPr>
            <a:r>
              <a:rPr sz="1600" b="0" i="0">
                <a:solidFill>
                  <a:srgbClr val="141C1E"/>
                </a:solidFill>
                <a:latin typeface="Segoe UI"/>
              </a:rPr>
              <a:t>We do not expect to exceed trained state-of-the-art detectors on absolute AUROC, and the paper makes no such claim.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ASSESSMENT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Limitations we are stating ourselves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24</a:t>
            </a:r>
          </a:p>
        </p:txBody>
      </p:sp>
      <p:sp>
        <p:nvSpPr>
          <p:cNvPr id="7" name="Rectangle 6"/>
          <p:cNvSpPr/>
          <p:nvPr/>
        </p:nvSpPr>
        <p:spPr>
          <a:xfrm>
            <a:off x="777240" y="1874519"/>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746504"/>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The mechanism is bounded.  </a:t>
            </a:r>
            <a:r>
              <a:rPr sz="1450">
                <a:solidFill>
                  <a:srgbClr val="3A4A4C"/>
                </a:solidFill>
                <a:latin typeface="Segoe UI"/>
              </a:rPr>
              <a:t>It works on ShanghaiTech and nearly vanishes on Avenue. The scene-diversity explanation rests on two datasets and is not established.</a:t>
            </a:r>
          </a:p>
        </p:txBody>
      </p:sp>
      <p:sp>
        <p:nvSpPr>
          <p:cNvPr id="9" name="Rectangle 8"/>
          <p:cNvSpPr/>
          <p:nvPr/>
        </p:nvSpPr>
        <p:spPr>
          <a:xfrm>
            <a:off x="777240" y="2660904"/>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532888"/>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Resolution ceiling.  </a:t>
            </a:r>
            <a:r>
              <a:rPr sz="1450">
                <a:solidFill>
                  <a:srgbClr val="3A4A4C"/>
                </a:solidFill>
                <a:latin typeface="Segoe UI"/>
              </a:rPr>
              <a:t>Whole-frame embeddings at 224×224 cannot resolve small objects. Quadrant scoring did not close it; patch-level scoring is untested.</a:t>
            </a:r>
          </a:p>
        </p:txBody>
      </p:sp>
      <p:sp>
        <p:nvSpPr>
          <p:cNvPr id="11" name="Rectangle 10"/>
          <p:cNvSpPr/>
          <p:nvPr/>
        </p:nvSpPr>
        <p:spPr>
          <a:xfrm>
            <a:off x="777240" y="3447288"/>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319272"/>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The metric is scale-sensitive.  </a:t>
            </a:r>
            <a:r>
              <a:rPr sz="1450">
                <a:solidFill>
                  <a:srgbClr val="3A4A4C"/>
                </a:solidFill>
                <a:latin typeface="Segoe UI"/>
              </a:rPr>
              <a:t>Per-clip normalisation is affine, so a monotone rescaling of the score changes the pooled figure even though the ranking is identical. We found this the hard way.</a:t>
            </a:r>
          </a:p>
        </p:txBody>
      </p:sp>
      <p:sp>
        <p:nvSpPr>
          <p:cNvPr id="13" name="Rectangle 12"/>
          <p:cNvSpPr/>
          <p:nvPr/>
        </p:nvSpPr>
        <p:spPr>
          <a:xfrm>
            <a:off x="777240" y="4233672"/>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3" y="4105656"/>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Configuration selection.  </a:t>
            </a:r>
            <a:r>
              <a:rPr sz="1450">
                <a:solidFill>
                  <a:srgbClr val="3A4A4C"/>
                </a:solidFill>
                <a:latin typeface="Segoe UI"/>
              </a:rPr>
              <a:t>No validation split exists for these benchmarks, so we split clips and report the half never used to select.</a:t>
            </a:r>
          </a:p>
        </p:txBody>
      </p:sp>
      <p:sp>
        <p:nvSpPr>
          <p:cNvPr id="15" name="Rectangle 14"/>
          <p:cNvSpPr/>
          <p:nvPr/>
        </p:nvSpPr>
        <p:spPr>
          <a:xfrm>
            <a:off x="777240" y="5020056"/>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3" y="4892040"/>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Both video domains are outdoor pedestrian surveillance.  </a:t>
            </a:r>
            <a:r>
              <a:rPr sz="1450">
                <a:solidFill>
                  <a:srgbClr val="3A4A4C"/>
                </a:solidFill>
                <a:latin typeface="Segoe UI"/>
              </a:rPr>
              <a:t>The industrial contrast is evaluated for detection but not for the sweep.</a:t>
            </a:r>
          </a:p>
        </p:txBody>
      </p:sp>
      <p:sp>
        <p:nvSpPr>
          <p:cNvPr id="17" name="Rectangle 16"/>
          <p:cNvSpPr/>
          <p:nvPr/>
        </p:nvSpPr>
        <p:spPr>
          <a:xfrm>
            <a:off x="777240" y="5806440"/>
            <a:ext cx="68580" cy="6858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5678424"/>
            <a:ext cx="10399471" cy="365760"/>
          </a:xfrm>
          <a:prstGeom prst="rect">
            <a:avLst/>
          </a:prstGeom>
          <a:noFill/>
        </p:spPr>
        <p:txBody>
          <a:bodyPr wrap="square" lIns="0" rIns="0" tIns="0" bIns="0">
            <a:spAutoFit/>
          </a:bodyPr>
          <a:lstStyle/>
          <a:p>
            <a:pPr>
              <a:lnSpc>
                <a:spcPct val="125000"/>
              </a:lnSpc>
            </a:pPr>
            <a:r>
              <a:rPr sz="1450" b="1">
                <a:solidFill>
                  <a:srgbClr val="141C1E"/>
                </a:solidFill>
                <a:latin typeface="Segoe UI"/>
              </a:rPr>
              <a:t>M4 not yet run.  </a:t>
            </a:r>
            <a:r>
              <a:rPr sz="1450">
                <a:solidFill>
                  <a:srgbClr val="3A4A4C"/>
                </a:solidFill>
                <a:latin typeface="Segoe UI"/>
              </a:rPr>
              <a:t>The explanation module has produced no video results.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NEXT</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Phase 3 plan</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25</a:t>
            </a:r>
          </a:p>
        </p:txBody>
      </p:sp>
      <p:graphicFrame>
        <p:nvGraphicFramePr>
          <p:cNvPr id="7" name="Table 6"/>
          <p:cNvGraphicFramePr>
            <a:graphicFrameLocks noGrp="1"/>
          </p:cNvGraphicFramePr>
          <p:nvPr/>
        </p:nvGraphicFramePr>
        <p:xfrm>
          <a:off x="777240" y="1828800"/>
          <a:ext cx="10634472" cy="2834640"/>
        </p:xfrm>
        <a:graphic>
          <a:graphicData uri="http://schemas.openxmlformats.org/drawingml/2006/table">
            <a:tbl>
              <a:tblPr firstRow="1">
                <a:tableStyleId>{5C22544A-7EE6-4342-B048-85BDC9FD1C3A}</a:tableStyleId>
              </a:tblPr>
              <a:tblGrid>
                <a:gridCol w="1097280"/>
                <a:gridCol w="5029200"/>
                <a:gridCol w="4507992"/>
              </a:tblGrid>
              <a:tr h="566928">
                <a:tc>
                  <a:txBody>
                    <a:bodyPr wrap="square"/>
                    <a:lstStyle/>
                    <a:p>
                      <a:pPr algn="r"/>
                      <a:r>
                        <a:rPr sz="1350" b="1">
                          <a:solidFill>
                            <a:srgbClr val="FFFFFF"/>
                          </a:solidFill>
                          <a:latin typeface="Segoe UI"/>
                        </a:rPr>
                        <a:t>Priority</a:t>
                      </a:r>
                    </a:p>
                  </a:txBody>
                  <a:tcPr marL="128016" marR="128016" marT="45720" marB="45720" anchor="ctr">
                    <a:solidFill>
                      <a:srgbClr val="141C1E"/>
                    </a:solidFill>
                  </a:tcPr>
                </a:tc>
                <a:tc>
                  <a:txBody>
                    <a:bodyPr wrap="square"/>
                    <a:lstStyle/>
                    <a:p>
                      <a:pPr algn="l"/>
                      <a:r>
                        <a:rPr sz="1350" b="1">
                          <a:solidFill>
                            <a:srgbClr val="FFFFFF"/>
                          </a:solidFill>
                          <a:latin typeface="Segoe UI"/>
                        </a:rPr>
                        <a:t>Work</a:t>
                      </a:r>
                    </a:p>
                  </a:txBody>
                  <a:tcPr marL="128016" marR="128016" marT="45720" marB="45720" anchor="ctr">
                    <a:solidFill>
                      <a:srgbClr val="141C1E"/>
                    </a:solidFill>
                  </a:tcPr>
                </a:tc>
                <a:tc>
                  <a:txBody>
                    <a:bodyPr wrap="square"/>
                    <a:lstStyle/>
                    <a:p>
                      <a:pPr algn="l"/>
                      <a:r>
                        <a:rPr sz="1350" b="1">
                          <a:solidFill>
                            <a:srgbClr val="FFFFFF"/>
                          </a:solidFill>
                          <a:latin typeface="Segoe UI"/>
                        </a:rPr>
                        <a:t>Why it matters</a:t>
                      </a:r>
                    </a:p>
                  </a:txBody>
                  <a:tcPr marL="128016" marR="128016" marT="45720" marB="45720" anchor="ctr">
                    <a:solidFill>
                      <a:srgbClr val="141C1E"/>
                    </a:solidFill>
                  </a:tcPr>
                </a:tc>
              </a:tr>
              <a:tr h="566928">
                <a:tc>
                  <a:txBody>
                    <a:bodyPr wrap="square"/>
                    <a:lstStyle/>
                    <a:p>
                      <a:pPr algn="r"/>
                      <a:r>
                        <a:rPr sz="1350" b="0">
                          <a:solidFill>
                            <a:srgbClr val="141C1E"/>
                          </a:solidFill>
                          <a:latin typeface="Consolas"/>
                        </a:rPr>
                        <a:t>1</a:t>
                      </a:r>
                    </a:p>
                  </a:txBody>
                  <a:tcPr marL="128016" marR="128016" marT="45720" marB="45720" anchor="ctr">
                    <a:solidFill>
                      <a:srgbClr val="FFFFFF"/>
                    </a:solidFill>
                  </a:tcPr>
                </a:tc>
                <a:tc>
                  <a:txBody>
                    <a:bodyPr wrap="square"/>
                    <a:lstStyle/>
                    <a:p>
                      <a:pPr algn="l"/>
                      <a:r>
                        <a:rPr sz="1350" b="0">
                          <a:solidFill>
                            <a:srgbClr val="141C1E"/>
                          </a:solidFill>
                          <a:latin typeface="Segoe UI"/>
                        </a:rPr>
                        <a:t>Sweep within a single ShanghaiTech camera view</a:t>
                      </a:r>
                    </a:p>
                  </a:txBody>
                  <a:tcPr marL="128016" marR="128016" marT="45720" marB="45720" anchor="ctr">
                    <a:solidFill>
                      <a:srgbClr val="FFFFFF"/>
                    </a:solidFill>
                  </a:tcPr>
                </a:tc>
                <a:tc>
                  <a:txBody>
                    <a:bodyPr wrap="square"/>
                    <a:lstStyle/>
                    <a:p>
                      <a:pPr algn="l"/>
                      <a:r>
                        <a:rPr sz="1350" b="0">
                          <a:solidFill>
                            <a:srgbClr val="141C1E"/>
                          </a:solidFill>
                          <a:latin typeface="Segoe UI"/>
                        </a:rPr>
                        <a:t>Settles whether scene diversity is the operative variable</a:t>
                      </a:r>
                    </a:p>
                  </a:txBody>
                  <a:tcPr marL="128016" marR="128016" marT="45720" marB="45720" anchor="ctr">
                    <a:solidFill>
                      <a:srgbClr val="FFFFFF"/>
                    </a:solidFill>
                  </a:tcPr>
                </a:tc>
              </a:tr>
              <a:tr h="566928">
                <a:tc>
                  <a:txBody>
                    <a:bodyPr wrap="square"/>
                    <a:lstStyle/>
                    <a:p>
                      <a:pPr algn="r"/>
                      <a:r>
                        <a:rPr sz="1350" b="0">
                          <a:solidFill>
                            <a:srgbClr val="141C1E"/>
                          </a:solidFill>
                          <a:latin typeface="Consolas"/>
                        </a:rPr>
                        <a:t>2</a:t>
                      </a:r>
                    </a:p>
                  </a:txBody>
                  <a:tcPr marL="128016" marR="128016" marT="45720" marB="45720" anchor="ctr">
                    <a:solidFill>
                      <a:srgbClr val="F5F7F7"/>
                    </a:solidFill>
                  </a:tcPr>
                </a:tc>
                <a:tc>
                  <a:txBody>
                    <a:bodyPr wrap="square"/>
                    <a:lstStyle/>
                    <a:p>
                      <a:pPr algn="l"/>
                      <a:r>
                        <a:rPr sz="1350" b="0">
                          <a:solidFill>
                            <a:srgbClr val="141C1E"/>
                          </a:solidFill>
                          <a:latin typeface="Segoe UI"/>
                        </a:rPr>
                        <a:t>Context sweep on MVTec AD</a:t>
                      </a:r>
                    </a:p>
                  </a:txBody>
                  <a:tcPr marL="128016" marR="128016" marT="45720" marB="45720" anchor="ctr">
                    <a:solidFill>
                      <a:srgbClr val="F5F7F7"/>
                    </a:solidFill>
                  </a:tcPr>
                </a:tc>
                <a:tc>
                  <a:txBody>
                    <a:bodyPr wrap="square"/>
                    <a:lstStyle/>
                    <a:p>
                      <a:pPr algn="l"/>
                      <a:r>
                        <a:rPr sz="1350" b="0">
                          <a:solidFill>
                            <a:srgbClr val="141C1E"/>
                          </a:solidFill>
                          <a:latin typeface="Segoe UI"/>
                        </a:rPr>
                        <a:t>Gives the industrial–surveillance contrast for adaptation, not just detection</a:t>
                      </a:r>
                    </a:p>
                  </a:txBody>
                  <a:tcPr marL="128016" marR="128016" marT="45720" marB="45720" anchor="ctr">
                    <a:solidFill>
                      <a:srgbClr val="F5F7F7"/>
                    </a:solidFill>
                  </a:tcPr>
                </a:tc>
              </a:tr>
              <a:tr h="566928">
                <a:tc>
                  <a:txBody>
                    <a:bodyPr wrap="square"/>
                    <a:lstStyle/>
                    <a:p>
                      <a:pPr algn="r"/>
                      <a:r>
                        <a:rPr sz="1350" b="0">
                          <a:solidFill>
                            <a:srgbClr val="141C1E"/>
                          </a:solidFill>
                          <a:latin typeface="Consolas"/>
                        </a:rPr>
                        <a:t>3</a:t>
                      </a:r>
                    </a:p>
                  </a:txBody>
                  <a:tcPr marL="128016" marR="128016" marT="45720" marB="45720" anchor="ctr">
                    <a:solidFill>
                      <a:srgbClr val="FFFFFF"/>
                    </a:solidFill>
                  </a:tcPr>
                </a:tc>
                <a:tc>
                  <a:txBody>
                    <a:bodyPr wrap="square"/>
                    <a:lstStyle/>
                    <a:p>
                      <a:pPr algn="l"/>
                      <a:r>
                        <a:rPr sz="1350" b="0">
                          <a:solidFill>
                            <a:srgbClr val="141C1E"/>
                          </a:solidFill>
                          <a:latin typeface="Segoe UI"/>
                        </a:rPr>
                        <a:t>Patch-level scoring against spatial tokens</a:t>
                      </a:r>
                    </a:p>
                  </a:txBody>
                  <a:tcPr marL="128016" marR="128016" marT="45720" marB="45720" anchor="ctr">
                    <a:solidFill>
                      <a:srgbClr val="FFFFFF"/>
                    </a:solidFill>
                  </a:tcPr>
                </a:tc>
                <a:tc>
                  <a:txBody>
                    <a:bodyPr wrap="square"/>
                    <a:lstStyle/>
                    <a:p>
                      <a:pPr algn="l"/>
                      <a:r>
                        <a:rPr sz="1350" b="0">
                          <a:solidFill>
                            <a:srgbClr val="141C1E"/>
                          </a:solidFill>
                          <a:latin typeface="Segoe UI"/>
                        </a:rPr>
                        <a:t>Most likely route to a materially higher figure</a:t>
                      </a:r>
                    </a:p>
                  </a:txBody>
                  <a:tcPr marL="128016" marR="128016" marT="45720" marB="45720" anchor="ctr">
                    <a:solidFill>
                      <a:srgbClr val="FFFFFF"/>
                    </a:solidFill>
                  </a:tcPr>
                </a:tc>
              </a:tr>
              <a:tr h="566928">
                <a:tc>
                  <a:txBody>
                    <a:bodyPr wrap="square"/>
                    <a:lstStyle/>
                    <a:p>
                      <a:pPr algn="r"/>
                      <a:r>
                        <a:rPr sz="1350" b="0">
                          <a:solidFill>
                            <a:srgbClr val="141C1E"/>
                          </a:solidFill>
                          <a:latin typeface="Consolas"/>
                        </a:rPr>
                        <a:t>4</a:t>
                      </a:r>
                    </a:p>
                  </a:txBody>
                  <a:tcPr marL="128016" marR="128016" marT="45720" marB="45720" anchor="ctr">
                    <a:solidFill>
                      <a:srgbClr val="F5F7F7"/>
                    </a:solidFill>
                  </a:tcPr>
                </a:tc>
                <a:tc>
                  <a:txBody>
                    <a:bodyPr wrap="square"/>
                    <a:lstStyle/>
                    <a:p>
                      <a:pPr algn="l"/>
                      <a:r>
                        <a:rPr sz="1350" b="0">
                          <a:solidFill>
                            <a:srgbClr val="141C1E"/>
                          </a:solidFill>
                          <a:latin typeface="Segoe UI"/>
                        </a:rPr>
                        <a:t>Run M4 — explanations under matched vs mismatched context</a:t>
                      </a:r>
                    </a:p>
                  </a:txBody>
                  <a:tcPr marL="128016" marR="128016" marT="45720" marB="45720" anchor="ctr">
                    <a:solidFill>
                      <a:srgbClr val="F5F7F7"/>
                    </a:solidFill>
                  </a:tcPr>
                </a:tc>
                <a:tc>
                  <a:txBody>
                    <a:bodyPr wrap="square"/>
                    <a:lstStyle/>
                    <a:p>
                      <a:pPr algn="l"/>
                      <a:r>
                        <a:rPr sz="1350" b="0">
                          <a:solidFill>
                            <a:srgbClr val="141C1E"/>
                          </a:solidFill>
                          <a:latin typeface="Segoe UI"/>
                        </a:rPr>
                        <a:t>Completes the framework; supplies the qualitative result</a:t>
                      </a:r>
                    </a:p>
                  </a:txBody>
                  <a:tcPr marL="128016" marR="128016" marT="45720" marB="45720" anchor="ctr">
                    <a:solidFill>
                      <a:srgbClr val="F5F7F7"/>
                    </a:solidFill>
                  </a:tcPr>
                </a:tc>
              </a:tr>
            </a:tbl>
          </a:graphicData>
        </a:graphic>
      </p:graphicFrame>
      <p:sp>
        <p:nvSpPr>
          <p:cNvPr id="8" name="Rectangle 7"/>
          <p:cNvSpPr/>
          <p:nvPr/>
        </p:nvSpPr>
        <p:spPr>
          <a:xfrm>
            <a:off x="777240" y="4754880"/>
            <a:ext cx="10637215" cy="1371600"/>
          </a:xfrm>
          <a:prstGeom prst="rect">
            <a:avLst/>
          </a:prstGeom>
          <a:solidFill>
            <a:srgbClr val="D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754880"/>
            <a:ext cx="45720" cy="1371600"/>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901184"/>
            <a:ext cx="10134295" cy="219456"/>
          </a:xfrm>
          <a:prstGeom prst="rect">
            <a:avLst/>
          </a:prstGeom>
          <a:noFill/>
        </p:spPr>
        <p:txBody>
          <a:bodyPr wrap="square" lIns="0" rIns="0" tIns="0" bIns="0">
            <a:spAutoFit/>
          </a:bodyPr>
          <a:lstStyle/>
          <a:p>
            <a:pPr algn="l">
              <a:lnSpc>
                <a:spcPct val="100000"/>
              </a:lnSpc>
            </a:pPr>
            <a:r>
              <a:rPr sz="1050" b="1" i="0">
                <a:solidFill>
                  <a:srgbClr val="0D6B67"/>
                </a:solidFill>
                <a:latin typeface="Segoe UI"/>
              </a:rPr>
              <a:t>INFRASTRUCTURE IS NOW BUILT</a:t>
            </a:r>
          </a:p>
        </p:txBody>
      </p:sp>
      <p:sp>
        <p:nvSpPr>
          <p:cNvPr id="11" name="TextBox 10"/>
          <p:cNvSpPr txBox="1"/>
          <p:nvPr/>
        </p:nvSpPr>
        <p:spPr>
          <a:xfrm>
            <a:off x="1033271" y="5193792"/>
            <a:ext cx="10134295" cy="804672"/>
          </a:xfrm>
          <a:prstGeom prst="rect">
            <a:avLst/>
          </a:prstGeom>
          <a:noFill/>
        </p:spPr>
        <p:txBody>
          <a:bodyPr wrap="square" lIns="0" rIns="0" tIns="0" bIns="0">
            <a:spAutoFit/>
          </a:bodyPr>
          <a:lstStyle/>
          <a:p>
            <a:pPr algn="l">
              <a:lnSpc>
                <a:spcPct val="100000"/>
              </a:lnSpc>
            </a:pPr>
            <a:r>
              <a:rPr sz="1550" b="0" i="0">
                <a:solidFill>
                  <a:srgbClr val="141C1E"/>
                </a:solidFill>
                <a:latin typeface="Segoe UI"/>
              </a:rPr>
              <a:t>Server, datasets, driver and embedding cache are in place. Encoding a benchmark once takes 21 minutes, after which a new scoring hypothesis is evaluated in seconds rather than 50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PHASE 2</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Summary</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26</a:t>
            </a:r>
          </a:p>
        </p:txBody>
      </p:sp>
      <p:sp>
        <p:nvSpPr>
          <p:cNvPr id="7" name="Rectangle 6"/>
          <p:cNvSpPr/>
          <p:nvPr/>
        </p:nvSpPr>
        <p:spPr>
          <a:xfrm>
            <a:off x="777240" y="1783080"/>
            <a:ext cx="10637215" cy="786384"/>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0253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1</a:t>
            </a:r>
          </a:p>
        </p:txBody>
      </p:sp>
      <p:sp>
        <p:nvSpPr>
          <p:cNvPr id="9" name="TextBox 8"/>
          <p:cNvSpPr txBox="1"/>
          <p:nvPr/>
        </p:nvSpPr>
        <p:spPr>
          <a:xfrm>
            <a:off x="1645919" y="1892807"/>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gap</a:t>
            </a:r>
          </a:p>
        </p:txBody>
      </p:sp>
      <p:sp>
        <p:nvSpPr>
          <p:cNvPr id="10" name="TextBox 9"/>
          <p:cNvSpPr txBox="1"/>
          <p:nvPr/>
        </p:nvSpPr>
        <p:spPr>
          <a:xfrm>
            <a:off x="1645919" y="216712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Domain adaptation research targets covariate shift by explicit scoping. Anomaly detection is dominated by concept shift.</a:t>
            </a:r>
          </a:p>
        </p:txBody>
      </p:sp>
      <p:sp>
        <p:nvSpPr>
          <p:cNvPr id="11" name="Rectangle 10"/>
          <p:cNvSpPr/>
          <p:nvPr/>
        </p:nvSpPr>
        <p:spPr>
          <a:xfrm>
            <a:off x="777240" y="2606040"/>
            <a:ext cx="10637215"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2549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2</a:t>
            </a:r>
          </a:p>
        </p:txBody>
      </p:sp>
      <p:sp>
        <p:nvSpPr>
          <p:cNvPr id="13" name="TextBox 12"/>
          <p:cNvSpPr txBox="1"/>
          <p:nvPr/>
        </p:nvSpPr>
        <p:spPr>
          <a:xfrm>
            <a:off x="1645919" y="271576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method</a:t>
            </a:r>
          </a:p>
        </p:txBody>
      </p:sp>
      <p:sp>
        <p:nvSpPr>
          <p:cNvPr id="14" name="TextBox 13"/>
          <p:cNvSpPr txBox="1"/>
          <p:nvPr/>
        </p:nvSpPr>
        <p:spPr>
          <a:xfrm>
            <a:off x="1645919" y="299008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Every model frozen; adaptation carried entirely by a sentence — which is what makes the claim identifiable.</a:t>
            </a:r>
          </a:p>
        </p:txBody>
      </p:sp>
      <p:sp>
        <p:nvSpPr>
          <p:cNvPr id="15" name="Rectangle 14"/>
          <p:cNvSpPr/>
          <p:nvPr/>
        </p:nvSpPr>
        <p:spPr>
          <a:xfrm>
            <a:off x="777240" y="3429000"/>
            <a:ext cx="10637215" cy="786384"/>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64845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3</a:t>
            </a:r>
          </a:p>
        </p:txBody>
      </p:sp>
      <p:sp>
        <p:nvSpPr>
          <p:cNvPr id="17" name="TextBox 16"/>
          <p:cNvSpPr txBox="1"/>
          <p:nvPr/>
        </p:nvSpPr>
        <p:spPr>
          <a:xfrm>
            <a:off x="1645919" y="353872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result</a:t>
            </a:r>
          </a:p>
        </p:txBody>
      </p:sp>
      <p:sp>
        <p:nvSpPr>
          <p:cNvPr id="18" name="TextBox 17"/>
          <p:cNvSpPr txBox="1"/>
          <p:nvPr/>
        </p:nvSpPr>
        <p:spPr>
          <a:xfrm>
            <a:off x="1645919" y="381304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0.734 AUROC on ShanghaiTech with no training, and a wrong description costs 0.105 — evidence the text is load-bearing.</a:t>
            </a:r>
          </a:p>
        </p:txBody>
      </p:sp>
      <p:sp>
        <p:nvSpPr>
          <p:cNvPr id="19" name="Rectangle 18"/>
          <p:cNvSpPr/>
          <p:nvPr/>
        </p:nvSpPr>
        <p:spPr>
          <a:xfrm>
            <a:off x="777240" y="4251960"/>
            <a:ext cx="10637215"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47141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4</a:t>
            </a:r>
          </a:p>
        </p:txBody>
      </p:sp>
      <p:sp>
        <p:nvSpPr>
          <p:cNvPr id="21" name="TextBox 20"/>
          <p:cNvSpPr txBox="1"/>
          <p:nvPr/>
        </p:nvSpPr>
        <p:spPr>
          <a:xfrm>
            <a:off x="1645919" y="436168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finding</a:t>
            </a:r>
          </a:p>
        </p:txBody>
      </p:sp>
      <p:sp>
        <p:nvSpPr>
          <p:cNvPr id="22" name="TextBox 21"/>
          <p:cNvSpPr txBox="1"/>
          <p:nvPr/>
        </p:nvSpPr>
        <p:spPr>
          <a:xfrm>
            <a:off x="1645919" y="463600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Where the description is injected dominates what it says, to the point of reversing the effect. Not in the literature.</a:t>
            </a:r>
          </a:p>
        </p:txBody>
      </p:sp>
      <p:sp>
        <p:nvSpPr>
          <p:cNvPr id="23" name="Rectangle 22"/>
          <p:cNvSpPr/>
          <p:nvPr/>
        </p:nvSpPr>
        <p:spPr>
          <a:xfrm>
            <a:off x="777240" y="5074920"/>
            <a:ext cx="10637215" cy="786384"/>
          </a:xfrm>
          <a:prstGeom prst="rect">
            <a:avLst/>
          </a:prstGeom>
          <a:solidFill>
            <a:srgbClr val="F5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294376"/>
            <a:ext cx="457200" cy="365760"/>
          </a:xfrm>
          <a:prstGeom prst="rect">
            <a:avLst/>
          </a:prstGeom>
          <a:noFill/>
        </p:spPr>
        <p:txBody>
          <a:bodyPr wrap="square" lIns="0" rIns="0" tIns="0" bIns="0">
            <a:spAutoFit/>
          </a:bodyPr>
          <a:lstStyle/>
          <a:p>
            <a:pPr algn="l">
              <a:lnSpc>
                <a:spcPct val="100000"/>
              </a:lnSpc>
            </a:pPr>
            <a:r>
              <a:rPr sz="2200" b="1" i="0">
                <a:solidFill>
                  <a:srgbClr val="0D6B67"/>
                </a:solidFill>
                <a:latin typeface="Segoe UI"/>
              </a:rPr>
              <a:t>5</a:t>
            </a:r>
          </a:p>
        </p:txBody>
      </p:sp>
      <p:sp>
        <p:nvSpPr>
          <p:cNvPr id="25" name="TextBox 24"/>
          <p:cNvSpPr txBox="1"/>
          <p:nvPr/>
        </p:nvSpPr>
        <p:spPr>
          <a:xfrm>
            <a:off x="1645919" y="5184648"/>
            <a:ext cx="2286000" cy="274320"/>
          </a:xfrm>
          <a:prstGeom prst="rect">
            <a:avLst/>
          </a:prstGeom>
          <a:noFill/>
        </p:spPr>
        <p:txBody>
          <a:bodyPr wrap="square" lIns="0" rIns="0" tIns="0" bIns="0">
            <a:spAutoFit/>
          </a:bodyPr>
          <a:lstStyle/>
          <a:p>
            <a:pPr algn="l">
              <a:lnSpc>
                <a:spcPct val="100000"/>
              </a:lnSpc>
            </a:pPr>
            <a:r>
              <a:rPr sz="1400" b="1" i="0">
                <a:solidFill>
                  <a:srgbClr val="141C1E"/>
                </a:solidFill>
                <a:latin typeface="Segoe UI"/>
              </a:rPr>
              <a:t>The boundary</a:t>
            </a:r>
          </a:p>
        </p:txBody>
      </p:sp>
      <p:sp>
        <p:nvSpPr>
          <p:cNvPr id="26" name="TextBox 25"/>
          <p:cNvSpPr txBox="1"/>
          <p:nvPr/>
        </p:nvSpPr>
        <p:spPr>
          <a:xfrm>
            <a:off x="1645919" y="5458968"/>
            <a:ext cx="9509760" cy="365760"/>
          </a:xfrm>
          <a:prstGeom prst="rect">
            <a:avLst/>
          </a:prstGeom>
          <a:noFill/>
        </p:spPr>
        <p:txBody>
          <a:bodyPr wrap="square" lIns="0" rIns="0" tIns="0" bIns="0">
            <a:spAutoFit/>
          </a:bodyPr>
          <a:lstStyle/>
          <a:p>
            <a:pPr algn="l">
              <a:lnSpc>
                <a:spcPct val="120000"/>
              </a:lnSpc>
            </a:pPr>
            <a:r>
              <a:rPr sz="1350" b="0" i="0">
                <a:solidFill>
                  <a:srgbClr val="3A4A4C"/>
                </a:solidFill>
                <a:latin typeface="Segoe UI"/>
              </a:rPr>
              <a:t>It does not replicate on a single-scene benchmark, and a within-view control shows why: the sentence tells the model which scene it is in. The claim is scoped, and the scoping is measured.</a:t>
            </a:r>
          </a:p>
        </p:txBody>
      </p:sp>
      <p:sp>
        <p:nvSpPr>
          <p:cNvPr id="27" name="TextBox 26"/>
          <p:cNvSpPr txBox="1"/>
          <p:nvPr/>
        </p:nvSpPr>
        <p:spPr>
          <a:xfrm>
            <a:off x="777240" y="6172200"/>
            <a:ext cx="10637215" cy="320040"/>
          </a:xfrm>
          <a:prstGeom prst="rect">
            <a:avLst/>
          </a:prstGeom>
          <a:noFill/>
        </p:spPr>
        <p:txBody>
          <a:bodyPr wrap="square" lIns="0" rIns="0" tIns="0" bIns="0">
            <a:spAutoFit/>
          </a:bodyPr>
          <a:lstStyle/>
          <a:p>
            <a:pPr algn="ctr">
              <a:lnSpc>
                <a:spcPct val="100000"/>
              </a:lnSpc>
            </a:pPr>
            <a:r>
              <a:rPr sz="1300" b="0" i="1">
                <a:solidFill>
                  <a:srgbClr val="617274"/>
                </a:solidFill>
                <a:latin typeface="Segoe UI"/>
              </a:rPr>
              <a:t>All results reproducible from committed code and run manifests.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1 OF 2  ·  THE DOMAIN-ADAPTATION LITERATURE</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References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27</a:t>
            </a:r>
          </a:p>
        </p:txBody>
      </p:sp>
      <p:sp>
        <p:nvSpPr>
          <p:cNvPr id="7" name="TextBox 6"/>
          <p:cNvSpPr txBox="1"/>
          <p:nvPr/>
        </p:nvSpPr>
        <p:spPr>
          <a:xfrm>
            <a:off x="777240" y="1810512"/>
            <a:ext cx="5090007" cy="237744"/>
          </a:xfrm>
          <a:prstGeom prst="rect">
            <a:avLst/>
          </a:prstGeom>
          <a:noFill/>
        </p:spPr>
        <p:txBody>
          <a:bodyPr wrap="square" lIns="0" rIns="0" tIns="0" bIns="0">
            <a:spAutoFit/>
          </a:bodyPr>
          <a:lstStyle/>
          <a:p>
            <a:pPr algn="l">
              <a:lnSpc>
                <a:spcPct val="100000"/>
              </a:lnSpc>
            </a:pPr>
            <a:r>
              <a:rPr sz="1000" b="1" i="0">
                <a:solidFill>
                  <a:srgbClr val="0D6B67"/>
                </a:solidFill>
                <a:latin typeface="Segoe UI"/>
              </a:rPr>
              <a:t>THE SIX SURVEYS THE RESEARCH GAP IS ARGUED FROM</a:t>
            </a:r>
          </a:p>
        </p:txBody>
      </p:sp>
      <p:sp>
        <p:nvSpPr>
          <p:cNvPr id="8" name="TextBox 7"/>
          <p:cNvSpPr txBox="1"/>
          <p:nvPr/>
        </p:nvSpPr>
        <p:spPr>
          <a:xfrm>
            <a:off x="777240" y="2121408"/>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Liu et al.  </a:t>
            </a:r>
            <a:r>
              <a:rPr sz="1000">
                <a:solidFill>
                  <a:srgbClr val="617274"/>
                </a:solidFill>
                <a:latin typeface="Segoe UI"/>
              </a:rPr>
              <a:t>Deep unsupervised domain adaptation. APSIPA 2022. — the concept-shift quotation.</a:t>
            </a:r>
          </a:p>
        </p:txBody>
      </p:sp>
      <p:sp>
        <p:nvSpPr>
          <p:cNvPr id="9" name="TextBox 8"/>
          <p:cNvSpPr txBox="1"/>
          <p:nvPr/>
        </p:nvSpPr>
        <p:spPr>
          <a:xfrm>
            <a:off x="777240" y="2523744"/>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Wang &amp; Deng  </a:t>
            </a:r>
            <a:r>
              <a:rPr sz="1000">
                <a:solidFill>
                  <a:srgbClr val="617274"/>
                </a:solidFill>
                <a:latin typeface="Segoe UI"/>
              </a:rPr>
              <a:t>Deep visual domain adaptation: a survey. Neurocomputing 2018.</a:t>
            </a:r>
          </a:p>
        </p:txBody>
      </p:sp>
      <p:sp>
        <p:nvSpPr>
          <p:cNvPr id="10" name="TextBox 9"/>
          <p:cNvSpPr txBox="1"/>
          <p:nvPr/>
        </p:nvSpPr>
        <p:spPr>
          <a:xfrm>
            <a:off x="777240" y="2926079"/>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Wilson &amp; Cook  </a:t>
            </a:r>
            <a:r>
              <a:rPr sz="1000">
                <a:solidFill>
                  <a:srgbClr val="617274"/>
                </a:solidFill>
                <a:latin typeface="Segoe UI"/>
              </a:rPr>
              <a:t>A survey of unsupervised deep domain adaptation. ACM Comput. Surv. 2020.</a:t>
            </a:r>
          </a:p>
        </p:txBody>
      </p:sp>
      <p:sp>
        <p:nvSpPr>
          <p:cNvPr id="11" name="TextBox 10"/>
          <p:cNvSpPr txBox="1"/>
          <p:nvPr/>
        </p:nvSpPr>
        <p:spPr>
          <a:xfrm>
            <a:off x="777240" y="3328415"/>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Singhal et al.  </a:t>
            </a:r>
            <a:r>
              <a:rPr sz="1000">
                <a:solidFill>
                  <a:srgbClr val="617274"/>
                </a:solidFill>
                <a:latin typeface="Segoe UI"/>
              </a:rPr>
              <a:t>Domain adaptation: challenges, methods, datasets. IEEE Access 2023.</a:t>
            </a:r>
          </a:p>
        </p:txBody>
      </p:sp>
      <p:sp>
        <p:nvSpPr>
          <p:cNvPr id="12" name="TextBox 11"/>
          <p:cNvSpPr txBox="1"/>
          <p:nvPr/>
        </p:nvSpPr>
        <p:spPr>
          <a:xfrm>
            <a:off x="777240" y="3730752"/>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Patel et al.  </a:t>
            </a:r>
            <a:r>
              <a:rPr sz="1000">
                <a:solidFill>
                  <a:srgbClr val="617274"/>
                </a:solidFill>
                <a:latin typeface="Segoe UI"/>
              </a:rPr>
              <a:t>Visual domain adaptation. IEEE Signal Process. Mag. 2015.</a:t>
            </a:r>
          </a:p>
        </p:txBody>
      </p:sp>
      <p:sp>
        <p:nvSpPr>
          <p:cNvPr id="13" name="TextBox 12"/>
          <p:cNvSpPr txBox="1"/>
          <p:nvPr/>
        </p:nvSpPr>
        <p:spPr>
          <a:xfrm>
            <a:off x="777240" y="4133088"/>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Kouw &amp; Loog  </a:t>
            </a:r>
            <a:r>
              <a:rPr sz="1000">
                <a:solidFill>
                  <a:srgbClr val="617274"/>
                </a:solidFill>
                <a:latin typeface="Segoe UI"/>
              </a:rPr>
              <a:t>An introduction to domain adaptation and transfer learning. arXiv 2018.</a:t>
            </a:r>
          </a:p>
        </p:txBody>
      </p:sp>
      <p:sp>
        <p:nvSpPr>
          <p:cNvPr id="14" name="TextBox 13"/>
          <p:cNvSpPr txBox="1"/>
          <p:nvPr/>
        </p:nvSpPr>
        <p:spPr>
          <a:xfrm>
            <a:off x="777240" y="4535424"/>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Fan et al.  </a:t>
            </a:r>
            <a:r>
              <a:rPr sz="1000">
                <a:solidFill>
                  <a:srgbClr val="617274"/>
                </a:solidFill>
                <a:latin typeface="Segoe UI"/>
              </a:rPr>
              <a:t>LLM adaptation strategies. Solid Earth Sci. 2026.</a:t>
            </a:r>
          </a:p>
        </p:txBody>
      </p:sp>
      <p:sp>
        <p:nvSpPr>
          <p:cNvPr id="15" name="TextBox 14"/>
          <p:cNvSpPr txBox="1"/>
          <p:nvPr/>
        </p:nvSpPr>
        <p:spPr>
          <a:xfrm>
            <a:off x="6324447" y="1810512"/>
            <a:ext cx="5090007" cy="237744"/>
          </a:xfrm>
          <a:prstGeom prst="rect">
            <a:avLst/>
          </a:prstGeom>
          <a:noFill/>
        </p:spPr>
        <p:txBody>
          <a:bodyPr wrap="square" lIns="0" rIns="0" tIns="0" bIns="0">
            <a:spAutoFit/>
          </a:bodyPr>
          <a:lstStyle/>
          <a:p>
            <a:pPr algn="l">
              <a:lnSpc>
                <a:spcPct val="100000"/>
              </a:lnSpc>
            </a:pPr>
            <a:r>
              <a:rPr sz="1000" b="1" i="0">
                <a:solidFill>
                  <a:srgbClr val="0D6B67"/>
                </a:solidFill>
                <a:latin typeface="Segoe UI"/>
              </a:rPr>
              <a:t>DOMAIN ADAPTATION INSIDE VIDEO ANOMALY DETECTION</a:t>
            </a:r>
          </a:p>
        </p:txBody>
      </p:sp>
      <p:sp>
        <p:nvSpPr>
          <p:cNvPr id="16" name="TextBox 15"/>
          <p:cNvSpPr txBox="1"/>
          <p:nvPr/>
        </p:nvSpPr>
        <p:spPr>
          <a:xfrm>
            <a:off x="6324447" y="2121408"/>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Guo et al.  </a:t>
            </a:r>
            <a:r>
              <a:rPr sz="1000">
                <a:solidFill>
                  <a:srgbClr val="617274"/>
                </a:solidFill>
                <a:latin typeface="Segoe UI"/>
              </a:rPr>
              <a:t>Ada-VAD: domain adaptable VAD. SDM 2024.</a:t>
            </a:r>
          </a:p>
        </p:txBody>
      </p:sp>
      <p:sp>
        <p:nvSpPr>
          <p:cNvPr id="17" name="TextBox 16"/>
          <p:cNvSpPr txBox="1"/>
          <p:nvPr/>
        </p:nvSpPr>
        <p:spPr>
          <a:xfrm>
            <a:off x="6324447" y="2523744"/>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Aich et al.  </a:t>
            </a:r>
            <a:r>
              <a:rPr sz="1000">
                <a:solidFill>
                  <a:srgbClr val="617274"/>
                </a:solidFill>
                <a:latin typeface="Segoe UI"/>
              </a:rPr>
              <a:t>zxVAD: cross-domain VAD without target adaptation. WACV 2023.</a:t>
            </a:r>
          </a:p>
        </p:txBody>
      </p:sp>
      <p:sp>
        <p:nvSpPr>
          <p:cNvPr id="18" name="TextBox 17"/>
          <p:cNvSpPr txBox="1"/>
          <p:nvPr/>
        </p:nvSpPr>
        <p:spPr>
          <a:xfrm>
            <a:off x="6324447" y="2926079"/>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Lu et al.  </a:t>
            </a:r>
            <a:r>
              <a:rPr sz="1000">
                <a:solidFill>
                  <a:srgbClr val="617274"/>
                </a:solidFill>
                <a:latin typeface="Segoe UI"/>
              </a:rPr>
              <a:t>Few-shot scene-adaptive anomaly detection. ECCV 2020.</a:t>
            </a:r>
          </a:p>
        </p:txBody>
      </p:sp>
      <p:sp>
        <p:nvSpPr>
          <p:cNvPr id="19" name="TextBox 18"/>
          <p:cNvSpPr txBox="1"/>
          <p:nvPr/>
        </p:nvSpPr>
        <p:spPr>
          <a:xfrm>
            <a:off x="6324447" y="3456432"/>
            <a:ext cx="5090007" cy="237744"/>
          </a:xfrm>
          <a:prstGeom prst="rect">
            <a:avLst/>
          </a:prstGeom>
          <a:noFill/>
        </p:spPr>
        <p:txBody>
          <a:bodyPr wrap="square" lIns="0" rIns="0" tIns="0" bIns="0">
            <a:spAutoFit/>
          </a:bodyPr>
          <a:lstStyle/>
          <a:p>
            <a:pPr algn="l">
              <a:lnSpc>
                <a:spcPct val="100000"/>
              </a:lnSpc>
            </a:pPr>
            <a:r>
              <a:rPr sz="1000" b="1" i="0">
                <a:solidFill>
                  <a:srgbClr val="0D6B67"/>
                </a:solidFill>
                <a:latin typeface="Segoe UI"/>
              </a:rPr>
              <a:t>CONCURRENT WORK ON THE SAME PREMISE</a:t>
            </a:r>
          </a:p>
        </p:txBody>
      </p:sp>
      <p:sp>
        <p:nvSpPr>
          <p:cNvPr id="20" name="TextBox 19"/>
          <p:cNvSpPr txBox="1"/>
          <p:nvPr/>
        </p:nvSpPr>
        <p:spPr>
          <a:xfrm>
            <a:off x="6324447" y="3767328"/>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Wilkinghoff et al.  </a:t>
            </a:r>
            <a:r>
              <a:rPr sz="1000">
                <a:solidFill>
                  <a:srgbClr val="617274"/>
                </a:solidFill>
                <a:latin typeface="Segoe UI"/>
              </a:rPr>
              <a:t>Context-dependent normality. arXiv 2604.13252, April 2026.</a:t>
            </a:r>
          </a:p>
        </p:txBody>
      </p:sp>
      <p:sp>
        <p:nvSpPr>
          <p:cNvPr id="21" name="TextBox 20"/>
          <p:cNvSpPr txBox="1"/>
          <p:nvPr/>
        </p:nvSpPr>
        <p:spPr>
          <a:xfrm>
            <a:off x="6324447" y="4297680"/>
            <a:ext cx="5090007" cy="237744"/>
          </a:xfrm>
          <a:prstGeom prst="rect">
            <a:avLst/>
          </a:prstGeom>
          <a:noFill/>
        </p:spPr>
        <p:txBody>
          <a:bodyPr wrap="square" lIns="0" rIns="0" tIns="0" bIns="0">
            <a:spAutoFit/>
          </a:bodyPr>
          <a:lstStyle/>
          <a:p>
            <a:pPr algn="l">
              <a:lnSpc>
                <a:spcPct val="100000"/>
              </a:lnSpc>
            </a:pPr>
            <a:r>
              <a:rPr sz="1000" b="1" i="0">
                <a:solidFill>
                  <a:srgbClr val="0D6B67"/>
                </a:solidFill>
                <a:latin typeface="Segoe UI"/>
              </a:rPr>
              <a:t>BENCHMARKS</a:t>
            </a:r>
          </a:p>
        </p:txBody>
      </p:sp>
      <p:sp>
        <p:nvSpPr>
          <p:cNvPr id="22" name="TextBox 21"/>
          <p:cNvSpPr txBox="1"/>
          <p:nvPr/>
        </p:nvSpPr>
        <p:spPr>
          <a:xfrm>
            <a:off x="6324447" y="4608576"/>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Liu et al.  </a:t>
            </a:r>
            <a:r>
              <a:rPr sz="1000">
                <a:solidFill>
                  <a:srgbClr val="617274"/>
                </a:solidFill>
                <a:latin typeface="Segoe UI"/>
              </a:rPr>
              <a:t>ShanghaiTech. CVPR 2018.</a:t>
            </a:r>
          </a:p>
        </p:txBody>
      </p:sp>
      <p:sp>
        <p:nvSpPr>
          <p:cNvPr id="23" name="TextBox 22"/>
          <p:cNvSpPr txBox="1"/>
          <p:nvPr/>
        </p:nvSpPr>
        <p:spPr>
          <a:xfrm>
            <a:off x="6324447" y="5010912"/>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Lu et al.  </a:t>
            </a:r>
            <a:r>
              <a:rPr sz="1000">
                <a:solidFill>
                  <a:srgbClr val="617274"/>
                </a:solidFill>
                <a:latin typeface="Segoe UI"/>
              </a:rPr>
              <a:t>CUHK Avenue. ICCV 2013.</a:t>
            </a:r>
          </a:p>
        </p:txBody>
      </p:sp>
      <p:sp>
        <p:nvSpPr>
          <p:cNvPr id="24" name="TextBox 23"/>
          <p:cNvSpPr txBox="1"/>
          <p:nvPr/>
        </p:nvSpPr>
        <p:spPr>
          <a:xfrm>
            <a:off x="6324447" y="5413248"/>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Bergmann et al.  </a:t>
            </a:r>
            <a:r>
              <a:rPr sz="1000">
                <a:solidFill>
                  <a:srgbClr val="617274"/>
                </a:solidFill>
                <a:latin typeface="Segoe UI"/>
              </a:rPr>
              <a:t>MVTec AD. CVPR 2019.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28600"/>
          </a:xfrm>
          <a:prstGeom prst="rect">
            <a:avLst/>
          </a:prstGeom>
          <a:noFill/>
        </p:spPr>
        <p:txBody>
          <a:bodyPr wrap="square" lIns="0" rIns="0" tIns="0" bIns="0">
            <a:spAutoFit/>
          </a:bodyPr>
          <a:lstStyle/>
          <a:p>
            <a:pPr algn="l">
              <a:lnSpc>
                <a:spcPct val="100000"/>
              </a:lnSpc>
            </a:pPr>
            <a:r>
              <a:rPr sz="1100" b="1" i="0">
                <a:solidFill>
                  <a:srgbClr val="0D6B67"/>
                </a:solidFill>
                <a:latin typeface="Segoe UI"/>
              </a:rPr>
              <a:t>2 OF 2  ·  ANOMALY DETECTION, MODELS, METRICS</a:t>
            </a:r>
          </a:p>
        </p:txBody>
      </p:sp>
      <p:sp>
        <p:nvSpPr>
          <p:cNvPr id="4" name="TextBox 3"/>
          <p:cNvSpPr txBox="1"/>
          <p:nvPr/>
        </p:nvSpPr>
        <p:spPr>
          <a:xfrm>
            <a:off x="777240" y="749808"/>
            <a:ext cx="10637215" cy="548640"/>
          </a:xfrm>
          <a:prstGeom prst="rect">
            <a:avLst/>
          </a:prstGeom>
          <a:noFill/>
        </p:spPr>
        <p:txBody>
          <a:bodyPr wrap="square" lIns="0" rIns="0" tIns="0" bIns="0">
            <a:spAutoFit/>
          </a:bodyPr>
          <a:lstStyle/>
          <a:p>
            <a:pPr algn="l">
              <a:lnSpc>
                <a:spcPct val="100000"/>
              </a:lnSpc>
            </a:pPr>
            <a:r>
              <a:rPr sz="2700" b="1" i="0">
                <a:solidFill>
                  <a:srgbClr val="141C1E"/>
                </a:solidFill>
                <a:latin typeface="Segoe UI"/>
              </a:rPr>
              <a:t>References</a:t>
            </a:r>
          </a:p>
        </p:txBody>
      </p:sp>
      <p:sp>
        <p:nvSpPr>
          <p:cNvPr id="5" name="Rectangle 4"/>
          <p:cNvSpPr/>
          <p:nvPr/>
        </p:nvSpPr>
        <p:spPr>
          <a:xfrm>
            <a:off x="777240" y="1408176"/>
            <a:ext cx="1371600" cy="32004"/>
          </a:xfrm>
          <a:prstGeom prst="rect">
            <a:avLst/>
          </a:prstGeom>
          <a:solidFill>
            <a:srgbClr val="0D6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65815" y="6382512"/>
            <a:ext cx="548640" cy="228600"/>
          </a:xfrm>
          <a:prstGeom prst="rect">
            <a:avLst/>
          </a:prstGeom>
          <a:noFill/>
        </p:spPr>
        <p:txBody>
          <a:bodyPr wrap="square" lIns="0" rIns="0" tIns="0" bIns="0">
            <a:spAutoFit/>
          </a:bodyPr>
          <a:lstStyle/>
          <a:p>
            <a:pPr algn="r">
              <a:lnSpc>
                <a:spcPct val="100000"/>
              </a:lnSpc>
            </a:pPr>
            <a:r>
              <a:rPr sz="1000" b="0" i="0">
                <a:solidFill>
                  <a:srgbClr val="617274"/>
                </a:solidFill>
                <a:latin typeface="Segoe UI"/>
              </a:rPr>
              <a:t>28</a:t>
            </a:r>
          </a:p>
        </p:txBody>
      </p:sp>
      <p:sp>
        <p:nvSpPr>
          <p:cNvPr id="7" name="TextBox 6"/>
          <p:cNvSpPr txBox="1"/>
          <p:nvPr/>
        </p:nvSpPr>
        <p:spPr>
          <a:xfrm>
            <a:off x="777240" y="1810512"/>
            <a:ext cx="5090007" cy="237744"/>
          </a:xfrm>
          <a:prstGeom prst="rect">
            <a:avLst/>
          </a:prstGeom>
          <a:noFill/>
        </p:spPr>
        <p:txBody>
          <a:bodyPr wrap="square" lIns="0" rIns="0" tIns="0" bIns="0">
            <a:spAutoFit/>
          </a:bodyPr>
          <a:lstStyle/>
          <a:p>
            <a:pPr algn="l">
              <a:lnSpc>
                <a:spcPct val="100000"/>
              </a:lnSpc>
            </a:pPr>
            <a:r>
              <a:rPr sz="1000" b="1" i="0">
                <a:solidFill>
                  <a:srgbClr val="0D6B67"/>
                </a:solidFill>
                <a:latin typeface="Segoe UI"/>
              </a:rPr>
              <a:t>ZERO-SHOT AND TRAINING-FREE ANOMALY DETECTION</a:t>
            </a:r>
          </a:p>
        </p:txBody>
      </p:sp>
      <p:sp>
        <p:nvSpPr>
          <p:cNvPr id="8" name="TextBox 7"/>
          <p:cNvSpPr txBox="1"/>
          <p:nvPr/>
        </p:nvSpPr>
        <p:spPr>
          <a:xfrm>
            <a:off x="777240" y="2121408"/>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Jeong et al.  </a:t>
            </a:r>
            <a:r>
              <a:rPr sz="1000">
                <a:solidFill>
                  <a:srgbClr val="617274"/>
                </a:solidFill>
                <a:latin typeface="Segoe UI"/>
              </a:rPr>
              <a:t>WinCLIP: zero-/few-shot anomaly classification and segmentation. CVPR 2023.</a:t>
            </a:r>
          </a:p>
        </p:txBody>
      </p:sp>
      <p:sp>
        <p:nvSpPr>
          <p:cNvPr id="9" name="TextBox 8"/>
          <p:cNvSpPr txBox="1"/>
          <p:nvPr/>
        </p:nvSpPr>
        <p:spPr>
          <a:xfrm>
            <a:off x="777240" y="2523744"/>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Zhou et al.  </a:t>
            </a:r>
            <a:r>
              <a:rPr sz="1000">
                <a:solidFill>
                  <a:srgbClr val="617274"/>
                </a:solidFill>
                <a:latin typeface="Segoe UI"/>
              </a:rPr>
              <a:t>AnomalyCLIP: object-agnostic prompt learning. ICLR 2024.</a:t>
            </a:r>
          </a:p>
        </p:txBody>
      </p:sp>
      <p:sp>
        <p:nvSpPr>
          <p:cNvPr id="10" name="TextBox 9"/>
          <p:cNvSpPr txBox="1"/>
          <p:nvPr/>
        </p:nvSpPr>
        <p:spPr>
          <a:xfrm>
            <a:off x="777240" y="2926079"/>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Zanella et al.  </a:t>
            </a:r>
            <a:r>
              <a:rPr sz="1000">
                <a:solidFill>
                  <a:srgbClr val="617274"/>
                </a:solidFill>
                <a:latin typeface="Segoe UI"/>
              </a:rPr>
              <a:t>LAVAD: training-free VAD with LLMs. CVPR 2024.</a:t>
            </a:r>
          </a:p>
        </p:txBody>
      </p:sp>
      <p:sp>
        <p:nvSpPr>
          <p:cNvPr id="11" name="TextBox 10"/>
          <p:cNvSpPr txBox="1"/>
          <p:nvPr/>
        </p:nvSpPr>
        <p:spPr>
          <a:xfrm>
            <a:off x="777240" y="3328415"/>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Ye et al.  </a:t>
            </a:r>
            <a:r>
              <a:rPr sz="1000">
                <a:solidFill>
                  <a:srgbClr val="617274"/>
                </a:solidFill>
                <a:latin typeface="Segoe UI"/>
              </a:rPr>
              <a:t>VERA: explainable VAD via verbalised learning. CVPR 2025.</a:t>
            </a:r>
          </a:p>
        </p:txBody>
      </p:sp>
      <p:sp>
        <p:nvSpPr>
          <p:cNvPr id="12" name="TextBox 11"/>
          <p:cNvSpPr txBox="1"/>
          <p:nvPr/>
        </p:nvSpPr>
        <p:spPr>
          <a:xfrm>
            <a:off x="777240" y="3730752"/>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Wu et al.  </a:t>
            </a:r>
            <a:r>
              <a:rPr sz="1000">
                <a:solidFill>
                  <a:srgbClr val="617274"/>
                </a:solidFill>
                <a:latin typeface="Segoe UI"/>
              </a:rPr>
              <a:t>OVVAD: open-vocabulary VAD. CVPR 2024.</a:t>
            </a:r>
          </a:p>
        </p:txBody>
      </p:sp>
      <p:sp>
        <p:nvSpPr>
          <p:cNvPr id="13" name="TextBox 12"/>
          <p:cNvSpPr txBox="1"/>
          <p:nvPr/>
        </p:nvSpPr>
        <p:spPr>
          <a:xfrm>
            <a:off x="777240" y="4133088"/>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Ahn et al.  </a:t>
            </a:r>
            <a:r>
              <a:rPr sz="1000">
                <a:solidFill>
                  <a:srgbClr val="617274"/>
                </a:solidFill>
                <a:latin typeface="Segoe UI"/>
              </a:rPr>
              <a:t>AnyAnomaly: customisable VAD. arXiv 2503.04504, 2025.</a:t>
            </a:r>
          </a:p>
        </p:txBody>
      </p:sp>
      <p:sp>
        <p:nvSpPr>
          <p:cNvPr id="14" name="TextBox 13"/>
          <p:cNvSpPr txBox="1"/>
          <p:nvPr/>
        </p:nvSpPr>
        <p:spPr>
          <a:xfrm>
            <a:off x="777240" y="4535424"/>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Roth et al.  </a:t>
            </a:r>
            <a:r>
              <a:rPr sz="1000">
                <a:solidFill>
                  <a:srgbClr val="617274"/>
                </a:solidFill>
                <a:latin typeface="Segoe UI"/>
              </a:rPr>
              <a:t>PatchCore: total recall in industrial anomaly detection. CVPR 2022.</a:t>
            </a:r>
          </a:p>
        </p:txBody>
      </p:sp>
      <p:sp>
        <p:nvSpPr>
          <p:cNvPr id="15" name="TextBox 14"/>
          <p:cNvSpPr txBox="1"/>
          <p:nvPr/>
        </p:nvSpPr>
        <p:spPr>
          <a:xfrm>
            <a:off x="6324447" y="1810512"/>
            <a:ext cx="5090007" cy="237744"/>
          </a:xfrm>
          <a:prstGeom prst="rect">
            <a:avLst/>
          </a:prstGeom>
          <a:noFill/>
        </p:spPr>
        <p:txBody>
          <a:bodyPr wrap="square" lIns="0" rIns="0" tIns="0" bIns="0">
            <a:spAutoFit/>
          </a:bodyPr>
          <a:lstStyle/>
          <a:p>
            <a:pPr algn="l">
              <a:lnSpc>
                <a:spcPct val="100000"/>
              </a:lnSpc>
            </a:pPr>
            <a:r>
              <a:rPr sz="1000" b="1" i="0">
                <a:solidFill>
                  <a:srgbClr val="0D6B67"/>
                </a:solidFill>
                <a:latin typeface="Segoe UI"/>
              </a:rPr>
              <a:t>MODELS USED, ALL FROZEN</a:t>
            </a:r>
          </a:p>
        </p:txBody>
      </p:sp>
      <p:sp>
        <p:nvSpPr>
          <p:cNvPr id="16" name="TextBox 15"/>
          <p:cNvSpPr txBox="1"/>
          <p:nvPr/>
        </p:nvSpPr>
        <p:spPr>
          <a:xfrm>
            <a:off x="6324447" y="2121408"/>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Radford et al.  </a:t>
            </a:r>
            <a:r>
              <a:rPr sz="1000">
                <a:solidFill>
                  <a:srgbClr val="617274"/>
                </a:solidFill>
                <a:latin typeface="Segoe UI"/>
              </a:rPr>
              <a:t>CLIP. ICML 2021.</a:t>
            </a:r>
          </a:p>
        </p:txBody>
      </p:sp>
      <p:sp>
        <p:nvSpPr>
          <p:cNvPr id="17" name="TextBox 16"/>
          <p:cNvSpPr txBox="1"/>
          <p:nvPr/>
        </p:nvSpPr>
        <p:spPr>
          <a:xfrm>
            <a:off x="6324447" y="2523744"/>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Dosovitskiy et al.  </a:t>
            </a:r>
            <a:r>
              <a:rPr sz="1000">
                <a:solidFill>
                  <a:srgbClr val="617274"/>
                </a:solidFill>
                <a:latin typeface="Segoe UI"/>
              </a:rPr>
              <a:t>An image is worth 16x16 words (ViT). ICLR 2021.</a:t>
            </a:r>
          </a:p>
        </p:txBody>
      </p:sp>
      <p:sp>
        <p:nvSpPr>
          <p:cNvPr id="18" name="TextBox 17"/>
          <p:cNvSpPr txBox="1"/>
          <p:nvPr/>
        </p:nvSpPr>
        <p:spPr>
          <a:xfrm>
            <a:off x="6324447" y="2926079"/>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Vaswani et al.  </a:t>
            </a:r>
            <a:r>
              <a:rPr sz="1000">
                <a:solidFill>
                  <a:srgbClr val="617274"/>
                </a:solidFill>
                <a:latin typeface="Segoe UI"/>
              </a:rPr>
              <a:t>Attention is all you need. NeurIPS 2017.</a:t>
            </a:r>
          </a:p>
        </p:txBody>
      </p:sp>
      <p:sp>
        <p:nvSpPr>
          <p:cNvPr id="19" name="TextBox 18"/>
          <p:cNvSpPr txBox="1"/>
          <p:nvPr/>
        </p:nvSpPr>
        <p:spPr>
          <a:xfrm>
            <a:off x="6324447" y="3328415"/>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Liu et al.  </a:t>
            </a:r>
            <a:r>
              <a:rPr sz="1000">
                <a:solidFill>
                  <a:srgbClr val="617274"/>
                </a:solidFill>
                <a:latin typeface="Segoe UI"/>
              </a:rPr>
              <a:t>LLaVA: visual instruction tuning. NeurIPS 2023.</a:t>
            </a:r>
          </a:p>
        </p:txBody>
      </p:sp>
      <p:sp>
        <p:nvSpPr>
          <p:cNvPr id="20" name="TextBox 19"/>
          <p:cNvSpPr txBox="1"/>
          <p:nvPr/>
        </p:nvSpPr>
        <p:spPr>
          <a:xfrm>
            <a:off x="6324447" y="3730752"/>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Dettmers et al.  </a:t>
            </a:r>
            <a:r>
              <a:rPr sz="1000">
                <a:solidFill>
                  <a:srgbClr val="617274"/>
                </a:solidFill>
                <a:latin typeface="Segoe UI"/>
              </a:rPr>
              <a:t>QLoRA: 4-bit quantisation. NeurIPS 2023.</a:t>
            </a:r>
          </a:p>
        </p:txBody>
      </p:sp>
      <p:sp>
        <p:nvSpPr>
          <p:cNvPr id="21" name="TextBox 20"/>
          <p:cNvSpPr txBox="1"/>
          <p:nvPr/>
        </p:nvSpPr>
        <p:spPr>
          <a:xfrm>
            <a:off x="6324447" y="4261104"/>
            <a:ext cx="5090007" cy="237744"/>
          </a:xfrm>
          <a:prstGeom prst="rect">
            <a:avLst/>
          </a:prstGeom>
          <a:noFill/>
        </p:spPr>
        <p:txBody>
          <a:bodyPr wrap="square" lIns="0" rIns="0" tIns="0" bIns="0">
            <a:spAutoFit/>
          </a:bodyPr>
          <a:lstStyle/>
          <a:p>
            <a:pPr algn="l">
              <a:lnSpc>
                <a:spcPct val="100000"/>
              </a:lnSpc>
            </a:pPr>
            <a:r>
              <a:rPr sz="1000" b="1" i="0">
                <a:solidFill>
                  <a:srgbClr val="0D6B67"/>
                </a:solidFill>
                <a:latin typeface="Segoe UI"/>
              </a:rPr>
              <a:t>BASELINE AND EVALUATION METRICS</a:t>
            </a:r>
          </a:p>
        </p:txBody>
      </p:sp>
      <p:sp>
        <p:nvSpPr>
          <p:cNvPr id="22" name="TextBox 21"/>
          <p:cNvSpPr txBox="1"/>
          <p:nvPr/>
        </p:nvSpPr>
        <p:spPr>
          <a:xfrm>
            <a:off x="6324447" y="4572000"/>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Schölkopf et al.  </a:t>
            </a:r>
            <a:r>
              <a:rPr sz="1000">
                <a:solidFill>
                  <a:srgbClr val="617274"/>
                </a:solidFill>
                <a:latin typeface="Segoe UI"/>
              </a:rPr>
              <a:t>One-class SVM. Neural Comput. 2001.</a:t>
            </a:r>
          </a:p>
        </p:txBody>
      </p:sp>
      <p:sp>
        <p:nvSpPr>
          <p:cNvPr id="23" name="TextBox 22"/>
          <p:cNvSpPr txBox="1"/>
          <p:nvPr/>
        </p:nvSpPr>
        <p:spPr>
          <a:xfrm>
            <a:off x="6324447" y="4974336"/>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Fawcett  </a:t>
            </a:r>
            <a:r>
              <a:rPr sz="1000">
                <a:solidFill>
                  <a:srgbClr val="617274"/>
                </a:solidFill>
                <a:latin typeface="Segoe UI"/>
              </a:rPr>
              <a:t>An introduction to ROC analysis. Pattern Recognit. Lett. 2006.</a:t>
            </a:r>
          </a:p>
        </p:txBody>
      </p:sp>
      <p:sp>
        <p:nvSpPr>
          <p:cNvPr id="24" name="TextBox 23"/>
          <p:cNvSpPr txBox="1"/>
          <p:nvPr/>
        </p:nvSpPr>
        <p:spPr>
          <a:xfrm>
            <a:off x="6324447" y="5376672"/>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Davis &amp; Goadrich  </a:t>
            </a:r>
            <a:r>
              <a:rPr sz="1000">
                <a:solidFill>
                  <a:srgbClr val="617274"/>
                </a:solidFill>
                <a:latin typeface="Segoe UI"/>
              </a:rPr>
              <a:t>Precision-recall and ROC curves. ICML 2006.</a:t>
            </a:r>
          </a:p>
        </p:txBody>
      </p:sp>
      <p:sp>
        <p:nvSpPr>
          <p:cNvPr id="25" name="TextBox 24"/>
          <p:cNvSpPr txBox="1"/>
          <p:nvPr/>
        </p:nvSpPr>
        <p:spPr>
          <a:xfrm>
            <a:off x="6324447" y="5779008"/>
            <a:ext cx="5090007" cy="384048"/>
          </a:xfrm>
          <a:prstGeom prst="rect">
            <a:avLst/>
          </a:prstGeom>
          <a:noFill/>
        </p:spPr>
        <p:txBody>
          <a:bodyPr wrap="square" lIns="0" rIns="0" tIns="0" bIns="0">
            <a:spAutoFit/>
          </a:bodyPr>
          <a:lstStyle/>
          <a:p>
            <a:pPr>
              <a:lnSpc>
                <a:spcPct val="110000"/>
              </a:lnSpc>
            </a:pPr>
            <a:r>
              <a:rPr sz="1000" b="1">
                <a:solidFill>
                  <a:srgbClr val="141C1E"/>
                </a:solidFill>
                <a:latin typeface="Segoe UI"/>
              </a:rPr>
              <a:t>Bradley  </a:t>
            </a:r>
            <a:r>
              <a:rPr sz="1000">
                <a:solidFill>
                  <a:srgbClr val="617274"/>
                </a:solidFill>
                <a:latin typeface="Segoe UI"/>
              </a:rPr>
              <a:t>Area under the ROC curve. Pattern Recognit. 1997.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