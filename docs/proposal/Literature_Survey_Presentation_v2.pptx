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6675120"/>
            <a:ext cx="1828800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0" y="1828800"/>
            <a:ext cx="8534095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0F172A"/>
                </a:solidFill>
                <a:latin typeface="Segoe UI Semibold"/>
              </a:defRPr>
            </a:pPr>
            <a:r>
              <a:t>Multimodal Anomaly Detection in Industrial</a:t>
            </a:r>
            <a:br/>
            <a:r>
              <a:t>Quality Inspection using Vision-Language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D9488"/>
                </a:solidFill>
                <a:latin typeface="Segoe UI"/>
              </a:defRPr>
            </a:pPr>
            <a:r>
              <a:t>Literature Survey &amp; Proposed Research Direction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Segoe UI"/>
              </a:defRPr>
            </a:pPr>
            <a:r>
              <a:t>[Your Name]  •  [Roll Number]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Guide: Prof. [Professor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 | NIT Calicut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Introduction: Problem Context &amp; Motivation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Background Concepts (CLIP, MLLMs, MVTec AD)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Literature Survey: Review of 5 Core Papers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Comparative Analysis &amp; Synthesized Insights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Identified Research Gaps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Proposed Research Methodology &amp; Pipeline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Segoe UI"/>
              </a:defRPr>
            </a:pPr>
            <a:r>
              <a:t>Expected Contributions &amp; Project Timeline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965960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65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2500884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008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035808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03580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1188720" y="3570732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5707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Oval 13"/>
          <p:cNvSpPr/>
          <p:nvPr/>
        </p:nvSpPr>
        <p:spPr>
          <a:xfrm>
            <a:off x="1188720" y="4105656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1056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4640580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405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18" name="Oval 17"/>
          <p:cNvSpPr/>
          <p:nvPr/>
        </p:nvSpPr>
        <p:spPr>
          <a:xfrm>
            <a:off x="1188720" y="5175504"/>
            <a:ext cx="365760" cy="365760"/>
          </a:xfrm>
          <a:prstGeom prst="ellipse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1755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Industrial Quality Inspection Needs an Upgrade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Segoe UI"/>
              </a:defRPr>
            </a:pPr>
            <a:r>
              <a:t>Current 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Single-modality approaches require extensive training data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Models must be retrained per product category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Lacks interpretability (no natural language explanations)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Human inspection remains slow &amp; error-prone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The VLM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Vision-Language Models enable zero-shot anomaly detection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MLLMs provide human-like explanations and reasoning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No product-specific training data needed (scalable)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Enables intelligent, natural interactions with AI inspectors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9448495" cy="13716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Core Research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5120640"/>
            <a:ext cx="9052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F172A"/>
                </a:solidFill>
                <a:latin typeface="Segoe UI"/>
              </a:defRPr>
            </a:pPr>
            <a:r>
              <a:t>How can VLMs and MLLMs be leveraged for zero-shot anomaly detection in industrial inspection, achieving robust detection AND interpretable explanations without task-specific training?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Technical Background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Foundational Concepts &amp;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3383280" cy="5486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CLIP (OpenAI, 2021)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Trained on 400M image-text pairs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Contrastive learning aligns vision/text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Shared embedding space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Enables zero-shot matching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38328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MLLMs (e.g., LLaVA)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Vision encoder combined with LLM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Processes visual inputs &amp; texts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Can describe, explain, and reason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Emerging open-source capabilities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3200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338328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MVTec AD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017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Gold standard for industrial AD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15 manufacturing categories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High-res images with pixel labels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Metric: Area Under ROC (AUROC)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Paper 1 | Roth et al. [1] | CVPR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PatchCore: Towards Total Recall in Industrial 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Extracts patch features from ImageNet-pretrained CNN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Stores diverse normal features in a memory bank (coreset subsampling)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Anomalies detected via K-Nearest Neighbor (KNN) distance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State-of-the-art traditional upper-bound 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99.1% Image AUROC </a:t>
            </a:r>
            <a:br/>
            <a:r>
              <a:t>Strongest generic baseline on MVTec.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Requires training per category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No natural language explanations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Cannot generalize zero-shot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PatchCore sets the accuracy ceiling, but highlights the need for training-free, text-aware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Paper 2 | Jeong et al. [2] | CVPR 2023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WinCLIP: Zero-/Few-Shot Anomaly Classification &amp; Segmentation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First zero-shot application of CLIP to industrial inspection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Compositional Prompt Ensembles (CPE): e.g., 'a damaged [object]'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Multi-scale sliding window extracts patch-level CLIP features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Compares text vs visual features to locate anomalies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91.8% Image AUROC </a:t>
            </a:r>
            <a:br/>
            <a:r>
              <a:t>85.1% Pixel AUROC (zero-shot)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Relies on ad-hoc, hand-crafted text prompts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Lacks reasoning &amp; explanations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Pioneered zero-shot CLIP use, but shows prompt engineering is brittle and needs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Segoe UI"/>
              </a:defRPr>
            </a:pPr>
            <a:r>
              <a:t>Paper 3 | Zhou et al. [3] | ICLR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AnomalyCLIP: Object-Agnostic Prompt Learning for Zero-Shot 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Solves WinCLIP's manual prompt limitation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Learns structured, object-agnostic prompt embeddings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Captures universal 'normal' vs 'abnormal' semantics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Frozen CLIP backbone; generalizes to unseen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~94.0% Image AUROC </a:t>
            </a:r>
            <a:br/>
            <a:r>
              <a:t>Better cross-domain generalization.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Requires intensive prompt training phase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Learned prompts aren't human-readable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Still lacks natural language explanations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Automated prompts perform better, validating that prompt design is key to CLIP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Paper 4 | Gu et al. [4] | AAAI 2024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Segoe UI Semibold"/>
              </a:defRPr>
            </a:pPr>
            <a:r>
              <a:t>AnomalyGPT: Industrial AD Using Large Vision-Language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69848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858000" cy="32918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Segoe UI"/>
              </a:defRPr>
            </a:pPr>
            <a: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6309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Fine-tunes a multimodal LVLM (Vicuna) for defect detection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Uses synthetic anomaly simulation (NSA) for training data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Features an image decoder and visual-language prompt learner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Supports multi-turn interactive dialogue for inspection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645920"/>
            <a:ext cx="3657600" cy="13716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Key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945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94.1% AUROC (1-shot) </a:t>
            </a:r>
            <a:br/>
            <a:r>
              <a:t>Provides conversational defect explanations.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00400"/>
            <a:ext cx="3657600" cy="173736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383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749039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Not zero-shot (needs fine-tuning)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Relies on synthetic data quality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Computationally expensive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9808" y="5321808"/>
            <a:ext cx="10661904" cy="8778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Takeaway: First to provide LLM-based explanations, but loses the zero-shot magic by requiring fine-tuning.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MMAD: Multi-Modal Anomaly Detection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Paper 5 | Jiang et al. [5] | ICLR 2025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Segoe UI"/>
              </a:defRPr>
            </a:pPr>
            <a:r>
              <a:t>Benchmark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39,672 queries across 8,366 images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7 subtasks: classification, localization, type, severity, description, cause, repair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Tested GPT-4o, Claude, LLaVA, Gemini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11D48"/>
                </a:solidFill>
                <a:latin typeface="Segoe UI"/>
              </a:defRPr>
            </a:pPr>
            <a:r>
              <a:t>Model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GPT-4o (Best): Only ~75% accuracy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Open-source MLLMs perform poorly on fine-grained defects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Models struggle with anomaly semantics vs standard objects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069848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Strategic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Current Multimodal LLMs cannot perform reliable industrial inspection out-of-the-box. A hybrid approach utilizing specialized visual scoring (CLIP) paired with MLLM reasoning is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Comparative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Synthesizing the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373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Zero-Shot?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AUROC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7373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Explains?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Key Limitation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PatchCore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CVPR'22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468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99.1%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468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68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Needs training per category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WinCLIP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CVPR'23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108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91.8%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08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Hand-crafted ad-hoc prompts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657600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749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Segoe UI"/>
              </a:defRPr>
            </a:pPr>
            <a:r>
              <a:t>AnomalyCLIP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ICLR'24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374903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Yes*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~94.0%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3749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74903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Needs prompt training phase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297679"/>
            <a:ext cx="10698480" cy="5486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891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AnomalyGPT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AAAI'24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389119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11D48"/>
                </a:solidFill>
                <a:latin typeface="Segoe UI"/>
              </a:defRPr>
            </a:pPr>
            <a:r>
              <a:t>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Segoe UI"/>
              </a:defRPr>
            </a:pPr>
            <a:r>
              <a:t>94.1%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3891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Segoe UI"/>
              </a:defRPr>
            </a:pPr>
            <a:r>
              <a:t>Yes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891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Segoe UI"/>
              </a:defRPr>
            </a:pPr>
            <a:r>
              <a:t>Requires LVLM fine-tuning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30352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Conclusion: No existing method achieves Zero-Shot + Explanations + Open-Source concurrently.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Identified Research Gaps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91440" cy="11887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338CA"/>
                </a:solidFill>
                <a:latin typeface="Segoe UI Semibold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Lack of Systematic Prompt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WinCLIP uses ad-hoc text prompts. What grammatical structures, state words, and compositional ensembles actually work best for industrial anomaly detection?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3108960"/>
            <a:ext cx="91440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D9488"/>
                </a:solidFill>
                <a:latin typeface="Segoe UI Semibold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246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Untapped Open-Source MLLMs in Zero-Shot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Proprietary models (GPT-4V) are too slow/costly. Fine-tuned models (AnomalyGPT) lose zero-shot advantages. Leveraging raw LLaVA is unexplored.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4572000"/>
            <a:ext cx="91440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70916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7C3AED"/>
                </a:solidFill>
                <a:latin typeface="Segoe UI Semibold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709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No Unified Hybrid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Models currently either score well (CLIP) or reason well (MLLM). Combining CLIP's robust localization precision with MLLM's reasoning engine in a unified, training-free pipeline.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Formal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Mathematical Formulation of the Proposed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144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91440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Design and development of a zero-shot anomaly detection and reasoning framework using Vision-Language Models (VLM) for precise localization and Multimodal Large Language Models (MLLM) for comprehensive semantic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260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338CA"/>
                </a:solidFill>
                <a:latin typeface="Segoe UI"/>
              </a:defRPr>
            </a:pPr>
            <a:r>
              <a:t>Stage 1: VLM Scoring  S_vlm(x)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Given test image x ∈ ℝ^(H×W×3)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Normality score f(x) computed via cosine similarity: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  S_vlm(x) = 1 - max_i [ (v · t_i) / (||v|| ||t_i||) ]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Where v is image feature, t_i are text prompts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Outputs: Anomaly score S_vlm(x) and heatmap M(x)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926080"/>
            <a:ext cx="5029200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Segoe UI"/>
              </a:defRPr>
            </a:pPr>
            <a:r>
              <a:t>Stage 2: MLLM Reasoning  R_mllm(x, 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5661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Conditional Execution: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  Let decision D(x) = 1 if S_vlm(x) &gt; τ, else 0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If D(x) == 1: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  R_mllm = MLLM(x, M(x), P_query)</a:t>
            </a:r>
          </a:p>
          <a:p>
            <a:pPr>
              <a:spcAft>
                <a:spcPts val="1000"/>
              </a:spcAft>
              <a:defRPr sz="1400">
                <a:solidFill>
                  <a:srgbClr val="475569"/>
                </a:solidFill>
                <a:latin typeface="Segoe UI"/>
              </a:defRPr>
            </a:pPr>
            <a:r>
              <a:t>Where P_query asks for semantic reasoning of M(x)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Objective: Maximize detection accuracy P(D(x)=y) while generating human-readable explanation 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Proposed Research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Segoe UI"/>
              </a:defRPr>
            </a:pPr>
            <a:r>
              <a:t>Two-Stage Zero-Shot Interpretive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57200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4572000" cy="54864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Stage 1: VLM Scoring (CLIP)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Pre-trained CLIP (Frozen)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Systematic Prompt Array vs Visual Patches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Generates Anomaly Map &amp; AUROC Score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Acts as an ultra-fast filter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2918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0D9488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828800"/>
            <a:ext cx="4754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75120" y="1828800"/>
            <a:ext cx="4754880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920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Stage 2: MLLM Reasoning (LLaVA)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56032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Triggered ONLY if Stage 1 Score &gt; Threshold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Analyzes defect using original image + heatmap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Outputs localized bounding boxes</a:t>
            </a:r>
          </a:p>
          <a:p>
            <a:pPr>
              <a:spcAft>
                <a:spcPts val="1000"/>
              </a:spcAft>
              <a:defRPr sz="1500">
                <a:solidFill>
                  <a:srgbClr val="475569"/>
                </a:solidFill>
                <a:latin typeface="Segoe UI"/>
              </a:defRPr>
            </a:pPr>
            <a:r>
              <a:t>Generates natural language repair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669280"/>
            <a:ext cx="8534095" cy="73152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585216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Zero-Shot Precision  +  Interpretability  +  Open-Source Scalability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Expected Project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74519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8288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Comprehensive Prompt Engineering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Empirical study on grammatical structure and ensemble design for CLIP in manufacturing contexts.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333756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918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Novel Hybrid VLM+MLLM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703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A cohesive, non-fine-tuned architecture blending CLIP localization with LLaVA linguistic reasoning.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572000"/>
            <a:ext cx="10698480" cy="1188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4800600"/>
            <a:ext cx="731520" cy="7315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754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Robust Empirical Benchmarking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166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Segoe UI"/>
              </a:defRPr>
            </a:pPr>
            <a:r>
              <a:t>Evaluation on MVTec AD and VisA vs SOTA baselines (PatchCore, WinCLIP) to prove efficacy and limits.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Project Timeline &amp; Execution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Strategic Delivery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468880" cy="18288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Jan -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338CA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Lit survey, environment prep, and initial CLIP staging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828800"/>
            <a:ext cx="2468880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Jun - Oct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  <a:latin typeface="Segoe UI"/>
              </a:defRPr>
            </a:pPr>
            <a:r>
              <a:t>Phase 2: Core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Prompt engineering study &amp; Hybrid pipeline assembly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828800"/>
            <a:ext cx="2468880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Nov - Jan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C3AED"/>
                </a:solidFill>
                <a:latin typeface="Segoe UI"/>
              </a:defRPr>
            </a:pPr>
            <a:r>
              <a:t>Phase 3: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Ablation profiling on MVTec AD/VisA environments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1828800"/>
            <a:ext cx="2468880" cy="34747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828800"/>
            <a:ext cx="2468880" cy="1828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75569"/>
                </a:solidFill>
                <a:latin typeface="Segoe UI"/>
              </a:defRPr>
            </a:pPr>
            <a:r>
              <a:t>Feb - May 2027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560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D97706"/>
                </a:solidFill>
                <a:latin typeface="Segoe UI"/>
              </a:defRPr>
            </a:pPr>
            <a:r>
              <a:t>Phase 4: Finalization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0040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Segoe UI"/>
              </a:defRPr>
            </a:pPr>
            <a:r>
              <a:t>Thesis authoring and potential conference submission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669280"/>
            <a:ext cx="10698480" cy="7315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475569"/>
                </a:solidFill>
                <a:latin typeface="Segoe UI"/>
              </a:defRPr>
            </a:pPr>
            <a:r>
              <a:t>Tech Stack: PyTorch, HuggingFace, Anomalib, OpenCV, MVTec 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2286000"/>
            <a:ext cx="4876495" cy="228600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2286000"/>
            <a:ext cx="4876495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2743200"/>
            <a:ext cx="4876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  <a:latin typeface="Segoe UI Semibold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4876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D9488"/>
                </a:solidFill>
                <a:latin typeface="Segoe UI"/>
              </a:defRPr>
            </a:pPr>
            <a:r>
              <a:t>Questions &amp; Feedback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Segoe UI"/>
              </a:defRPr>
            </a:pPr>
            <a:r>
              <a:t>Reach Out: [email@nitc.ac.in]  •  [Your Name]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Segoe UI Semibold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338CA"/>
                </a:solidFill>
                <a:latin typeface="Segoe UI"/>
              </a:defRPr>
            </a:pPr>
            <a:r>
              <a:t>Literature Survey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[1] K. Roth et al., 'Towards Total Recall in Industrial Anomaly Detection,' CVPR, 2022.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[2] J. Jeong et al., 'WinCLIP: Zero-/Few-Shot Anomaly Classification and Segmentation,' CVPR, 2023.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[3] Q. Zhou et al., 'AnomalyCLIP: Object-Agnostic Prompt Learning for Zero-Shot Anomaly Detection,' ICLR, 2024.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[4] Z. Gu et al., 'AnomalyGPT: Detecting Industrial Anomalies Using Large Vision-Language Models,' AAAI, 2024.</a:t>
            </a:r>
          </a:p>
          <a:p>
            <a:pPr>
              <a:spcAft>
                <a:spcPts val="10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[5] X. Jiang et al., 'MMAD: A Comprehensive Benchmark for Multimodal Large Language Models in Industrial Anomaly Detection,' ICLR,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