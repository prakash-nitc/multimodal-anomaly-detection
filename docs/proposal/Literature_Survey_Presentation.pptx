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828800"/>
            <a:ext cx="8534095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172A"/>
                </a:solidFill>
                <a:latin typeface="Segoe UI Semibold"/>
              </a:defRPr>
            </a:pPr>
            <a:r>
              <a:t>Multimodal Anomaly Detection in Industrial</a:t>
            </a:r>
            <a:br/>
            <a:r>
              <a:t>Quality Inspection using Vision-Language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Segoe UI"/>
              </a:defRPr>
            </a:pPr>
            <a:r>
              <a:t>Literature Survey &amp; Proposed Research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[Your Name]  •  [Roll Number]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Guide: Prof. [Professor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Department of Computer Science &amp; Engineering | NIT Calicut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Introduction: Problem Context &amp; Motivation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Background Concepts (CLIP, MLLMs, MVTec AD)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Literature Survey: Review of 5 Core Papers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Comparative Analysis &amp; Synthesized Insights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Identified Research Gaps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Proposed Research Methodology &amp; Pipeline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Expected Contributions &amp; Project Timeline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965960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500884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008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035808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3570732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707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4105656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056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4640580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405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5175504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1755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Industrial Quality Inspection Needs an Upgrade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Segoe UI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Single-modality approaches require extensive training data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Models must be retrained per product category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Lacks interpretability (no natural language explanations)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Human inspection remains slow &amp; error-prone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The VLM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Vision-Language Models enable zero-shot anomaly detection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MLLMs provide human-like explanations and reasoning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No product-specific training data needed (scalable)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Enables intelligent, natural interactions with AI inspectors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572000"/>
            <a:ext cx="9448495" cy="13716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Core 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2064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Segoe UI"/>
              </a:defRPr>
            </a:pPr>
            <a:r>
              <a:t>How can VLMs and MLLMs be leveraged for zero-shot anomaly detection in industrial inspection, achieving robust detection AND interpretable explanations without task-specific training?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Technical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Foundational Concepts &amp;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CLIP (OpenAI, 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Trained on 400M image-text pairs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Contrastive learning aligns vision/text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Shared embedding space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Enables zero-shot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MLLMs (e.g., LLaVA)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Vision encoder combined with LLM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Processes visual inputs &amp; texts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Can describe, explain, and reason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Emerging open-source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MVTec AD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Gold standard for industrial AD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15 manufacturing categories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High-res images with pixel labels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Metric: Area Under ROC (AUROC)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Paper 1 | Roth et al. | CVPR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 Semibold"/>
              </a:defRPr>
            </a:pPr>
            <a:r>
              <a:t>PatchCore: Towards Total Recall in Industrial 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Extracts patch features from ImageNet-pretrained CNN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Stores diverse normal features in a memory bank (coreset subsampling)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Anomalies detected via K-Nearest Neighbor (KNN) distance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State-of-the-art traditional upper-bound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99.1% Image AUROC </a:t>
            </a:r>
            <a:br/>
            <a:r>
              <a:t>Strongest generic baseline on MVTec.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Requires training per category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No natural language explanations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Cannot generalize zero-shot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21808"/>
            <a:ext cx="10661904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Takeaway: PatchCore sets the accuracy ceiling, but highlights the need for training-free, text-aware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Paper 2 | Jeong et al. | CVPR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 Semibold"/>
              </a:defRPr>
            </a:pPr>
            <a:r>
              <a:t>WinCLIP: Zero-/Few-Shot Anomaly Classification &amp;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First zero-shot application of CLIP to industrial inspection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Compositional Prompt Ensembles (CPE): e.g., 'a damaged [object]'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Multi-scale sliding window extracts patch-level CLIP features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Compares text vs visual features to locate anomalies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91.8% Image AUROC </a:t>
            </a:r>
            <a:br/>
            <a:r>
              <a:t>85.1% Pixel AUROC (zero-shot)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Relies on ad-hoc, hand-crafted text prompts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Lacks reasoning &amp; explanations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21808"/>
            <a:ext cx="10661904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Takeaway: Pioneered zero-shot CLIP use, but shows prompt engineering is brittle and needs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Paper 3 | Zhou et al. | ICLR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 Semibold"/>
              </a:defRPr>
            </a:pPr>
            <a:r>
              <a:t>AnomalyCLIP: Object-Agnostic Prompt Learning for Zero-Shot 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Solves WinCLIP's manual prompt limitation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Learns structured, object-agnostic prompt embeddings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Captures universal 'normal' vs 'abnormal' semantics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Frozen CLIP backbone; generalizes to unseen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~94.0% Image AUROC </a:t>
            </a:r>
            <a:br/>
            <a:r>
              <a:t>Better cross-domain generalization.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Requires intensive prompt training phase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Learned prompts aren't human-readable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Still lacks natural language explanations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21808"/>
            <a:ext cx="10661904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Takeaway: Automated prompts perform better, validating that prompt design is key to CLIP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Paper 4 | Gu et al. | AAAI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 Semibold"/>
              </a:defRPr>
            </a:pPr>
            <a:r>
              <a:t>AnomalyGPT: Industrial AD Using Large Vision-Language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Fine-tunes a multimodal LVLM (Vicuna) for defect detection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Uses synthetic anomaly simulation (NSA) for training data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Features an image decoder and visual-language prompt learner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Supports multi-turn interactive dialogue for inspection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94.1% AUROC (1-shot) </a:t>
            </a:r>
            <a:br/>
            <a:r>
              <a:t>Provides conversational defect explanations.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Not zero-shot (needs fine-tuning)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Relies on synthetic data quality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Computationally expensive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21808"/>
            <a:ext cx="10661904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Takeaway: First to provide LLM-based explanations, but loses the zero-shot magic by requiring fine-tuning.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MMAD: Multi-Modal Anomaly Detection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Paper 5 | Jiang et al. | ICLR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Segoe UI"/>
              </a:defRPr>
            </a:pPr>
            <a:r>
              <a:t>Benchmark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39,672 queries across 8,366 images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7 subtasks: classification, localization, type, severity, description, cause, repair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Tested GPT-4o, Claude, LLaVA, Gemini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Segoe UI"/>
              </a:defRPr>
            </a:pPr>
            <a:r>
              <a:t>Model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GPT-4o (Best): Only ~75% accuracy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Open-source MLLMs perform poorly on fine-grained defects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Models struggle with anomaly semantics vs standard objects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Strategic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Current Multimodal LLMs cannot perform reliable industrial inspection out-of-the-box. A hybrid approach utilizing specialized visual scoring (CLIP) paired with MLLM reasoning is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Comparative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Synthesizing the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Zero-Shot?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AUROC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Explains?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Key Limitation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PatchCore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CVPR'22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99.1%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Needs training per 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WinCLIP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CVPR'23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108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91.8%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Hand-crafted ad-hoc prompts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AnomalyCLIP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ICLR'24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Yes*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~94.0%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Needs prompt training phase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297679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891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AnomalyGPT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AAAI'24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38911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94.1%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891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Requires LVLM fine-tuning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0352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Conclusion: No existing method achieves Zero-Shot + Explanations + Open-Source concurrently.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Identified Research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1887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38CA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Lack of Systematic 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WinCLIP uses ad-hoc text prompts. What grammatical structures, state words, and compositional ensembles actually work best for industrial anomaly detection?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91440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Untapped Open-Source MLLMs in Zero-Shot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Proprietary models (GPT-4V) are too slow/costly. Fine-tuned models (AnomalyGPT) lose zero-shot advantages. Leveraging raw LLaVA is unexplored.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9144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09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No Unified Hybrid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Models currently either score well (CLIP) or reason well (MLLM). Combining CLIP's robust localization precision with MLLM's reasoning engine in a unified, training-free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Proposed Research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Two-Stage Zero-Shot Interpretive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572000" cy="5486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Stage 1: VLM Scoring (CLIP)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Pre-trained CLIP (Frozen)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Systematic Prompt Array vs Visual Patches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Generates Anomaly Map &amp; AUROC Score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Acts as an ultra-fast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D9488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4754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47548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Stage 2: MLLM Reasoning (LLaVA)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Triggered ONLY if Stage 1 Score &gt; Threshold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Analyzes defect using original image + heatmap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Outputs localized bounding boxes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Generates natural language repair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669280"/>
            <a:ext cx="8534095" cy="7315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85216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Zero-Shot Precision  +  Interpretability  +  Open-Source Scalability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Expected Project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74519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Comprehensive Prompt Engineering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Empirical study on grammatical structure and ensemble design for CLIP in manufacturing contexts.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3375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91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Novel Hybrid VLM+MLLM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03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A cohesive, non-fine-tuned architecture blending CLIP localization with LLaVA linguistic reasoning.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8006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754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Robust Empirical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166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Evaluation on MVTec AD and VisA vs SOTA baselines (PatchCore, WinCLIP) to prove efficacy and limits.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Project Timeline &amp; Execution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Strategic Delivery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1828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Jan -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338CA"/>
                </a:solidFill>
                <a:latin typeface="Segoe UI"/>
              </a:defRPr>
            </a:pPr>
            <a:r>
              <a:t>Phase 1: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Lit survey, environment prep, and initial CLIP staging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46888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Jun -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  <a:latin typeface="Segoe UI"/>
              </a:defRPr>
            </a:pPr>
            <a:r>
              <a:t>Phase 2: Core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Prompt engineering study &amp; Hybrid pipeline assembly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468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Nov - Jan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Segoe UI"/>
              </a:defRPr>
            </a:pPr>
            <a:r>
              <a:t>Phase 3: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Ablation profiling on MVTec AD/VisA environments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828800"/>
            <a:ext cx="2468880" cy="182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Feb - May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97706"/>
                </a:solidFill>
                <a:latin typeface="Segoe UI"/>
              </a:defRPr>
            </a:pPr>
            <a:r>
              <a:t>Phase 4: Finalization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Thesis authoring and potential conference submission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75569"/>
                </a:solidFill>
                <a:latin typeface="Segoe UI"/>
              </a:defRPr>
            </a:pPr>
            <a:r>
              <a:t>Tech Stack: PyTorch, HuggingFace, Anomalib, OpenCV, MVTec 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2286000"/>
            <a:ext cx="4876495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2743200"/>
            <a:ext cx="4876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F172A"/>
                </a:solidFill>
                <a:latin typeface="Segoe UI Semibold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9488"/>
                </a:solidFill>
                <a:latin typeface="Segoe UI"/>
              </a:defRPr>
            </a:pPr>
            <a:r>
              <a:t>Questions &amp; Feedback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Reach Out: [email@nitc.ac.in]  •  [Your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