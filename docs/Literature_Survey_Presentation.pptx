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72" r:id="rId5"/>
    <p:sldId id="260" r:id="rId6"/>
    <p:sldId id="261" r:id="rId7"/>
    <p:sldId id="262" r:id="rId8"/>
    <p:sldId id="263" r:id="rId9"/>
    <p:sldId id="264" r:id="rId10"/>
    <p:sldId id="273" r:id="rId11"/>
    <p:sldId id="266" r:id="rId12"/>
    <p:sldId id="274" r:id="rId13"/>
    <p:sldId id="275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17261-D37C-49E0-B105-196BCC6DF44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A777-1EE5-4248-AA58-0185C4A51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86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A777-1EE5-4248-AA58-0185C4A515B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441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371600"/>
            <a:ext cx="8534095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Multimodal Anomaly Detection </a:t>
            </a:r>
            <a:r>
              <a:rPr lang="en-US" alt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V</a:t>
            </a:r>
            <a:r>
              <a:rPr lang="en-I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ision </a:t>
            </a:r>
            <a:r>
              <a:rPr lang="en-US" alt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L</a:t>
            </a:r>
            <a:r>
              <a:rPr lang="en-I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anguage </a:t>
            </a:r>
            <a:r>
              <a:rPr lang="en-US" alt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n-I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odel</a:t>
            </a:r>
            <a:r>
              <a:rPr lang="en-US" alt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 and Multimodal Large Language Models</a:t>
            </a:r>
          </a:p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9CFC"/>
                </a:solidFill>
                <a:latin typeface="Calibri"/>
              </a:defRPr>
            </a:pPr>
            <a:r>
              <a:t>Literature Survey &amp; Proposed Research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931920"/>
            <a:ext cx="48764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4232" y="4389120"/>
            <a:ext cx="1036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lang="en-IN" dirty="0"/>
              <a:t>Prakash Kumar Sarangi</a:t>
            </a:r>
            <a:r>
              <a:rPr dirty="0"/>
              <a:t>  |  </a:t>
            </a:r>
            <a:r>
              <a:rPr lang="en-IN" dirty="0"/>
              <a:t>M251250CS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8BAA"/>
                </a:solidFill>
                <a:latin typeface="Calibri"/>
              </a:defRPr>
            </a:pPr>
            <a:r>
              <a:rPr dirty="0"/>
              <a:t>Guide: </a:t>
            </a:r>
            <a:r>
              <a:rPr lang="en-IN" dirty="0"/>
              <a:t>Dr. Pranesh Das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8BAA"/>
                </a:solidFill>
                <a:latin typeface="Calibri"/>
              </a:defRPr>
            </a:pPr>
            <a:r>
              <a:t>Department of Computer Science &amp; Engineering</a:t>
            </a:r>
            <a:br/>
            <a:r>
              <a:t>National Institute of Technology Calicut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 Problem &amp; Motivation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 Background — CLIP, MLLMs,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MVTec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AD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 Literature Review — 5 Key Papers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 Comparative Analysis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 Identified Research Gaps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 Proposed Research Direction</a:t>
            </a:r>
          </a:p>
          <a:p>
            <a:pPr>
              <a:spcAft>
                <a:spcPts val="800"/>
              </a:spcAft>
              <a:defRPr sz="22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7.  Expected Contributions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 panose="020B0702040204020203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12360" cy="2616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0440" y="18105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Segoe UI" panose="020B0502040204020203"/>
              </a:defRPr>
            </a:pPr>
            <a:r>
              <a:rPr dirty="0"/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0440" y="2295144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Single-modality approaches require extensive training data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Models must be retrained per product category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Lacks interpretability (no natural language explanations)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Human inspection remains slow &amp;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0152" y="1645920"/>
            <a:ext cx="4937125" cy="2592705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3837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 panose="020B0502040204020203"/>
              </a:defRPr>
            </a:pPr>
            <a:r>
              <a:rPr dirty="0"/>
              <a:t>The VLM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325" y="21945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Vision-Language Models enable zero-shot anomaly detection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MLLMs provide human-like explanations and reasoning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No product-specific training data needed (scalable)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rPr dirty="0"/>
              <a:t>Enables intelligent, natural interactions with AI inspectors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41545"/>
            <a:ext cx="9448495" cy="13716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7548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Core 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20640"/>
            <a:ext cx="90525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How can VLMs and MLLMs be leveraged for zero-shot anomaly detection achieving robust detection AND interpretable explanations without task-specific training?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 panose="020B0702040204020203"/>
              </a:defRPr>
            </a:pPr>
            <a:r>
              <a:t>Technical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 panose="020B0502040204020203"/>
              </a:defRPr>
            </a:pPr>
            <a:r>
              <a:t>Foundational Concepts &amp;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CLIP (OpenAI,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Trained on 400M image-text pairs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Contrastive learning aligns vision/text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Shared embedding space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Enables zero-shot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MLLMs (e.g., LLaVA)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Vision encoder combined with LLM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Processes visual inputs &amp; texts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Can describe, explain, and reason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Emerging open-source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 panose="020B0502040204020203"/>
              </a:defRPr>
            </a:pPr>
            <a:r>
              <a:t>MVTec AD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Gold standard for industrial AD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15 manufacturing categories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High-res images with pixel labels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 panose="020B0502040204020203"/>
              </a:defRPr>
            </a:pPr>
            <a:r>
              <a:t>Metric: Area Under ROC (AUROC)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BAA"/>
                </a:solidFill>
                <a:latin typeface="Calibri"/>
              </a:defRPr>
            </a:pPr>
            <a:r>
              <a:rPr dirty="0"/>
              <a:t>Key Metric: AUROC — Area Under ROC Curve. Higher = better. 99.1% (</a:t>
            </a:r>
            <a:r>
              <a:rPr dirty="0" err="1"/>
              <a:t>PatchCore</a:t>
            </a:r>
            <a:r>
              <a:rPr dirty="0"/>
              <a:t>) is ceiling with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9CFC"/>
                </a:solidFill>
                <a:latin typeface="Calibri"/>
              </a:defRPr>
            </a:pPr>
            <a:r>
              <a:t>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PatchCore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Towards Total Recall in Industrial 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BAA"/>
                </a:solidFill>
                <a:latin typeface="Calibri"/>
              </a:defRPr>
            </a:pPr>
            <a:r>
              <a:t>Roth et al. | CVPR 2022 | Traditional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Extract patch features from pre-trained CNN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Store in memory bank ("normal" dictionary)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Coreset subsampling — keep 1% representative features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Test: KNN distance to bank = anomaly score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5. Patches far from all normals = anomalous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99.1% Image AUROC on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MVTec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AD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Strongest traditional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08960"/>
            <a:ext cx="50292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C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466344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Needs normal training images per category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Cannot generalize to unseen products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No natural language explanations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t>Takeaway: Upper-bound baseline — can we approach 99% without any training?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9CFC"/>
                </a:solidFill>
                <a:latin typeface="Calibri"/>
              </a:defRPr>
            </a:pPr>
            <a:r>
              <a:t>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WinCLIP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Zero-/Few-Shot Anomaly Classification &amp;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BAA"/>
                </a:solidFill>
                <a:latin typeface="Calibri"/>
              </a:defRPr>
            </a:pPr>
            <a:r>
              <a:t>Jeong et al. | CVPR 2023 | CLIP-Based Zero-Shot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858000" cy="34007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Method — Two Key Innovations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1997"/>
            <a:ext cx="649224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CLIP's ability to compare images and text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Compositional Prompt Ensemble (CPE):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Templates x State words -&gt; ~20 prompts -&gt; averaged prototypes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e.g., "a photo of a [damaged/flawless] [screw]"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Multi-Scale Sliding Window: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Image -&gt; overlapping windows (small + mid + global)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Each window -&gt; CLIP features -&gt; compare with text prototypes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-&gt; Pixel-level anomaly heatmap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WinCLIP checks small patches individually at multiple scales.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55279" y="1737360"/>
            <a:ext cx="347472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Zero-Shot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91.8% Image AUROC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85.1% Pixel 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3108960"/>
            <a:ext cx="3474720" cy="1554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C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66160"/>
            <a:ext cx="310896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Hand-crafted prompts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No systematic prompt study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Scores only, no explanations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rPr dirty="0"/>
              <a:t>Takeaway: First zero-shot CLIP approach! But prompts are ad-hoc and it can't explain defects.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9CFC"/>
                </a:solidFill>
                <a:latin typeface="Calibri"/>
              </a:defRPr>
            </a:pPr>
            <a:r>
              <a:t>Paper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AnomalyCLIP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Object-Agnostic Prompt Learning for Zero-Shot 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BAA"/>
                </a:solidFill>
                <a:latin typeface="Calibri"/>
              </a:defRPr>
            </a:pPr>
            <a:r>
              <a:t>Zhou et al. | ICLR 2024 | Learned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Key Insight &amp;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Problem: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CLIP focuses on object, not anomaly state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"normal screw" vs "damaged screw" -&gt; CLIP sees "screw"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Solution: Learn object-agnostic prompt embeddings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AnomalyCLIP learns object-agnostic continuous prompt embeddings that capture universal normality vs abnormality, while keeping CLIP frozen.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~94% Image AUROC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Better cross-domain generalization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00400"/>
            <a:ext cx="5029200" cy="1737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C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6634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Needs training phase for prompt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Learned prompts not human-interpretable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Still no natural language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May overfit to training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t>Takeaway: Learned prompts &gt; hand-crafted, but still no explanations.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9CFC"/>
                </a:solidFill>
                <a:latin typeface="Calibri"/>
              </a:defRPr>
            </a:pPr>
            <a:r>
              <a:t>Paper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AnomalyGPT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Industrial AD Using Large Vision-Language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BAA"/>
                </a:solidFill>
                <a:latin typeface="Calibri"/>
              </a:defRPr>
            </a:pPr>
            <a:r>
              <a:t>Gu et al. | AAAI 2024 (Oral) | MLLM-Based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858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Architecture &amp;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492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Four components: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1 Frozen Image Encoder (CLIP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ViT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-&gt; multi-layer features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2 Image Decoder -&gt; patch similarity -&gt; localization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3 Prompt Learner -&gt; bridges visual info to LLM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4 LLM (Vicuna-7B) -&gt; natural language responses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Training: Synthetic anomalies (NSA) — paste textures on normals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 decoder + prompt learner + projection trained (efficient!)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737360"/>
            <a:ext cx="347472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94.1% AUROC (1-shot)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NL explanations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Multi-turn dialogue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3291840"/>
            <a:ext cx="347472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C5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705575"/>
            <a:ext cx="31089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Not truly zero-shot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Needs fine-tuning on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synthetic anomaly data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X  GPU required for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t>Takeaway: First MLLM for AD — detects + explains! But requires fine-tuning.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9CFC"/>
                </a:solidFill>
                <a:latin typeface="Calibri"/>
              </a:defRPr>
            </a:pPr>
            <a:r>
              <a:t>Paper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MMAD — Multi-Modal Anomaly Detection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BAA"/>
                </a:solidFill>
                <a:latin typeface="Calibri"/>
              </a:defRPr>
            </a:pPr>
            <a:r>
              <a:t>Jiang et al. | ICLR 2025 | Benchmarking MLLMs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5720"/>
          </a:xfrm>
          <a:prstGeom prst="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Benchmark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39,672 questions from 8,366 images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Sources: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MVTec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AD,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MVTec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LOCO,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VisA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GoodsAD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7 subtasks: classification, localization,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type, severity, description, cause, repair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A8"/>
                </a:solidFill>
                <a:latin typeface="Calibri"/>
              </a:defRPr>
            </a:pPr>
            <a:r>
              <a:t>Models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66344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Proprietary: GPT-4o, Claude, Gemini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Open-source: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LLaVA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-NeXT, InternVL2</a:t>
            </a:r>
          </a:p>
          <a:p>
            <a:pPr>
              <a:spcAft>
                <a:spcPts val="800"/>
              </a:spcAft>
              <a:defRPr sz="140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Specialized: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AnomalyGPT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Key Findings — Validates the Research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Best model (GPT-4o) only 74.9% accuracy — far below industrial &gt;95% requirement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Open-source MLLMs perform substantially worse on fine-grained defects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All models struggle with anomaly-specific tasks vs. object-recognition tasks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Conclusion: MLLMs alone are NOT sufficient — hybrid approaches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 panose="020B0702040204020203"/>
              </a:defRPr>
            </a:pPr>
            <a:r>
              <a:t>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 panose="020B0502040204020203"/>
              </a:defRPr>
            </a:pPr>
            <a:r>
              <a:t>Synthesizing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1097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1188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Zero-Shot?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1097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1097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Explains?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Key Limitation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PatchCore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 panose="020B0502040204020203"/>
              </a:defRPr>
            </a:pPr>
            <a:r>
              <a:t>CVPR'22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 panose="020B0502040204020203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99.1%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 panose="020B0502040204020203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 panose="020B0502040204020203"/>
              </a:defRPr>
            </a:pPr>
            <a:r>
              <a:t>Needs training per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 panose="020B0502040204020203"/>
              </a:defRPr>
            </a:pPr>
            <a:r>
              <a:t>WinCLIP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 panose="020B0502040204020203"/>
              </a:defRPr>
            </a:pPr>
            <a:r>
              <a:t>CVPR'23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 panose="020B0502040204020203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91.8%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 panose="020B0502040204020203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 panose="020B0502040204020203"/>
              </a:defRPr>
            </a:pPr>
            <a:r>
              <a:t>Hand-crafted ad-hoc 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 panose="020B0502040204020203"/>
              </a:defRPr>
            </a:pPr>
            <a:r>
              <a:t>AnomalyCLIP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 panose="020B0502040204020203"/>
              </a:defRPr>
            </a:pPr>
            <a:r>
              <a:t>ICLR'24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 panose="020B0502040204020203"/>
              </a:defRPr>
            </a:pPr>
            <a:r>
              <a:t>Yes*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~94.0%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 panose="020B0502040204020203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 panose="020B0502040204020203"/>
              </a:defRPr>
            </a:pPr>
            <a:r>
              <a:t>Needs prompt training phase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97679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389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AnomalyGPT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 panose="020B0502040204020203"/>
              </a:defRPr>
            </a:pPr>
            <a:r>
              <a:t>AAAI'24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38911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 panose="020B0502040204020203"/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 panose="020B0502040204020203"/>
              </a:defRPr>
            </a:pPr>
            <a:r>
              <a:t>94.1%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 panose="020B0502040204020203"/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891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 panose="020B0502040204020203"/>
              </a:defRPr>
            </a:pPr>
            <a:r>
              <a:t>Requires LVLM fine-tuning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00E675-4B8E-0819-44B0-F6575F23363C}"/>
              </a:ext>
            </a:extLst>
          </p:cNvPr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Calibri"/>
              </a:defRPr>
            </a:pPr>
            <a:r>
              <a:rPr dirty="0"/>
              <a:t>No method achieves ALL of: zero-shot + explanations + open-source + no fine-tuning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Identified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9CF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Systematic Prompt Engineering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9418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WinCLIP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uses ad-hoc prompts,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AnomalyCLIP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learns prompts — but nobody has studied what makes a good prompt for anomaly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A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Limited Exploration of Open-Source MLLMs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9418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AnomalyGPT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needs fine-tuning, GPT-4V is proprietary. Potential of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LLaVA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with CLIP features is unexplored.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78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43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Hybrid VLM + MLLM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9418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Current methods use CLIP or MLLMs independently. Combining CLIP's detection with MLLM's explanation has not been explored.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 panose="020B0702040204020203"/>
              </a:defRPr>
            </a:pPr>
            <a:r>
              <a:t>Formal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 panose="020B0502040204020203"/>
              </a:defRPr>
            </a:pPr>
            <a:r>
              <a:t>Mathematical Formulation of the Proposed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91335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81175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t>Design and development of a zero-shot anomaly detection and reasoning framework using Vision-Language Models (VLM) for precise localization and Multimodal Large Language Models (MLLM) for comprehensive semantic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 panose="020B0502040204020203"/>
              </a:defRPr>
            </a:pPr>
            <a:r>
              <a:t>Stage 1: VLM Scoring  S_vlm(x)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Given test image x ∈ ℝ^(H×W×3)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Normality score f(x) computed via cosine similarity: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  S_vlm(x) = 1 - max_i [ (v · t_i) / (||v|| ||t_i||) ]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Where v is image feature, t_i are text prompts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Outputs: Anomaly score S_vlm(x) and heatmap M(x)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 panose="020B0502040204020203"/>
              </a:defRPr>
            </a:pPr>
            <a:r>
              <a:t>Stage 2: MLLM Reasoning  R_mllm(x,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Conditional Execution: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  Let decision D(x) = 1 if S_vlm(x) &gt; τ, else 0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If D(x) == 1: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  R_mllm = MLLM(x, M(x), P_query)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 panose="020B0502040204020203"/>
              </a:defRPr>
            </a:pPr>
            <a:r>
              <a:t>Where P_query asks for semantic reasoning of M(x)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Objective: Maximize detection accuracy P(D(x)=y) while generating human-readable explanation 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 panose="020B0702040204020203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 panose="020B0502040204020203"/>
              </a:defRPr>
            </a:pPr>
            <a:r>
              <a:t>Literature Survey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/>
              <a:t>[1] K. Roth et al., 'Towards Total Recall in Industrial Anomaly Detection,' CVPR, 2022.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/>
              <a:t>[2] J. Jeong et al., '</a:t>
            </a:r>
            <a:r>
              <a:rPr dirty="0" err="1"/>
              <a:t>WinCLIP</a:t>
            </a:r>
            <a:r>
              <a:rPr dirty="0"/>
              <a:t>: Zero-/Few-Shot Anomaly Classification and Segmentation,' CVPR, 2023.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/>
              <a:t>[3] Q. Zhou et al., '</a:t>
            </a:r>
            <a:r>
              <a:rPr dirty="0" err="1"/>
              <a:t>AnomalyCLIP</a:t>
            </a:r>
            <a:r>
              <a:rPr dirty="0"/>
              <a:t>: Object-Agnostic Prompt Learning for Zero-Shot Anomaly Detection,' ICLR, 2024.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/>
              <a:t>[4] Z. Gu et al., '</a:t>
            </a:r>
            <a:r>
              <a:rPr dirty="0" err="1"/>
              <a:t>AnomalyGPT</a:t>
            </a:r>
            <a:r>
              <a:rPr dirty="0"/>
              <a:t>: Detecting Industrial Anomalies Using Large Vision-Language Models,' AAAI, 2024.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 panose="020B0502040204020203"/>
              </a:defRPr>
            </a:pPr>
            <a:r>
              <a:rPr dirty="0"/>
              <a:t>[5] X. Jiang et al., 'MMAD: A Comprehensive Benchmark for Multimodal Large Language Models in Industrial Anomaly Detection,' ICLR, 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2286000"/>
            <a:ext cx="67052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9CFC"/>
                </a:solidFill>
                <a:latin typeface="Calibri"/>
              </a:defRPr>
            </a:pPr>
            <a:r>
              <a:t>Questions &amp; Feedback 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705295" cy="45720"/>
          </a:xfrm>
          <a:prstGeom prst="rect">
            <a:avLst/>
          </a:prstGeom>
          <a:solidFill>
            <a:srgbClr val="00D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8BAA"/>
                </a:solidFill>
                <a:latin typeface="Calibri"/>
              </a:defRPr>
            </a:pPr>
            <a:r>
              <a:rPr lang="en-IN" dirty="0"/>
              <a:t>Prakash Kumar Sarangi</a:t>
            </a:r>
            <a:r>
              <a:rPr dirty="0"/>
              <a:t> |  </a:t>
            </a:r>
            <a:r>
              <a:rPr lang="en-IN" dirty="0"/>
              <a:t>M251250CS</a:t>
            </a:r>
            <a:r>
              <a:rPr dirty="0"/>
              <a:t>  | </a:t>
            </a:r>
            <a:r>
              <a:rPr lang="en-IN" dirty="0"/>
              <a:t>prakash_m251250cs@nitc.ac.in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1471</Words>
  <Application>Microsoft Office PowerPoint</Application>
  <PresentationFormat>Widescreen</PresentationFormat>
  <Paragraphs>204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Prakash</dc:creator>
  <cp:keywords/>
  <dc:description>generated using python-pptx</dc:description>
  <cp:lastModifiedBy>Prakash Sarangi</cp:lastModifiedBy>
  <cp:revision>3</cp:revision>
  <dcterms:created xsi:type="dcterms:W3CDTF">2013-01-27T09:14:16Z</dcterms:created>
  <dcterms:modified xsi:type="dcterms:W3CDTF">2026-03-16T06:21:15Z</dcterms:modified>
  <cp:category/>
</cp:coreProperties>
</file>