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Crimson Pro Semi Bold"/>
      <p:regular r:id="rId21"/>
    </p:embeddedFont>
    <p:embeddedFont>
      <p:font typeface="Heebo"/>
      <p:regular r:id="rId22"/>
    </p:embeddedFont>
    <p:embeddedFont>
      <p:font typeface="Heeb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207071"/>
            <a:ext cx="2589609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74" y="1283568"/>
            <a:ext cx="113407" cy="1134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284" y="1249561"/>
            <a:ext cx="22493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END-SEMESTER PRESENTATION · MAY 2026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496119" y="153017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Zero-Shot Multimodal Anomaly Detection</a:t>
            </a:r>
            <a:endParaRPr lang="en-US" sz="2750" dirty="0"/>
          </a:p>
        </p:txBody>
      </p:sp>
      <p:sp>
        <p:nvSpPr>
          <p:cNvPr id="7" name="Text 3"/>
          <p:cNvSpPr/>
          <p:nvPr/>
        </p:nvSpPr>
        <p:spPr>
          <a:xfrm>
            <a:off x="496119" y="2628751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Using Vision-Language Models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 | 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From Static Images to Video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96119" y="3050456"/>
            <a:ext cx="472276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496119" y="325591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Prakash Kumar Sarangi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 ·  M251250CS  ·  Department of CSE</a:t>
            </a:r>
            <a:endParaRPr lang="en-US" sz="11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Institute of Technology Calicut</a:t>
            </a:r>
            <a:endParaRPr lang="en-US" sz="11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Guide: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Prof. Dr. Pranesh 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57783"/>
            <a:ext cx="765125" cy="135954"/>
          </a:xfrm>
          <a:prstGeom prst="roundRect">
            <a:avLst>
              <a:gd name="adj" fmla="val 6990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8631" y="386283"/>
            <a:ext cx="660648" cy="7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1231106" y="362545"/>
            <a:ext cx="565398" cy="126429"/>
          </a:xfrm>
          <a:prstGeom prst="roundRect">
            <a:avLst>
              <a:gd name="adj" fmla="val 7516"/>
            </a:avLst>
          </a:prstGeom>
          <a:solidFill>
            <a:srgbClr val="CCD7FF"/>
          </a:solidFill>
          <a:ln/>
        </p:spPr>
      </p:sp>
      <p:sp>
        <p:nvSpPr>
          <p:cNvPr id="5" name="Text 3"/>
          <p:cNvSpPr/>
          <p:nvPr/>
        </p:nvSpPr>
        <p:spPr>
          <a:xfrm>
            <a:off x="1278582" y="386283"/>
            <a:ext cx="470446" cy="7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APPROACH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26393" y="511373"/>
            <a:ext cx="2953345" cy="247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Statement &amp; Our Approach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6393" y="825103"/>
            <a:ext cx="8291215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does zero-shot anomaly detection matter — and how does CLIP address it?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426393" y="993279"/>
            <a:ext cx="8291215" cy="5879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26393" y="1112862"/>
            <a:ext cx="989856" cy="128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⚠️</a:t>
            </a:r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The Challenge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6393" y="1291010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868" y="1291010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543669" y="1379711"/>
            <a:ext cx="1796430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Traditional AD requires training data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category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473003" y="1291010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3478" y="1291010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2590279" y="1379711"/>
            <a:ext cx="1796430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Outputs only scores —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never explains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what is wrong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426393" y="1709961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868" y="1709961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543669" y="1798662"/>
            <a:ext cx="1796430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temporal awareness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video streams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473003" y="1709961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3478" y="1709961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2590279" y="1798662"/>
            <a:ext cx="1796430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method is zero-shot + explainable + temporal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simultaneously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673352" y="1112862"/>
            <a:ext cx="1387078" cy="128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✨</a:t>
            </a:r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Our Approach: CLIP Zero-Shot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73352" y="1291010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827" y="1291010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25" name="Text 23"/>
          <p:cNvSpPr/>
          <p:nvPr/>
        </p:nvSpPr>
        <p:spPr>
          <a:xfrm>
            <a:off x="4790629" y="1379711"/>
            <a:ext cx="1796430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CLIP's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joint vision-language embedding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space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719962" y="1291010"/>
            <a:ext cx="2002408" cy="374749"/>
          </a:xfrm>
          <a:prstGeom prst="roundRect">
            <a:avLst>
              <a:gd name="adj" fmla="val 1220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10437" y="1291010"/>
            <a:ext cx="38100" cy="374749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28" name="Text 26"/>
          <p:cNvSpPr/>
          <p:nvPr/>
        </p:nvSpPr>
        <p:spPr>
          <a:xfrm>
            <a:off x="6837238" y="1379711"/>
            <a:ext cx="1796430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=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cosine similarity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(damaged vs good text prompts)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673352" y="1709961"/>
            <a:ext cx="2002408" cy="276076"/>
          </a:xfrm>
          <a:prstGeom prst="roundRect">
            <a:avLst>
              <a:gd name="adj" fmla="val 1656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827" y="1709961"/>
            <a:ext cx="38100" cy="276076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31" name="Text 29"/>
          <p:cNvSpPr/>
          <p:nvPr/>
        </p:nvSpPr>
        <p:spPr>
          <a:xfrm>
            <a:off x="4790629" y="1798662"/>
            <a:ext cx="1796430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training data needed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zero-shot by design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719962" y="1709961"/>
            <a:ext cx="2002408" cy="276076"/>
          </a:xfrm>
          <a:prstGeom prst="roundRect">
            <a:avLst>
              <a:gd name="adj" fmla="val 1656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0437" y="1709961"/>
            <a:ext cx="38100" cy="276076"/>
          </a:xfrm>
          <a:prstGeom prst="roundRect">
            <a:avLst>
              <a:gd name="adj" fmla="val 31177"/>
            </a:avLst>
          </a:prstGeom>
          <a:solidFill>
            <a:srgbClr val="2150FE"/>
          </a:solidFill>
          <a:ln/>
        </p:spPr>
      </p:sp>
      <p:sp>
        <p:nvSpPr>
          <p:cNvPr id="34" name="Text 32"/>
          <p:cNvSpPr/>
          <p:nvPr/>
        </p:nvSpPr>
        <p:spPr>
          <a:xfrm>
            <a:off x="6837238" y="1798662"/>
            <a:ext cx="1796430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Extensible to video via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 adapters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26393" y="2184127"/>
            <a:ext cx="8291215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 a glance: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left side highlights the limitations of conventional anomaly detection,       while the right side shows how CLIP provides a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zero-shot, explainable, and scalable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path forward.     </a:t>
            </a:r>
            <a:endParaRPr lang="en-US" sz="6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568" y="2332509"/>
            <a:ext cx="5344864" cy="230482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259224" y="4200254"/>
            <a:ext cx="1212569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Anomaly Score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259224" y="3666724"/>
            <a:ext cx="1212569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Prompt Ensemble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259224" y="3138583"/>
            <a:ext cx="1212569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CLIP ViT-L/14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259224" y="2605053"/>
            <a:ext cx="1212569" cy="1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Image Input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26393" y="4687044"/>
            <a:ext cx="8291215" cy="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stage contributes to a lightweight inference pipeline that can extend from static images to video.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33028"/>
            <a:ext cx="1065237" cy="192286"/>
          </a:xfrm>
          <a:prstGeom prst="roundRect">
            <a:avLst>
              <a:gd name="adj" fmla="val 663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654" y="586606"/>
            <a:ext cx="85055" cy="850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2200" y="569640"/>
            <a:ext cx="800621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LITERATURE REVIEW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1614488" y="537790"/>
            <a:ext cx="1072679" cy="182761"/>
          </a:xfrm>
          <a:prstGeom prst="roundRect">
            <a:avLst>
              <a:gd name="adj" fmla="val 6981"/>
            </a:avLst>
          </a:prstGeom>
          <a:solidFill>
            <a:srgbClr val="CCD7FF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8260" y="586606"/>
            <a:ext cx="85055" cy="850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5806" y="569640"/>
            <a:ext cx="81758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BASELINES</a:t>
            </a:r>
            <a:endParaRPr lang="en-US" sz="650" dirty="0"/>
          </a:p>
        </p:txBody>
      </p:sp>
      <p:sp>
        <p:nvSpPr>
          <p:cNvPr id="9" name="Text 4"/>
          <p:cNvSpPr/>
          <p:nvPr/>
        </p:nvSpPr>
        <p:spPr>
          <a:xfrm>
            <a:off x="496119" y="757163"/>
            <a:ext cx="364398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Literature: PatchCore &amp; WinCLIP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496119" y="1209005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Foundational image anomaly detection methods — our primary baselines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496119" y="147741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PatchCore  ·  CVPR 2022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96119" y="1763092"/>
            <a:ext cx="1521098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1831" y="1763092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Text 9"/>
          <p:cNvSpPr/>
          <p:nvPr/>
        </p:nvSpPr>
        <p:spPr>
          <a:xfrm>
            <a:off x="659532" y="1883643"/>
            <a:ext cx="123713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Patch-level features stored in a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memory bank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anomaly = max distance from normal patches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2096914" y="1763092"/>
            <a:ext cx="1521098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082626" y="1763092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Text 12"/>
          <p:cNvSpPr/>
          <p:nvPr/>
        </p:nvSpPr>
        <p:spPr>
          <a:xfrm>
            <a:off x="2260327" y="1883643"/>
            <a:ext cx="1237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99.1% AUROC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MVTec AD — best supervised upper bound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697709" y="1763092"/>
            <a:ext cx="1521172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3422" y="1763092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0" name="Text 15"/>
          <p:cNvSpPr/>
          <p:nvPr/>
        </p:nvSpPr>
        <p:spPr>
          <a:xfrm>
            <a:off x="3861122" y="1883643"/>
            <a:ext cx="12372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training data per category; no explanations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96119" y="2715741"/>
            <a:ext cx="4722763" cy="7962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496119" y="286985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WinCLIP  ·  CVPR 2023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96119" y="3155528"/>
            <a:ext cx="1521098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1831" y="3155528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5" name="Text 20"/>
          <p:cNvSpPr/>
          <p:nvPr/>
        </p:nvSpPr>
        <p:spPr>
          <a:xfrm>
            <a:off x="659532" y="3276079"/>
            <a:ext cx="1237134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 CLIP-based zero-shot AD with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Compositional Prompt Ensembles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2096914" y="3155528"/>
            <a:ext cx="1521098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082626" y="3155528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8" name="Text 23"/>
          <p:cNvSpPr/>
          <p:nvPr/>
        </p:nvSpPr>
        <p:spPr>
          <a:xfrm>
            <a:off x="2260327" y="3276079"/>
            <a:ext cx="123713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91.8% AUROC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zero-shot via multi-scale sliding window localisation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697709" y="3155528"/>
            <a:ext cx="1521172" cy="836414"/>
          </a:xfrm>
          <a:prstGeom prst="roundRect">
            <a:avLst>
              <a:gd name="adj" fmla="val 819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683422" y="3155528"/>
            <a:ext cx="57150" cy="83641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31" name="Text 26"/>
          <p:cNvSpPr/>
          <p:nvPr/>
        </p:nvSpPr>
        <p:spPr>
          <a:xfrm>
            <a:off x="3861122" y="3276079"/>
            <a:ext cx="123720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Hand-crafted prompts; no explanations of detected defects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96119" y="4081611"/>
            <a:ext cx="4722763" cy="528786"/>
          </a:xfrm>
          <a:prstGeom prst="roundRect">
            <a:avLst>
              <a:gd name="adj" fmla="val 3016"/>
            </a:avLst>
          </a:prstGeom>
          <a:solidFill>
            <a:srgbClr val="B3C3F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82" y="4226198"/>
            <a:ext cx="132904" cy="10626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41549" y="4187875"/>
            <a:ext cx="4271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baseline: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88.5% zero-shot AUROC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using prompt ensembles, no sliding window — kept simple for video extensibility.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0240"/>
            <a:ext cx="1136154" cy="241176"/>
          </a:xfrm>
          <a:prstGeom prst="roundRect">
            <a:avLst>
              <a:gd name="adj" fmla="val 6348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379" y="559817"/>
            <a:ext cx="102022" cy="102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0374" y="533251"/>
            <a:ext cx="820638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VLMS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696045" y="533251"/>
            <a:ext cx="733946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RESEARCH GAP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96119" y="777329"/>
            <a:ext cx="4996830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AnomalyCLIP, AnomalyGPT &amp; MMAD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96119" y="1348234"/>
            <a:ext cx="81517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VLM approaches — and why a research gap persists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6119" y="1671340"/>
            <a:ext cx="2640657" cy="2345010"/>
          </a:xfrm>
          <a:prstGeom prst="roundRect">
            <a:avLst>
              <a:gd name="adj" fmla="val 816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623664" y="1798886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86" y="1904107"/>
            <a:ext cx="172194" cy="1721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664" y="2296418"/>
            <a:ext cx="176212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AnomalyCLIP  ·  ICLR 2024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3664" y="2564532"/>
            <a:ext cx="2385566" cy="113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Learnable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object-agnostic prompts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~94% AUROC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MVTec AD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Better cross-domain generalisation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fine-tuning —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zero-shot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video or temporal capability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51597" y="1671340"/>
            <a:ext cx="2640732" cy="2345010"/>
          </a:xfrm>
          <a:prstGeom prst="roundRect">
            <a:avLst>
              <a:gd name="adj" fmla="val 816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3379143" y="1798886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2150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4364" y="1904107"/>
            <a:ext cx="172194" cy="1721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79143" y="2296418"/>
            <a:ext cx="173049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AnomalyGPT  ·  AAAI 2024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379143" y="2564532"/>
            <a:ext cx="2385640" cy="132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 MLLM for industrial AD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94.1% AUROC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1-shot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Natural language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explanations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defects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Requires fine-tuning — not zero-shot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temporal support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007150" y="1671340"/>
            <a:ext cx="2640732" cy="2345010"/>
          </a:xfrm>
          <a:prstGeom prst="roundRect">
            <a:avLst>
              <a:gd name="adj" fmla="val 816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6134695" y="1798886"/>
            <a:ext cx="382712" cy="382712"/>
          </a:xfrm>
          <a:prstGeom prst="roundRect">
            <a:avLst>
              <a:gd name="adj" fmla="val 14931407"/>
            </a:avLst>
          </a:prstGeom>
          <a:solidFill>
            <a:srgbClr val="2150F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9917" y="1904107"/>
            <a:ext cx="172194" cy="1721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4695" y="2296418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MMAD  ·  ICLR 2025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134695" y="2564532"/>
            <a:ext cx="2385640" cy="113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Benchmark: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 AD subtasks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GPT-4o, Claude, LLaVA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 GPT-4o: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moderate accuracy only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Prompt design is critical for AD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MLLMs alone are </a:t>
            </a:r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insufficient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96119" y="4145533"/>
            <a:ext cx="8151763" cy="507653"/>
          </a:xfrm>
          <a:prstGeom prst="roundRect">
            <a:avLst>
              <a:gd name="adj" fmla="val 3770"/>
            </a:avLst>
          </a:prstGeom>
          <a:solidFill>
            <a:srgbClr val="B6D6F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64" y="4326657"/>
            <a:ext cx="159469" cy="12754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0679" y="4292203"/>
            <a:ext cx="7609656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Research gap validated: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existing method is simultaneously zero-shot, explainable, and temporally aware.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66750"/>
            <a:ext cx="666601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09240"/>
            <a:ext cx="4964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VIDEO AD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8985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Pivot to Video AD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4544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we extended from image anomaly detection to video anomaly detection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067148"/>
            <a:ext cx="815176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432075"/>
            <a:ext cx="3732981" cy="1885131"/>
          </a:xfrm>
          <a:prstGeom prst="roundRect">
            <a:avLst>
              <a:gd name="adj" fmla="val 1128"/>
            </a:avLst>
          </a:prstGeom>
          <a:solidFill>
            <a:srgbClr val="B3C3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2637606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2609255"/>
            <a:ext cx="31305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extend to video?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6816" y="2963614"/>
            <a:ext cx="3130525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 AD: static, controlled environments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Video AD: dynamic scenes with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 context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Professor's guidance: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"Look into domain adaptability beyond static images"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739" y="2432075"/>
            <a:ext cx="4072830" cy="10776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3954" y="2796454"/>
            <a:ext cx="615629" cy="22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Image Inspection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4893954" y="3048266"/>
            <a:ext cx="615629" cy="1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image anomaly analysis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5599419" y="2717089"/>
            <a:ext cx="615629" cy="22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Sequential Frames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5599419" y="2968901"/>
            <a:ext cx="615629" cy="1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Stack nearby frames for context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6304885" y="2796454"/>
            <a:ext cx="615629" cy="22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Temporal Context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6304885" y="3048266"/>
            <a:ext cx="615629" cy="26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temporal dependencies across time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7010351" y="2827318"/>
            <a:ext cx="615629" cy="110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Motion Cues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7010351" y="2968901"/>
            <a:ext cx="615629" cy="1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 optical flow and dynamics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7719736" y="2796454"/>
            <a:ext cx="615630" cy="22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Video Anomaly Detection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7719736" y="3048266"/>
            <a:ext cx="615630" cy="26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Dynamic scene understanding and alerts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1769"/>
            <a:ext cx="121853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629022"/>
            <a:ext cx="10388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OPEN-VOCABULARY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785491" y="586532"/>
            <a:ext cx="666601" cy="266402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</p:sp>
      <p:sp>
        <p:nvSpPr>
          <p:cNvPr id="5" name="Text 3"/>
          <p:cNvSpPr/>
          <p:nvPr/>
        </p:nvSpPr>
        <p:spPr>
          <a:xfrm>
            <a:off x="1870546" y="629022"/>
            <a:ext cx="4964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VIDEO AD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22934" y="581769"/>
            <a:ext cx="59389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2752" y="629022"/>
            <a:ext cx="4142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SURVEY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914400"/>
            <a:ext cx="664845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OVVAD &amp; VAD Survey: Shaping Our Direction</a:t>
            </a:r>
            <a:endParaRPr lang="en-US" sz="2750" dirty="0"/>
          </a:p>
        </p:txBody>
      </p:sp>
      <p:sp>
        <p:nvSpPr>
          <p:cNvPr id="9" name="Text 7"/>
          <p:cNvSpPr/>
          <p:nvPr/>
        </p:nvSpPr>
        <p:spPr>
          <a:xfrm>
            <a:off x="496119" y="156998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2024 + ACM 2025: zero-shot framework + survey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1991692"/>
            <a:ext cx="815176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2197150"/>
            <a:ext cx="4004965" cy="2364507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2197150"/>
            <a:ext cx="76200" cy="236450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23579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OVVAD 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2664470"/>
            <a:ext cx="3626197" cy="1070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Frozen CLIP: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fixed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ViT-B/16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features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 adapter: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learns frame sequence cues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injection: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normal/anomaly descriptions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Anomaly synthesis: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boosts robustness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4077" y="3819748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86.40% AUC on UCF-Crime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2197150"/>
            <a:ext cx="4005039" cy="2364507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3792" y="2197150"/>
            <a:ext cx="76200" cy="236450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60801" y="23579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the Survey Matters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60801" y="2664470"/>
            <a:ext cx="3626272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400+ methods: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broad VAD map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gaps: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weak generalization, weak time modeling, label-heavy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Open-vocab VAD: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handles unseen anomalies via language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DA-ZVAD: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supports zero-shot, language-aware direction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162"/>
            <a:ext cx="74987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39415"/>
            <a:ext cx="5702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2024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316831" y="392162"/>
            <a:ext cx="74987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6649" y="439415"/>
            <a:ext cx="5702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2025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724793"/>
            <a:ext cx="61556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LAVAD &amp; VERA — Training-Free Video AD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496119" y="138038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Two CVPR papers that complete our architectural puzzle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1766664"/>
            <a:ext cx="4004965" cy="2984599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069" y="1766664"/>
            <a:ext cx="76200" cy="298459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14077" y="19274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LAVAD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4077" y="2233985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Caption-then-reason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4077" y="2545854"/>
            <a:ext cx="362619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Frames → BLIP-2 Captions → LLM Scoring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 reasons about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 events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frames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Dynamically adjusts normality baseline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Outperforms all unsupervised VAD methods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4077" y="3761259"/>
            <a:ext cx="3626197" cy="829196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36" y="3966790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4775" y="3938439"/>
            <a:ext cx="302374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Limitations: Noisy/hallucinated captions; high LLM inference cost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42842" y="1766664"/>
            <a:ext cx="4005039" cy="2984599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23792" y="1766664"/>
            <a:ext cx="76200" cy="298459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4860801" y="19274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VERA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60801" y="2233985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Verbalized domain prompting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60801" y="2545854"/>
            <a:ext cx="36262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"A dimly lit warehouse with conveyor belts"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Cross-modal refinement reduces caption noise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training required; domain-adaptive via text alone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Explainable outputs; cross-domain robust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60801" y="3761259"/>
            <a:ext cx="3626272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560" y="3966790"/>
            <a:ext cx="177180" cy="14175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21498" y="3938439"/>
            <a:ext cx="30238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Running person: Normal in an arena,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anomalous in a warehouse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domain context matters.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9571"/>
            <a:ext cx="726653" cy="177031"/>
          </a:xfrm>
          <a:prstGeom prst="roundRect">
            <a:avLst>
              <a:gd name="adj" fmla="val 6727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412" y="668387"/>
            <a:ext cx="79325" cy="79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9400" y="654100"/>
            <a:ext cx="479078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272332" y="624334"/>
            <a:ext cx="562868" cy="167506"/>
          </a:xfrm>
          <a:prstGeom prst="roundRect">
            <a:avLst>
              <a:gd name="adj" fmla="val 7109"/>
            </a:avLst>
          </a:prstGeom>
          <a:solidFill>
            <a:srgbClr val="CCD7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1863" y="668387"/>
            <a:ext cx="79325" cy="79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0851" y="654100"/>
            <a:ext cx="324817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DA-ZVAD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496119" y="824359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Comparative Analysis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96119" y="1238622"/>
            <a:ext cx="81517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existing method satisfies all five desiderata —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DA-ZVAD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targets this gap.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96119" y="1451744"/>
            <a:ext cx="8151763" cy="341263"/>
          </a:xfrm>
          <a:prstGeom prst="roundRect">
            <a:avLst>
              <a:gd name="adj" fmla="val 4362"/>
            </a:avLst>
          </a:prstGeom>
          <a:solidFill>
            <a:srgbClr val="B3C3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" y="1584127"/>
            <a:ext cx="123974" cy="991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480" y="1545952"/>
            <a:ext cx="773020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matters most: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zero-shot, training-free, explainable, temporal, and domain-adaptive performance.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96119" y="1871142"/>
            <a:ext cx="8151763" cy="2233315"/>
          </a:xfrm>
          <a:prstGeom prst="roundRect">
            <a:avLst>
              <a:gd name="adj" fmla="val 66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33054" y="1922338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Method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2947541" y="1922338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Venue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680296" y="1922338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Zero-Shot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559647" y="1922338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Training-Free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438998" y="1922338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Explainable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6318349" y="1922338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Temporal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7197700" y="1922338"/>
            <a:ext cx="53198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Domain-Adaptive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1333054" y="2289944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PatchCore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947541" y="2289944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'22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680296" y="228994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559647" y="228994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5438998" y="228994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318349" y="228994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7197700" y="2289944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1333054" y="2522562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WinCLIP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947541" y="2522562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'23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680296" y="252256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559647" y="252256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5438998" y="252256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6318349" y="252256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7197700" y="2522562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1333054" y="2755181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AnomalyCLIP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947541" y="2755181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ICLR '24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3680296" y="2755181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4559647" y="2755181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5438998" y="2755181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6318349" y="2755181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7197700" y="2755181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1333054" y="2987799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AnomalyGPT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2947541" y="2987799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AAAI '24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3680296" y="2987799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4559647" y="2987799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5438998" y="2987799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6318349" y="2987799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7197700" y="2987799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49" name="Text 44"/>
          <p:cNvSpPr/>
          <p:nvPr/>
        </p:nvSpPr>
        <p:spPr>
          <a:xfrm>
            <a:off x="1333054" y="3220417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OVVAD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2947541" y="3220417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'24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3680296" y="3220417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4559647" y="3220417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5438998" y="3220417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6318349" y="3220417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7197700" y="3220417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Partial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1333054" y="3453036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LAVAD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2947541" y="3453036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'24</a:t>
            </a:r>
            <a:endParaRPr lang="en-US" sz="750" dirty="0"/>
          </a:p>
        </p:txBody>
      </p:sp>
      <p:sp>
        <p:nvSpPr>
          <p:cNvPr id="58" name="Text 53"/>
          <p:cNvSpPr/>
          <p:nvPr/>
        </p:nvSpPr>
        <p:spPr>
          <a:xfrm>
            <a:off x="3680296" y="3453036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59" name="Text 54"/>
          <p:cNvSpPr/>
          <p:nvPr/>
        </p:nvSpPr>
        <p:spPr>
          <a:xfrm>
            <a:off x="4559647" y="3453036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0" name="Text 55"/>
          <p:cNvSpPr/>
          <p:nvPr/>
        </p:nvSpPr>
        <p:spPr>
          <a:xfrm>
            <a:off x="5438998" y="3453036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Partial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6318349" y="3453036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7197700" y="3453036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✗</a:t>
            </a:r>
            <a:endParaRPr lang="en-US" sz="750" dirty="0"/>
          </a:p>
        </p:txBody>
      </p:sp>
      <p:sp>
        <p:nvSpPr>
          <p:cNvPr id="63" name="Text 58"/>
          <p:cNvSpPr/>
          <p:nvPr/>
        </p:nvSpPr>
        <p:spPr>
          <a:xfrm>
            <a:off x="1333054" y="3685654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VERA</a:t>
            </a:r>
            <a:endParaRPr lang="en-US" sz="750" dirty="0"/>
          </a:p>
        </p:txBody>
      </p:sp>
      <p:sp>
        <p:nvSpPr>
          <p:cNvPr id="64" name="Text 59"/>
          <p:cNvSpPr/>
          <p:nvPr/>
        </p:nvSpPr>
        <p:spPr>
          <a:xfrm>
            <a:off x="2947541" y="3685654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CVPR '25</a:t>
            </a:r>
            <a:endParaRPr lang="en-US" sz="750" dirty="0"/>
          </a:p>
        </p:txBody>
      </p:sp>
      <p:sp>
        <p:nvSpPr>
          <p:cNvPr id="65" name="Text 60"/>
          <p:cNvSpPr/>
          <p:nvPr/>
        </p:nvSpPr>
        <p:spPr>
          <a:xfrm>
            <a:off x="3680296" y="368565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6" name="Text 61"/>
          <p:cNvSpPr/>
          <p:nvPr/>
        </p:nvSpPr>
        <p:spPr>
          <a:xfrm>
            <a:off x="4559647" y="368565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7" name="Text 62"/>
          <p:cNvSpPr/>
          <p:nvPr/>
        </p:nvSpPr>
        <p:spPr>
          <a:xfrm>
            <a:off x="5438998" y="368565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6318349" y="3685654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69" name="Text 64"/>
          <p:cNvSpPr/>
          <p:nvPr/>
        </p:nvSpPr>
        <p:spPr>
          <a:xfrm>
            <a:off x="7197700" y="3685654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0" name="Text 65"/>
          <p:cNvSpPr/>
          <p:nvPr/>
        </p:nvSpPr>
        <p:spPr>
          <a:xfrm>
            <a:off x="1333054" y="3918272"/>
            <a:ext cx="141133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DA-ZVAD (Ours)</a:t>
            </a:r>
            <a:endParaRPr lang="en-US" sz="750" dirty="0"/>
          </a:p>
        </p:txBody>
      </p:sp>
      <p:sp>
        <p:nvSpPr>
          <p:cNvPr id="71" name="Text 66"/>
          <p:cNvSpPr/>
          <p:nvPr/>
        </p:nvSpPr>
        <p:spPr>
          <a:xfrm>
            <a:off x="2947541" y="3918272"/>
            <a:ext cx="529605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Proposed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3680296" y="391827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highlight>
                  <a:srgbClr val="FFE1F4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3" name="Text 68"/>
          <p:cNvSpPr/>
          <p:nvPr/>
        </p:nvSpPr>
        <p:spPr>
          <a:xfrm>
            <a:off x="4559647" y="391827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highlight>
                  <a:srgbClr val="FFE1F4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5438998" y="391827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highlight>
                  <a:srgbClr val="FFE1F4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6318349" y="3918272"/>
            <a:ext cx="67620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highlight>
                  <a:srgbClr val="FFE1F4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6" name="Text 71"/>
          <p:cNvSpPr/>
          <p:nvPr/>
        </p:nvSpPr>
        <p:spPr>
          <a:xfrm>
            <a:off x="7197700" y="3918272"/>
            <a:ext cx="5319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4C4D"/>
                </a:solidFill>
                <a:highlight>
                  <a:srgbClr val="FFE1F4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✓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496119" y="4182591"/>
            <a:ext cx="8151763" cy="341263"/>
          </a:xfrm>
          <a:prstGeom prst="roundRect">
            <a:avLst>
              <a:gd name="adj" fmla="val 4362"/>
            </a:avLst>
          </a:prstGeom>
          <a:solidFill>
            <a:srgbClr val="B6FCB8"/>
          </a:solidFill>
          <a:ln/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3" y="4314974"/>
            <a:ext cx="123974" cy="99194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818480" y="4276799"/>
            <a:ext cx="773020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insight: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DA-ZVAD is the only proposed method satisfying all five desiderata simultaneously — zero-shot, training-free, explainable, temporal, and domain-adaptive.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7219"/>
            <a:ext cx="905024" cy="208136"/>
          </a:xfrm>
          <a:prstGeom prst="roundRect">
            <a:avLst>
              <a:gd name="adj" fmla="val 6539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896" y="665931"/>
            <a:ext cx="90711" cy="90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924" y="645988"/>
            <a:ext cx="62344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CLIP BASELINE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457846" y="645988"/>
            <a:ext cx="44306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MVTEC AD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851595"/>
            <a:ext cx="447340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CLIP Baseline — Results on MVTec 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96119" y="1341983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 categories · 1,725 test images · Zero training data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0288" y="1663973"/>
            <a:ext cx="2113285" cy="3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88.5%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1108100" y="216291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Mean AUROC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2394496"/>
            <a:ext cx="264162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Zero-shot, no training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515320" y="1663973"/>
            <a:ext cx="2113285" cy="3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90.7%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3863132" y="216291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51150" y="2394496"/>
            <a:ext cx="2641625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 detection precision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270352" y="1663973"/>
            <a:ext cx="2113359" cy="3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135.8s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6618163" y="216291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Inference 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06182" y="2394496"/>
            <a:ext cx="264169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 T4 GPU, full dataset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6119" y="2659782"/>
            <a:ext cx="8151763" cy="420663"/>
          </a:xfrm>
          <a:prstGeom prst="roundRect">
            <a:avLst>
              <a:gd name="adj" fmla="val 4044"/>
            </a:avLst>
          </a:prstGeom>
          <a:solidFill>
            <a:srgbClr val="FCF2B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6" y="2816572"/>
            <a:ext cx="141759" cy="11340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4691" y="2778844"/>
            <a:ext cx="766978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Gap vs WinCLIP (91.8%):</a:t>
            </a:r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attributed to omission of multi-scale sliding window — a deliberate trade-off for video extensibility.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96119" y="3210818"/>
            <a:ext cx="8151763" cy="8483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96119" y="338368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Category Breakdown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6119" y="3696891"/>
            <a:ext cx="8151763" cy="839316"/>
          </a:xfrm>
          <a:prstGeom prst="roundRect">
            <a:avLst>
              <a:gd name="adj" fmla="val 2027"/>
            </a:avLst>
          </a:prstGeom>
          <a:solidFill>
            <a:srgbClr val="F2EEEE"/>
          </a:solidFill>
          <a:ln/>
        </p:spPr>
      </p:sp>
      <p:sp>
        <p:nvSpPr>
          <p:cNvPr id="23" name="Shape 19"/>
          <p:cNvSpPr/>
          <p:nvPr/>
        </p:nvSpPr>
        <p:spPr>
          <a:xfrm>
            <a:off x="496119" y="3696891"/>
            <a:ext cx="4075881" cy="839316"/>
          </a:xfrm>
          <a:prstGeom prst="roundRect">
            <a:avLst>
              <a:gd name="adj" fmla="val 2027"/>
            </a:avLst>
          </a:prstGeom>
          <a:solidFill>
            <a:srgbClr val="F2EEEE"/>
          </a:solidFill>
          <a:ln/>
        </p:spPr>
      </p:sp>
      <p:sp>
        <p:nvSpPr>
          <p:cNvPr id="24" name="Text 20"/>
          <p:cNvSpPr/>
          <p:nvPr/>
        </p:nvSpPr>
        <p:spPr>
          <a:xfrm>
            <a:off x="609526" y="3810298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Textures — 99.5% mean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09526" y="4041874"/>
            <a:ext cx="384906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Carpet 99.2% · Grid 99.7% · Leather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FF6B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</a:t>
            </a:r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Tile 98.7% · Wood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FF6B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09526" y="4259535"/>
            <a:ext cx="384906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appearance captured well by CLIP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572000" y="3696891"/>
            <a:ext cx="4075881" cy="83931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2000" y="3696891"/>
            <a:ext cx="14288" cy="839316"/>
          </a:xfrm>
          <a:prstGeom prst="roundRect">
            <a:avLst>
              <a:gd name="adj" fmla="val 119065"/>
            </a:avLst>
          </a:prstGeom>
          <a:solidFill>
            <a:srgbClr val="D8D4D4"/>
          </a:solidFill>
          <a:ln/>
        </p:spPr>
      </p:sp>
      <p:sp>
        <p:nvSpPr>
          <p:cNvPr id="29" name="Text 25"/>
          <p:cNvSpPr/>
          <p:nvPr/>
        </p:nvSpPr>
        <p:spPr>
          <a:xfrm>
            <a:off x="4685407" y="3810298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Objects — 83.1% mean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685407" y="4041874"/>
            <a:ext cx="384906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Bottle 85.6% · Cable 79.5% · Capsule 80.9% · Transistor 72.7% · Zipper 80.3%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685407" y="4259535"/>
            <a:ext cx="384906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Localised defects need stronger spatial reasoning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840" y="333077"/>
            <a:ext cx="1000571" cy="120774"/>
          </a:xfrm>
          <a:prstGeom prst="roundRect">
            <a:avLst>
              <a:gd name="adj" fmla="val 7582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605" y="362917"/>
            <a:ext cx="61020" cy="61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134" y="355922"/>
            <a:ext cx="817513" cy="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BREAKDOWN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410840" y="470222"/>
            <a:ext cx="1907753" cy="23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AUROC by Category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0840" y="770334"/>
            <a:ext cx="8322320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performance breakdown across all 15 MVTec AD categories — textures consistently outperform objects.</a:t>
            </a:r>
            <a:endParaRPr lang="en-US" sz="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0" y="910382"/>
            <a:ext cx="5409456" cy="24856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26633" y="1027380"/>
            <a:ext cx="118542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100</a:t>
            </a:r>
            <a:endParaRPr lang="en-US" sz="400" dirty="0"/>
          </a:p>
        </p:txBody>
      </p:sp>
      <p:sp>
        <p:nvSpPr>
          <p:cNvPr id="9" name="Text 5"/>
          <p:cNvSpPr/>
          <p:nvPr/>
        </p:nvSpPr>
        <p:spPr>
          <a:xfrm>
            <a:off x="5626633" y="1175653"/>
            <a:ext cx="118542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100</a:t>
            </a:r>
            <a:endParaRPr lang="en-US" sz="400" dirty="0"/>
          </a:p>
        </p:txBody>
      </p:sp>
      <p:sp>
        <p:nvSpPr>
          <p:cNvPr id="10" name="Text 6"/>
          <p:cNvSpPr/>
          <p:nvPr/>
        </p:nvSpPr>
        <p:spPr>
          <a:xfrm>
            <a:off x="5594645" y="132392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99.7</a:t>
            </a:r>
            <a:endParaRPr lang="en-US" sz="400" dirty="0"/>
          </a:p>
        </p:txBody>
      </p:sp>
      <p:sp>
        <p:nvSpPr>
          <p:cNvPr id="11" name="Text 7"/>
          <p:cNvSpPr/>
          <p:nvPr/>
        </p:nvSpPr>
        <p:spPr>
          <a:xfrm>
            <a:off x="5568219" y="147219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99.2</a:t>
            </a:r>
            <a:endParaRPr lang="en-US" sz="400" dirty="0"/>
          </a:p>
        </p:txBody>
      </p:sp>
      <p:sp>
        <p:nvSpPr>
          <p:cNvPr id="12" name="Text 8"/>
          <p:cNvSpPr/>
          <p:nvPr/>
        </p:nvSpPr>
        <p:spPr>
          <a:xfrm>
            <a:off x="5545067" y="162047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98.7</a:t>
            </a:r>
            <a:endParaRPr lang="en-US" sz="400" dirty="0"/>
          </a:p>
        </p:txBody>
      </p:sp>
      <p:sp>
        <p:nvSpPr>
          <p:cNvPr id="13" name="Text 9"/>
          <p:cNvSpPr/>
          <p:nvPr/>
        </p:nvSpPr>
        <p:spPr>
          <a:xfrm>
            <a:off x="5151618" y="1768743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90.8</a:t>
            </a:r>
            <a:endParaRPr lang="en-US" sz="400" dirty="0"/>
          </a:p>
        </p:txBody>
      </p:sp>
      <p:sp>
        <p:nvSpPr>
          <p:cNvPr id="14" name="Text 10"/>
          <p:cNvSpPr/>
          <p:nvPr/>
        </p:nvSpPr>
        <p:spPr>
          <a:xfrm>
            <a:off x="4953903" y="191701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86.8</a:t>
            </a:r>
            <a:endParaRPr lang="en-US" sz="400" dirty="0"/>
          </a:p>
        </p:txBody>
      </p:sp>
      <p:sp>
        <p:nvSpPr>
          <p:cNvPr id="15" name="Text 11"/>
          <p:cNvSpPr/>
          <p:nvPr/>
        </p:nvSpPr>
        <p:spPr>
          <a:xfrm>
            <a:off x="4895005" y="206528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85.6</a:t>
            </a:r>
            <a:endParaRPr lang="en-US" sz="400" dirty="0"/>
          </a:p>
        </p:txBody>
      </p:sp>
      <p:sp>
        <p:nvSpPr>
          <p:cNvPr id="16" name="Text 12"/>
          <p:cNvSpPr/>
          <p:nvPr/>
        </p:nvSpPr>
        <p:spPr>
          <a:xfrm>
            <a:off x="4895005" y="221356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85.6</a:t>
            </a:r>
            <a:endParaRPr lang="en-US" sz="400" dirty="0"/>
          </a:p>
        </p:txBody>
      </p:sp>
      <p:sp>
        <p:nvSpPr>
          <p:cNvPr id="17" name="Text 13"/>
          <p:cNvSpPr/>
          <p:nvPr/>
        </p:nvSpPr>
        <p:spPr>
          <a:xfrm>
            <a:off x="4829363" y="2361833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84.3</a:t>
            </a:r>
            <a:endParaRPr lang="en-US" sz="400" dirty="0"/>
          </a:p>
        </p:txBody>
      </p:sp>
      <p:sp>
        <p:nvSpPr>
          <p:cNvPr id="18" name="Text 14"/>
          <p:cNvSpPr/>
          <p:nvPr/>
        </p:nvSpPr>
        <p:spPr>
          <a:xfrm>
            <a:off x="4829363" y="2510106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84.3</a:t>
            </a:r>
            <a:endParaRPr lang="en-US" sz="400" dirty="0"/>
          </a:p>
        </p:txBody>
      </p:sp>
      <p:sp>
        <p:nvSpPr>
          <p:cNvPr id="19" name="Text 15"/>
          <p:cNvSpPr/>
          <p:nvPr/>
        </p:nvSpPr>
        <p:spPr>
          <a:xfrm>
            <a:off x="4631202" y="2658378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80.3</a:t>
            </a:r>
            <a:endParaRPr lang="en-US" sz="400" dirty="0"/>
          </a:p>
        </p:txBody>
      </p:sp>
      <p:sp>
        <p:nvSpPr>
          <p:cNvPr id="20" name="Text 16"/>
          <p:cNvSpPr/>
          <p:nvPr/>
        </p:nvSpPr>
        <p:spPr>
          <a:xfrm>
            <a:off x="4660502" y="280665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80.9</a:t>
            </a:r>
            <a:endParaRPr lang="en-US" sz="400" dirty="0"/>
          </a:p>
        </p:txBody>
      </p:sp>
      <p:sp>
        <p:nvSpPr>
          <p:cNvPr id="21" name="Text 17"/>
          <p:cNvSpPr/>
          <p:nvPr/>
        </p:nvSpPr>
        <p:spPr>
          <a:xfrm>
            <a:off x="4594070" y="2954923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79.5</a:t>
            </a:r>
            <a:endParaRPr lang="en-US" sz="400" dirty="0"/>
          </a:p>
        </p:txBody>
      </p:sp>
      <p:sp>
        <p:nvSpPr>
          <p:cNvPr id="22" name="Text 18"/>
          <p:cNvSpPr/>
          <p:nvPr/>
        </p:nvSpPr>
        <p:spPr>
          <a:xfrm>
            <a:off x="4257240" y="310319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72.7</a:t>
            </a:r>
            <a:endParaRPr lang="en-US" sz="400" dirty="0"/>
          </a:p>
        </p:txBody>
      </p:sp>
      <p:sp>
        <p:nvSpPr>
          <p:cNvPr id="23" name="Shape 19"/>
          <p:cNvSpPr/>
          <p:nvPr/>
        </p:nvSpPr>
        <p:spPr>
          <a:xfrm>
            <a:off x="410840" y="3985840"/>
            <a:ext cx="8322320" cy="228972"/>
          </a:xfrm>
          <a:prstGeom prst="roundRect">
            <a:avLst>
              <a:gd name="adj" fmla="val 4999"/>
            </a:avLst>
          </a:prstGeom>
          <a:solidFill>
            <a:srgbClr val="B6D6F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14" y="4081165"/>
            <a:ext cx="95324" cy="762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713" y="4045967"/>
            <a:ext cx="7998172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pattern:</a:t>
            </a:r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texture categories are nearly perfect, while object categories are more sensitive to localized and structural defects.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410840" y="4261024"/>
            <a:ext cx="2746697" cy="409277"/>
          </a:xfrm>
          <a:prstGeom prst="roundRect">
            <a:avLst>
              <a:gd name="adj" fmla="val 1117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01315" y="4261024"/>
            <a:ext cx="38100" cy="409277"/>
          </a:xfrm>
          <a:prstGeom prst="roundRect">
            <a:avLst>
              <a:gd name="adj" fmla="val 30044"/>
            </a:avLst>
          </a:prstGeom>
          <a:solidFill>
            <a:srgbClr val="2150FE"/>
          </a:solidFill>
          <a:ln/>
        </p:spPr>
      </p:sp>
      <p:sp>
        <p:nvSpPr>
          <p:cNvPr id="28" name="Text 23"/>
          <p:cNvSpPr/>
          <p:nvPr/>
        </p:nvSpPr>
        <p:spPr>
          <a:xfrm>
            <a:off x="525214" y="4346823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Textures lead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525214" y="4490665"/>
            <a:ext cx="2546524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Leather, wood, grid, carpet, and tile cluster at the top.</a:t>
            </a:r>
            <a:endParaRPr lang="en-US" sz="600" dirty="0"/>
          </a:p>
        </p:txBody>
      </p:sp>
      <p:sp>
        <p:nvSpPr>
          <p:cNvPr id="30" name="Shape 25"/>
          <p:cNvSpPr/>
          <p:nvPr/>
        </p:nvSpPr>
        <p:spPr>
          <a:xfrm>
            <a:off x="3198614" y="4261024"/>
            <a:ext cx="2746697" cy="409277"/>
          </a:xfrm>
          <a:prstGeom prst="roundRect">
            <a:avLst>
              <a:gd name="adj" fmla="val 1117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189089" y="4261024"/>
            <a:ext cx="38100" cy="409277"/>
          </a:xfrm>
          <a:prstGeom prst="roundRect">
            <a:avLst>
              <a:gd name="adj" fmla="val 30044"/>
            </a:avLst>
          </a:prstGeom>
          <a:solidFill>
            <a:srgbClr val="2150FE"/>
          </a:solidFill>
          <a:ln/>
        </p:spPr>
      </p:sp>
      <p:sp>
        <p:nvSpPr>
          <p:cNvPr id="32" name="Text 27"/>
          <p:cNvSpPr/>
          <p:nvPr/>
        </p:nvSpPr>
        <p:spPr>
          <a:xfrm>
            <a:off x="3312988" y="4346823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Objects lag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312988" y="4490665"/>
            <a:ext cx="2546524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Transistor, cable, capsule, and zipper show the toughest cases.</a:t>
            </a:r>
            <a:endParaRPr lang="en-US" sz="600" dirty="0"/>
          </a:p>
        </p:txBody>
      </p:sp>
      <p:sp>
        <p:nvSpPr>
          <p:cNvPr id="34" name="Shape 29"/>
          <p:cNvSpPr/>
          <p:nvPr/>
        </p:nvSpPr>
        <p:spPr>
          <a:xfrm>
            <a:off x="5986388" y="4261024"/>
            <a:ext cx="2746697" cy="409277"/>
          </a:xfrm>
          <a:prstGeom prst="roundRect">
            <a:avLst>
              <a:gd name="adj" fmla="val 11171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76863" y="4261024"/>
            <a:ext cx="38100" cy="409277"/>
          </a:xfrm>
          <a:prstGeom prst="roundRect">
            <a:avLst>
              <a:gd name="adj" fmla="val 30044"/>
            </a:avLst>
          </a:prstGeom>
          <a:solidFill>
            <a:srgbClr val="2150FE"/>
          </a:solidFill>
          <a:ln/>
        </p:spPr>
      </p:sp>
      <p:sp>
        <p:nvSpPr>
          <p:cNvPr id="36" name="Text 31"/>
          <p:cNvSpPr/>
          <p:nvPr/>
        </p:nvSpPr>
        <p:spPr>
          <a:xfrm>
            <a:off x="6100763" y="4346823"/>
            <a:ext cx="953839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Next phase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100763" y="4490665"/>
            <a:ext cx="2546524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spatial reasoning for fine-grained defect localization.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410840" y="4716512"/>
            <a:ext cx="8322320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Texture categories (leather, wood, grid) achieve near-perfect scores. Object categories with localised or structural defects — transistor, cable, capsule — highlight the need for spatial reasoning enhancements in the next phase.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623" y="309637"/>
            <a:ext cx="579834" cy="122113"/>
          </a:xfrm>
          <a:prstGeom prst="roundRect">
            <a:avLst>
              <a:gd name="adj" fmla="val 7075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5546" y="335979"/>
            <a:ext cx="483989" cy="69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VIDEO EXTENSION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1003399" y="314399"/>
            <a:ext cx="785813" cy="112588"/>
          </a:xfrm>
          <a:prstGeom prst="roundRect">
            <a:avLst>
              <a:gd name="adj" fmla="val 7673"/>
            </a:avLst>
          </a:prstGeom>
          <a:solidFill>
            <a:srgbClr val="CCD7FF"/>
          </a:solidFill>
          <a:ln/>
        </p:spPr>
      </p:sp>
      <p:sp>
        <p:nvSpPr>
          <p:cNvPr id="5" name="Text 3"/>
          <p:cNvSpPr/>
          <p:nvPr/>
        </p:nvSpPr>
        <p:spPr>
          <a:xfrm>
            <a:off x="1046559" y="335979"/>
            <a:ext cx="699492" cy="69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PER-FRAME CLIP SCORING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387623" y="446336"/>
            <a:ext cx="3219524" cy="22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Video Extension — Per-Frame CLIP Scoring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7623" y="726058"/>
            <a:ext cx="8368754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Simulating conveyor belt quality inspection with pseudo-video frames</a:t>
            </a:r>
            <a:endParaRPr lang="en-US" sz="550" dirty="0"/>
          </a:p>
        </p:txBody>
      </p:sp>
      <p:sp>
        <p:nvSpPr>
          <p:cNvPr id="8" name="Text 6"/>
          <p:cNvSpPr/>
          <p:nvPr/>
        </p:nvSpPr>
        <p:spPr>
          <a:xfrm>
            <a:off x="870496" y="889843"/>
            <a:ext cx="17933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0.307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317203" y="1190699"/>
            <a:ext cx="899889" cy="1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Normal Score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75311" y="889843"/>
            <a:ext cx="17933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0.894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122018" y="1190699"/>
            <a:ext cx="899889" cy="1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Anomalous Score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80125" y="889843"/>
            <a:ext cx="179337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0.587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926833" y="1190699"/>
            <a:ext cx="899889" cy="1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Score Gap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7623" y="1357908"/>
            <a:ext cx="899889" cy="1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Experimental Setup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7623" y="1525116"/>
            <a:ext cx="8368754" cy="38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MVTec bottle images sequenced as </a:t>
            </a:r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pseudo-video frames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 frames: Normal ×10 → Anomalous ×10 → Normal ×10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frame scored </a:t>
            </a:r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independently</a:t>
            </a:r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 CLIP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Simulates real-time conveyor belt inspection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387623" y="1965127"/>
            <a:ext cx="1224111" cy="1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Frame Sequence — Score Pattern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66" y="2132335"/>
            <a:ext cx="5439668" cy="244785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891228" y="2263014"/>
            <a:ext cx="95194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Normal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891228" y="2451965"/>
            <a:ext cx="95194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≈ 0.307 — baseline frames</a:t>
            </a:r>
            <a:endParaRPr lang="en-US" sz="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4387" y="2900884"/>
            <a:ext cx="210853" cy="21085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094231" y="4098902"/>
            <a:ext cx="95717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Anomalous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094231" y="4287852"/>
            <a:ext cx="95717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≈ 0.894 — high deviation</a:t>
            </a:r>
            <a:endParaRPr lang="en-US" sz="7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7391" y="3669760"/>
            <a:ext cx="210853" cy="21085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60621" y="2244708"/>
            <a:ext cx="95194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Normal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260621" y="2433658"/>
            <a:ext cx="95194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≈ 0.307 — returned baseline</a:t>
            </a:r>
            <a:endParaRPr lang="en-US" sz="7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9473" y="2879963"/>
            <a:ext cx="210852" cy="21085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87623" y="4621262"/>
            <a:ext cx="8368754" cy="212601"/>
          </a:xfrm>
          <a:prstGeom prst="roundRect">
            <a:avLst>
              <a:gd name="adj" fmla="val 5079"/>
            </a:avLst>
          </a:prstGeom>
          <a:solidFill>
            <a:srgbClr val="B6FCB8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581" y="4714801"/>
            <a:ext cx="89967" cy="7195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1506" y="4675733"/>
            <a:ext cx="8062912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 separation validates CLIP for video:</a:t>
            </a:r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0.587 score gap between normal and anomalous frames confirms CLIP's discriminative power as a foundation for the DA-ZVAD video pipeline.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2026-05-12T20:45:50Z</dcterms:created>
  <dcterms:modified xsi:type="dcterms:W3CDTF">2026-05-12T20:45:50Z</dcterms:modified>
</cp:coreProperties>
</file>