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camera with one sentence the system writes itself,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simple - this slide is for anyone on the panel who is not in this field. Left: a busy crossing, hundreds of people, all normal. Middle: a collision on a crossing - that is an anomaly. Right: what a detector produces, a score for every frame that rises at the unusual moment and crosses the alarm line; it is an illustration. Then the three boxes, one line each. These photos are not from our data - our data starts on page 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Point at the SETUP box: LLaVA captions a new camera's first frames and that caption is the camera's sentence - no human needed. Then stop on M3, the only place the domain enters, and its one rule: the sentence goes into the normal prompts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training data (VERA), or entangled in an LLM prior (LAVAD), or paired with trained detection heads (OVVAD).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Three video benchmarks now, UCF-Crime added in Phase 3; MVTec is only the image baseline.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Then one line on UCF-Crime: there, almost every video is a different place, which is why each gets its own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 on the benchmark metric. Do not say 'the text redefines normal' - page 17 explains why.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sits inside the spread, so we report direction only. Then the Phase 3 check, said plainly: judged only inside each video, the gap is +0.006. The sentence mostly shifts each video's score level - it tells cameras apart - rather than re-ranking frames. We found this ourselves and then measured it with a rule fixed in advance: 82 to 87 percent is calibration. Saying it first is what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 - the next slide, and UCF-Crime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 The last row is Phase 3: ~290 scenes gave no bigger gap than 12, so the claim is 'needs scenes', not 'grows with scenes'.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starts here. Say what changed: each camera gets its own sentence, and LLaVA writes it from the first three frames - no human, no labels. Point at the swapped bars: even the best swap loses, so the sentence works by matching its camera. Do not claim LLaVA beats a human; 0.751 against 0.749 is noise.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slide for credibility. The predictions were committed to git before any score existed. Say P1 failed before anyone asks, and that the claim was narrowed because of it. On LAVAD: 'comparable or better'. LAVAD samples every 16th frame too, but other papers' numbers can differ by small protocol details. AnyAnomaly gets 0.807 here - below us, unlike on the campus benchmarks.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borrowed-sentence bar first: worse than no sentence at all. That is the clearest evidence that the sentence tells the model where it is. Then the dashed LAVAD line, with the protocol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73.4 matches the benchmark's own 2018 baseline using none of its training data. Then the reframe - AnyAnomaly is handed the class list, we are not. Then the UCF column: the highest figure, but inside our own bootstrap interval - say 'level with LAVAD and AnyAnomaly', never 'better'. The ‡ rows come from LAVAD's paper, the rest from AnyAnomaly's.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Dwell on the first two after the first: we measured that the pooled metric rewards score shifts, and that applies to every CLIP-based zero-shot VAD paper, not only ours.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XD-Violence comes first: LAVAD's other benchmark, already pre-registered, with a prediction that tests the calibration reading. NWPU Campus is the one dataset where the same event is normal in one scene and abnormal in another - the direct test of concept shift. Point at the box at the bottom for what is done.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Say plainly that one registered prediction failed and the claim was narrowed, and that the audit showed the sentence mostly puts cameras on one scale.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reference slide exists because the comparative analysis added seven entries. If asked which of these you actually read rather than cited from a table: the six DA surveys, AnyAnomaly, LAVAD and WinCLIP. The one-class figures are as tabulated by AnyAnomaly, and the slide says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3 PROGRESS  ·  SEMESTER 3</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camera with one sentence the system writes itself — no training, no labels,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INTRODUCTION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is video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pic>
        <p:nvPicPr>
          <p:cNvPr id="7" name="Picture 6" descr="fig_intro_anomaly_detection.png"/>
          <p:cNvPicPr>
            <a:picLocks noChangeAspect="1"/>
          </p:cNvPicPr>
          <p:nvPr/>
        </p:nvPicPr>
        <p:blipFill>
          <a:blip r:embed="rId2"/>
          <a:stretch>
            <a:fillRect/>
          </a:stretch>
        </p:blipFill>
        <p:spPr>
          <a:xfrm>
            <a:off x="975207" y="1645920"/>
            <a:ext cx="10241280" cy="3064625"/>
          </a:xfrm>
          <a:prstGeom prst="rect">
            <a:avLst/>
          </a:prstGeom>
        </p:spPr>
      </p:pic>
      <p:sp>
        <p:nvSpPr>
          <p:cNvPr id="8" name="Rectangle 7"/>
          <p:cNvSpPr/>
          <p:nvPr/>
        </p:nvSpPr>
        <p:spPr>
          <a:xfrm>
            <a:off x="777240" y="4820273"/>
            <a:ext cx="3393338" cy="109728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911713"/>
            <a:ext cx="3027578"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WHAT</a:t>
            </a:r>
          </a:p>
        </p:txBody>
      </p:sp>
      <p:sp>
        <p:nvSpPr>
          <p:cNvPr id="10" name="TextBox 9"/>
          <p:cNvSpPr txBox="1"/>
          <p:nvPr/>
        </p:nvSpPr>
        <p:spPr>
          <a:xfrm>
            <a:off x="960120" y="5149457"/>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Find moments in video that do not fit what usually happens at that place — a collision, a fight, a fall.</a:t>
            </a:r>
          </a:p>
        </p:txBody>
      </p:sp>
      <p:sp>
        <p:nvSpPr>
          <p:cNvPr id="11" name="Rectangle 10"/>
          <p:cNvSpPr/>
          <p:nvPr/>
        </p:nvSpPr>
        <p:spPr>
          <a:xfrm>
            <a:off x="4399178" y="4820273"/>
            <a:ext cx="3393338" cy="109728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2058" y="4911713"/>
            <a:ext cx="3027578" cy="228600"/>
          </a:xfrm>
          <a:prstGeom prst="rect">
            <a:avLst/>
          </a:prstGeom>
          <a:noFill/>
        </p:spPr>
        <p:txBody>
          <a:bodyPr wrap="square" lIns="0" rIns="0" tIns="0" bIns="0">
            <a:spAutoFit/>
          </a:bodyPr>
          <a:lstStyle/>
          <a:p>
            <a:pPr algn="l">
              <a:lnSpc>
                <a:spcPct val="100000"/>
              </a:lnSpc>
            </a:pPr>
            <a:r>
              <a:rPr sz="1100" b="1" i="0">
                <a:solidFill>
                  <a:srgbClr val="141C1E"/>
                </a:solidFill>
                <a:latin typeface="Segoe UI"/>
              </a:rPr>
              <a:t>HOW</a:t>
            </a:r>
          </a:p>
        </p:txBody>
      </p:sp>
      <p:sp>
        <p:nvSpPr>
          <p:cNvPr id="13" name="TextBox 12"/>
          <p:cNvSpPr txBox="1"/>
          <p:nvPr/>
        </p:nvSpPr>
        <p:spPr>
          <a:xfrm>
            <a:off x="4582058" y="5149457"/>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Score every frame. When the score crosses a threshold, flag that moment for a human to check.</a:t>
            </a:r>
          </a:p>
        </p:txBody>
      </p:sp>
      <p:sp>
        <p:nvSpPr>
          <p:cNvPr id="14" name="Rectangle 13"/>
          <p:cNvSpPr/>
          <p:nvPr/>
        </p:nvSpPr>
        <p:spPr>
          <a:xfrm>
            <a:off x="8021116" y="4820273"/>
            <a:ext cx="3393338" cy="109728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03996" y="4911713"/>
            <a:ext cx="3027578" cy="228600"/>
          </a:xfrm>
          <a:prstGeom prst="rect">
            <a:avLst/>
          </a:prstGeom>
          <a:noFill/>
        </p:spPr>
        <p:txBody>
          <a:bodyPr wrap="square" lIns="0" rIns="0" tIns="0" bIns="0">
            <a:spAutoFit/>
          </a:bodyPr>
          <a:lstStyle/>
          <a:p>
            <a:pPr algn="l">
              <a:lnSpc>
                <a:spcPct val="100000"/>
              </a:lnSpc>
            </a:pPr>
            <a:r>
              <a:rPr sz="1100" b="1" i="0">
                <a:solidFill>
                  <a:srgbClr val="8A5715"/>
                </a:solidFill>
                <a:latin typeface="Segoe UI"/>
              </a:rPr>
              <a:t>WHY IT IS HARD</a:t>
            </a:r>
          </a:p>
        </p:txBody>
      </p:sp>
      <p:sp>
        <p:nvSpPr>
          <p:cNvPr id="16" name="TextBox 15"/>
          <p:cNvSpPr txBox="1"/>
          <p:nvPr/>
        </p:nvSpPr>
        <p:spPr>
          <a:xfrm>
            <a:off x="8203996" y="5149457"/>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Anomalies are rare and varied, so no one can collect examples of them all. Systems learn “normal” instead.</a:t>
            </a:r>
          </a:p>
        </p:txBody>
      </p:sp>
      <p:sp>
        <p:nvSpPr>
          <p:cNvPr id="17" name="TextBox 16"/>
          <p:cNvSpPr txBox="1"/>
          <p:nvPr/>
        </p:nvSpPr>
        <p:spPr>
          <a:xfrm>
            <a:off x="777240" y="5954129"/>
            <a:ext cx="9905695" cy="201168"/>
          </a:xfrm>
          <a:prstGeom prst="rect">
            <a:avLst/>
          </a:prstGeom>
          <a:noFill/>
        </p:spPr>
        <p:txBody>
          <a:bodyPr wrap="square" lIns="0" rIns="0" tIns="0" bIns="0">
            <a:spAutoFit/>
          </a:bodyPr>
          <a:lstStyle/>
          <a:p>
            <a:pPr algn="l">
              <a:lnSpc>
                <a:spcPct val="100000"/>
              </a:lnSpc>
            </a:pPr>
            <a:r>
              <a:rPr sz="850" b="0" i="1">
                <a:solidFill>
                  <a:srgbClr val="617274"/>
                </a:solidFill>
                <a:latin typeface="Segoe UI"/>
              </a:rPr>
              <a:t>Photos: “Scramble from above, SHIBUYA SKY” by Sei F; “Japanese car accident” by Shuets Udono — both CC BY-SA 2.0, via Wikimedia Commons, cropped. Right panel: illustration.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one sentence per camera,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[4]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One scene sentence per camera, in the normal prompts only.</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writes each camera's sentence, and explains events.</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NEW CAMERA</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Caption its first frames. No labels, no gradients.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training data [9], or entangled in an LLM prior [3], or paired with trained detection heads [10].</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graphicFrame>
        <p:nvGraphicFramePr>
          <p:cNvPr id="7" name="Table 6"/>
          <p:cNvGraphicFramePr>
            <a:graphicFrameLocks noGrp="1"/>
          </p:cNvGraphicFramePr>
          <p:nvPr/>
        </p:nvGraphicFramePr>
        <p:xfrm>
          <a:off x="777240" y="1783080"/>
          <a:ext cx="10634472" cy="2743200"/>
        </p:xfrm>
        <a:graphic>
          <a:graphicData uri="http://schemas.openxmlformats.org/drawingml/2006/table">
            <a:tbl>
              <a:tblPr>
                <a:tableStyleId>{5C22544A-7EE6-4342-B048-85BDC9FD1C3A}</a:tableStyleId>
              </a:tblPr>
              <a:tblGrid>
                <a:gridCol w="1463040"/>
                <a:gridCol w="9171432"/>
              </a:tblGrid>
              <a:tr h="457200">
                <a:tc>
                  <a:txBody>
                    <a:bodyPr wrap="square"/>
                    <a:lstStyle/>
                    <a:p>
                      <a:pPr algn="l"/>
                      <a:r>
                        <a:rPr sz="1400" b="0">
                          <a:solidFill>
                            <a:srgbClr val="141C1E"/>
                          </a:solidFill>
                          <a:latin typeface="Segoe UI"/>
                        </a:rPr>
                        <a:t>Video</a:t>
                      </a:r>
                    </a:p>
                  </a:txBody>
                  <a:tcPr marL="128016" marR="128016" marT="45720" marB="45720" anchor="ctr">
                    <a:solidFill>
                      <a:srgbClr val="F5F7F7"/>
                    </a:solidFill>
                  </a:tcPr>
                </a:tc>
                <a:tc>
                  <a:txBody>
                    <a:bodyPr wrap="square"/>
                    <a:lstStyle/>
                    <a:p>
                      <a:pPr algn="l"/>
                      <a:r>
                        <a:rPr sz="1400" b="0">
                          <a:solidFill>
                            <a:srgbClr val="141C1E"/>
                          </a:solidFill>
                          <a:latin typeface="Segoe UI"/>
                        </a:rPr>
                        <a:t>ShanghaiTech [21] (12 views) · CUHK Avenue [26] (1 view) · UCF-Crime [27] (~290 scenes)</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Image</a:t>
                      </a:r>
                    </a:p>
                  </a:txBody>
                  <a:tcPr marL="128016" marR="128016" marT="45720" marB="45720" anchor="ctr">
                    <a:solidFill>
                      <a:srgbClr val="FFFFFF"/>
                    </a:solidFill>
                  </a:tcPr>
                </a:tc>
                <a:tc>
                  <a:txBody>
                    <a:bodyPr wrap="square"/>
                    <a:lstStyle/>
                    <a:p>
                      <a:pPr algn="l"/>
                      <a:r>
                        <a:rPr sz="1400" b="0">
                          <a:solidFill>
                            <a:srgbClr val="141C1E"/>
                          </a:solidFill>
                          <a:latin typeface="Segoe UI"/>
                        </a:rPr>
                        <a:t>MVTec AD [7] — detection baseline only</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Scale</a:t>
                      </a:r>
                    </a:p>
                  </a:txBody>
                  <a:tcPr marL="128016" marR="128016" marT="45720" marB="45720" anchor="ctr">
                    <a:solidFill>
                      <a:srgbClr val="F5F7F7"/>
                    </a:solidFill>
                  </a:tcPr>
                </a:tc>
                <a:tc>
                  <a:txBody>
                    <a:bodyPr wrap="square"/>
                    <a:lstStyle/>
                    <a:p>
                      <a:pPr algn="l"/>
                      <a:r>
                        <a:rPr sz="1400" b="0">
                          <a:solidFill>
                            <a:srgbClr val="141C1E"/>
                          </a:solidFill>
                          <a:latin typeface="Segoe UI"/>
                        </a:rPr>
                        <a:t>418 test videos · 97,752 sampled frames · frame-level ground truth</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Models</a:t>
                      </a:r>
                    </a:p>
                  </a:txBody>
                  <a:tcPr marL="128016" marR="128016" marT="45720" marB="45720" anchor="ctr">
                    <a:solidFill>
                      <a:srgbClr val="FFFFFF"/>
                    </a:solidFill>
                  </a:tcPr>
                </a:tc>
                <a:tc>
                  <a:txBody>
                    <a:bodyPr wrap="square"/>
                    <a:lstStyle/>
                    <a:p>
                      <a:pPr algn="l"/>
                      <a:r>
                        <a:rPr sz="1400" b="0">
                          <a:solidFill>
                            <a:srgbClr val="141C1E"/>
                          </a:solidFill>
                          <a:latin typeface="Segoe UI"/>
                        </a:rPr>
                        <a:t>CLIP ViT-L/14 [4, 22] (LAION-2B) and LLaVA-1.5-7B [24] 4-bit — all frozen</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Hardware</a:t>
                      </a:r>
                    </a:p>
                  </a:txBody>
                  <a:tcPr marL="128016" marR="128016" marT="45720" marB="45720" anchor="ctr">
                    <a:solidFill>
                      <a:srgbClr val="F5F7F7"/>
                    </a:solidFill>
                  </a:tcPr>
                </a:tc>
                <a:tc>
                  <a:txBody>
                    <a:bodyPr wrap="square"/>
                    <a:lstStyle/>
                    <a:p>
                      <a:pPr algn="l"/>
                      <a:r>
                        <a:rPr sz="1400" b="0">
                          <a:solidFill>
                            <a:srgbClr val="141C1E"/>
                          </a:solidFill>
                          <a:latin typeface="Segoe UI"/>
                        </a:rPr>
                        <a:t>NVIDIA A40, college GPU server · PyTorch 2.3.1 / CUDA 12.1</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Runs</a:t>
                      </a:r>
                    </a:p>
                  </a:txBody>
                  <a:tcPr marL="128016" marR="128016" marT="45720" marB="45720" anchor="ctr">
                    <a:solidFill>
                      <a:srgbClr val="FFFFFF"/>
                    </a:solidFill>
                  </a:tcPr>
                </a:tc>
                <a:tc>
                  <a:txBody>
                    <a:bodyPr wrap="square"/>
                    <a:lstStyle/>
                    <a:p>
                      <a:pPr algn="l"/>
                      <a:r>
                        <a:rPr sz="1400" b="0">
                          <a:solidFill>
                            <a:srgbClr val="141C1E"/>
                          </a:solidFill>
                          <a:latin typeface="Segoe UI"/>
                        </a:rPr>
                        <a:t>5 full runs, cached-embedding analyses, LLaVA captioning, UCF-Crime pre-registered run</a:t>
                      </a:r>
                    </a:p>
                  </a:txBody>
                  <a:tcPr marL="128016" marR="128016" marT="45720" marB="45720" anchor="ctr">
                    <a:solidFill>
                      <a:srgbClr val="FFFFFF"/>
                    </a:solidFill>
                  </a:tcPr>
                </a:tc>
              </a:tr>
            </a:tbl>
          </a:graphicData>
        </a:graphic>
      </p:graphicFrame>
      <p:sp>
        <p:nvSpPr>
          <p:cNvPr id="8" name="Rectangle 7"/>
          <p:cNvSpPr/>
          <p:nvPr/>
        </p:nvSpPr>
        <p:spPr>
          <a:xfrm>
            <a:off x="777240" y="4800600"/>
            <a:ext cx="10637215" cy="14630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00600"/>
            <a:ext cx="45720" cy="14630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5239512"/>
            <a:ext cx="10134295" cy="89611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campus benchmarks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the scene stays constant and only the event changes — an empty walkway and the same walkway with a cyclist look alike and are labelled opposite. UCF-Crime, added in Phase 3, is the opposite case: almost every one of its 290 videos is a different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0.67</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00600"/>
            <a:ext cx="3749039" cy="1005840"/>
          </a:xfrm>
          <a:prstGeom prst="rect">
            <a:avLst/>
          </a:prstGeom>
          <a:noFill/>
        </p:spPr>
        <p:txBody>
          <a:bodyPr wrap="square" lIns="0" rIns="0" tIns="0" bIns="0">
            <a:spAutoFit/>
          </a:bodyPr>
          <a:lstStyle/>
          <a:p>
            <a:pPr algn="l">
              <a:lnSpc>
                <a:spcPct val="125000"/>
              </a:lnSpc>
            </a:pPr>
            <a:r>
              <a:rPr sz="1350" b="0" i="0">
                <a:solidFill>
                  <a:srgbClr val="141C1E"/>
                </a:solidFill>
                <a:latin typeface="Segoe UI"/>
              </a:rPr>
              <a:t>Identical scores, no smoothing. Uses no labels.
With smoothing (w=31): 0.52 → 0.71.
Both figures are in the paper.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51760"/>
            <a:ext cx="4572000" cy="594360"/>
          </a:xfrm>
          <a:prstGeom prst="rect">
            <a:avLst/>
          </a:prstGeom>
          <a:noFill/>
        </p:spPr>
        <p:txBody>
          <a:bodyPr wrap="square" lIns="0" rIns="0" tIns="0" bIns="0">
            <a:spAutoFit/>
          </a:bodyPr>
          <a:lstStyle/>
          <a:p>
            <a:pPr algn="l">
              <a:lnSpc>
                <a:spcPct val="120000"/>
              </a:lnSpc>
            </a:pPr>
            <a:r>
              <a:rPr sz="1200" b="0" i="0">
                <a:solidFill>
                  <a:srgbClr val="141C1E"/>
                </a:solidFill>
                <a:latin typeface="Consolas"/>
              </a:rPr>
              <a:t>“a university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51760"/>
            <a:ext cx="4572000" cy="594360"/>
          </a:xfrm>
          <a:prstGeom prst="rect">
            <a:avLst/>
          </a:prstGeom>
          <a:noFill/>
        </p:spPr>
        <p:txBody>
          <a:bodyPr wrap="square" lIns="0" rIns="0" tIns="0" bIns="0">
            <a:spAutoFit/>
          </a:bodyPr>
          <a:lstStyle/>
          <a:p>
            <a:pPr algn="l">
              <a:lnSpc>
                <a:spcPct val="120000"/>
              </a:lnSpc>
            </a:pPr>
            <a:r>
              <a:rPr sz="1200" b="0" i="0">
                <a:solidFill>
                  <a:srgbClr val="141C1E"/>
                </a:solidFill>
                <a:latin typeface="Consolas"/>
              </a:rPr>
              <a:t>“a university campus walkway with pedestrians,
 but something abnormal is happening”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was permitted to change, so the text caused it — page 17 says how.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lowers the benchmark score by 0.105.
Nothing else could have caused it.</a:t>
            </a:r>
          </a:p>
        </p:txBody>
      </p:sp>
      <p:sp>
        <p:nvSpPr>
          <p:cNvPr id="13" name="Rectangle 12"/>
          <p:cNvSpPr/>
          <p:nvPr/>
        </p:nvSpPr>
        <p:spPr>
          <a:xfrm>
            <a:off x="777240" y="4023360"/>
            <a:ext cx="10637215" cy="141732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41732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MEASUREMENT AUDIT SHOWED (PHASE 3)</a:t>
            </a:r>
          </a:p>
        </p:txBody>
      </p:sp>
      <p:sp>
        <p:nvSpPr>
          <p:cNvPr id="16" name="TextBox 15"/>
          <p:cNvSpPr txBox="1"/>
          <p:nvPr/>
        </p:nvSpPr>
        <p:spPr>
          <a:xfrm>
            <a:off x="1033271" y="4462272"/>
            <a:ext cx="10134295" cy="8503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With the decision rule fixed before running it: 82% of this 0.105 is a shift in each video's overall score level, which puts cameras on one scale. Frames inside a video are barely re-ranked (+0.006). Every published number was reproduced first (52 checks).</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so a scene description has nothing to tell apart. Tested next inside single ShanghaiTech views, and later on UCF-Crime's ~290 scenes.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468880"/>
          <a:ext cx="10634472" cy="2148840"/>
        </p:xfrm>
        <a:graphic>
          <a:graphicData uri="http://schemas.openxmlformats.org/drawingml/2006/table">
            <a:tbl>
              <a:tblPr firstRow="1">
                <a:tableStyleId>{5C22544A-7EE6-4342-B048-85BDC9FD1C3A}</a:tableStyleId>
              </a:tblPr>
              <a:tblGrid>
                <a:gridCol w="5120640"/>
                <a:gridCol w="1737360"/>
                <a:gridCol w="2103120"/>
                <a:gridCol w="1673352"/>
              </a:tblGrid>
              <a:tr h="429768">
                <a:tc>
                  <a:txBody>
                    <a:bodyPr wrap="square"/>
                    <a:lstStyle/>
                    <a:p>
                      <a:pPr algn="l"/>
                      <a:r>
                        <a:rPr sz="14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400" b="1">
                          <a:solidFill>
                            <a:srgbClr val="FFFFFF"/>
                          </a:solidFill>
                          <a:latin typeface="Segoe UI"/>
                        </a:rPr>
                        <a:t>Scenes</a:t>
                      </a:r>
                    </a:p>
                  </a:txBody>
                  <a:tcPr marL="128016" marR="128016" marT="45720" marB="45720" anchor="ctr">
                    <a:solidFill>
                      <a:srgbClr val="141C1E"/>
                    </a:solidFill>
                  </a:tcPr>
                </a:tc>
                <a:tc>
                  <a:txBody>
                    <a:bodyPr wrap="square"/>
                    <a:lstStyle/>
                    <a:p>
                      <a:pPr algn="l"/>
                      <a:r>
                        <a:rPr sz="1400" b="1">
                          <a:solidFill>
                            <a:srgbClr val="FFFFFF"/>
                          </a:solidFill>
                          <a:latin typeface="Segoe UI"/>
                        </a:rPr>
                        <a:t>Clips</a:t>
                      </a:r>
                    </a:p>
                  </a:txBody>
                  <a:tcPr marL="128016" marR="128016" marT="45720" marB="45720" anchor="ctr">
                    <a:solidFill>
                      <a:srgbClr val="141C1E"/>
                    </a:solidFill>
                  </a:tcPr>
                </a:tc>
                <a:tc>
                  <a:txBody>
                    <a:bodyPr wrap="square"/>
                    <a:lstStyle/>
                    <a:p>
                      <a:pPr algn="r"/>
                      <a:r>
                        <a:rPr sz="1400" b="1">
                          <a:solidFill>
                            <a:srgbClr val="FFFFFF"/>
                          </a:solidFill>
                          <a:latin typeface="Segoe UI"/>
                        </a:rPr>
                        <a:t>Gap</a:t>
                      </a:r>
                    </a:p>
                  </a:txBody>
                  <a:tcPr marL="128016" marR="128016" marT="45720" marB="45720" anchor="ctr">
                    <a:solidFill>
                      <a:srgbClr val="141C1E"/>
                    </a:solidFill>
                  </a:tcPr>
                </a:tc>
              </a:tr>
              <a:tr h="429768">
                <a:tc>
                  <a:txBody>
                    <a:bodyPr wrap="square"/>
                    <a:lstStyle/>
                    <a:p>
                      <a:pPr algn="l"/>
                      <a:r>
                        <a:rPr sz="14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400" b="0">
                          <a:solidFill>
                            <a:srgbClr val="141C1E"/>
                          </a:solidFill>
                          <a:latin typeface="Segoe UI"/>
                        </a:rPr>
                        <a:t>1</a:t>
                      </a:r>
                    </a:p>
                  </a:txBody>
                  <a:tcPr marL="128016" marR="128016" marT="45720" marB="45720" anchor="ctr">
                    <a:solidFill>
                      <a:srgbClr val="FFFFFF"/>
                    </a:solidFill>
                  </a:tcPr>
                </a:tc>
                <a:tc>
                  <a:txBody>
                    <a:bodyPr wrap="square"/>
                    <a:lstStyle/>
                    <a:p>
                      <a:pPr algn="l"/>
                      <a:r>
                        <a:rPr sz="1400" b="0">
                          <a:solidFill>
                            <a:srgbClr val="141C1E"/>
                          </a:solidFill>
                          <a:latin typeface="Segoe UI"/>
                        </a:rPr>
                        <a:t>21</a:t>
                      </a:r>
                    </a:p>
                  </a:txBody>
                  <a:tcPr marL="128016" marR="128016" marT="45720" marB="45720" anchor="ctr">
                    <a:solidFill>
                      <a:srgbClr val="FFFFFF"/>
                    </a:solidFill>
                  </a:tcPr>
                </a:tc>
                <a:tc>
                  <a:txBody>
                    <a:bodyPr wrap="square"/>
                    <a:lstStyle/>
                    <a:p>
                      <a:pPr algn="r"/>
                      <a:r>
                        <a:rPr sz="1400" b="0">
                          <a:solidFill>
                            <a:srgbClr val="141C1E"/>
                          </a:solidFill>
                          <a:latin typeface="Consolas"/>
                        </a:rPr>
                        <a:t>+0.020</a:t>
                      </a:r>
                    </a:p>
                  </a:txBody>
                  <a:tcPr marL="128016" marR="128016" marT="45720" marB="45720" anchor="ctr">
                    <a:solidFill>
                      <a:srgbClr val="FFFFFF"/>
                    </a:solidFill>
                  </a:tcPr>
                </a:tc>
              </a:tr>
              <a:tr h="429768">
                <a:tc>
                  <a:txBody>
                    <a:bodyPr wrap="square"/>
                    <a:lstStyle/>
                    <a:p>
                      <a:pPr algn="l"/>
                      <a:r>
                        <a:rPr sz="1400" b="1">
                          <a:solidFill>
                            <a:srgbClr val="141C1E"/>
                          </a:solidFill>
                          <a:latin typeface="Segoe UI"/>
                        </a:rPr>
                        <a:t>ShanghaiTech, within a single view (mean)</a:t>
                      </a:r>
                    </a:p>
                  </a:txBody>
                  <a:tcPr marL="128016" marR="128016" marT="45720" marB="45720" anchor="ctr">
                    <a:solidFill>
                      <a:srgbClr val="DDEDEB"/>
                    </a:solidFill>
                  </a:tcPr>
                </a:tc>
                <a:tc>
                  <a:txBody>
                    <a:bodyPr wrap="square"/>
                    <a:lstStyle/>
                    <a:p>
                      <a:pPr algn="l"/>
                      <a:r>
                        <a:rPr sz="1400" b="1">
                          <a:solidFill>
                            <a:srgbClr val="141C1E"/>
                          </a:solidFill>
                          <a:latin typeface="Segoe UI"/>
                        </a:rPr>
                        <a:t>1 each</a:t>
                      </a:r>
                    </a:p>
                  </a:txBody>
                  <a:tcPr marL="128016" marR="128016" marT="45720" marB="45720" anchor="ctr">
                    <a:solidFill>
                      <a:srgbClr val="DDEDEB"/>
                    </a:solidFill>
                  </a:tcPr>
                </a:tc>
                <a:tc>
                  <a:txBody>
                    <a:bodyPr wrap="square"/>
                    <a:lstStyle/>
                    <a:p>
                      <a:pPr algn="l"/>
                      <a:r>
                        <a:rPr sz="1400" b="1">
                          <a:solidFill>
                            <a:srgbClr val="141C1E"/>
                          </a:solidFill>
                          <a:latin typeface="Segoe UI"/>
                        </a:rPr>
                        <a:t>5–34 each</a:t>
                      </a:r>
                    </a:p>
                  </a:txBody>
                  <a:tcPr marL="128016" marR="128016" marT="45720" marB="45720" anchor="ctr">
                    <a:solidFill>
                      <a:srgbClr val="DDEDEB"/>
                    </a:solidFill>
                  </a:tcPr>
                </a:tc>
                <a:tc>
                  <a:txBody>
                    <a:bodyPr wrap="square"/>
                    <a:lstStyle/>
                    <a:p>
                      <a:pPr algn="r"/>
                      <a:r>
                        <a:rPr sz="1400" b="1">
                          <a:solidFill>
                            <a:srgbClr val="141C1E"/>
                          </a:solidFill>
                          <a:latin typeface="Consolas"/>
                        </a:rPr>
                        <a:t>+0.033</a:t>
                      </a:r>
                    </a:p>
                  </a:txBody>
                  <a:tcPr marL="128016" marR="128016" marT="45720" marB="45720" anchor="ctr">
                    <a:solidFill>
                      <a:srgbClr val="DDEDEB"/>
                    </a:solidFill>
                  </a:tcPr>
                </a:tc>
              </a:tr>
              <a:tr h="429768">
                <a:tc>
                  <a:txBody>
                    <a:bodyPr wrap="square"/>
                    <a:lstStyle/>
                    <a:p>
                      <a:pPr algn="l"/>
                      <a:r>
                        <a:rPr sz="1400" b="0">
                          <a:solidFill>
                            <a:srgbClr val="141C1E"/>
                          </a:solidFill>
                          <a:latin typeface="Segoe UI"/>
                        </a:rPr>
                        <a:t>ShanghaiTech, pooled across views</a:t>
                      </a:r>
                    </a:p>
                  </a:txBody>
                  <a:tcPr marL="128016" marR="128016" marT="45720" marB="45720" anchor="ctr">
                    <a:solidFill>
                      <a:srgbClr val="FFFFFF"/>
                    </a:solidFill>
                  </a:tcPr>
                </a:tc>
                <a:tc>
                  <a:txBody>
                    <a:bodyPr wrap="square"/>
                    <a:lstStyle/>
                    <a:p>
                      <a:pPr algn="l"/>
                      <a:r>
                        <a:rPr sz="1400" b="0">
                          <a:solidFill>
                            <a:srgbClr val="141C1E"/>
                          </a:solidFill>
                          <a:latin typeface="Segoe UI"/>
                        </a:rPr>
                        <a:t>12</a:t>
                      </a:r>
                    </a:p>
                  </a:txBody>
                  <a:tcPr marL="128016" marR="128016" marT="45720" marB="45720" anchor="ctr">
                    <a:solidFill>
                      <a:srgbClr val="FFFFFF"/>
                    </a:solidFill>
                  </a:tcPr>
                </a:tc>
                <a:tc>
                  <a:txBody>
                    <a:bodyPr wrap="square"/>
                    <a:lstStyle/>
                    <a:p>
                      <a:pPr algn="l"/>
                      <a:r>
                        <a:rPr sz="1400" b="0">
                          <a:solidFill>
                            <a:srgbClr val="141C1E"/>
                          </a:solidFill>
                          <a:latin typeface="Segoe UI"/>
                        </a:rPr>
                        <a:t>107</a:t>
                      </a:r>
                    </a:p>
                  </a:txBody>
                  <a:tcPr marL="128016" marR="128016" marT="45720" marB="45720" anchor="ctr">
                    <a:solidFill>
                      <a:srgbClr val="FFFFFF"/>
                    </a:solidFill>
                  </a:tcPr>
                </a:tc>
                <a:tc>
                  <a:txBody>
                    <a:bodyPr wrap="square"/>
                    <a:lstStyle/>
                    <a:p>
                      <a:pPr algn="r"/>
                      <a:r>
                        <a:rPr sz="1400" b="0">
                          <a:solidFill>
                            <a:srgbClr val="141C1E"/>
                          </a:solidFill>
                          <a:latin typeface="Consolas"/>
                        </a:rPr>
                        <a:t>+0.105</a:t>
                      </a:r>
                    </a:p>
                  </a:txBody>
                  <a:tcPr marL="128016" marR="128016" marT="45720" marB="45720" anchor="ctr">
                    <a:solidFill>
                      <a:srgbClr val="FFFFFF"/>
                    </a:solidFill>
                  </a:tcPr>
                </a:tc>
              </a:tr>
              <a:tr h="429768">
                <a:tc>
                  <a:txBody>
                    <a:bodyPr wrap="square"/>
                    <a:lstStyle/>
                    <a:p>
                      <a:pPr algn="l"/>
                      <a:r>
                        <a:rPr sz="1400" b="0">
                          <a:solidFill>
                            <a:srgbClr val="141C1E"/>
                          </a:solidFill>
                          <a:latin typeface="Segoe UI"/>
                        </a:rPr>
                        <a:t>UCF-Crime, own sentence per video (raw, w=5)</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r"/>
                      <a:r>
                        <a:rPr sz="1400" b="0">
                          <a:solidFill>
                            <a:srgbClr val="141C1E"/>
                          </a:solidFill>
                          <a:latin typeface="Consolas"/>
                        </a:rPr>
                        <a:t>+0.096</a:t>
                      </a:r>
                    </a:p>
                  </a:txBody>
                  <a:tcPr marL="128016" marR="128016" marT="45720" marB="45720" anchor="ctr">
                    <a:solidFill>
                      <a:srgbClr val="F5F7F7"/>
                    </a:solidFill>
                  </a:tcPr>
                </a:tc>
              </a:tr>
            </a:tbl>
          </a:graphicData>
        </a:graphic>
      </p:graphicFrame>
      <p:sp>
        <p:nvSpPr>
          <p:cNvPr id="9" name="Rectangle 8"/>
          <p:cNvSpPr/>
          <p:nvPr/>
        </p:nvSpPr>
        <p:spPr>
          <a:xfrm>
            <a:off x="777240" y="4800600"/>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800600"/>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5239512"/>
            <a:ext cx="10134295" cy="39319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A within-view gap near +0.105 would have refuted it; it came back at a third. But ~290 scenes gave no bigger gap than 12: it needs scenes, it does not keep growing.</a:t>
            </a:r>
          </a:p>
        </p:txBody>
      </p:sp>
      <p:sp>
        <p:nvSpPr>
          <p:cNvPr id="13" name="TextBox 12"/>
          <p:cNvSpPr txBox="1"/>
          <p:nvPr/>
        </p:nvSpPr>
        <p:spPr>
          <a:xfrm>
            <a:off x="777240" y="589788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6</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sentence per camera —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pic>
        <p:nvPicPr>
          <p:cNvPr id="7" name="Picture 6" descr="fig_chart_per_camera.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camera gets its own sentence instead of one for all twelve. Written by hand: 0.749. Written by LLaVA from the camera's first three frames, with no human and no labels: 0.751. Give each camera ANOTHER camera's sentence and it drops — even the best of 11 swaps (0.737) loses. The sentence works by matching its camera.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predictions written down first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sp>
        <p:nvSpPr>
          <p:cNvPr id="7" name="TextBox 6"/>
          <p:cNvSpPr txBox="1"/>
          <p:nvPr/>
        </p:nvSpPr>
        <p:spPr>
          <a:xfrm>
            <a:off x="777240" y="1737360"/>
            <a:ext cx="10637215" cy="658368"/>
          </a:xfrm>
          <a:prstGeom prst="rect">
            <a:avLst/>
          </a:prstGeom>
          <a:noFill/>
        </p:spPr>
        <p:txBody>
          <a:bodyPr wrap="square" lIns="0" rIns="0" tIns="0" bIns="0">
            <a:spAutoFit/>
          </a:bodyPr>
          <a:lstStyle/>
          <a:p>
            <a:pPr algn="l">
              <a:lnSpc>
                <a:spcPct val="130000"/>
              </a:lnSpc>
            </a:pPr>
            <a:r>
              <a:rPr sz="1500" b="0" i="0">
                <a:solidFill>
                  <a:srgbClr val="3A4A4C"/>
                </a:solidFill>
                <a:latin typeface="Segoe UI"/>
              </a:rPr>
              <a:t>290 real CCTV videos [27] from ~290 different places, 140 with a crime. Four predictions were committed to git before any score was computed.</a:t>
            </a:r>
          </a:p>
        </p:txBody>
      </p:sp>
      <p:sp>
        <p:nvSpPr>
          <p:cNvPr id="8" name="TextBox 7"/>
          <p:cNvSpPr txBox="1"/>
          <p:nvPr/>
        </p:nvSpPr>
        <p:spPr>
          <a:xfrm>
            <a:off x="777240" y="2514600"/>
            <a:ext cx="3291840" cy="1005840"/>
          </a:xfrm>
          <a:prstGeom prst="rect">
            <a:avLst/>
          </a:prstGeom>
          <a:noFill/>
        </p:spPr>
        <p:txBody>
          <a:bodyPr wrap="square" lIns="0" rIns="0" tIns="0" bIns="0">
            <a:spAutoFit/>
          </a:bodyPr>
          <a:lstStyle/>
          <a:p>
            <a:pPr algn="l">
              <a:lnSpc>
                <a:spcPct val="100000"/>
              </a:lnSpc>
            </a:pPr>
            <a:r>
              <a:rPr sz="6000" b="1" i="0">
                <a:solidFill>
                  <a:srgbClr val="0D6B67"/>
                </a:solidFill>
                <a:latin typeface="Segoe UI"/>
              </a:rPr>
              <a:t>0.824</a:t>
            </a:r>
          </a:p>
        </p:txBody>
      </p:sp>
      <p:sp>
        <p:nvSpPr>
          <p:cNvPr id="9" name="TextBox 8"/>
          <p:cNvSpPr txBox="1"/>
          <p:nvPr/>
        </p:nvSpPr>
        <p:spPr>
          <a:xfrm>
            <a:off x="777240" y="3502152"/>
            <a:ext cx="329184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AUROC, no training · 95% CI 0.756–0.877 · level with LAVAD 0.803, AnyAnomaly 0.807</a:t>
            </a:r>
          </a:p>
        </p:txBody>
      </p:sp>
      <p:graphicFrame>
        <p:nvGraphicFramePr>
          <p:cNvPr id="10" name="Table 9"/>
          <p:cNvGraphicFramePr>
            <a:graphicFrameLocks noGrp="1"/>
          </p:cNvGraphicFramePr>
          <p:nvPr/>
        </p:nvGraphicFramePr>
        <p:xfrm>
          <a:off x="4434840" y="2514600"/>
          <a:ext cx="6976872" cy="2286000"/>
        </p:xfrm>
        <a:graphic>
          <a:graphicData uri="http://schemas.openxmlformats.org/drawingml/2006/table">
            <a:tbl>
              <a:tblPr firstRow="1">
                <a:tableStyleId>{5C22544A-7EE6-4342-B048-85BDC9FD1C3A}</a:tableStyleId>
              </a:tblPr>
              <a:tblGrid>
                <a:gridCol w="4160520"/>
                <a:gridCol w="1325880"/>
                <a:gridCol w="1490472"/>
              </a:tblGrid>
              <a:tr h="457200">
                <a:tc>
                  <a:txBody>
                    <a:bodyPr wrap="square"/>
                    <a:lstStyle/>
                    <a:p>
                      <a:pPr algn="l"/>
                      <a:r>
                        <a:rPr sz="1300" b="1">
                          <a:solidFill>
                            <a:srgbClr val="FFFFFF"/>
                          </a:solidFill>
                          <a:latin typeface="Segoe UI"/>
                        </a:rPr>
                        <a:t>Registered prediction</a:t>
                      </a:r>
                    </a:p>
                  </a:txBody>
                  <a:tcPr marL="128016" marR="128016" marT="45720" marB="45720" anchor="ctr">
                    <a:solidFill>
                      <a:srgbClr val="141C1E"/>
                    </a:solidFill>
                  </a:tcPr>
                </a:tc>
                <a:tc>
                  <a:txBody>
                    <a:bodyPr wrap="square"/>
                    <a:lstStyle/>
                    <a:p>
                      <a:pPr algn="r"/>
                      <a:r>
                        <a:rPr sz="1300" b="1">
                          <a:solidFill>
                            <a:srgbClr val="FFFFFF"/>
                          </a:solidFill>
                          <a:latin typeface="Segoe UI"/>
                        </a:rPr>
                        <a:t>Measured</a:t>
                      </a:r>
                    </a:p>
                  </a:txBody>
                  <a:tcPr marL="128016" marR="128016" marT="45720" marB="45720" anchor="ctr">
                    <a:solidFill>
                      <a:srgbClr val="141C1E"/>
                    </a:solidFill>
                  </a:tcPr>
                </a:tc>
                <a:tc>
                  <a:txBody>
                    <a:bodyPr wrap="square"/>
                    <a:lstStyle/>
                    <a:p>
                      <a:pPr algn="l"/>
                      <a:r>
                        <a:rPr sz="130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00" b="1">
                          <a:solidFill>
                            <a:srgbClr val="141C1E"/>
                          </a:solidFill>
                          <a:latin typeface="Segoe UI"/>
                        </a:rPr>
                        <a:t>P1  gap grows beyond ShanghaiTech's +0.105</a:t>
                      </a:r>
                    </a:p>
                  </a:txBody>
                  <a:tcPr marL="128016" marR="128016" marT="45720" marB="45720" anchor="ctr">
                    <a:solidFill>
                      <a:srgbClr val="DDEDEB"/>
                    </a:solidFill>
                  </a:tcPr>
                </a:tc>
                <a:tc>
                  <a:txBody>
                    <a:bodyPr wrap="square"/>
                    <a:lstStyle/>
                    <a:p>
                      <a:pPr algn="r"/>
                      <a:r>
                        <a:rPr sz="1300" b="1">
                          <a:solidFill>
                            <a:srgbClr val="141C1E"/>
                          </a:solidFill>
                          <a:latin typeface="Consolas"/>
                        </a:rPr>
                        <a:t>+0.096</a:t>
                      </a:r>
                    </a:p>
                  </a:txBody>
                  <a:tcPr marL="128016" marR="128016" marT="45720" marB="45720" anchor="ctr">
                    <a:solidFill>
                      <a:srgbClr val="DDEDEB"/>
                    </a:solidFill>
                  </a:tcPr>
                </a:tc>
                <a:tc>
                  <a:txBody>
                    <a:bodyPr wrap="square"/>
                    <a:lstStyle/>
                    <a:p>
                      <a:pPr algn="l"/>
                      <a:r>
                        <a:rPr sz="1300" b="1">
                          <a:solidFill>
                            <a:srgbClr val="141C1E"/>
                          </a:solidFill>
                          <a:latin typeface="Segoe UI"/>
                        </a:rPr>
                        <a:t>Refuted</a:t>
                      </a:r>
                    </a:p>
                  </a:txBody>
                  <a:tcPr marL="128016" marR="128016" marT="45720" marB="45720" anchor="ctr">
                    <a:solidFill>
                      <a:srgbClr val="DDEDEB"/>
                    </a:solidFill>
                  </a:tcPr>
                </a:tc>
              </a:tr>
              <a:tr h="457200">
                <a:tc>
                  <a:txBody>
                    <a:bodyPr wrap="square"/>
                    <a:lstStyle/>
                    <a:p>
                      <a:pPr algn="l"/>
                      <a:r>
                        <a:rPr sz="1300" b="0">
                          <a:solidFill>
                            <a:srgbClr val="141C1E"/>
                          </a:solidFill>
                          <a:latin typeface="Segoe UI"/>
                        </a:rPr>
                        <a:t>P2  own sentence beats borrowed ones</a:t>
                      </a:r>
                    </a:p>
                  </a:txBody>
                  <a:tcPr marL="128016" marR="128016" marT="45720" marB="45720" anchor="ctr">
                    <a:solidFill>
                      <a:srgbClr val="F5F7F7"/>
                    </a:solidFill>
                  </a:tcPr>
                </a:tc>
                <a:tc>
                  <a:txBody>
                    <a:bodyPr wrap="square"/>
                    <a:lstStyle/>
                    <a:p>
                      <a:pPr algn="r"/>
                      <a:r>
                        <a:rPr sz="1300" b="0">
                          <a:solidFill>
                            <a:srgbClr val="141C1E"/>
                          </a:solidFill>
                          <a:latin typeface="Consolas"/>
                        </a:rPr>
                        <a:t>+0.110</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r h="457200">
                <a:tc>
                  <a:txBody>
                    <a:bodyPr wrap="square"/>
                    <a:lstStyle/>
                    <a:p>
                      <a:pPr algn="l"/>
                      <a:r>
                        <a:rPr sz="1300" b="0">
                          <a:solidFill>
                            <a:srgbClr val="141C1E"/>
                          </a:solidFill>
                          <a:latin typeface="Segoe UI"/>
                        </a:rPr>
                        <a:t>P3  own sentence beats one shared sentence</a:t>
                      </a:r>
                    </a:p>
                  </a:txBody>
                  <a:tcPr marL="128016" marR="128016" marT="45720" marB="45720" anchor="ctr">
                    <a:solidFill>
                      <a:srgbClr val="FFFFFF"/>
                    </a:solidFill>
                  </a:tcPr>
                </a:tc>
                <a:tc>
                  <a:txBody>
                    <a:bodyPr wrap="square"/>
                    <a:lstStyle/>
                    <a:p>
                      <a:pPr algn="r"/>
                      <a:r>
                        <a:rPr sz="1300" b="0">
                          <a:solidFill>
                            <a:srgbClr val="141C1E"/>
                          </a:solidFill>
                          <a:latin typeface="Consolas"/>
                        </a:rPr>
                        <a:t>+0.011</a:t>
                      </a:r>
                    </a:p>
                  </a:txBody>
                  <a:tcPr marL="128016" marR="128016" marT="45720" marB="45720" anchor="ctr">
                    <a:solidFill>
                      <a:srgbClr val="FFFFFF"/>
                    </a:solidFill>
                  </a:tcPr>
                </a:tc>
                <a:tc>
                  <a:txBody>
                    <a:bodyPr wrap="square"/>
                    <a:lstStyle/>
                    <a:p>
                      <a:pPr algn="l"/>
                      <a:r>
                        <a:rPr sz="1300" b="0">
                          <a:solidFill>
                            <a:srgbClr val="141C1E"/>
                          </a:solidFill>
                          <a:latin typeface="Segoe UI"/>
                        </a:rPr>
                        <a:t>Holds (small)</a:t>
                      </a:r>
                    </a:p>
                  </a:txBody>
                  <a:tcPr marL="128016" marR="128016" marT="45720" marB="45720" anchor="ctr">
                    <a:solidFill>
                      <a:srgbClr val="FFFFFF"/>
                    </a:solidFill>
                  </a:tcPr>
                </a:tc>
              </a:tr>
              <a:tr h="457200">
                <a:tc>
                  <a:txBody>
                    <a:bodyPr wrap="square"/>
                    <a:lstStyle/>
                    <a:p>
                      <a:pPr algn="l"/>
                      <a:r>
                        <a:rPr sz="1300" b="0">
                          <a:solidFill>
                            <a:srgbClr val="141C1E"/>
                          </a:solidFill>
                          <a:latin typeface="Segoe UI"/>
                        </a:rPr>
                        <a:t>P4  correct beats wrong-domain description</a:t>
                      </a:r>
                    </a:p>
                  </a:txBody>
                  <a:tcPr marL="128016" marR="128016" marT="45720" marB="45720" anchor="ctr">
                    <a:solidFill>
                      <a:srgbClr val="F5F7F7"/>
                    </a:solidFill>
                  </a:tcPr>
                </a:tc>
                <a:tc>
                  <a:txBody>
                    <a:bodyPr wrap="square"/>
                    <a:lstStyle/>
                    <a:p>
                      <a:pPr algn="r"/>
                      <a:r>
                        <a:rPr sz="1300" b="0">
                          <a:solidFill>
                            <a:srgbClr val="141C1E"/>
                          </a:solidFill>
                          <a:latin typeface="Consolas"/>
                        </a:rPr>
                        <a:t>+0.086</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bl>
          </a:graphicData>
        </a:graphic>
      </p:graphicFrame>
      <p:sp>
        <p:nvSpPr>
          <p:cNvPr id="11" name="Rectangle 10"/>
          <p:cNvSpPr/>
          <p:nvPr/>
        </p:nvSpPr>
        <p:spPr>
          <a:xfrm>
            <a:off x="777240" y="507492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07492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2212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IT SHOWS</a:t>
            </a:r>
          </a:p>
        </p:txBody>
      </p:sp>
      <p:sp>
        <p:nvSpPr>
          <p:cNvPr id="14" name="TextBox 13"/>
          <p:cNvSpPr txBox="1"/>
          <p:nvPr/>
        </p:nvSpPr>
        <p:spPr>
          <a:xfrm>
            <a:off x="1033271" y="5513831"/>
            <a:ext cx="10134295" cy="7132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Another video's sentence scores BELOW no sentence (0.713 vs 0.756): the wrong scene misleads. P1 failed, so the claim is narrowed from 'the benefit scales with scene diversity' to 'the benefit needs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pic>
        <p:nvPicPr>
          <p:cNvPr id="7" name="Picture 6" descr="fig_chart_ucf_crime.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video's own LLaVA sentence reaches 0.824; borrowed sentences average 0.713, below having none. The dashed line is LAVAD's 0.803 (AnyAnomaly: 0.807). Both sit inside our 95% interval (0.756–0.877), so read it as comparable, not as a margin.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graphicFrame>
        <p:nvGraphicFramePr>
          <p:cNvPr id="7" name="Table 6"/>
          <p:cNvGraphicFramePr>
            <a:graphicFrameLocks noGrp="1"/>
          </p:cNvGraphicFramePr>
          <p:nvPr/>
        </p:nvGraphicFramePr>
        <p:xfrm>
          <a:off x="777240" y="1755648"/>
          <a:ext cx="10634472" cy="2779776"/>
        </p:xfrm>
        <a:graphic>
          <a:graphicData uri="http://schemas.openxmlformats.org/drawingml/2006/table">
            <a:tbl>
              <a:tblPr firstRow="1">
                <a:tableStyleId>{5C22544A-7EE6-4342-B048-85BDC9FD1C3A}</a:tableStyleId>
              </a:tblPr>
              <a:tblGrid>
                <a:gridCol w="6035040"/>
                <a:gridCol w="1463040"/>
                <a:gridCol w="1463040"/>
                <a:gridCol w="1673352"/>
              </a:tblGrid>
              <a:tr h="347472">
                <a:tc>
                  <a:txBody>
                    <a:bodyPr wrap="square"/>
                    <a:lstStyle/>
                    <a:p>
                      <a:pPr algn="l"/>
                      <a:r>
                        <a:rPr sz="1350" b="1">
                          <a:solidFill>
                            <a:srgbClr val="FFFFFF"/>
                          </a:solidFill>
                          <a:latin typeface="Segoe UI"/>
                        </a:rPr>
                        <a:t>Training-free method (no target data)</a:t>
                      </a:r>
                    </a:p>
                  </a:txBody>
                  <a:tcPr marL="128016" marR="128016" marT="45720" marB="45720" anchor="ctr">
                    <a:solidFill>
                      <a:srgbClr val="141C1E"/>
                    </a:solidFill>
                  </a:tcPr>
                </a:tc>
                <a:tc>
                  <a:txBody>
                    <a:bodyPr wrap="square"/>
                    <a:lstStyle/>
                    <a:p>
                      <a:pPr algn="l"/>
                      <a:r>
                        <a:rPr sz="1350" b="1">
                          <a:solidFill>
                            <a:srgbClr val="FFFFFF"/>
                          </a:solidFill>
                          <a:latin typeface="Segoe UI"/>
                        </a:rPr>
                        <a:t>Avenue</a:t>
                      </a:r>
                    </a:p>
                  </a:txBody>
                  <a:tcPr marL="128016" marR="128016" marT="45720" marB="45720" anchor="ctr">
                    <a:solidFill>
                      <a:srgbClr val="141C1E"/>
                    </a:solidFill>
                  </a:tcPr>
                </a:tc>
                <a:tc>
                  <a:txBody>
                    <a:bodyPr wrap="square"/>
                    <a:lstStyle/>
                    <a:p>
                      <a:pPr algn="l"/>
                      <a:r>
                        <a:rPr sz="1350" b="1">
                          <a:solidFill>
                            <a:srgbClr val="FFFFFF"/>
                          </a:solidFill>
                          <a:latin typeface="Segoe UI"/>
                        </a:rPr>
                        <a:t>ShT</a:t>
                      </a:r>
                    </a:p>
                  </a:txBody>
                  <a:tcPr marL="128016" marR="128016" marT="45720" marB="45720" anchor="ctr">
                    <a:solidFill>
                      <a:srgbClr val="141C1E"/>
                    </a:solidFill>
                  </a:tcPr>
                </a:tc>
                <a:tc>
                  <a:txBody>
                    <a:bodyPr wrap="square"/>
                    <a:lstStyle/>
                    <a:p>
                      <a:pPr algn="l"/>
                      <a:r>
                        <a:rPr sz="1350" b="1">
                          <a:solidFill>
                            <a:srgbClr val="FFFFFF"/>
                          </a:solidFill>
                          <a:latin typeface="Segoe UI"/>
                        </a:rPr>
                        <a:t>UCF</a:t>
                      </a:r>
                    </a:p>
                  </a:txBody>
                  <a:tcPr marL="128016" marR="128016" marT="45720" marB="45720" anchor="ctr">
                    <a:solidFill>
                      <a:srgbClr val="141C1E"/>
                    </a:solidFill>
                  </a:tcPr>
                </a:tc>
              </a:tr>
              <a:tr h="347472">
                <a:tc>
                  <a:txBody>
                    <a:bodyPr wrap="square"/>
                    <a:lstStyle/>
                    <a:p>
                      <a:pPr algn="l"/>
                      <a:r>
                        <a:rPr sz="1350" b="0">
                          <a:solidFill>
                            <a:srgbClr val="141C1E"/>
                          </a:solidFill>
                          <a:latin typeface="Segoe UI"/>
                        </a:rPr>
                        <a:t>Zero-shot CLIP [4]</a:t>
                      </a:r>
                    </a:p>
                  </a:txBody>
                  <a:tcPr marL="128016" marR="128016" marT="45720" marB="45720" anchor="ctr">
                    <a:solidFill>
                      <a:srgbClr val="FFFFFF"/>
                    </a:solidFill>
                  </a:tcPr>
                </a:tc>
                <a:tc>
                  <a:txBody>
                    <a:bodyPr wrap="square"/>
                    <a:lstStyle/>
                    <a:p>
                      <a:pPr algn="l"/>
                      <a:r>
                        <a:rPr sz="1350" b="0">
                          <a:solidFill>
                            <a:srgbClr val="141C1E"/>
                          </a:solidFill>
                          <a:latin typeface="Segoe UI"/>
                        </a:rPr>
                        <a:t>62.3</a:t>
                      </a:r>
                    </a:p>
                  </a:txBody>
                  <a:tcPr marL="128016" marR="128016" marT="45720" marB="45720" anchor="ctr">
                    <a:solidFill>
                      <a:srgbClr val="FFFFFF"/>
                    </a:solidFill>
                  </a:tcPr>
                </a:tc>
                <a:tc>
                  <a:txBody>
                    <a:bodyPr wrap="square"/>
                    <a:lstStyle/>
                    <a:p>
                      <a:pPr algn="l"/>
                      <a:r>
                        <a:rPr sz="1350" b="0">
                          <a:solidFill>
                            <a:srgbClr val="141C1E"/>
                          </a:solidFill>
                          <a:latin typeface="Segoe UI"/>
                        </a:rPr>
                        <a:t>60.9</a:t>
                      </a:r>
                    </a:p>
                  </a:txBody>
                  <a:tcPr marL="128016" marR="128016" marT="45720" marB="45720" anchor="ctr">
                    <a:solidFill>
                      <a:srgbClr val="FFFFFF"/>
                    </a:solidFill>
                  </a:tcPr>
                </a:tc>
                <a:tc>
                  <a:txBody>
                    <a:bodyPr wrap="square"/>
                    <a:lstStyle/>
                    <a:p>
                      <a:pPr algn="l"/>
                      <a:r>
                        <a:rPr sz="1350" b="0">
                          <a:solidFill>
                            <a:srgbClr val="141C1E"/>
                          </a:solidFill>
                          <a:latin typeface="Segoe UI"/>
                        </a:rPr>
                        <a:t>53.2‡</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Zero-shot ImageBind [36]</a:t>
                      </a:r>
                    </a:p>
                  </a:txBody>
                  <a:tcPr marL="128016" marR="128016" marT="45720" marB="45720" anchor="ctr">
                    <a:solidFill>
                      <a:srgbClr val="F5F7F7"/>
                    </a:solidFill>
                  </a:tcPr>
                </a:tc>
                <a:tc>
                  <a:txBody>
                    <a:bodyPr wrap="square"/>
                    <a:lstStyle/>
                    <a:p>
                      <a:pPr algn="l"/>
                      <a:r>
                        <a:rPr sz="1350" b="0">
                          <a:solidFill>
                            <a:srgbClr val="141C1E"/>
                          </a:solidFill>
                          <a:latin typeface="Segoe UI"/>
                        </a:rPr>
                        <a:t>64.5</a:t>
                      </a:r>
                    </a:p>
                  </a:txBody>
                  <a:tcPr marL="128016" marR="128016" marT="45720" marB="45720" anchor="ctr">
                    <a:solidFill>
                      <a:srgbClr val="F5F7F7"/>
                    </a:solidFill>
                  </a:tcPr>
                </a:tc>
                <a:tc>
                  <a:txBody>
                    <a:bodyPr wrap="square"/>
                    <a:lstStyle/>
                    <a:p>
                      <a:pPr algn="l"/>
                      <a:r>
                        <a:rPr sz="1350" b="0">
                          <a:solidFill>
                            <a:srgbClr val="141C1E"/>
                          </a:solidFill>
                          <a:latin typeface="Segoe UI"/>
                        </a:rPr>
                        <a:t>61.3</a:t>
                      </a:r>
                    </a:p>
                  </a:txBody>
                  <a:tcPr marL="128016" marR="128016" marT="45720" marB="45720" anchor="ctr">
                    <a:solidFill>
                      <a:srgbClr val="F5F7F7"/>
                    </a:solidFill>
                  </a:tcPr>
                </a:tc>
                <a:tc>
                  <a:txBody>
                    <a:bodyPr wrap="square"/>
                    <a:lstStyle/>
                    <a:p>
                      <a:pPr algn="l"/>
                      <a:r>
                        <a:rPr sz="1350" b="0">
                          <a:solidFill>
                            <a:srgbClr val="141C1E"/>
                          </a:solidFill>
                          <a:latin typeface="Segoe UI"/>
                        </a:rPr>
                        <a:t>53.7‡</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LLaVA-1.5 [24]</a:t>
                      </a:r>
                    </a:p>
                  </a:txBody>
                  <a:tcPr marL="128016" marR="128016" marT="45720" marB="45720" anchor="ctr">
                    <a:solidFill>
                      <a:srgbClr val="FFFFFF"/>
                    </a:solidFill>
                  </a:tcPr>
                </a:tc>
                <a:tc>
                  <a:txBody>
                    <a:bodyPr wrap="square"/>
                    <a:lstStyle/>
                    <a:p>
                      <a:pPr algn="l"/>
                      <a:r>
                        <a:rPr sz="1350" b="0">
                          <a:solidFill>
                            <a:srgbClr val="141C1E"/>
                          </a:solidFill>
                          <a:latin typeface="Segoe UI"/>
                        </a:rPr>
                        <a:t>67.4</a:t>
                      </a:r>
                    </a:p>
                  </a:txBody>
                  <a:tcPr marL="128016" marR="128016" marT="45720" marB="45720" anchor="ctr">
                    <a:solidFill>
                      <a:srgbClr val="FFFFFF"/>
                    </a:solidFill>
                  </a:tcPr>
                </a:tc>
                <a:tc>
                  <a:txBody>
                    <a:bodyPr wrap="square"/>
                    <a:lstStyle/>
                    <a:p>
                      <a:pPr algn="l"/>
                      <a:r>
                        <a:rPr sz="1350" b="0">
                          <a:solidFill>
                            <a:srgbClr val="141C1E"/>
                          </a:solidFill>
                          <a:latin typeface="Segoe UI"/>
                        </a:rPr>
                        <a:t>59.6</a:t>
                      </a:r>
                    </a:p>
                  </a:txBody>
                  <a:tcPr marL="128016" marR="128016" marT="45720" marB="45720" anchor="ctr">
                    <a:solidFill>
                      <a:srgbClr val="FFFFFF"/>
                    </a:solidFill>
                  </a:tcPr>
                </a:tc>
                <a:tc>
                  <a:txBody>
                    <a:bodyPr wrap="square"/>
                    <a:lstStyle/>
                    <a:p>
                      <a:pPr algn="l"/>
                      <a:r>
                        <a:rPr sz="1350" b="0">
                          <a:solidFill>
                            <a:srgbClr val="141C1E"/>
                          </a:solidFill>
                          <a:latin typeface="Segoe UI"/>
                        </a:rPr>
                        <a:t>72.8‡</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Video-ChatGPT [37]</a:t>
                      </a:r>
                    </a:p>
                  </a:txBody>
                  <a:tcPr marL="128016" marR="128016" marT="45720" marB="45720" anchor="ctr">
                    <a:solidFill>
                      <a:srgbClr val="F5F7F7"/>
                    </a:solidFill>
                  </a:tcPr>
                </a:tc>
                <a:tc>
                  <a:txBody>
                    <a:bodyPr wrap="square"/>
                    <a:lstStyle/>
                    <a:p>
                      <a:pPr algn="l"/>
                      <a:r>
                        <a:rPr sz="1350" b="0">
                          <a:solidFill>
                            <a:srgbClr val="141C1E"/>
                          </a:solidFill>
                          <a:latin typeface="Segoe UI"/>
                        </a:rPr>
                        <a:t>76.9</a:t>
                      </a:r>
                    </a:p>
                  </a:txBody>
                  <a:tcPr marL="128016" marR="128016" marT="45720" marB="45720" anchor="ctr">
                    <a:solidFill>
                      <a:srgbClr val="F5F7F7"/>
                    </a:solidFill>
                  </a:tcPr>
                </a:tc>
                <a:tc>
                  <a:txBody>
                    <a:bodyPr wrap="square"/>
                    <a:lstStyle/>
                    <a:p>
                      <a:pPr algn="l"/>
                      <a:r>
                        <a:rPr sz="1350" b="0">
                          <a:solidFill>
                            <a:srgbClr val="141C1E"/>
                          </a:solidFill>
                          <a:latin typeface="Segoe UI"/>
                        </a:rPr>
                        <a:t>69.1</a:t>
                      </a:r>
                    </a:p>
                  </a:txBody>
                  <a:tcPr marL="128016" marR="128016" marT="45720" marB="45720" anchor="ctr">
                    <a:solidFill>
                      <a:srgbClr val="F5F7F7"/>
                    </a:solidFill>
                  </a:tcPr>
                </a:tc>
                <a:tc>
                  <a:txBody>
                    <a:bodyPr wrap="square"/>
                    <a:lstStyle/>
                    <a:p>
                      <a:pPr algn="l"/>
                      <a:r>
                        <a:rPr sz="1350" b="0">
                          <a:solidFill>
                            <a:srgbClr val="141C1E"/>
                          </a:solidFill>
                          <a:latin typeface="Segoe UI"/>
                        </a:rPr>
                        <a:t>—</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LAVAD [3] — captioner + LLM + refiner</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80.3‡</a:t>
                      </a:r>
                    </a:p>
                  </a:txBody>
                  <a:tcPr marL="128016" marR="128016" marT="45720" marB="45720" anchor="ctr">
                    <a:solidFill>
                      <a:srgbClr val="FFFFFF"/>
                    </a:solidFill>
                  </a:tcPr>
                </a:tc>
              </a:tr>
              <a:tr h="347472">
                <a:tc>
                  <a:txBody>
                    <a:bodyPr wrap="square"/>
                    <a:lstStyle/>
                    <a:p>
                      <a:pPr algn="l"/>
                      <a:r>
                        <a:rPr sz="1350" b="1">
                          <a:solidFill>
                            <a:srgbClr val="141C1E"/>
                          </a:solidFill>
                          <a:latin typeface="Segoe UI"/>
                        </a:rPr>
                        <a:t>DA-ZVAD (ours) — one frozen encoder + a sentence</a:t>
                      </a:r>
                    </a:p>
                  </a:txBody>
                  <a:tcPr marL="128016" marR="128016" marT="45720" marB="45720" anchor="ctr">
                    <a:solidFill>
                      <a:srgbClr val="DDEDEB"/>
                    </a:solidFill>
                  </a:tcPr>
                </a:tc>
                <a:tc>
                  <a:txBody>
                    <a:bodyPr wrap="square"/>
                    <a:lstStyle/>
                    <a:p>
                      <a:pPr algn="l"/>
                      <a:r>
                        <a:rPr sz="1350" b="1">
                          <a:solidFill>
                            <a:srgbClr val="141C1E"/>
                          </a:solidFill>
                          <a:latin typeface="Segoe UI"/>
                        </a:rPr>
                        <a:t>67.7</a:t>
                      </a:r>
                    </a:p>
                  </a:txBody>
                  <a:tcPr marL="128016" marR="128016" marT="45720" marB="45720" anchor="ctr">
                    <a:solidFill>
                      <a:srgbClr val="DDEDEB"/>
                    </a:solidFill>
                  </a:tcPr>
                </a:tc>
                <a:tc>
                  <a:txBody>
                    <a:bodyPr wrap="square"/>
                    <a:lstStyle/>
                    <a:p>
                      <a:pPr algn="l"/>
                      <a:r>
                        <a:rPr sz="1350" b="1">
                          <a:solidFill>
                            <a:srgbClr val="141C1E"/>
                          </a:solidFill>
                          <a:latin typeface="Segoe UI"/>
                        </a:rPr>
                        <a:t>73.4</a:t>
                      </a:r>
                    </a:p>
                  </a:txBody>
                  <a:tcPr marL="128016" marR="128016" marT="45720" marB="45720" anchor="ctr">
                    <a:solidFill>
                      <a:srgbClr val="DDEDEB"/>
                    </a:solidFill>
                  </a:tcPr>
                </a:tc>
                <a:tc>
                  <a:txBody>
                    <a:bodyPr wrap="square"/>
                    <a:lstStyle/>
                    <a:p>
                      <a:pPr algn="l"/>
                      <a:r>
                        <a:rPr sz="1350" b="1">
                          <a:solidFill>
                            <a:srgbClr val="141C1E"/>
                          </a:solidFill>
                          <a:latin typeface="Segoe UI"/>
                        </a:rPr>
                        <a:t>82.4</a:t>
                      </a:r>
                    </a:p>
                  </a:txBody>
                  <a:tcPr marL="128016" marR="128016" marT="45720" marB="45720" anchor="ctr">
                    <a:solidFill>
                      <a:srgbClr val="DDEDEB"/>
                    </a:solidFill>
                  </a:tcPr>
                </a:tc>
              </a:tr>
              <a:tr h="347472">
                <a:tc>
                  <a:txBody>
                    <a:bodyPr wrap="square"/>
                    <a:lstStyle/>
                    <a:p>
                      <a:pPr algn="l"/>
                      <a:r>
                        <a:rPr sz="1350" b="0">
                          <a:solidFill>
                            <a:srgbClr val="141C1E"/>
                          </a:solidFill>
                          <a:latin typeface="Segoe UI"/>
                        </a:rPr>
                        <a:t>AnyAnomaly [2] — 3 LVLM queries per segment</a:t>
                      </a:r>
                    </a:p>
                  </a:txBody>
                  <a:tcPr marL="128016" marR="128016" marT="45720" marB="45720" anchor="ctr">
                    <a:solidFill>
                      <a:srgbClr val="FFFFFF"/>
                    </a:solidFill>
                  </a:tcPr>
                </a:tc>
                <a:tc>
                  <a:txBody>
                    <a:bodyPr wrap="square"/>
                    <a:lstStyle/>
                    <a:p>
                      <a:pPr algn="l"/>
                      <a:r>
                        <a:rPr sz="1350" b="0">
                          <a:solidFill>
                            <a:srgbClr val="141C1E"/>
                          </a:solidFill>
                          <a:latin typeface="Segoe UI"/>
                        </a:rPr>
                        <a:t>87.3</a:t>
                      </a:r>
                    </a:p>
                  </a:txBody>
                  <a:tcPr marL="128016" marR="128016" marT="45720" marB="45720" anchor="ctr">
                    <a:solidFill>
                      <a:srgbClr val="FFFFFF"/>
                    </a:solidFill>
                  </a:tcPr>
                </a:tc>
                <a:tc>
                  <a:txBody>
                    <a:bodyPr wrap="square"/>
                    <a:lstStyle/>
                    <a:p>
                      <a:pPr algn="l"/>
                      <a:r>
                        <a:rPr sz="1350" b="0">
                          <a:solidFill>
                            <a:srgbClr val="141C1E"/>
                          </a:solidFill>
                          <a:latin typeface="Segoe UI"/>
                        </a:rPr>
                        <a:t>79.7</a:t>
                      </a:r>
                    </a:p>
                  </a:txBody>
                  <a:tcPr marL="128016" marR="128016" marT="45720" marB="45720" anchor="ctr">
                    <a:solidFill>
                      <a:srgbClr val="FFFFFF"/>
                    </a:solidFill>
                  </a:tcPr>
                </a:tc>
                <a:tc>
                  <a:txBody>
                    <a:bodyPr wrap="square"/>
                    <a:lstStyle/>
                    <a:p>
                      <a:pPr algn="l"/>
                      <a:r>
                        <a:rPr sz="1350" b="0">
                          <a:solidFill>
                            <a:srgbClr val="141C1E"/>
                          </a:solidFill>
                          <a:latin typeface="Segoe UI"/>
                        </a:rPr>
                        <a:t>80.7</a:t>
                      </a:r>
                    </a:p>
                  </a:txBody>
                  <a:tcPr marL="128016" marR="128016" marT="45720" marB="45720" anchor="ctr">
                    <a:solidFill>
                      <a:srgbClr val="FFFFFF"/>
                    </a:solidFill>
                  </a:tcPr>
                </a:tc>
              </a:tr>
            </a:tbl>
          </a:graphicData>
        </a:graphic>
      </p:graphicFrame>
      <p:sp>
        <p:nvSpPr>
          <p:cNvPr id="8" name="TextBox 7"/>
          <p:cNvSpPr txBox="1"/>
          <p:nvPr/>
        </p:nvSpPr>
        <p:spPr>
          <a:xfrm>
            <a:off x="777240" y="4590288"/>
            <a:ext cx="10637215" cy="256032"/>
          </a:xfrm>
          <a:prstGeom prst="rect">
            <a:avLst/>
          </a:prstGeom>
          <a:noFill/>
        </p:spPr>
        <p:txBody>
          <a:bodyPr wrap="square" lIns="0" rIns="0" tIns="0" bIns="0">
            <a:spAutoFit/>
          </a:bodyPr>
          <a:lstStyle/>
          <a:p>
            <a:pPr algn="l">
              <a:lnSpc>
                <a:spcPct val="100000"/>
              </a:lnSpc>
            </a:pPr>
            <a:r>
              <a:rPr sz="1100" b="0" i="1">
                <a:solidFill>
                  <a:srgbClr val="617274"/>
                </a:solidFill>
                <a:latin typeface="Segoe UI"/>
              </a:rPr>
              <a:t>‡ from LAVAD [3], Table 1. All other figures from AnyAnomaly [2], Tables 5–6.  Ours: Avenue/ShT one shared sentence; UCF one sentence per video.</a:t>
            </a:r>
          </a:p>
        </p:txBody>
      </p:sp>
      <p:sp>
        <p:nvSpPr>
          <p:cNvPr id="9" name="Rectangle 8"/>
          <p:cNvSpPr/>
          <p:nvPr/>
        </p:nvSpPr>
        <p:spPr>
          <a:xfrm>
            <a:off x="777240" y="50474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919472"/>
            <a:ext cx="10399471" cy="365760"/>
          </a:xfrm>
          <a:prstGeom prst="rect">
            <a:avLst/>
          </a:prstGeom>
          <a:noFill/>
        </p:spPr>
        <p:txBody>
          <a:bodyPr wrap="square" lIns="0" rIns="0" tIns="0" bIns="0">
            <a:spAutoFit/>
          </a:bodyPr>
          <a:lstStyle/>
          <a:p>
            <a:pPr>
              <a:lnSpc>
                <a:spcPct val="125000"/>
              </a:lnSpc>
            </a:pPr>
            <a:r>
              <a:rPr sz="1350" b="1">
                <a:solidFill>
                  <a:srgbClr val="141C1E"/>
                </a:solidFill>
                <a:latin typeface="Segoe UI"/>
              </a:rPr>
              <a:t>AnyAnomaly asks “is the thing I named happening?”  We ask “is anything happening that doesn’t belong here?”  </a:t>
            </a:r>
            <a:r>
              <a:rPr sz="1350">
                <a:solidFill>
                  <a:srgbClr val="3A4A4C"/>
                </a:solidFill>
                <a:latin typeface="Segoe UI"/>
              </a:rPr>
              <a:t>Theirs needs a list of what could go wrong — at evaluation it is handed the benchmark’s own anomaly classes. Ours needs a description of the ordinary.</a:t>
            </a:r>
          </a:p>
        </p:txBody>
      </p:sp>
      <p:sp>
        <p:nvSpPr>
          <p:cNvPr id="11" name="Rectangle 10"/>
          <p:cNvSpPr/>
          <p:nvPr/>
        </p:nvSpPr>
        <p:spPr>
          <a:xfrm>
            <a:off x="777240" y="580644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80644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95274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WHERE WE STAND</a:t>
            </a:r>
          </a:p>
        </p:txBody>
      </p:sp>
      <p:sp>
        <p:nvSpPr>
          <p:cNvPr id="14" name="TextBox 13"/>
          <p:cNvSpPr txBox="1"/>
          <p:nvPr/>
        </p:nvSpPr>
        <p:spPr>
          <a:xfrm>
            <a:off x="1033271" y="6245352"/>
            <a:ext cx="10134295" cy="210311"/>
          </a:xfrm>
          <a:prstGeom prst="rect">
            <a:avLst/>
          </a:prstGeom>
          <a:noFill/>
        </p:spPr>
        <p:txBody>
          <a:bodyPr wrap="square" lIns="0" rIns="0" tIns="0" bIns="0">
            <a:spAutoFit/>
          </a:bodyPr>
          <a:lstStyle/>
          <a:p>
            <a:pPr algn="l">
              <a:lnSpc>
                <a:spcPct val="100000"/>
              </a:lnSpc>
            </a:pPr>
            <a:r>
              <a:rPr sz="1350" b="0" i="0">
                <a:solidFill>
                  <a:srgbClr val="141C1E"/>
                </a:solidFill>
                <a:latin typeface="Segoe UI"/>
              </a:rPr>
              <a:t>Level with LAVAD and AnyAnomaly on UCF-Crime (inside our 95% interval); behind AnyAnomaly on campus.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UCF-Crime and nearly vanishes on single-camera Avenue. A pre-registered prediction that it grows with scene diversity was refuted.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sentence mainly calibrates.  </a:t>
            </a:r>
            <a:r>
              <a:rPr sz="1450">
                <a:solidFill>
                  <a:srgbClr val="3A4A4C"/>
                </a:solidFill>
                <a:latin typeface="Segoe UI"/>
              </a:rPr>
              <a:t>A pre-specified audit: 82–87% of the headline gains are per-video score shifts that put cameras on one scale; frames inside a video are barely re-ranked (at most +0.024).</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metrics are scale-sensitive.  </a:t>
            </a:r>
            <a:r>
              <a:rPr sz="1450">
                <a:solidFill>
                  <a:srgbClr val="3A4A4C"/>
                </a:solidFill>
                <a:latin typeface="Segoe UI"/>
              </a:rPr>
              <a:t>Softmax plus per-clip normalisation changes pooled figures without changing rankings; on UCF-Crime the effect shrinks under per-video normalisation.</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No explanations yet.  </a:t>
            </a:r>
            <a:r>
              <a:rPr sz="1450">
                <a:solidFill>
                  <a:srgbClr val="3A4A4C"/>
                </a:solidFill>
                <a:latin typeface="Segoe UI"/>
              </a:rPr>
              <a:t>M4 now writes the camera sentences, but has not yet explained flagged events.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comes next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29</a:t>
            </a:r>
          </a:p>
        </p:txBody>
      </p:sp>
      <p:graphicFrame>
        <p:nvGraphicFramePr>
          <p:cNvPr id="7" name="Table 6"/>
          <p:cNvGraphicFramePr>
            <a:graphicFrameLocks noGrp="1"/>
          </p:cNvGraphicFramePr>
          <p:nvPr/>
        </p:nvGraphicFramePr>
        <p:xfrm>
          <a:off x="777240" y="1828800"/>
          <a:ext cx="10634472" cy="2267712"/>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XD-Violence (pre-registered) and UCF-Crime on every frame</a:t>
                      </a:r>
                    </a:p>
                  </a:txBody>
                  <a:tcPr marL="128016" marR="128016" marT="45720" marB="45720" anchor="ctr">
                    <a:solidFill>
                      <a:srgbClr val="FFFFFF"/>
                    </a:solidFill>
                  </a:tcPr>
                </a:tc>
                <a:tc>
                  <a:txBody>
                    <a:bodyPr wrap="square"/>
                    <a:lstStyle/>
                    <a:p>
                      <a:pPr algn="l"/>
                      <a:r>
                        <a:rPr sz="1350" b="0">
                          <a:solidFill>
                            <a:srgbClr val="141C1E"/>
                          </a:solidFill>
                          <a:latin typeface="Segoe UI"/>
                        </a:rPr>
                        <a:t>LAVAD's second benchmark; tests the calibration reading on new data</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NWPU Campus — scene-dependent anomalies (pre-registered)</a:t>
                      </a:r>
                    </a:p>
                  </a:txBody>
                  <a:tcPr marL="128016" marR="128016" marT="45720" marB="45720" anchor="ctr">
                    <a:solidFill>
                      <a:srgbClr val="F5F7F7"/>
                    </a:solidFill>
                  </a:tcPr>
                </a:tc>
                <a:tc>
                  <a:txBody>
                    <a:bodyPr wrap="square"/>
                    <a:lstStyle/>
                    <a:p>
                      <a:pPr algn="l"/>
                      <a:r>
                        <a:rPr sz="1350" b="0">
                          <a:solidFill>
                            <a:srgbClr val="141C1E"/>
                          </a:solidFill>
                          <a:latin typeface="Segoe UI"/>
                        </a:rPr>
                        <a:t>The only benchmark where the same event flips label by scene: the method's boundary</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M4 explanations</a:t>
                      </a:r>
                    </a:p>
                  </a:txBody>
                  <a:tcPr marL="128016" marR="128016" marT="45720" marB="45720" anchor="ctr">
                    <a:solidFill>
                      <a:srgbClr val="FFFFFF"/>
                    </a:solidFill>
                  </a:tcPr>
                </a:tc>
                <a:tc>
                  <a:txBody>
                    <a:bodyPr wrap="square"/>
                    <a:lstStyle/>
                    <a:p>
                      <a:pPr algn="l"/>
                      <a:r>
                        <a:rPr sz="1350" b="0">
                          <a:solidFill>
                            <a:srgbClr val="141C1E"/>
                          </a:solidFill>
                          <a:latin typeface="Segoe UI"/>
                        </a:rPr>
                        <a:t>Higher figure on small anomalies; completes the framework for the thesis</a:t>
                      </a:r>
                    </a:p>
                  </a:txBody>
                  <a:tcPr marL="128016" marR="128016" marT="45720" marB="45720" anchor="ctr">
                    <a:solidFill>
                      <a:srgbClr val="FFFFFF"/>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DONE SINCE PHASE 2</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Per-camera sentences written by the system (0.751); UCF-Crime under pre-registered predictions (0.824, 95% CI 0.756–0.877); a measurement audit of how the sentence helps (mostly calibration); every citation checked against its source.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30</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by one sentence per camera, which the system writes itself from a few frames.</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0.751 on ShanghaiTech; 0.824 on UCF-Crime, level with the best training-free methods — no training. It works mainly by putting cameras on one scale.</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needs several scenes: flat on single-camera Avenue, strong on ShanghaiTech and UCF-Crime — but it does not keep growing with more scenes, as a pre-registered test showed.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31</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S. Ahn, Y. Jo, K. Lee, S. Kwon, I. Hong, S. Park, AnyAnomaly: Zero-shot customizable video anomaly detection with LVLM, in: Proceedings of the IEEE/CVF Winter Conference on Applications of Computer Vision (WACV), 2026, pp. 3026–3035.</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L. Zanella, W. Menapace, M. Mancini, Y. Wang, E. Ricci, Harnessing large language models for training-free video anomaly detection, in: Proceedings of the IEEE/CVF Conference on Computer Vision and Pattern Recognition (CVPR), 2024, pp. 18527–18536.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Proceedings of the International Conference on Machine Learning (ICML), 2021, pp. 8748–8763.</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J. Jeong, Y. Zou, T. Kim, D. Zhang, A. Ravichandran, O. Dabeer, WinCLIP: Zero-/few-shot anomaly classification and segmentation, in: Proceedings of the IEEE/CVF Conference on Computer Vision and Pattern Recognition (CVPR), 2023, pp. 19606–19616.</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Q. Zhou, G. Pang, Y. Tian, S. He, J. Chen, AnomalyCLIP: Object-agnostic prompt learning for zero-shot anomaly detection, in: Proceedings of the International Conference on Learning Representations (ICLR), 2024.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P. Bergmann, M. Fauser, D. Sattlegger, C. Steger, MVTec AD — A comprehensive real-world dataset for unsupervised anomaly detection, in: Proceedings of the IEEE/CVF Conference on Computer Vision and Pattern Recognition (CVPR), 2019, pp. 9592–9600.</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K. Roth, L. Pemula, J. Zepeda, B. Schölkopf, T. Brox, P. Gehler, Towards total recall in industrial anomaly detection, in: Proceedings of the IEEE/CVF Conference on Computer Vision and Pattern Recognition (CVPR), 2022, pp. 14318–14328.</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M. Ye, W. Liu, P. He, VERA: Explainable video anomaly detection via verbalized learning of vision-language models, in: Proceedings of the IEEE/CVF Conference on Computer Vision and Pattern Recognition (CVPR), 2025, pp. 8679–8688.</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Proceedings of the IEEE/CVF Conference on Computer Vision and Pattern Recognition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Processing Magazine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Computing Surveys 51 (2020) 1–46.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32</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Transactions on Signal and Information Processing 11 (2022). ArXiv:2208.07422.</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Sciences (2026). Art. no. 100285.</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Proceedings of the SIAM International Conference on Data Mining (SDM), 2024, pp. 634–642.</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Proceedings of the European Conference on Computer Vision (ECCV), 2020, pp. 125–141.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Proceedings of the IEEE/CVF Winter Conference on Applications of Computer Vision (WACV), 2023, pp. 2578–2590.</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Proceedings of the IEEE/CVF Conference on Computer Vision and Pattern Recognition (CVPR), 2018, pp. 6536–6545.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Proceedings of the International Conference on Learning Representations (ICLR), 2021.</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Advances in Neural Information Processing Systems (NeurIPS), 2017, pp. 5998–6008.</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Advances in Neural Information Processing Systems (NeurIPS), 2023, pp. 34892–34916.</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Advances in Neural Information Processing Systems (NeurIPS), 2023, pp. 10088–10115.</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Proceedings of the IEEE International Conference on Computer Vision (ICCV), 2013, pp. 2720–2727.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3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33</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W. Sultani, C. Chen, M. Shah, Real-world anomaly detection in surveillance videos, in: Proceedings of the IEEE/CVF Conference on Computer Vision and Pattern Recognition (CVPR), 2018, pp. 6479–6488.</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T. Fawcett, An introduction to ROC analysis, Pattern Recognition Letters 27 (2006) 861–874.</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A. P. Bradley, The use of the area under the ROC curve in the evaluation of machine learning algorithms, Pattern Recognition 30 (1997) 1145–1159.</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J. Davis, M. Goadrich, The relationship between precision-recall and ROC curves, in: Proceedings of the International Conference on Machine Learning (ICML), 2006, pp. 233–240.</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[31]  </a:t>
            </a:r>
            <a:r>
              <a:rPr sz="900">
                <a:solidFill>
                  <a:srgbClr val="141C1E"/>
                </a:solidFill>
                <a:latin typeface="Segoe UI"/>
              </a:rPr>
              <a:t>B. Schölkopf, J. C. Platt, J. Shawe-Taylor, A. J. Smola, R. C. Williamson, Estimating the support of a high-dimensional distribution, Neural Computation 13 (2001) 1443–1471.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[32]  </a:t>
            </a:r>
            <a:r>
              <a:rPr sz="900">
                <a:solidFill>
                  <a:srgbClr val="141C1E"/>
                </a:solidFill>
                <a:latin typeface="Segoe UI"/>
              </a:rPr>
              <a:t>H. Lv, C. Chen, Z. Cui, C. Xu, Y. Li, J. Yang, Learning normal dynamics in videos with meta prototype network, in: Proceedings of the IEEE/CVF Conference on Computer Vision and Pattern Recognition (CVPR), 2021, pp. 15425–15434.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[33]  </a:t>
            </a:r>
            <a:r>
              <a:rPr sz="900">
                <a:solidFill>
                  <a:srgbClr val="141C1E"/>
                </a:solidFill>
                <a:latin typeface="Segoe UI"/>
              </a:rPr>
              <a:t>C. Yan, S. Zhang, Y. Liu, G. Pang, W. Wang, Feature prediction diffusion model for video anomaly detection, in: Proceedings of the IEEE/CVF International Conference on Computer Vision (ICCV), 2023, pp. 5527–5537.</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[34]  </a:t>
            </a:r>
            <a:r>
              <a:rPr sz="900">
                <a:solidFill>
                  <a:srgbClr val="141C1E"/>
                </a:solidFill>
                <a:latin typeface="Segoe UI"/>
              </a:rPr>
              <a:t>H. Zhou, J. Cai, Y. Ye, Y. Feng, C. Gao, J. Yu, Z. Song, W. Yang, Video anomaly detection with motion and appearance guided patch diffusion model, arXiv preprint arXiv:2412.09026 (2024).</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[35]  </a:t>
            </a:r>
            <a:r>
              <a:rPr sz="900">
                <a:solidFill>
                  <a:srgbClr val="141C1E"/>
                </a:solidFill>
                <a:latin typeface="Segoe UI"/>
              </a:rPr>
              <a:t>J. Micorek, H. Possegger, D. Narnhofer, H. Bischof, M. Kampel, MULDE: Multiscale log-density estimation via denoising score matching for video anomaly detection, in: Proceedings of the IEEE/CVF Conference on Computer Vision and Pattern Recognition (CVPR), 2024, pp. 18868–18877.</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[36]  </a:t>
            </a:r>
            <a:r>
              <a:rPr sz="900">
                <a:solidFill>
                  <a:srgbClr val="141C1E"/>
                </a:solidFill>
                <a:latin typeface="Segoe UI"/>
              </a:rPr>
              <a:t>R. Girdhar, A. El-Nouby, Z. Liu, M. Singh, K. V. Alwala, A. Joulin, I. Misra, ImageBind: One embedding space to bind them all, in: Proceedings of the IEEE/CVF Conference on Computer Vision and Pattern Recognition (CVPR), 2023, pp. 15180–15190.</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[37]  </a:t>
            </a:r>
            <a:r>
              <a:rPr sz="900">
                <a:solidFill>
                  <a:srgbClr val="141C1E"/>
                </a:solidFill>
                <a:latin typeface="Segoe UI"/>
              </a:rPr>
              <a:t>M. Maaz, H. Rasheed, S. Khan, F. Khan, Video-ChatGPT: Towards detailed video understanding via large vision and language models, in: Proceedings of the 62nd Annual Meeting of the Association for Computational Linguistics (ACL), 2024, pp. 12585–12602.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