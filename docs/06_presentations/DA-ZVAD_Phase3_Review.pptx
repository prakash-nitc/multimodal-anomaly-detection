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If someone asks later why context matters, come back 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starts here. Say what changed: each camera gets its own sentence, and LLaVA writes it from the first three frames - no human, no labels. Point at the swapped bars: even the best swap loses, so the sentence works by matching its camera. Do not claim LLaVA beats a human; 0.751 against 0.749 is noise.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slide for credibility. The predictions were committed to git before any score existed. Say P1 failed before anyone asks, and that the claim was narrowed because of it. On LAVAD: 'comparable or better'. LAVAD samples every 16th frame too, but other papers' numbers can differ by small protocol details. AnyAnomaly gets 0.807 here - below us, unlike on the campus benchmarks.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borrowed-sentence bar first: worse than no sentence at all. That is the clearest evidence that the sentence tells the model where it is. Then the dashed LAVAD line, with the protocol caveat.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73.4 matches the benchmark's own 2018 baseline using none of its training data. Then the reframe - AnyAnomaly is handed the class list, we are not. The LAVAD comparison lives on the UCF-Crime slide, not here.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XD-Violence first: it is LAVAD's other benchmark, so it completes that comparison. Patch-level scoring is the best shot at a higher number. Point at the box at the bottom - everything listed there was the Phase 2 plan, now done.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Say plainly that one registered prediction failed and the claim was narrowed because of it.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reference slide exists because the comparative analysis added seven entries. If asked which of these you actually read rather than cited from a table: the six DA surveys, AnyAnomaly, LAVAD and WinCLIP. The one-class figures are as tabulated by AnyAnomaly, and the slide says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3 PROGRESS  ·  SEMESTER 3</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camera with one sentence the system writes itself — no training, no labels,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 [11–15, 20]</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[14].   Singhal et al. [15]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[1]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645920"/>
            <a:ext cx="8092440" cy="4768759"/>
          </a:xfrm>
          <a:prstGeom prst="rect">
            <a:avLst/>
          </a:prstGeom>
        </p:spPr>
      </p:pic>
      <p:sp>
        <p:nvSpPr>
          <p:cNvPr id="8" name="TextBox 7"/>
          <p:cNvSpPr txBox="1"/>
          <p:nvPr/>
        </p:nvSpPr>
        <p:spPr>
          <a:xfrm>
            <a:off x="9144000" y="1645920"/>
            <a:ext cx="26517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9144000" y="219456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1744" y="2066543"/>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M1  </a:t>
            </a:r>
            <a:r>
              <a:rPr sz="1150">
                <a:solidFill>
                  <a:srgbClr val="3A4A4C"/>
                </a:solidFill>
                <a:latin typeface="Segoe UI"/>
              </a:rPr>
              <a:t>Frozen CLIP [2] scores each frame: normal vs abnormal text.</a:t>
            </a:r>
          </a:p>
        </p:txBody>
      </p:sp>
      <p:sp>
        <p:nvSpPr>
          <p:cNvPr id="11" name="Rectangle 10"/>
          <p:cNvSpPr/>
          <p:nvPr/>
        </p:nvSpPr>
        <p:spPr>
          <a:xfrm>
            <a:off x="9144000" y="294436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81744" y="2816351"/>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M2  </a:t>
            </a:r>
            <a:r>
              <a:rPr sz="1150">
                <a:solidFill>
                  <a:srgbClr val="3A4A4C"/>
                </a:solidFill>
                <a:latin typeface="Segoe UI"/>
              </a:rPr>
              <a:t>Moving average over time — no parameters.</a:t>
            </a:r>
          </a:p>
        </p:txBody>
      </p:sp>
      <p:sp>
        <p:nvSpPr>
          <p:cNvPr id="13" name="Rectangle 12"/>
          <p:cNvSpPr/>
          <p:nvPr/>
        </p:nvSpPr>
        <p:spPr>
          <a:xfrm>
            <a:off x="9144000" y="3694175"/>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81744" y="3566159"/>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M3  </a:t>
            </a:r>
            <a:r>
              <a:rPr sz="1150">
                <a:solidFill>
                  <a:srgbClr val="3A4A4C"/>
                </a:solidFill>
                <a:latin typeface="Segoe UI"/>
              </a:rPr>
              <a:t>One scene sentence per camera, in the normal prompts only.</a:t>
            </a:r>
          </a:p>
        </p:txBody>
      </p:sp>
      <p:sp>
        <p:nvSpPr>
          <p:cNvPr id="15" name="Rectangle 14"/>
          <p:cNvSpPr/>
          <p:nvPr/>
        </p:nvSpPr>
        <p:spPr>
          <a:xfrm>
            <a:off x="9144000" y="44439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1744" y="4315968"/>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M4  </a:t>
            </a:r>
            <a:r>
              <a:rPr sz="1150">
                <a:solidFill>
                  <a:srgbClr val="3A4A4C"/>
                </a:solidFill>
                <a:latin typeface="Segoe UI"/>
              </a:rPr>
              <a:t>Frozen LLaVA [24] writes each camera's sentence, and explains events.</a:t>
            </a:r>
          </a:p>
        </p:txBody>
      </p:sp>
      <p:sp>
        <p:nvSpPr>
          <p:cNvPr id="17" name="Rectangle 16"/>
          <p:cNvSpPr/>
          <p:nvPr/>
        </p:nvSpPr>
        <p:spPr>
          <a:xfrm>
            <a:off x="9144000" y="5257800"/>
            <a:ext cx="2651760"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52578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00032" y="5404104"/>
            <a:ext cx="2148839"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NEW CAMERA</a:t>
            </a:r>
          </a:p>
        </p:txBody>
      </p:sp>
      <p:sp>
        <p:nvSpPr>
          <p:cNvPr id="20" name="TextBox 19"/>
          <p:cNvSpPr txBox="1"/>
          <p:nvPr/>
        </p:nvSpPr>
        <p:spPr>
          <a:xfrm>
            <a:off x="9400032" y="5696712"/>
            <a:ext cx="2148839"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Caption its first frames. No labels,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[4], or entangled in an LLM prior [7], or accompanied by a trained adapter [17].</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[21] (12 views) and CUHK Avenue [26]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[2, 22]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benchmarks actually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so the scene, the angle and the lighting are constant down a column and only the event changes. That is the whole argument in a photograph: an empty walkway and the same walkway with a cyclist look alike and are labelled opposite.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[21] normalises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12</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+0.033</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6</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sentence per camera —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pic>
        <p:nvPicPr>
          <p:cNvPr id="7" name="Picture 6" descr="fig_chart_per_camera.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camera gets its own sentence instead of one for all twelve. Written by hand: 0.749. Written by LLaVA from the camera's first three frames, with no human and no labels: 0.751. Give each camera ANOTHER camera's sentence and it drops — even the best of 11 swaps (0.737) loses. The sentence works by matching its camera.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predictions written down first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sp>
        <p:nvSpPr>
          <p:cNvPr id="7" name="TextBox 6"/>
          <p:cNvSpPr txBox="1"/>
          <p:nvPr/>
        </p:nvSpPr>
        <p:spPr>
          <a:xfrm>
            <a:off x="777240" y="1737360"/>
            <a:ext cx="10637215" cy="658368"/>
          </a:xfrm>
          <a:prstGeom prst="rect">
            <a:avLst/>
          </a:prstGeom>
          <a:noFill/>
        </p:spPr>
        <p:txBody>
          <a:bodyPr wrap="square" lIns="0" rIns="0" tIns="0" bIns="0">
            <a:spAutoFit/>
          </a:bodyPr>
          <a:lstStyle/>
          <a:p>
            <a:pPr algn="l">
              <a:lnSpc>
                <a:spcPct val="130000"/>
              </a:lnSpc>
            </a:pPr>
            <a:r>
              <a:rPr sz="1500" b="0" i="0">
                <a:solidFill>
                  <a:srgbClr val="3A4A4C"/>
                </a:solidFill>
                <a:latin typeface="Segoe UI"/>
              </a:rPr>
              <a:t>290 real CCTV videos [27] from ~290 different places, 140 with a crime. Four predictions were committed to git before any score was computed.</a:t>
            </a:r>
          </a:p>
        </p:txBody>
      </p:sp>
      <p:sp>
        <p:nvSpPr>
          <p:cNvPr id="8" name="TextBox 7"/>
          <p:cNvSpPr txBox="1"/>
          <p:nvPr/>
        </p:nvSpPr>
        <p:spPr>
          <a:xfrm>
            <a:off x="777240" y="2514600"/>
            <a:ext cx="3291840" cy="1005840"/>
          </a:xfrm>
          <a:prstGeom prst="rect">
            <a:avLst/>
          </a:prstGeom>
          <a:noFill/>
        </p:spPr>
        <p:txBody>
          <a:bodyPr wrap="square" lIns="0" rIns="0" tIns="0" bIns="0">
            <a:spAutoFit/>
          </a:bodyPr>
          <a:lstStyle/>
          <a:p>
            <a:pPr algn="l">
              <a:lnSpc>
                <a:spcPct val="100000"/>
              </a:lnSpc>
            </a:pPr>
            <a:r>
              <a:rPr sz="6000" b="1" i="0">
                <a:solidFill>
                  <a:srgbClr val="0D6B67"/>
                </a:solidFill>
                <a:latin typeface="Segoe UI"/>
              </a:rPr>
              <a:t>0.824</a:t>
            </a:r>
          </a:p>
        </p:txBody>
      </p:sp>
      <p:sp>
        <p:nvSpPr>
          <p:cNvPr id="9" name="TextBox 8"/>
          <p:cNvSpPr txBox="1"/>
          <p:nvPr/>
        </p:nvSpPr>
        <p:spPr>
          <a:xfrm>
            <a:off x="777240" y="3502152"/>
            <a:ext cx="329184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AUROC, no training — LAVAD 0.803, AnyAnomaly 0.807</a:t>
            </a:r>
          </a:p>
        </p:txBody>
      </p:sp>
      <p:graphicFrame>
        <p:nvGraphicFramePr>
          <p:cNvPr id="10" name="Table 9"/>
          <p:cNvGraphicFramePr>
            <a:graphicFrameLocks noGrp="1"/>
          </p:cNvGraphicFramePr>
          <p:nvPr/>
        </p:nvGraphicFramePr>
        <p:xfrm>
          <a:off x="4434840" y="2514600"/>
          <a:ext cx="6976872" cy="2286000"/>
        </p:xfrm>
        <a:graphic>
          <a:graphicData uri="http://schemas.openxmlformats.org/drawingml/2006/table">
            <a:tbl>
              <a:tblPr firstRow="1">
                <a:tableStyleId>{5C22544A-7EE6-4342-B048-85BDC9FD1C3A}</a:tableStyleId>
              </a:tblPr>
              <a:tblGrid>
                <a:gridCol w="4160520"/>
                <a:gridCol w="1325880"/>
                <a:gridCol w="1490472"/>
              </a:tblGrid>
              <a:tr h="457200">
                <a:tc>
                  <a:txBody>
                    <a:bodyPr wrap="square"/>
                    <a:lstStyle/>
                    <a:p>
                      <a:pPr algn="l"/>
                      <a:r>
                        <a:rPr sz="1300" b="1">
                          <a:solidFill>
                            <a:srgbClr val="FFFFFF"/>
                          </a:solidFill>
                          <a:latin typeface="Segoe UI"/>
                        </a:rPr>
                        <a:t>Registered prediction</a:t>
                      </a:r>
                    </a:p>
                  </a:txBody>
                  <a:tcPr marL="128016" marR="128016" marT="45720" marB="45720" anchor="ctr">
                    <a:solidFill>
                      <a:srgbClr val="141C1E"/>
                    </a:solidFill>
                  </a:tcPr>
                </a:tc>
                <a:tc>
                  <a:txBody>
                    <a:bodyPr wrap="square"/>
                    <a:lstStyle/>
                    <a:p>
                      <a:pPr algn="r"/>
                      <a:r>
                        <a:rPr sz="1300" b="1">
                          <a:solidFill>
                            <a:srgbClr val="FFFFFF"/>
                          </a:solidFill>
                          <a:latin typeface="Segoe UI"/>
                        </a:rPr>
                        <a:t>Measured</a:t>
                      </a:r>
                    </a:p>
                  </a:txBody>
                  <a:tcPr marL="128016" marR="128016" marT="45720" marB="45720" anchor="ctr">
                    <a:solidFill>
                      <a:srgbClr val="141C1E"/>
                    </a:solidFill>
                  </a:tcPr>
                </a:tc>
                <a:tc>
                  <a:txBody>
                    <a:bodyPr wrap="square"/>
                    <a:lstStyle/>
                    <a:p>
                      <a:pPr algn="l"/>
                      <a:r>
                        <a:rPr sz="130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00" b="1">
                          <a:solidFill>
                            <a:srgbClr val="141C1E"/>
                          </a:solidFill>
                          <a:latin typeface="Segoe UI"/>
                        </a:rPr>
                        <a:t>P1  gap grows beyond ShanghaiTech's +0.105</a:t>
                      </a:r>
                    </a:p>
                  </a:txBody>
                  <a:tcPr marL="128016" marR="128016" marT="45720" marB="45720" anchor="ctr">
                    <a:solidFill>
                      <a:srgbClr val="DDEDEB"/>
                    </a:solidFill>
                  </a:tcPr>
                </a:tc>
                <a:tc>
                  <a:txBody>
                    <a:bodyPr wrap="square"/>
                    <a:lstStyle/>
                    <a:p>
                      <a:pPr algn="r"/>
                      <a:r>
                        <a:rPr sz="1300" b="1">
                          <a:solidFill>
                            <a:srgbClr val="141C1E"/>
                          </a:solidFill>
                          <a:latin typeface="Consolas"/>
                        </a:rPr>
                        <a:t>+0.096</a:t>
                      </a:r>
                    </a:p>
                  </a:txBody>
                  <a:tcPr marL="128016" marR="128016" marT="45720" marB="45720" anchor="ctr">
                    <a:solidFill>
                      <a:srgbClr val="DDEDEB"/>
                    </a:solidFill>
                  </a:tcPr>
                </a:tc>
                <a:tc>
                  <a:txBody>
                    <a:bodyPr wrap="square"/>
                    <a:lstStyle/>
                    <a:p>
                      <a:pPr algn="l"/>
                      <a:r>
                        <a:rPr sz="1300" b="1">
                          <a:solidFill>
                            <a:srgbClr val="141C1E"/>
                          </a:solidFill>
                          <a:latin typeface="Segoe UI"/>
                        </a:rPr>
                        <a:t>Refuted</a:t>
                      </a:r>
                    </a:p>
                  </a:txBody>
                  <a:tcPr marL="128016" marR="128016" marT="45720" marB="45720" anchor="ctr">
                    <a:solidFill>
                      <a:srgbClr val="DDEDEB"/>
                    </a:solidFill>
                  </a:tcPr>
                </a:tc>
              </a:tr>
              <a:tr h="457200">
                <a:tc>
                  <a:txBody>
                    <a:bodyPr wrap="square"/>
                    <a:lstStyle/>
                    <a:p>
                      <a:pPr algn="l"/>
                      <a:r>
                        <a:rPr sz="1300" b="0">
                          <a:solidFill>
                            <a:srgbClr val="141C1E"/>
                          </a:solidFill>
                          <a:latin typeface="Segoe UI"/>
                        </a:rPr>
                        <a:t>P2  own sentence beats borrowed ones</a:t>
                      </a:r>
                    </a:p>
                  </a:txBody>
                  <a:tcPr marL="128016" marR="128016" marT="45720" marB="45720" anchor="ctr">
                    <a:solidFill>
                      <a:srgbClr val="F5F7F7"/>
                    </a:solidFill>
                  </a:tcPr>
                </a:tc>
                <a:tc>
                  <a:txBody>
                    <a:bodyPr wrap="square"/>
                    <a:lstStyle/>
                    <a:p>
                      <a:pPr algn="r"/>
                      <a:r>
                        <a:rPr sz="1300" b="0">
                          <a:solidFill>
                            <a:srgbClr val="141C1E"/>
                          </a:solidFill>
                          <a:latin typeface="Consolas"/>
                        </a:rPr>
                        <a:t>+0.110</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r h="457200">
                <a:tc>
                  <a:txBody>
                    <a:bodyPr wrap="square"/>
                    <a:lstStyle/>
                    <a:p>
                      <a:pPr algn="l"/>
                      <a:r>
                        <a:rPr sz="1300" b="0">
                          <a:solidFill>
                            <a:srgbClr val="141C1E"/>
                          </a:solidFill>
                          <a:latin typeface="Segoe UI"/>
                        </a:rPr>
                        <a:t>P3  own sentence beats one shared sentence</a:t>
                      </a:r>
                    </a:p>
                  </a:txBody>
                  <a:tcPr marL="128016" marR="128016" marT="45720" marB="45720" anchor="ctr">
                    <a:solidFill>
                      <a:srgbClr val="FFFFFF"/>
                    </a:solidFill>
                  </a:tcPr>
                </a:tc>
                <a:tc>
                  <a:txBody>
                    <a:bodyPr wrap="square"/>
                    <a:lstStyle/>
                    <a:p>
                      <a:pPr algn="r"/>
                      <a:r>
                        <a:rPr sz="1300" b="0">
                          <a:solidFill>
                            <a:srgbClr val="141C1E"/>
                          </a:solidFill>
                          <a:latin typeface="Consolas"/>
                        </a:rPr>
                        <a:t>+0.011</a:t>
                      </a:r>
                    </a:p>
                  </a:txBody>
                  <a:tcPr marL="128016" marR="128016" marT="45720" marB="45720" anchor="ctr">
                    <a:solidFill>
                      <a:srgbClr val="FFFFFF"/>
                    </a:solidFill>
                  </a:tcPr>
                </a:tc>
                <a:tc>
                  <a:txBody>
                    <a:bodyPr wrap="square"/>
                    <a:lstStyle/>
                    <a:p>
                      <a:pPr algn="l"/>
                      <a:r>
                        <a:rPr sz="1300" b="0">
                          <a:solidFill>
                            <a:srgbClr val="141C1E"/>
                          </a:solidFill>
                          <a:latin typeface="Segoe UI"/>
                        </a:rPr>
                        <a:t>Holds (small)</a:t>
                      </a:r>
                    </a:p>
                  </a:txBody>
                  <a:tcPr marL="128016" marR="128016" marT="45720" marB="45720" anchor="ctr">
                    <a:solidFill>
                      <a:srgbClr val="FFFFFF"/>
                    </a:solidFill>
                  </a:tcPr>
                </a:tc>
              </a:tr>
              <a:tr h="457200">
                <a:tc>
                  <a:txBody>
                    <a:bodyPr wrap="square"/>
                    <a:lstStyle/>
                    <a:p>
                      <a:pPr algn="l"/>
                      <a:r>
                        <a:rPr sz="1300" b="0">
                          <a:solidFill>
                            <a:srgbClr val="141C1E"/>
                          </a:solidFill>
                          <a:latin typeface="Segoe UI"/>
                        </a:rPr>
                        <a:t>P4  correct beats wrong-domain description</a:t>
                      </a:r>
                    </a:p>
                  </a:txBody>
                  <a:tcPr marL="128016" marR="128016" marT="45720" marB="45720" anchor="ctr">
                    <a:solidFill>
                      <a:srgbClr val="F5F7F7"/>
                    </a:solidFill>
                  </a:tcPr>
                </a:tc>
                <a:tc>
                  <a:txBody>
                    <a:bodyPr wrap="square"/>
                    <a:lstStyle/>
                    <a:p>
                      <a:pPr algn="r"/>
                      <a:r>
                        <a:rPr sz="1300" b="0">
                          <a:solidFill>
                            <a:srgbClr val="141C1E"/>
                          </a:solidFill>
                          <a:latin typeface="Consolas"/>
                        </a:rPr>
                        <a:t>+0.086</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bl>
          </a:graphicData>
        </a:graphic>
      </p:graphicFrame>
      <p:sp>
        <p:nvSpPr>
          <p:cNvPr id="11" name="Rectangle 10"/>
          <p:cNvSpPr/>
          <p:nvPr/>
        </p:nvSpPr>
        <p:spPr>
          <a:xfrm>
            <a:off x="777240" y="507492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07492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2212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IT SHOWS</a:t>
            </a:r>
          </a:p>
        </p:txBody>
      </p:sp>
      <p:sp>
        <p:nvSpPr>
          <p:cNvPr id="14" name="TextBox 13"/>
          <p:cNvSpPr txBox="1"/>
          <p:nvPr/>
        </p:nvSpPr>
        <p:spPr>
          <a:xfrm>
            <a:off x="1033271" y="5513831"/>
            <a:ext cx="10134295" cy="7132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Another video's sentence scores BELOW no sentence (0.713 vs 0.756): the wrong scene misleads. P1 failed, so the claim is narrowed from 'the benefit scales with scene diversity' to 'the benefit needs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pic>
        <p:nvPicPr>
          <p:cNvPr id="7" name="Picture 6" descr="fig_chart_ucf_crime.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video's own LLaVA sentence reaches 0.824; borrowed sentences average 0.713, below having none. The dashed line is LAVAD's 0.803 (AnyAnomaly: 0.807). Both are other papers' numbers, so read it as comparable, not as a margin.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graphicFrame>
        <p:nvGraphicFramePr>
          <p:cNvPr id="7" name="Table 6"/>
          <p:cNvGraphicFramePr>
            <a:graphicFrameLocks noGrp="1"/>
          </p:cNvGraphicFramePr>
          <p:nvPr/>
        </p:nvGraphicFramePr>
        <p:xfrm>
          <a:off x="777240" y="1755648"/>
          <a:ext cx="10634472" cy="2816352"/>
        </p:xfrm>
        <a:graphic>
          <a:graphicData uri="http://schemas.openxmlformats.org/drawingml/2006/table">
            <a:tbl>
              <a:tblPr firstRow="1">
                <a:tableStyleId>{5C22544A-7EE6-4342-B048-85BDC9FD1C3A}</a:tableStyleId>
              </a:tblPr>
              <a:tblGrid>
                <a:gridCol w="6766560"/>
                <a:gridCol w="1920240"/>
                <a:gridCol w="1947672"/>
              </a:tblGrid>
              <a:tr h="402336">
                <a:tc>
                  <a:txBody>
                    <a:bodyPr wrap="square"/>
                    <a:lstStyle/>
                    <a:p>
                      <a:pPr algn="l"/>
                      <a:r>
                        <a:rPr sz="1400" b="1">
                          <a:solidFill>
                            <a:srgbClr val="FFFFFF"/>
                          </a:solidFill>
                          <a:latin typeface="Segoe UI"/>
                        </a:rPr>
                        <a:t>Training-free method (no target data)</a:t>
                      </a:r>
                    </a:p>
                  </a:txBody>
                  <a:tcPr marL="128016" marR="128016" marT="45720" marB="45720" anchor="ctr">
                    <a:solidFill>
                      <a:srgbClr val="141C1E"/>
                    </a:solidFill>
                  </a:tcPr>
                </a:tc>
                <a:tc>
                  <a:txBody>
                    <a:bodyPr wrap="square"/>
                    <a:lstStyle/>
                    <a:p>
                      <a:pPr algn="l"/>
                      <a:r>
                        <a:rPr sz="1400" b="1">
                          <a:solidFill>
                            <a:srgbClr val="FFFFFF"/>
                          </a:solidFill>
                          <a:latin typeface="Segoe UI"/>
                        </a:rPr>
                        <a:t>Avenue</a:t>
                      </a:r>
                    </a:p>
                  </a:txBody>
                  <a:tcPr marL="128016" marR="128016" marT="45720" marB="45720" anchor="ctr">
                    <a:solidFill>
                      <a:srgbClr val="141C1E"/>
                    </a:solidFill>
                  </a:tcPr>
                </a:tc>
                <a:tc>
                  <a:txBody>
                    <a:bodyPr wrap="square"/>
                    <a:lstStyle/>
                    <a:p>
                      <a:pPr algn="l"/>
                      <a:r>
                        <a:rPr sz="1400" b="1">
                          <a:solidFill>
                            <a:srgbClr val="FFFFFF"/>
                          </a:solidFill>
                          <a:latin typeface="Segoe UI"/>
                        </a:rPr>
                        <a:t>ShT</a:t>
                      </a:r>
                    </a:p>
                  </a:txBody>
                  <a:tcPr marL="128016" marR="128016" marT="45720" marB="45720" anchor="ctr">
                    <a:solidFill>
                      <a:srgbClr val="141C1E"/>
                    </a:solidFill>
                  </a:tcPr>
                </a:tc>
              </a:tr>
              <a:tr h="402336">
                <a:tc>
                  <a:txBody>
                    <a:bodyPr wrap="square"/>
                    <a:lstStyle/>
                    <a:p>
                      <a:pPr algn="l"/>
                      <a:r>
                        <a:rPr sz="1400" b="0">
                          <a:solidFill>
                            <a:srgbClr val="141C1E"/>
                          </a:solidFill>
                          <a:latin typeface="Segoe UI"/>
                        </a:rPr>
                        <a:t>Zero-shot CLIP [2]</a:t>
                      </a:r>
                    </a:p>
                  </a:txBody>
                  <a:tcPr marL="128016" marR="128016" marT="45720" marB="45720" anchor="ctr">
                    <a:solidFill>
                      <a:srgbClr val="FFFFFF"/>
                    </a:solidFill>
                  </a:tcPr>
                </a:tc>
                <a:tc>
                  <a:txBody>
                    <a:bodyPr wrap="square"/>
                    <a:lstStyle/>
                    <a:p>
                      <a:pPr algn="l"/>
                      <a:r>
                        <a:rPr sz="1400" b="0">
                          <a:solidFill>
                            <a:srgbClr val="141C1E"/>
                          </a:solidFill>
                          <a:latin typeface="Segoe UI"/>
                        </a:rPr>
                        <a:t>62.3</a:t>
                      </a:r>
                    </a:p>
                  </a:txBody>
                  <a:tcPr marL="128016" marR="128016" marT="45720" marB="45720" anchor="ctr">
                    <a:solidFill>
                      <a:srgbClr val="FFFFFF"/>
                    </a:solidFill>
                  </a:tcPr>
                </a:tc>
                <a:tc>
                  <a:txBody>
                    <a:bodyPr wrap="square"/>
                    <a:lstStyle/>
                    <a:p>
                      <a:pPr algn="l"/>
                      <a:r>
                        <a:rPr sz="1400" b="0">
                          <a:solidFill>
                            <a:srgbClr val="141C1E"/>
                          </a:solidFill>
                          <a:latin typeface="Segoe UI"/>
                        </a:rPr>
                        <a:t>60.9</a:t>
                      </a:r>
                    </a:p>
                  </a:txBody>
                  <a:tcPr marL="128016" marR="128016" marT="45720" marB="45720" anchor="ctr">
                    <a:solidFill>
                      <a:srgbClr val="FFFFFF"/>
                    </a:solidFill>
                  </a:tcPr>
                </a:tc>
              </a:tr>
              <a:tr h="402336">
                <a:tc>
                  <a:txBody>
                    <a:bodyPr wrap="square"/>
                    <a:lstStyle/>
                    <a:p>
                      <a:pPr algn="l"/>
                      <a:r>
                        <a:rPr sz="1400" b="0">
                          <a:solidFill>
                            <a:srgbClr val="141C1E"/>
                          </a:solidFill>
                          <a:latin typeface="Segoe UI"/>
                        </a:rPr>
                        <a:t>Zero-shot ImageBind [36]</a:t>
                      </a:r>
                    </a:p>
                  </a:txBody>
                  <a:tcPr marL="128016" marR="128016" marT="45720" marB="45720" anchor="ctr">
                    <a:solidFill>
                      <a:srgbClr val="F5F7F7"/>
                    </a:solidFill>
                  </a:tcPr>
                </a:tc>
                <a:tc>
                  <a:txBody>
                    <a:bodyPr wrap="square"/>
                    <a:lstStyle/>
                    <a:p>
                      <a:pPr algn="l"/>
                      <a:r>
                        <a:rPr sz="1400" b="0">
                          <a:solidFill>
                            <a:srgbClr val="141C1E"/>
                          </a:solidFill>
                          <a:latin typeface="Segoe UI"/>
                        </a:rPr>
                        <a:t>64.5</a:t>
                      </a:r>
                    </a:p>
                  </a:txBody>
                  <a:tcPr marL="128016" marR="128016" marT="45720" marB="45720" anchor="ctr">
                    <a:solidFill>
                      <a:srgbClr val="F5F7F7"/>
                    </a:solidFill>
                  </a:tcPr>
                </a:tc>
                <a:tc>
                  <a:txBody>
                    <a:bodyPr wrap="square"/>
                    <a:lstStyle/>
                    <a:p>
                      <a:pPr algn="l"/>
                      <a:r>
                        <a:rPr sz="1400" b="0">
                          <a:solidFill>
                            <a:srgbClr val="141C1E"/>
                          </a:solidFill>
                          <a:latin typeface="Segoe UI"/>
                        </a:rPr>
                        <a:t>61.3</a:t>
                      </a:r>
                    </a:p>
                  </a:txBody>
                  <a:tcPr marL="128016" marR="128016" marT="45720" marB="45720" anchor="ctr">
                    <a:solidFill>
                      <a:srgbClr val="F5F7F7"/>
                    </a:solidFill>
                  </a:tcPr>
                </a:tc>
              </a:tr>
              <a:tr h="402336">
                <a:tc>
                  <a:txBody>
                    <a:bodyPr wrap="square"/>
                    <a:lstStyle/>
                    <a:p>
                      <a:pPr algn="l"/>
                      <a:r>
                        <a:rPr sz="1400" b="0">
                          <a:solidFill>
                            <a:srgbClr val="141C1E"/>
                          </a:solidFill>
                          <a:latin typeface="Segoe UI"/>
                        </a:rPr>
                        <a:t>LLaVA-1.5 [24]</a:t>
                      </a:r>
                    </a:p>
                  </a:txBody>
                  <a:tcPr marL="128016" marR="128016" marT="45720" marB="45720" anchor="ctr">
                    <a:solidFill>
                      <a:srgbClr val="FFFFFF"/>
                    </a:solidFill>
                  </a:tcPr>
                </a:tc>
                <a:tc>
                  <a:txBody>
                    <a:bodyPr wrap="square"/>
                    <a:lstStyle/>
                    <a:p>
                      <a:pPr algn="l"/>
                      <a:r>
                        <a:rPr sz="1400" b="0">
                          <a:solidFill>
                            <a:srgbClr val="141C1E"/>
                          </a:solidFill>
                          <a:latin typeface="Segoe UI"/>
                        </a:rPr>
                        <a:t>67.4</a:t>
                      </a:r>
                    </a:p>
                  </a:txBody>
                  <a:tcPr marL="128016" marR="128016" marT="45720" marB="45720" anchor="ctr">
                    <a:solidFill>
                      <a:srgbClr val="FFFFFF"/>
                    </a:solidFill>
                  </a:tcPr>
                </a:tc>
                <a:tc>
                  <a:txBody>
                    <a:bodyPr wrap="square"/>
                    <a:lstStyle/>
                    <a:p>
                      <a:pPr algn="l"/>
                      <a:r>
                        <a:rPr sz="1400" b="0">
                          <a:solidFill>
                            <a:srgbClr val="141C1E"/>
                          </a:solidFill>
                          <a:latin typeface="Segoe UI"/>
                        </a:rPr>
                        <a:t>59.6</a:t>
                      </a:r>
                    </a:p>
                  </a:txBody>
                  <a:tcPr marL="128016" marR="128016" marT="45720" marB="45720" anchor="ctr">
                    <a:solidFill>
                      <a:srgbClr val="FFFFFF"/>
                    </a:solidFill>
                  </a:tcPr>
                </a:tc>
              </a:tr>
              <a:tr h="402336">
                <a:tc>
                  <a:txBody>
                    <a:bodyPr wrap="square"/>
                    <a:lstStyle/>
                    <a:p>
                      <a:pPr algn="l"/>
                      <a:r>
                        <a:rPr sz="1400" b="0">
                          <a:solidFill>
                            <a:srgbClr val="141C1E"/>
                          </a:solidFill>
                          <a:latin typeface="Segoe UI"/>
                        </a:rPr>
                        <a:t>Video-ChatGPT [37]</a:t>
                      </a:r>
                    </a:p>
                  </a:txBody>
                  <a:tcPr marL="128016" marR="128016" marT="45720" marB="45720" anchor="ctr">
                    <a:solidFill>
                      <a:srgbClr val="F5F7F7"/>
                    </a:solidFill>
                  </a:tcPr>
                </a:tc>
                <a:tc>
                  <a:txBody>
                    <a:bodyPr wrap="square"/>
                    <a:lstStyle/>
                    <a:p>
                      <a:pPr algn="l"/>
                      <a:r>
                        <a:rPr sz="1400" b="0">
                          <a:solidFill>
                            <a:srgbClr val="141C1E"/>
                          </a:solidFill>
                          <a:latin typeface="Segoe UI"/>
                        </a:rPr>
                        <a:t>76.9</a:t>
                      </a:r>
                    </a:p>
                  </a:txBody>
                  <a:tcPr marL="128016" marR="128016" marT="45720" marB="45720" anchor="ctr">
                    <a:solidFill>
                      <a:srgbClr val="F5F7F7"/>
                    </a:solidFill>
                  </a:tcPr>
                </a:tc>
                <a:tc>
                  <a:txBody>
                    <a:bodyPr wrap="square"/>
                    <a:lstStyle/>
                    <a:p>
                      <a:pPr algn="l"/>
                      <a:r>
                        <a:rPr sz="1400" b="0">
                          <a:solidFill>
                            <a:srgbClr val="141C1E"/>
                          </a:solidFill>
                          <a:latin typeface="Segoe UI"/>
                        </a:rPr>
                        <a:t>69.1</a:t>
                      </a:r>
                    </a:p>
                  </a:txBody>
                  <a:tcPr marL="128016" marR="128016" marT="45720" marB="45720" anchor="ctr">
                    <a:solidFill>
                      <a:srgbClr val="F5F7F7"/>
                    </a:solidFill>
                  </a:tcPr>
                </a:tc>
              </a:tr>
              <a:tr h="402336">
                <a:tc>
                  <a:txBody>
                    <a:bodyPr wrap="square"/>
                    <a:lstStyle/>
                    <a:p>
                      <a:pPr algn="l"/>
                      <a:r>
                        <a:rPr sz="1400" b="0">
                          <a:solidFill>
                            <a:srgbClr val="141C1E"/>
                          </a:solidFill>
                          <a:latin typeface="Segoe UI"/>
                        </a:rPr>
                        <a:t>DA-ZVAD (ours) — one frozen encoder + a sentence</a:t>
                      </a:r>
                    </a:p>
                  </a:txBody>
                  <a:tcPr marL="128016" marR="128016" marT="45720" marB="45720" anchor="ctr">
                    <a:solidFill>
                      <a:srgbClr val="FFFFFF"/>
                    </a:solidFill>
                  </a:tcPr>
                </a:tc>
                <a:tc>
                  <a:txBody>
                    <a:bodyPr wrap="square"/>
                    <a:lstStyle/>
                    <a:p>
                      <a:pPr algn="l"/>
                      <a:r>
                        <a:rPr sz="1400" b="0">
                          <a:solidFill>
                            <a:srgbClr val="141C1E"/>
                          </a:solidFill>
                          <a:latin typeface="Segoe UI"/>
                        </a:rPr>
                        <a:t>67.7</a:t>
                      </a:r>
                    </a:p>
                  </a:txBody>
                  <a:tcPr marL="128016" marR="128016" marT="45720" marB="45720" anchor="ctr">
                    <a:solidFill>
                      <a:srgbClr val="FFFFFF"/>
                    </a:solidFill>
                  </a:tcPr>
                </a:tc>
                <a:tc>
                  <a:txBody>
                    <a:bodyPr wrap="square"/>
                    <a:lstStyle/>
                    <a:p>
                      <a:pPr algn="l"/>
                      <a:r>
                        <a:rPr sz="1400" b="0">
                          <a:solidFill>
                            <a:srgbClr val="141C1E"/>
                          </a:solidFill>
                          <a:latin typeface="Segoe UI"/>
                        </a:rPr>
                        <a:t>73.4</a:t>
                      </a:r>
                    </a:p>
                  </a:txBody>
                  <a:tcPr marL="128016" marR="128016" marT="45720" marB="45720" anchor="ctr">
                    <a:solidFill>
                      <a:srgbClr val="FFFFFF"/>
                    </a:solidFill>
                  </a:tcPr>
                </a:tc>
              </a:tr>
              <a:tr h="402336">
                <a:tc>
                  <a:txBody>
                    <a:bodyPr wrap="square"/>
                    <a:lstStyle/>
                    <a:p>
                      <a:pPr algn="l"/>
                      <a:r>
                        <a:rPr sz="1400" b="1">
                          <a:solidFill>
                            <a:srgbClr val="141C1E"/>
                          </a:solidFill>
                          <a:latin typeface="Segoe UI"/>
                        </a:rPr>
                        <a:t>AnyAnomaly [9] — 3 LVLM queries per segment</a:t>
                      </a:r>
                    </a:p>
                  </a:txBody>
                  <a:tcPr marL="128016" marR="128016" marT="45720" marB="45720" anchor="ctr">
                    <a:solidFill>
                      <a:srgbClr val="DDEDEB"/>
                    </a:solidFill>
                  </a:tcPr>
                </a:tc>
                <a:tc>
                  <a:txBody>
                    <a:bodyPr wrap="square"/>
                    <a:lstStyle/>
                    <a:p>
                      <a:pPr algn="l"/>
                      <a:r>
                        <a:rPr sz="1400" b="1">
                          <a:solidFill>
                            <a:srgbClr val="141C1E"/>
                          </a:solidFill>
                          <a:latin typeface="Segoe UI"/>
                        </a:rPr>
                        <a:t>87.3</a:t>
                      </a:r>
                    </a:p>
                  </a:txBody>
                  <a:tcPr marL="128016" marR="128016" marT="45720" marB="45720" anchor="ctr">
                    <a:solidFill>
                      <a:srgbClr val="DDEDEB"/>
                    </a:solidFill>
                  </a:tcPr>
                </a:tc>
                <a:tc>
                  <a:txBody>
                    <a:bodyPr wrap="square"/>
                    <a:lstStyle/>
                    <a:p>
                      <a:pPr algn="l"/>
                      <a:r>
                        <a:rPr sz="1400" b="1">
                          <a:solidFill>
                            <a:srgbClr val="141C1E"/>
                          </a:solidFill>
                          <a:latin typeface="Segoe UI"/>
                        </a:rPr>
                        <a:t>79.7</a:t>
                      </a:r>
                    </a:p>
                  </a:txBody>
                  <a:tcPr marL="128016" marR="128016" marT="45720" marB="45720" anchor="ctr">
                    <a:solidFill>
                      <a:srgbClr val="DDEDEB"/>
                    </a:solidFill>
                  </a:tcPr>
                </a:tc>
              </a:tr>
            </a:tbl>
          </a:graphicData>
        </a:graphic>
      </p:graphicFrame>
      <p:sp>
        <p:nvSpPr>
          <p:cNvPr id="8" name="Rectangle 7"/>
          <p:cNvSpPr/>
          <p:nvPr/>
        </p:nvSpPr>
        <p:spPr>
          <a:xfrm>
            <a:off x="777240" y="45537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4425696"/>
            <a:ext cx="10399471" cy="365760"/>
          </a:xfrm>
          <a:prstGeom prst="rect">
            <a:avLst/>
          </a:prstGeom>
          <a:noFill/>
        </p:spPr>
        <p:txBody>
          <a:bodyPr wrap="square" lIns="0" rIns="0" tIns="0" bIns="0">
            <a:spAutoFit/>
          </a:bodyPr>
          <a:lstStyle/>
          <a:p>
            <a:pPr>
              <a:lnSpc>
                <a:spcPct val="125000"/>
              </a:lnSpc>
            </a:pPr>
            <a:r>
              <a:rPr sz="1400" b="1">
                <a:solidFill>
                  <a:srgbClr val="141C1E"/>
                </a:solidFill>
                <a:latin typeface="Segoe UI"/>
              </a:rPr>
              <a:t>AnyAnomaly asks “is the thing I named happening?”  We ask “is anything happening that doesn’t belong here?”  </a:t>
            </a:r>
            <a:r>
              <a:rPr sz="1400">
                <a:solidFill>
                  <a:srgbClr val="3A4A4C"/>
                </a:solidFill>
                <a:latin typeface="Segoe UI"/>
              </a:rPr>
              <a:t>Theirs needs the operator to list what could go wrong. Ours needs a description of the ordinary. Their 79.7 is obtained by handing the model the benchmark’s own anomaly classes.</a:t>
            </a:r>
          </a:p>
        </p:txBody>
      </p:sp>
      <p:sp>
        <p:nvSpPr>
          <p:cNvPr id="10" name="Rectangle 9"/>
          <p:cNvSpPr/>
          <p:nvPr/>
        </p:nvSpPr>
        <p:spPr>
          <a:xfrm>
            <a:off x="777240" y="5376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5248656"/>
            <a:ext cx="10399471" cy="365760"/>
          </a:xfrm>
          <a:prstGeom prst="rect">
            <a:avLst/>
          </a:prstGeom>
          <a:noFill/>
        </p:spPr>
        <p:txBody>
          <a:bodyPr wrap="square" lIns="0" rIns="0" tIns="0" bIns="0">
            <a:spAutoFit/>
          </a:bodyPr>
          <a:lstStyle/>
          <a:p>
            <a:pPr>
              <a:lnSpc>
                <a:spcPct val="125000"/>
              </a:lnSpc>
            </a:pPr>
            <a:r>
              <a:rPr sz="1400" b="1">
                <a:solidFill>
                  <a:srgbClr val="141C1E"/>
                </a:solidFill>
                <a:latin typeface="Segoe UI"/>
              </a:rPr>
              <a:t>Most of our margin over the plain baselines is protocol, not language.  </a:t>
            </a:r>
            <a:r>
              <a:rPr sz="1400">
                <a:solidFill>
                  <a:srgbClr val="3A4A4C"/>
                </a:solidFill>
                <a:latin typeface="Segoe UI"/>
              </a:rPr>
              <a:t>With no descriptor we already reach 0.707 against zero-shot CLIP’s 60.9. The sentence adds 2.7 — the evidence for it is the mismatched condition, not this table.</a:t>
            </a:r>
          </a:p>
        </p:txBody>
      </p:sp>
      <p:sp>
        <p:nvSpPr>
          <p:cNvPr id="12" name="Rectangle 11"/>
          <p:cNvSpPr/>
          <p:nvPr/>
        </p:nvSpPr>
        <p:spPr>
          <a:xfrm>
            <a:off x="777240" y="5888736"/>
            <a:ext cx="10637215" cy="74980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888736"/>
            <a:ext cx="45720" cy="74980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6035040"/>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WE SOLVE THAT THEY DO NOT</a:t>
            </a:r>
          </a:p>
        </p:txBody>
      </p:sp>
      <p:sp>
        <p:nvSpPr>
          <p:cNvPr id="15" name="TextBox 14"/>
          <p:cNvSpPr txBox="1"/>
          <p:nvPr/>
        </p:nvSpPr>
        <p:spPr>
          <a:xfrm>
            <a:off x="1033271" y="6327648"/>
            <a:ext cx="10134295" cy="18287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Anomalies nobody listed in advance — and 0.824 on UCF-Crime, where LAVAD reports 0.803.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UCF-Crime and nearly vanishes on single-camera Avenue. A pre-registered prediction that it grows with scene diversity was refuted.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Metric sensitivity on UCF-Crime.  </a:t>
            </a:r>
            <a:r>
              <a:rPr sz="1450">
                <a:solidFill>
                  <a:srgbClr val="3A4A4C"/>
                </a:solidFill>
                <a:latin typeface="Segoe UI"/>
              </a:rPr>
              <a:t>Under per-video normalisation the context effect shrinks sharply; we report the pre-registered raw metric.</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No explanations yet.  </a:t>
            </a:r>
            <a:r>
              <a:rPr sz="1450">
                <a:solidFill>
                  <a:srgbClr val="3A4A4C"/>
                </a:solidFill>
                <a:latin typeface="Segoe UI"/>
              </a:rPr>
              <a:t>M4 now writes the camera sentences, but has not yet explained flagged events.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comes next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XD-Violence, same pre-registered protocol</a:t>
                      </a:r>
                    </a:p>
                  </a:txBody>
                  <a:tcPr marL="128016" marR="128016" marT="45720" marB="45720" anchor="ctr">
                    <a:solidFill>
                      <a:srgbClr val="FFFFFF"/>
                    </a:solidFill>
                  </a:tcPr>
                </a:tc>
                <a:tc>
                  <a:txBody>
                    <a:bodyPr wrap="square"/>
                    <a:lstStyle/>
                    <a:p>
                      <a:pPr algn="l"/>
                      <a:r>
                        <a:rPr sz="1350" b="0">
                          <a:solidFill>
                            <a:srgbClr val="141C1E"/>
                          </a:solidFill>
                          <a:latin typeface="Segoe UI"/>
                        </a:rPr>
                        <a:t>LAVAD's second benchmark; metric is average precision</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5F7F7"/>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M4 explanations under matched vs mismatched context</a:t>
                      </a:r>
                    </a:p>
                  </a:txBody>
                  <a:tcPr marL="128016" marR="128016" marT="45720" marB="45720" anchor="ctr">
                    <a:solidFill>
                      <a:srgbClr val="FFFFFF"/>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UCF-Crime with scores propagated to every frame</a:t>
                      </a:r>
                    </a:p>
                  </a:txBody>
                  <a:tcPr marL="128016" marR="128016" marT="45720" marB="45720" anchor="ctr">
                    <a:solidFill>
                      <a:srgbClr val="F5F7F7"/>
                    </a:solidFill>
                  </a:tcPr>
                </a:tc>
                <a:tc>
                  <a:txBody>
                    <a:bodyPr wrap="square"/>
                    <a:lstStyle/>
                    <a:p>
                      <a:pPr algn="l"/>
                      <a:r>
                        <a:rPr sz="1350" b="0">
                          <a:solidFill>
                            <a:srgbClr val="141C1E"/>
                          </a:solidFill>
                          <a:latin typeface="Segoe UI"/>
                        </a:rPr>
                        <a:t>Comparable to LAVAD under either reading of its protocol</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DONE SINCE PHASE 2</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Within-view control with a confidence interval; prototype direction measured; per-camera sentences written by the system (0.751); UCF-Crime under pre-registered predictions (0.824).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29</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[14, 15].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by one sentence per camera, which the system writes itself from a few frames.</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0.751 on ShanghaiTech and 0.824 on UCF-Crime with no training; a wrong description costs 0.105 —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needs several scenes: flat on single-camera Avenue, strong on ShanghaiTech and UCF-Crime — but it does not keep growing with more scenes, as a pre-registered test showed.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30</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  </a:t>
            </a:r>
            <a:r>
              <a:rPr sz="900">
                <a:solidFill>
                  <a:srgbClr val="141C1E"/>
                </a:solidFill>
                <a:latin typeface="Segoe UI"/>
              </a:rPr>
              <a:t>K. Wilkinghoff, N. Madan, J. M. Valverde, K. Nasrollahi, R. T. Ionescu, R. Wisniewski, T. B. Moeslund, W. Wang, Z.-H. Tan, Out of context: Reliability in multimodal anomaly detection requires contextual inference, arXiv preprint arXiv:2604.13252 (2026).</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  </a:t>
            </a:r>
            <a:r>
              <a:rPr sz="900">
                <a:solidFill>
                  <a:srgbClr val="141C1E"/>
                </a:solidFill>
                <a:latin typeface="Segoe UI"/>
              </a:rPr>
              <a:t>A. Radford, J. W. Kim, C. Hallacy, A. Ramesh, G. Goh, S. Agarwal, G. Sastry, A. Askell, P. Mishkin, J. Clark, G. Krueger, I. Sutskever, Learning transferable visual models from natural language supervision, in: Proceedings of the International Conference on Machine Learning (ICML), 2021, pp. 8748–8763.</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  </a:t>
            </a:r>
            <a:r>
              <a:rPr sz="900">
                <a:solidFill>
                  <a:srgbClr val="141C1E"/>
                </a:solidFill>
                <a:latin typeface="Segoe UI"/>
              </a:rPr>
              <a:t>J. Jeong, Y. Zou, T. Kim, D. Zhang, A. Ravichandran, O. Dabeer, WinCLIP: Zero-/few-shot anomaly classification and segmentation, in: Proceedings of the IEEE/CVF Conference on Computer Vision and Pattern Recognition (CVPR), 2023, pp. 19606–19616.</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[4]  </a:t>
            </a:r>
            <a:r>
              <a:rPr sz="900">
                <a:solidFill>
                  <a:srgbClr val="141C1E"/>
                </a:solidFill>
                <a:latin typeface="Segoe UI"/>
              </a:rPr>
              <a:t>Q. Zhou, G. Pang, Y. Tian, S. He, J. Chen, AnomalyCLIP: Object-agnostic prompt learning for zero-shot anomaly detection, in: Proceedings of the International Conference on Learning Representations (ICLR), 2024.</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[5]  </a:t>
            </a:r>
            <a:r>
              <a:rPr sz="900">
                <a:solidFill>
                  <a:srgbClr val="141C1E"/>
                </a:solidFill>
                <a:latin typeface="Segoe UI"/>
              </a:rPr>
              <a:t>P. Bergmann, M. Fauser, D. Sattlegger, C. Steger, MVTec AD — A comprehensive real-world dataset for unsupervised anomaly detection, in: Proceedings of the IEEE/CVF Conference on Computer Vision and Pattern Recognition (CVPR), 2019, pp. 9592–9600.</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[6]  </a:t>
            </a:r>
            <a:r>
              <a:rPr sz="900">
                <a:solidFill>
                  <a:srgbClr val="141C1E"/>
                </a:solidFill>
                <a:latin typeface="Segoe UI"/>
              </a:rPr>
              <a:t>K. Roth, L. Pemula, J. Zepeda, B. Schölkopf, T. Brox, P. Gehler, Towards total recall in industrial anomaly detection, in: Proceedings of the IEEE/CVF Conference on Computer Vision and Pattern Recognition (CVPR), 2022, pp. 14318–14328.</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[7]  </a:t>
            </a:r>
            <a:r>
              <a:rPr sz="900">
                <a:solidFill>
                  <a:srgbClr val="141C1E"/>
                </a:solidFill>
                <a:latin typeface="Segoe UI"/>
              </a:rPr>
              <a:t>L. Zanella, W. Menapace, M. Mancini, Y. Wang, E. Ricci, Harnessing large language models for training-free video anomaly detection, in: Proceedings of the IEEE/CVF Conference on Computer Vision and Pattern Recognition (CVPR), 2024, pp. 18527–18536.</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[8]  </a:t>
            </a:r>
            <a:r>
              <a:rPr sz="900">
                <a:solidFill>
                  <a:srgbClr val="141C1E"/>
                </a:solidFill>
                <a:latin typeface="Segoe UI"/>
              </a:rPr>
              <a:t>M. Ye, W. Liu, P. He, VERA: Explainable video anomaly detection via verbalized learning of vision-language models, in: Proceedings of the IEEE/CVF Conference on Computer Vision and Pattern Recognition (CVPR), 2025. ArXiv:2412.01095.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[9]  </a:t>
            </a:r>
            <a:r>
              <a:rPr sz="900">
                <a:solidFill>
                  <a:srgbClr val="141C1E"/>
                </a:solidFill>
                <a:latin typeface="Segoe UI"/>
              </a:rPr>
              <a:t>S. Ahn, Y. Jo, K. Lee, S. Kwon, I. Hong, S. Park, AnyAnomaly: Zero-shot customizable video anomaly detection with LVLM, in: Proceedings of the IEEE/CVF Winter Conference on Applications of Computer Vision (WACV), 2026, pp. 3026–3035.</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[10]  </a:t>
            </a:r>
            <a:r>
              <a:rPr sz="900">
                <a:solidFill>
                  <a:srgbClr val="141C1E"/>
                </a:solidFill>
                <a:latin typeface="Segoe UI"/>
              </a:rPr>
              <a:t>P. Wu, X. Zhou, G. Pang, Y. Sun, J. Liu, P. Wang, Y. Zhang, Open-vocabulary video anomaly detection, in: Proceedings of the IEEE/CVF Conference on Computer Vision and Pattern Recognition (CVPR), 2024, pp. 18297–18307.</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[11]  </a:t>
            </a:r>
            <a:r>
              <a:rPr sz="900">
                <a:solidFill>
                  <a:srgbClr val="141C1E"/>
                </a:solidFill>
                <a:latin typeface="Segoe UI"/>
              </a:rPr>
              <a:t>V. M. Patel, R. Gopalan, R. Li, R. Chellappa, Visual domain adaptation: A survey of recent advances, IEEE Signal Processing Magazine 32 (2015) 53–69.</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[12]  </a:t>
            </a:r>
            <a:r>
              <a:rPr sz="900">
                <a:solidFill>
                  <a:srgbClr val="141C1E"/>
                </a:solidFill>
                <a:latin typeface="Segoe UI"/>
              </a:rPr>
              <a:t>M. Wang, W. Deng, Deep visual domain adaptation: A survey, Neurocomputing 312 (2018) 135–153.</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[13]  </a:t>
            </a:r>
            <a:r>
              <a:rPr sz="900">
                <a:solidFill>
                  <a:srgbClr val="141C1E"/>
                </a:solidFill>
                <a:latin typeface="Segoe UI"/>
              </a:rPr>
              <a:t>G. Wilson, D. J. Cook, A survey of unsupervised deep domain adaptation, ACM Computing Surveys 51 (2020) 1–46.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31</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[14]  </a:t>
            </a:r>
            <a:r>
              <a:rPr sz="900">
                <a:solidFill>
                  <a:srgbClr val="141C1E"/>
                </a:solidFill>
                <a:latin typeface="Segoe UI"/>
              </a:rPr>
              <a:t>X. Liu, C. Yoo, F. Xing, H. Oh, G. El Fakhri, J.-W. Kang, J. Woo, Deep unsupervised domain adaptation: A review of recent advances and perspectives, APSIPA Transactions on Signal and Information Processing 11 (2022). ArXiv:2208.07422.</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[15]  </a:t>
            </a:r>
            <a:r>
              <a:rPr sz="900">
                <a:solidFill>
                  <a:srgbClr val="141C1E"/>
                </a:solidFill>
                <a:latin typeface="Segoe UI"/>
              </a:rPr>
              <a:t>P. Singhal, R. Walambe, S. Ramanna, K. Kotecha, Domain adaptation: Challenges, methods, datasets, and applications, IEEE Access 11 (2023) 6973–7020.</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[16]  </a:t>
            </a:r>
            <a:r>
              <a:rPr sz="900">
                <a:solidFill>
                  <a:srgbClr val="141C1E"/>
                </a:solidFill>
                <a:latin typeface="Segoe UI"/>
              </a:rPr>
              <a:t>L. Fan, F. Liu, C. Chen, Domain adaptation of large language models for geotechnical applications, Solid Earth Sciences (2026). Art. no. 100285.</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[17]  </a:t>
            </a:r>
            <a:r>
              <a:rPr sz="900">
                <a:solidFill>
                  <a:srgbClr val="141C1E"/>
                </a:solidFill>
                <a:latin typeface="Segoe UI"/>
              </a:rPr>
              <a:t>D. Guo, Y. Fu, S. Li, Ada-VAD: Domain adaptable video anomaly detection, in: Proceedings of the SIAM International Conference on Data Mining (SDM), 2024, pp. 634–642.</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[18]  </a:t>
            </a:r>
            <a:r>
              <a:rPr sz="900">
                <a:solidFill>
                  <a:srgbClr val="141C1E"/>
                </a:solidFill>
                <a:latin typeface="Segoe UI"/>
              </a:rPr>
              <a:t>Y. Lu, F. Yu, M. K. K. Reddy, Y. Wang, Few-shot scene-adaptive anomaly detection, in: Proceedings of the European Conference on Computer Vision (ECCV), 2020, pp. 125–141.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[19]  </a:t>
            </a:r>
            <a:r>
              <a:rPr sz="900">
                <a:solidFill>
                  <a:srgbClr val="141C1E"/>
                </a:solidFill>
                <a:latin typeface="Segoe UI"/>
              </a:rPr>
              <a:t>A. Aich, K.-C. Peng, A. K. Roy-Chowdhury, Cross-domain video anomaly detection without target domain adaptation, in: Proceedings of the IEEE/CVF Winter Conference on Applications of Computer Vision (WACV), 2023, pp. 2578–2590.</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[20]  </a:t>
            </a:r>
            <a:r>
              <a:rPr sz="900">
                <a:solidFill>
                  <a:srgbClr val="141C1E"/>
                </a:solidFill>
                <a:latin typeface="Segoe UI"/>
              </a:rPr>
              <a:t>W. M. Kouw, M. Loog, An introduction to domain adaptation and transfer learning, arXiv preprint arXiv:1812.11806 (2018).</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[21]  </a:t>
            </a:r>
            <a:r>
              <a:rPr sz="900">
                <a:solidFill>
                  <a:srgbClr val="141C1E"/>
                </a:solidFill>
                <a:latin typeface="Segoe UI"/>
              </a:rPr>
              <a:t>W. Liu, W. Luo, D. Lian, S. Gao, Future frame prediction for anomaly detection — A new baseline, in: Proceedings of the IEEE/CVF Conference on Computer Vision and Pattern Recognition (CVPR), 2018, pp. 6536–6545.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[22]  </a:t>
            </a:r>
            <a:r>
              <a:rPr sz="900">
                <a:solidFill>
                  <a:srgbClr val="141C1E"/>
                </a:solidFill>
                <a:latin typeface="Segoe UI"/>
              </a:rPr>
              <a:t>A. Dosovitskiy, L. Beyer, A. Kolesnikov, D. Weissenborn, X. Zhai, T. Unterthiner, M. Dehghani, M. Minderer, G. Heigold, S. Gelly, J. Uszkoreit, N. Houlsby, An image is worth 16x16 words: Transformers for image recognition at scale, in: Proceedings of the International Conference on Learning Representations (ICLR), 2021.</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[23]  </a:t>
            </a:r>
            <a:r>
              <a:rPr sz="900">
                <a:solidFill>
                  <a:srgbClr val="141C1E"/>
                </a:solidFill>
                <a:latin typeface="Segoe UI"/>
              </a:rPr>
              <a:t>A. Vaswani, N. Shazeer, N. Parmar, J. Uszkoreit, L. Jones, A. N. Gomez, L. Kaiser, I. Polosukhin, Attention is all you need, in: Advances in Neural Information Processing Systems (NeurIPS), 2017, pp. 5998–6008.</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[24]  </a:t>
            </a:r>
            <a:r>
              <a:rPr sz="900">
                <a:solidFill>
                  <a:srgbClr val="141C1E"/>
                </a:solidFill>
                <a:latin typeface="Segoe UI"/>
              </a:rPr>
              <a:t>H. Liu, C. Li, Q. Wu, Y. J. Lee, Visual instruction tuning, in: Advances in Neural Information Processing Systems (NeurIPS), 2023, pp. 34892–34916.</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[25]  </a:t>
            </a:r>
            <a:r>
              <a:rPr sz="900">
                <a:solidFill>
                  <a:srgbClr val="141C1E"/>
                </a:solidFill>
                <a:latin typeface="Segoe UI"/>
              </a:rPr>
              <a:t>T. Dettmers, A. Pagnoni, A. Holtzman, L. Zettlemoyer, QLoRA: Efficient finetuning of quantized LLMs, in: Advances in Neural Information Processing Systems (NeurIPS), 2023, pp. 10088–10115.</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[26]  </a:t>
            </a:r>
            <a:r>
              <a:rPr sz="900">
                <a:solidFill>
                  <a:srgbClr val="141C1E"/>
                </a:solidFill>
                <a:latin typeface="Segoe UI"/>
              </a:rPr>
              <a:t>C. Lu, J. Shi, J. Jia, Abnormal event detection at 150 FPS in MATLAB, in: Proceedings of the IEEE International Conference on Computer Vision (ICCV), 2013, pp. 2720–2727.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3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32</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[27]  </a:t>
            </a:r>
            <a:r>
              <a:rPr sz="900">
                <a:solidFill>
                  <a:srgbClr val="141C1E"/>
                </a:solidFill>
                <a:latin typeface="Segoe UI"/>
              </a:rPr>
              <a:t>W. Sultani, C. Chen, M. Shah, Real-world anomaly detection in surveillance videos, in: Proceedings of the IEEE/CVF Conference on Computer Vision and Pattern Recognition (CVPR), 2018, pp. 6479–6488.</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[28]  </a:t>
            </a:r>
            <a:r>
              <a:rPr sz="900">
                <a:solidFill>
                  <a:srgbClr val="141C1E"/>
                </a:solidFill>
                <a:latin typeface="Segoe UI"/>
              </a:rPr>
              <a:t>T. Fawcett, An introduction to ROC analysis, Pattern Recognition Letters 27 (2006) 861–874.</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[29]  </a:t>
            </a:r>
            <a:r>
              <a:rPr sz="900">
                <a:solidFill>
                  <a:srgbClr val="141C1E"/>
                </a:solidFill>
                <a:latin typeface="Segoe UI"/>
              </a:rPr>
              <a:t>A. P. Bradley, The use of the area under the ROC curve in the evaluation of machine learning algorithms, Pattern Recognition 30 (1997) 1145–1159.</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[30]  </a:t>
            </a:r>
            <a:r>
              <a:rPr sz="900">
                <a:solidFill>
                  <a:srgbClr val="141C1E"/>
                </a:solidFill>
                <a:latin typeface="Segoe UI"/>
              </a:rPr>
              <a:t>J. Davis, M. Goadrich, The relationship between precision-recall and ROC curves, in: Proceedings of the International Conference on Machine Learning (ICML), 2006, pp. 233–240.</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[31]  </a:t>
            </a:r>
            <a:r>
              <a:rPr sz="900">
                <a:solidFill>
                  <a:srgbClr val="141C1E"/>
                </a:solidFill>
                <a:latin typeface="Segoe UI"/>
              </a:rPr>
              <a:t>B. Schölkopf, J. C. Platt, J. Shawe-Taylor, A. J. Smola, R. C. Williamson, Estimating the support of a high-dimensional distribution, Neural Computation 13 (2001) 1443–1471.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[32]  </a:t>
            </a:r>
            <a:r>
              <a:rPr sz="900">
                <a:solidFill>
                  <a:srgbClr val="141C1E"/>
                </a:solidFill>
                <a:latin typeface="Segoe UI"/>
              </a:rPr>
              <a:t>H. Lv, C. Chen, Z. Cui, C. Xu, Y. Li, J. Yang, Learning normal dynamics in videos with meta prototype network, in: Proceedings of the IEEE/CVF Conference on Computer Vision and Pattern Recognition (CVPR), 2021, pp. 15425–15434.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[33]  </a:t>
            </a:r>
            <a:r>
              <a:rPr sz="900">
                <a:solidFill>
                  <a:srgbClr val="141C1E"/>
                </a:solidFill>
                <a:latin typeface="Segoe UI"/>
              </a:rPr>
              <a:t>C. Yan, S. Zhang, Y. Liu, G. Pang, W. Wang, Feature prediction diffusion model for video anomaly detection, in: Proceedings of the IEEE/CVF International Conference on Computer Vision (ICCV), 2023, pp. 5527–5537.</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[34]  </a:t>
            </a:r>
            <a:r>
              <a:rPr sz="900">
                <a:solidFill>
                  <a:srgbClr val="141C1E"/>
                </a:solidFill>
                <a:latin typeface="Segoe UI"/>
              </a:rPr>
              <a:t>H. Zhou, J. Cai, Y. Ye, Y. Feng, C. Gao, J. Yu, Z. Song, W. Yang, Video anomaly detection with motion and appearance guided patch diffusion model, arXiv preprint arXiv:2412.09026 (2024).</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[35]  </a:t>
            </a:r>
            <a:r>
              <a:rPr sz="900">
                <a:solidFill>
                  <a:srgbClr val="141C1E"/>
                </a:solidFill>
                <a:latin typeface="Segoe UI"/>
              </a:rPr>
              <a:t>J. Micorek, H. Possegger, D. Narnhofer, H. Bischof, M. Kampel, MULDE: Multiscale log-density estimation via denoising score matching for video anomaly detection, in: Proceedings of the IEEE/CVF Conference on Computer Vision and Pattern Recognition (CVPR), 2024, pp. 18868–18877.</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[36]  </a:t>
            </a:r>
            <a:r>
              <a:rPr sz="900">
                <a:solidFill>
                  <a:srgbClr val="141C1E"/>
                </a:solidFill>
                <a:latin typeface="Segoe UI"/>
              </a:rPr>
              <a:t>R. Girdhar, A. El-Nouby, Z. Liu, M. Singh, K. V. Alwala, A. Joulin, I. Misra, ImageBind: One embedding space to bind them all, in: Proceedings of the IEEE/CVF Conference on Computer Vision and Pattern Recognition (CVPR), 2023, pp. 15180–15190.</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[37]  </a:t>
            </a:r>
            <a:r>
              <a:rPr sz="900">
                <a:solidFill>
                  <a:srgbClr val="141C1E"/>
                </a:solidFill>
                <a:latin typeface="Segoe UI"/>
              </a:rPr>
              <a:t>M. Maaz, H. Rasheed, S. Khan, F. Khan, Video-ChatGPT: Towards detailed video understanding via large vision and language models, in: Proceedings of the 62nd Annual Meeting of the Association for Computational Linguistics (ACL), 2024, pp. 12585–12602.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