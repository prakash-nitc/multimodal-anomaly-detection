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camera with one sentence the system writes itself,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simple - this slide is for anyone on the panel who is not in this field. Left: a busy crossing, hundreds of people, all normal. Middle: a collision on a crossing - that is an anomaly. Right: what a detector produces, a score for every frame that rises at the unusual moment and crosses the alarm line; it is an illustration. Then the three boxes, one line each. These photos are not from our data - our data starts on page 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Point at the SETUP box: LLaVA captions a new camera's first frames and that caption is the camera's sentence - no human needed. Then stop on M3, the only place the domain enters, and its one rule: the sentence goes into the normal prompts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training data (VERA), or entangled in an LLM prior (LAVAD), or paired with trained detection heads (OVVAD).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Three video benchmarks now, UCF-Crime added in Phase 3; MVTec is only the image baseline.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no more. Point down one column and say the scene never changes - only the event does. Then one line on UCF-Crime: there, almost every video is a different place, which is why each gets its own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proof that the diagnosis was not invented after the fact. Say clearly that neither panel uses labels. The cameras are separate regions of the space and sit at different similarity levels, which is exactly why pooling raw scores destroyed the ordering.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 on the benchmark metric. Do not say 'the text redefines normal' - page 17 explains why.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of the previous table. Trace the two arrows with a finger. The grey arrow points the wrong way and the orange one points the right way, and the only thing separating them is where the sentence was attached.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persuasive slide in the deck for a sceptical panel, because there is no aggregation to argue with - two runs over identical frames with identical frozen weights. Say that the curves coincide outside the event on purpose: that is the control.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sits inside the spread, so we report direction only. Then the Phase 3 check, said plainly: judged only inside each video, the gap is +0.006. The sentence mostly shifts each video's score level - it tells cameras apart - rather than re-ranking frames. We found this ourselves and the audit is the next experiment. Saying it first is what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weakness before anyone asks. The error bars overlap, so the top three are statistically tied. The claim is that nothing we added beat plain language, which is a negative result about our own elaborations, not a win over the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 - the next slide, and UCF-Crime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 The last row is Phase 3: ~290 scenes gave no bigger gap than 12, so the claim is 'needs scenes', not 'grows with scenes'.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spread yourself. Three views are negative and two nearly reach the pooled figure, so the result is a shift in the mean rather than a collapse everywhere. Saying this before the panel spots it is the difference between a caveat and a hole.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 starts here. Say what changed: each camera gets its own sentence, and LLaVA writes it from the first three frames - no human, no labels. Point at the swapped bars: even the best swap loses, so the sentence works by matching its camera. Do not claim LLaVA beats a human; 0.751 against 0.749 is noise.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slide for credibility. The predictions were committed to git before any score existed. Say P1 failed before anyone asks, and that the claim was narrowed because of it. On LAVAD: 'comparable or better'. LAVAD samples every 16th frame too, but other papers' numbers can differ by small protocol details. AnyAnomaly gets 0.807 here - below us, unlike on the campus benchmarks.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borrowed-sentence bar first: worse than no sentence at all. That is the clearest evidence that the sentence tells the model where it is. Then the dashed LAVAD line, with the protocol caveat.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73.4 matches the benchmark's own 2018 baseline using none of its training data. Then the reframe - AnyAnomaly is handed the class list, we are not. Then the UCF column: first of six training-free methods, above LAVAD and AnyAnomaly - say 'comparable or better', since these are other papers' numbers. The ‡ rows come from LAVAD's paper, the rest from AnyAnomaly's.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Dwell on the first two: we found ourselves that the pooled metric rewards score shifts, and that applies to every CLIP-based zero-shot VAD paper, not only ours.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 comes first because it decides how the result is described. Then XD-Violence, LAVAD's other benchmark. NWPU Campus is the one dataset where the same event is normal in one scene and abnormal in another - the direct test of concept shift. Point at the box at the bottom for what is done.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Say plainly that one registered prediction failed and the claim was narrowed, and that the within-video check is being audited. Then hand over.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here because they are the evidence base for the gap: the six surveys are what let us say the field scopes concept shift out. Be ready to say which one contains the quote - it is Liu et al. 2022.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not read aloud. If asked how the work is positioned, this slide is the answer: the frozen models are all off-the-shelf, the benchmarks and metrics are the standard ones, and every method we compare against is here.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reference slide exists because the comparative analysis added seven entries. If asked which of these you actually read rather than cited from a table: the six DA surveys, AnyAnomaly, LAVAD and WinCLIP. The one-class figures are as tabulated by AnyAnomaly, and the slide says 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3 PROGRESS  ·  SEMESTER 3</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camera with one sentence the system writes itself — no training, no labels,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INTRODUCTION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is video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pic>
        <p:nvPicPr>
          <p:cNvPr id="7" name="Picture 6" descr="fig_intro_anomaly_detection.png"/>
          <p:cNvPicPr>
            <a:picLocks noChangeAspect="1"/>
          </p:cNvPicPr>
          <p:nvPr/>
        </p:nvPicPr>
        <p:blipFill>
          <a:blip r:embed="rId2"/>
          <a:stretch>
            <a:fillRect/>
          </a:stretch>
        </p:blipFill>
        <p:spPr>
          <a:xfrm>
            <a:off x="975207" y="1645920"/>
            <a:ext cx="10241280" cy="3064625"/>
          </a:xfrm>
          <a:prstGeom prst="rect">
            <a:avLst/>
          </a:prstGeom>
        </p:spPr>
      </p:pic>
      <p:sp>
        <p:nvSpPr>
          <p:cNvPr id="8" name="Rectangle 7"/>
          <p:cNvSpPr/>
          <p:nvPr/>
        </p:nvSpPr>
        <p:spPr>
          <a:xfrm>
            <a:off x="777240" y="4820273"/>
            <a:ext cx="3393338" cy="109728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911713"/>
            <a:ext cx="3027578"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WHAT</a:t>
            </a:r>
          </a:p>
        </p:txBody>
      </p:sp>
      <p:sp>
        <p:nvSpPr>
          <p:cNvPr id="10" name="TextBox 9"/>
          <p:cNvSpPr txBox="1"/>
          <p:nvPr/>
        </p:nvSpPr>
        <p:spPr>
          <a:xfrm>
            <a:off x="960120" y="5149457"/>
            <a:ext cx="3027578" cy="731520"/>
          </a:xfrm>
          <a:prstGeom prst="rect">
            <a:avLst/>
          </a:prstGeom>
          <a:noFill/>
        </p:spPr>
        <p:txBody>
          <a:bodyPr wrap="square" lIns="0" rIns="0" tIns="0" bIns="0">
            <a:spAutoFit/>
          </a:bodyPr>
          <a:lstStyle/>
          <a:p>
            <a:pPr algn="l">
              <a:lnSpc>
                <a:spcPct val="115000"/>
              </a:lnSpc>
            </a:pPr>
            <a:r>
              <a:rPr sz="1250" b="0" i="0">
                <a:solidFill>
                  <a:srgbClr val="141C1E"/>
                </a:solidFill>
                <a:latin typeface="Segoe UI"/>
              </a:rPr>
              <a:t>Find moments in video that do not fit what usually happens at that place — a collision, a fight, a fall.</a:t>
            </a:r>
          </a:p>
        </p:txBody>
      </p:sp>
      <p:sp>
        <p:nvSpPr>
          <p:cNvPr id="11" name="Rectangle 10"/>
          <p:cNvSpPr/>
          <p:nvPr/>
        </p:nvSpPr>
        <p:spPr>
          <a:xfrm>
            <a:off x="4399178" y="4820273"/>
            <a:ext cx="3393338" cy="109728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82058" y="4911713"/>
            <a:ext cx="3027578" cy="228600"/>
          </a:xfrm>
          <a:prstGeom prst="rect">
            <a:avLst/>
          </a:prstGeom>
          <a:noFill/>
        </p:spPr>
        <p:txBody>
          <a:bodyPr wrap="square" lIns="0" rIns="0" tIns="0" bIns="0">
            <a:spAutoFit/>
          </a:bodyPr>
          <a:lstStyle/>
          <a:p>
            <a:pPr algn="l">
              <a:lnSpc>
                <a:spcPct val="100000"/>
              </a:lnSpc>
            </a:pPr>
            <a:r>
              <a:rPr sz="1100" b="1" i="0">
                <a:solidFill>
                  <a:srgbClr val="141C1E"/>
                </a:solidFill>
                <a:latin typeface="Segoe UI"/>
              </a:rPr>
              <a:t>HOW</a:t>
            </a:r>
          </a:p>
        </p:txBody>
      </p:sp>
      <p:sp>
        <p:nvSpPr>
          <p:cNvPr id="13" name="TextBox 12"/>
          <p:cNvSpPr txBox="1"/>
          <p:nvPr/>
        </p:nvSpPr>
        <p:spPr>
          <a:xfrm>
            <a:off x="4582058" y="5149457"/>
            <a:ext cx="3027578" cy="731520"/>
          </a:xfrm>
          <a:prstGeom prst="rect">
            <a:avLst/>
          </a:prstGeom>
          <a:noFill/>
        </p:spPr>
        <p:txBody>
          <a:bodyPr wrap="square" lIns="0" rIns="0" tIns="0" bIns="0">
            <a:spAutoFit/>
          </a:bodyPr>
          <a:lstStyle/>
          <a:p>
            <a:pPr algn="l">
              <a:lnSpc>
                <a:spcPct val="115000"/>
              </a:lnSpc>
            </a:pPr>
            <a:r>
              <a:rPr sz="1250" b="0" i="0">
                <a:solidFill>
                  <a:srgbClr val="141C1E"/>
                </a:solidFill>
                <a:latin typeface="Segoe UI"/>
              </a:rPr>
              <a:t>Score every frame. When the score crosses a threshold, flag that moment for a human to check.</a:t>
            </a:r>
          </a:p>
        </p:txBody>
      </p:sp>
      <p:sp>
        <p:nvSpPr>
          <p:cNvPr id="14" name="Rectangle 13"/>
          <p:cNvSpPr/>
          <p:nvPr/>
        </p:nvSpPr>
        <p:spPr>
          <a:xfrm>
            <a:off x="8021116" y="4820273"/>
            <a:ext cx="3393338" cy="109728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03996" y="4911713"/>
            <a:ext cx="3027578" cy="228600"/>
          </a:xfrm>
          <a:prstGeom prst="rect">
            <a:avLst/>
          </a:prstGeom>
          <a:noFill/>
        </p:spPr>
        <p:txBody>
          <a:bodyPr wrap="square" lIns="0" rIns="0" tIns="0" bIns="0">
            <a:spAutoFit/>
          </a:bodyPr>
          <a:lstStyle/>
          <a:p>
            <a:pPr algn="l">
              <a:lnSpc>
                <a:spcPct val="100000"/>
              </a:lnSpc>
            </a:pPr>
            <a:r>
              <a:rPr sz="1100" b="1" i="0">
                <a:solidFill>
                  <a:srgbClr val="8A5715"/>
                </a:solidFill>
                <a:latin typeface="Segoe UI"/>
              </a:rPr>
              <a:t>WHY IT IS HARD</a:t>
            </a:r>
          </a:p>
        </p:txBody>
      </p:sp>
      <p:sp>
        <p:nvSpPr>
          <p:cNvPr id="16" name="TextBox 15"/>
          <p:cNvSpPr txBox="1"/>
          <p:nvPr/>
        </p:nvSpPr>
        <p:spPr>
          <a:xfrm>
            <a:off x="8203996" y="5149457"/>
            <a:ext cx="3027578" cy="731520"/>
          </a:xfrm>
          <a:prstGeom prst="rect">
            <a:avLst/>
          </a:prstGeom>
          <a:noFill/>
        </p:spPr>
        <p:txBody>
          <a:bodyPr wrap="square" lIns="0" rIns="0" tIns="0" bIns="0">
            <a:spAutoFit/>
          </a:bodyPr>
          <a:lstStyle/>
          <a:p>
            <a:pPr algn="l">
              <a:lnSpc>
                <a:spcPct val="115000"/>
              </a:lnSpc>
            </a:pPr>
            <a:r>
              <a:rPr sz="1250" b="0" i="0">
                <a:solidFill>
                  <a:srgbClr val="141C1E"/>
                </a:solidFill>
                <a:latin typeface="Segoe UI"/>
              </a:rPr>
              <a:t>Anomalies are rare and varied, so no one can collect examples of them all. Systems learn “normal” instead.</a:t>
            </a:r>
          </a:p>
        </p:txBody>
      </p:sp>
      <p:sp>
        <p:nvSpPr>
          <p:cNvPr id="17" name="TextBox 16"/>
          <p:cNvSpPr txBox="1"/>
          <p:nvPr/>
        </p:nvSpPr>
        <p:spPr>
          <a:xfrm>
            <a:off x="777240" y="5954129"/>
            <a:ext cx="9905695" cy="201168"/>
          </a:xfrm>
          <a:prstGeom prst="rect">
            <a:avLst/>
          </a:prstGeom>
          <a:noFill/>
        </p:spPr>
        <p:txBody>
          <a:bodyPr wrap="square" lIns="0" rIns="0" tIns="0" bIns="0">
            <a:spAutoFit/>
          </a:bodyPr>
          <a:lstStyle/>
          <a:p>
            <a:pPr algn="l">
              <a:lnSpc>
                <a:spcPct val="100000"/>
              </a:lnSpc>
            </a:pPr>
            <a:r>
              <a:rPr sz="850" b="0" i="1">
                <a:solidFill>
                  <a:srgbClr val="617274"/>
                </a:solidFill>
                <a:latin typeface="Segoe UI"/>
              </a:rPr>
              <a:t>Photos: “Scramble from above, SHIBUYA SKY” by Sei F; “Japanese car accident” by Shuets Udono — both CC BY-SA 2.0, via Wikimedia Commons, cropped. Right panel: illustration.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5694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44144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474720"/>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474720"/>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76072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 [11–15, 20]</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[14].   Singhal et al. [15]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[1] argues the same premise independently; what is missing is a test of whether supplied context does any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one sentence per camera, written by the system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pic>
        <p:nvPicPr>
          <p:cNvPr id="7" name="Picture 6" descr="dazvad_architecture.png"/>
          <p:cNvPicPr>
            <a:picLocks noChangeAspect="1"/>
          </p:cNvPicPr>
          <p:nvPr/>
        </p:nvPicPr>
        <p:blipFill>
          <a:blip r:embed="rId2"/>
          <a:stretch>
            <a:fillRect/>
          </a:stretch>
        </p:blipFill>
        <p:spPr>
          <a:xfrm>
            <a:off x="777240" y="1645920"/>
            <a:ext cx="8092440" cy="4768759"/>
          </a:xfrm>
          <a:prstGeom prst="rect">
            <a:avLst/>
          </a:prstGeom>
        </p:spPr>
      </p:pic>
      <p:sp>
        <p:nvSpPr>
          <p:cNvPr id="8" name="TextBox 7"/>
          <p:cNvSpPr txBox="1"/>
          <p:nvPr/>
        </p:nvSpPr>
        <p:spPr>
          <a:xfrm>
            <a:off x="9144000" y="1645920"/>
            <a:ext cx="26517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9144000" y="219456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81744" y="2066543"/>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M1  </a:t>
            </a:r>
            <a:r>
              <a:rPr sz="1150">
                <a:solidFill>
                  <a:srgbClr val="3A4A4C"/>
                </a:solidFill>
                <a:latin typeface="Segoe UI"/>
              </a:rPr>
              <a:t>Frozen CLIP [4] scores each frame: normal vs abnormal text.</a:t>
            </a:r>
          </a:p>
        </p:txBody>
      </p:sp>
      <p:sp>
        <p:nvSpPr>
          <p:cNvPr id="11" name="Rectangle 10"/>
          <p:cNvSpPr/>
          <p:nvPr/>
        </p:nvSpPr>
        <p:spPr>
          <a:xfrm>
            <a:off x="9144000" y="294436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81744" y="2816351"/>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M2  </a:t>
            </a:r>
            <a:r>
              <a:rPr sz="1150">
                <a:solidFill>
                  <a:srgbClr val="3A4A4C"/>
                </a:solidFill>
                <a:latin typeface="Segoe UI"/>
              </a:rPr>
              <a:t>Moving average over time — no parameters.</a:t>
            </a:r>
          </a:p>
        </p:txBody>
      </p:sp>
      <p:sp>
        <p:nvSpPr>
          <p:cNvPr id="13" name="Rectangle 12"/>
          <p:cNvSpPr/>
          <p:nvPr/>
        </p:nvSpPr>
        <p:spPr>
          <a:xfrm>
            <a:off x="9144000" y="3694175"/>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81744" y="3566159"/>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M3  </a:t>
            </a:r>
            <a:r>
              <a:rPr sz="1150">
                <a:solidFill>
                  <a:srgbClr val="3A4A4C"/>
                </a:solidFill>
                <a:latin typeface="Segoe UI"/>
              </a:rPr>
              <a:t>One scene sentence per camera, in the normal prompts only.</a:t>
            </a:r>
          </a:p>
        </p:txBody>
      </p:sp>
      <p:sp>
        <p:nvSpPr>
          <p:cNvPr id="15" name="Rectangle 14"/>
          <p:cNvSpPr/>
          <p:nvPr/>
        </p:nvSpPr>
        <p:spPr>
          <a:xfrm>
            <a:off x="9144000" y="4443983"/>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81744" y="4315968"/>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M4  </a:t>
            </a:r>
            <a:r>
              <a:rPr sz="1150">
                <a:solidFill>
                  <a:srgbClr val="3A4A4C"/>
                </a:solidFill>
                <a:latin typeface="Segoe UI"/>
              </a:rPr>
              <a:t>Frozen LLaVA [24] writes each camera's sentence, and explains events.</a:t>
            </a:r>
          </a:p>
        </p:txBody>
      </p:sp>
      <p:sp>
        <p:nvSpPr>
          <p:cNvPr id="17" name="Rectangle 16"/>
          <p:cNvSpPr/>
          <p:nvPr/>
        </p:nvSpPr>
        <p:spPr>
          <a:xfrm>
            <a:off x="9144000" y="5257800"/>
            <a:ext cx="2651760"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44000" y="52578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00032" y="5404104"/>
            <a:ext cx="2148839"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NEW CAMERA</a:t>
            </a:r>
          </a:p>
        </p:txBody>
      </p:sp>
      <p:sp>
        <p:nvSpPr>
          <p:cNvPr id="20" name="TextBox 19"/>
          <p:cNvSpPr txBox="1"/>
          <p:nvPr/>
        </p:nvSpPr>
        <p:spPr>
          <a:xfrm>
            <a:off x="9400032" y="5696712"/>
            <a:ext cx="2148839"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Caption its first frames. No labels, no gradients.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training data [9], or entangled in an LLM prior [3], or paired with trained detection heads [10].</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graphicFrame>
        <p:nvGraphicFramePr>
          <p:cNvPr id="7" name="Table 6"/>
          <p:cNvGraphicFramePr>
            <a:graphicFrameLocks noGrp="1"/>
          </p:cNvGraphicFramePr>
          <p:nvPr/>
        </p:nvGraphicFramePr>
        <p:xfrm>
          <a:off x="777240" y="1783080"/>
          <a:ext cx="10634472" cy="2743200"/>
        </p:xfrm>
        <a:graphic>
          <a:graphicData uri="http://schemas.openxmlformats.org/drawingml/2006/table">
            <a:tbl>
              <a:tblPr>
                <a:tableStyleId>{5C22544A-7EE6-4342-B048-85BDC9FD1C3A}</a:tableStyleId>
              </a:tblPr>
              <a:tblGrid>
                <a:gridCol w="1463040"/>
                <a:gridCol w="9171432"/>
              </a:tblGrid>
              <a:tr h="457200">
                <a:tc>
                  <a:txBody>
                    <a:bodyPr wrap="square"/>
                    <a:lstStyle/>
                    <a:p>
                      <a:pPr algn="l"/>
                      <a:r>
                        <a:rPr sz="1400" b="0">
                          <a:solidFill>
                            <a:srgbClr val="141C1E"/>
                          </a:solidFill>
                          <a:latin typeface="Segoe UI"/>
                        </a:rPr>
                        <a:t>Video</a:t>
                      </a:r>
                    </a:p>
                  </a:txBody>
                  <a:tcPr marL="128016" marR="128016" marT="45720" marB="45720" anchor="ctr">
                    <a:solidFill>
                      <a:srgbClr val="F5F7F7"/>
                    </a:solidFill>
                  </a:tcPr>
                </a:tc>
                <a:tc>
                  <a:txBody>
                    <a:bodyPr wrap="square"/>
                    <a:lstStyle/>
                    <a:p>
                      <a:pPr algn="l"/>
                      <a:r>
                        <a:rPr sz="1400" b="0">
                          <a:solidFill>
                            <a:srgbClr val="141C1E"/>
                          </a:solidFill>
                          <a:latin typeface="Segoe UI"/>
                        </a:rPr>
                        <a:t>ShanghaiTech [21] (12 views) · CUHK Avenue [26] (1 view) · UCF-Crime [27] (~290 scenes)</a:t>
                      </a:r>
                    </a:p>
                  </a:txBody>
                  <a:tcPr marL="128016" marR="128016" marT="45720" marB="45720" anchor="ctr">
                    <a:solidFill>
                      <a:srgbClr val="F5F7F7"/>
                    </a:solidFill>
                  </a:tcPr>
                </a:tc>
              </a:tr>
              <a:tr h="457200">
                <a:tc>
                  <a:txBody>
                    <a:bodyPr wrap="square"/>
                    <a:lstStyle/>
                    <a:p>
                      <a:pPr algn="l"/>
                      <a:r>
                        <a:rPr sz="1400" b="0">
                          <a:solidFill>
                            <a:srgbClr val="141C1E"/>
                          </a:solidFill>
                          <a:latin typeface="Segoe UI"/>
                        </a:rPr>
                        <a:t>Image</a:t>
                      </a:r>
                    </a:p>
                  </a:txBody>
                  <a:tcPr marL="128016" marR="128016" marT="45720" marB="45720" anchor="ctr">
                    <a:solidFill>
                      <a:srgbClr val="FFFFFF"/>
                    </a:solidFill>
                  </a:tcPr>
                </a:tc>
                <a:tc>
                  <a:txBody>
                    <a:bodyPr wrap="square"/>
                    <a:lstStyle/>
                    <a:p>
                      <a:pPr algn="l"/>
                      <a:r>
                        <a:rPr sz="1400" b="0">
                          <a:solidFill>
                            <a:srgbClr val="141C1E"/>
                          </a:solidFill>
                          <a:latin typeface="Segoe UI"/>
                        </a:rPr>
                        <a:t>MVTec AD [7] — detection baseline only</a:t>
                      </a:r>
                    </a:p>
                  </a:txBody>
                  <a:tcPr marL="128016" marR="128016" marT="45720" marB="45720" anchor="ctr">
                    <a:solidFill>
                      <a:srgbClr val="FFFFFF"/>
                    </a:solidFill>
                  </a:tcPr>
                </a:tc>
              </a:tr>
              <a:tr h="457200">
                <a:tc>
                  <a:txBody>
                    <a:bodyPr wrap="square"/>
                    <a:lstStyle/>
                    <a:p>
                      <a:pPr algn="l"/>
                      <a:r>
                        <a:rPr sz="1400" b="0">
                          <a:solidFill>
                            <a:srgbClr val="141C1E"/>
                          </a:solidFill>
                          <a:latin typeface="Segoe UI"/>
                        </a:rPr>
                        <a:t>Scale</a:t>
                      </a:r>
                    </a:p>
                  </a:txBody>
                  <a:tcPr marL="128016" marR="128016" marT="45720" marB="45720" anchor="ctr">
                    <a:solidFill>
                      <a:srgbClr val="F5F7F7"/>
                    </a:solidFill>
                  </a:tcPr>
                </a:tc>
                <a:tc>
                  <a:txBody>
                    <a:bodyPr wrap="square"/>
                    <a:lstStyle/>
                    <a:p>
                      <a:pPr algn="l"/>
                      <a:r>
                        <a:rPr sz="1400" b="0">
                          <a:solidFill>
                            <a:srgbClr val="141C1E"/>
                          </a:solidFill>
                          <a:latin typeface="Segoe UI"/>
                        </a:rPr>
                        <a:t>418 test videos · 97,752 sampled frames · frame-level ground truth</a:t>
                      </a:r>
                    </a:p>
                  </a:txBody>
                  <a:tcPr marL="128016" marR="128016" marT="45720" marB="45720" anchor="ctr">
                    <a:solidFill>
                      <a:srgbClr val="F5F7F7"/>
                    </a:solidFill>
                  </a:tcPr>
                </a:tc>
              </a:tr>
              <a:tr h="457200">
                <a:tc>
                  <a:txBody>
                    <a:bodyPr wrap="square"/>
                    <a:lstStyle/>
                    <a:p>
                      <a:pPr algn="l"/>
                      <a:r>
                        <a:rPr sz="1400" b="0">
                          <a:solidFill>
                            <a:srgbClr val="141C1E"/>
                          </a:solidFill>
                          <a:latin typeface="Segoe UI"/>
                        </a:rPr>
                        <a:t>Models</a:t>
                      </a:r>
                    </a:p>
                  </a:txBody>
                  <a:tcPr marL="128016" marR="128016" marT="45720" marB="45720" anchor="ctr">
                    <a:solidFill>
                      <a:srgbClr val="FFFFFF"/>
                    </a:solidFill>
                  </a:tcPr>
                </a:tc>
                <a:tc>
                  <a:txBody>
                    <a:bodyPr wrap="square"/>
                    <a:lstStyle/>
                    <a:p>
                      <a:pPr algn="l"/>
                      <a:r>
                        <a:rPr sz="1400" b="0">
                          <a:solidFill>
                            <a:srgbClr val="141C1E"/>
                          </a:solidFill>
                          <a:latin typeface="Segoe UI"/>
                        </a:rPr>
                        <a:t>CLIP ViT-L/14 [4, 22] (LAION-2B) and LLaVA-1.5-7B [24] 4-bit — all frozen</a:t>
                      </a:r>
                    </a:p>
                  </a:txBody>
                  <a:tcPr marL="128016" marR="128016" marT="45720" marB="45720" anchor="ctr">
                    <a:solidFill>
                      <a:srgbClr val="FFFFFF"/>
                    </a:solidFill>
                  </a:tcPr>
                </a:tc>
              </a:tr>
              <a:tr h="457200">
                <a:tc>
                  <a:txBody>
                    <a:bodyPr wrap="square"/>
                    <a:lstStyle/>
                    <a:p>
                      <a:pPr algn="l"/>
                      <a:r>
                        <a:rPr sz="1400" b="0">
                          <a:solidFill>
                            <a:srgbClr val="141C1E"/>
                          </a:solidFill>
                          <a:latin typeface="Segoe UI"/>
                        </a:rPr>
                        <a:t>Hardware</a:t>
                      </a:r>
                    </a:p>
                  </a:txBody>
                  <a:tcPr marL="128016" marR="128016" marT="45720" marB="45720" anchor="ctr">
                    <a:solidFill>
                      <a:srgbClr val="F5F7F7"/>
                    </a:solidFill>
                  </a:tcPr>
                </a:tc>
                <a:tc>
                  <a:txBody>
                    <a:bodyPr wrap="square"/>
                    <a:lstStyle/>
                    <a:p>
                      <a:pPr algn="l"/>
                      <a:r>
                        <a:rPr sz="1400" b="0">
                          <a:solidFill>
                            <a:srgbClr val="141C1E"/>
                          </a:solidFill>
                          <a:latin typeface="Segoe UI"/>
                        </a:rPr>
                        <a:t>NVIDIA A40, college GPU server · PyTorch 2.3.1 / CUDA 12.1</a:t>
                      </a:r>
                    </a:p>
                  </a:txBody>
                  <a:tcPr marL="128016" marR="128016" marT="45720" marB="45720" anchor="ctr">
                    <a:solidFill>
                      <a:srgbClr val="F5F7F7"/>
                    </a:solidFill>
                  </a:tcPr>
                </a:tc>
              </a:tr>
              <a:tr h="457200">
                <a:tc>
                  <a:txBody>
                    <a:bodyPr wrap="square"/>
                    <a:lstStyle/>
                    <a:p>
                      <a:pPr algn="l"/>
                      <a:r>
                        <a:rPr sz="1400" b="0">
                          <a:solidFill>
                            <a:srgbClr val="141C1E"/>
                          </a:solidFill>
                          <a:latin typeface="Segoe UI"/>
                        </a:rPr>
                        <a:t>Runs</a:t>
                      </a:r>
                    </a:p>
                  </a:txBody>
                  <a:tcPr marL="128016" marR="128016" marT="45720" marB="45720" anchor="ctr">
                    <a:solidFill>
                      <a:srgbClr val="FFFFFF"/>
                    </a:solidFill>
                  </a:tcPr>
                </a:tc>
                <a:tc>
                  <a:txBody>
                    <a:bodyPr wrap="square"/>
                    <a:lstStyle/>
                    <a:p>
                      <a:pPr algn="l"/>
                      <a:r>
                        <a:rPr sz="1400" b="0">
                          <a:solidFill>
                            <a:srgbClr val="141C1E"/>
                          </a:solidFill>
                          <a:latin typeface="Segoe UI"/>
                        </a:rPr>
                        <a:t>5 full runs, cached-embedding analyses, LLaVA captioning, UCF-Crime pre-registered run</a:t>
                      </a:r>
                    </a:p>
                  </a:txBody>
                  <a:tcPr marL="128016" marR="128016" marT="45720" marB="45720" anchor="ctr">
                    <a:solidFill>
                      <a:srgbClr val="FFFFFF"/>
                    </a:solidFill>
                  </a:tcPr>
                </a:tc>
              </a:tr>
            </a:tbl>
          </a:graphicData>
        </a:graphic>
      </p:graphicFrame>
      <p:sp>
        <p:nvSpPr>
          <p:cNvPr id="8" name="Rectangle 7"/>
          <p:cNvSpPr/>
          <p:nvPr/>
        </p:nvSpPr>
        <p:spPr>
          <a:xfrm>
            <a:off x="777240" y="4800600"/>
            <a:ext cx="10637215" cy="14630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00600"/>
            <a:ext cx="45720" cy="14630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469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5239512"/>
            <a:ext cx="10134295" cy="896112"/>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DATA</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the two campus benchmarks look like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pic>
        <p:nvPicPr>
          <p:cNvPr id="7" name="Picture 6" descr="fig_dataset_samples.png"/>
          <p:cNvPicPr>
            <a:picLocks noChangeAspect="1"/>
          </p:cNvPicPr>
          <p:nvPr/>
        </p:nvPicPr>
        <p:blipFill>
          <a:blip r:embed="rId2"/>
          <a:stretch>
            <a:fillRect/>
          </a:stretch>
        </p:blipFill>
        <p:spPr>
          <a:xfrm>
            <a:off x="2331619" y="1783079"/>
            <a:ext cx="7528456"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column is one fixed camera: the scene stays constant and only the event changes — an empty walkway and the same walkway with a cyclist look alike and are labelled opposite. UCF-Crime, added in Phase 3, is the opposite case: almost every one of its 290 videos is a different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12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12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[21] normalises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0.67</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00600"/>
            <a:ext cx="3749039" cy="1005840"/>
          </a:xfrm>
          <a:prstGeom prst="rect">
            <a:avLst/>
          </a:prstGeom>
          <a:noFill/>
        </p:spPr>
        <p:txBody>
          <a:bodyPr wrap="square" lIns="0" rIns="0" tIns="0" bIns="0">
            <a:spAutoFit/>
          </a:bodyPr>
          <a:lstStyle/>
          <a:p>
            <a:pPr algn="l">
              <a:lnSpc>
                <a:spcPct val="125000"/>
              </a:lnSpc>
            </a:pPr>
            <a:r>
              <a:rPr sz="1350" b="0" i="0">
                <a:solidFill>
                  <a:srgbClr val="141C1E"/>
                </a:solidFill>
                <a:latin typeface="Segoe UI"/>
              </a:rPr>
              <a:t>Identical scores, no smoothing. Uses no labels.
With smoothing (w=31): 0.52 → 0.71.
Both figures are in the paper.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evidence for that diagnosis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pic>
        <p:nvPicPr>
          <p:cNvPr id="7" name="Picture 6" descr="fig_camera_baselines.png"/>
          <p:cNvPicPr>
            <a:picLocks noChangeAspect="1"/>
          </p:cNvPicPr>
          <p:nvPr/>
        </p:nvPicPr>
        <p:blipFill>
          <a:blip r:embed="rId2"/>
          <a:stretch>
            <a:fillRect/>
          </a:stretch>
        </p:blipFill>
        <p:spPr>
          <a:xfrm>
            <a:off x="2199541" y="1783080"/>
            <a:ext cx="7792613"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every frame projected to two dimensions and coloured by camera — the views sit in separate regions. Right: how similar each view is to the average frame, differing by more than 0.13 between views. Neither panel uses labels, so this is not hindsight.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51760"/>
            <a:ext cx="4572000" cy="594360"/>
          </a:xfrm>
          <a:prstGeom prst="rect">
            <a:avLst/>
          </a:prstGeom>
          <a:noFill/>
        </p:spPr>
        <p:txBody>
          <a:bodyPr wrap="square" lIns="0" rIns="0" tIns="0" bIns="0">
            <a:spAutoFit/>
          </a:bodyPr>
          <a:lstStyle/>
          <a:p>
            <a:pPr algn="l">
              <a:lnSpc>
                <a:spcPct val="120000"/>
              </a:lnSpc>
            </a:pPr>
            <a:r>
              <a:rPr sz="1200" b="0" i="0">
                <a:solidFill>
                  <a:srgbClr val="141C1E"/>
                </a:solidFill>
                <a:latin typeface="Consolas"/>
              </a:rPr>
              <a:t>“a university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51760"/>
            <a:ext cx="4572000" cy="594360"/>
          </a:xfrm>
          <a:prstGeom prst="rect">
            <a:avLst/>
          </a:prstGeom>
          <a:noFill/>
        </p:spPr>
        <p:txBody>
          <a:bodyPr wrap="square" lIns="0" rIns="0" tIns="0" bIns="0">
            <a:spAutoFit/>
          </a:bodyPr>
          <a:lstStyle/>
          <a:p>
            <a:pPr algn="l">
              <a:lnSpc>
                <a:spcPct val="120000"/>
              </a:lnSpc>
            </a:pPr>
            <a:r>
              <a:rPr sz="1200" b="0" i="0">
                <a:solidFill>
                  <a:srgbClr val="141C1E"/>
                </a:solidFill>
                <a:latin typeface="Consolas"/>
              </a:rPr>
              <a:t>“a university campus walkway with pedestrians,
 but something abnormal is happening”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376672"/>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376672"/>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522976"/>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5815583"/>
            <a:ext cx="10134295" cy="3931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was permitted to change, so the text caused it — page 17 says how.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same experiment,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pic>
        <p:nvPicPr>
          <p:cNvPr id="7" name="Picture 6" descr="fig_chart_sweep.png"/>
          <p:cNvPicPr>
            <a:picLocks noChangeAspect="1"/>
          </p:cNvPicPr>
          <p:nvPr/>
        </p:nvPicPr>
        <p:blipFill>
          <a:blip r:embed="rId2"/>
          <a:stretch>
            <a:fillRect/>
          </a:stretch>
        </p:blipFill>
        <p:spPr>
          <a:xfrm>
            <a:off x="1983079" y="1783080"/>
            <a:ext cx="8225535"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number the experiment exists to produce is the arrow: the distance between the matched and mismatched bars. Grey bars put the sentence in both prompt sets and that distance is negative. Orange bars put it in the normal set only and it becomes +0.105.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WHAT THE GAP LOOKS LIKE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One clip, two sentences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pic>
        <p:nvPicPr>
          <p:cNvPr id="7" name="Picture 6" descr="fig_context_effect.png"/>
          <p:cNvPicPr>
            <a:picLocks noChangeAspect="1"/>
          </p:cNvPicPr>
          <p:nvPr/>
        </p:nvPicPr>
        <p:blipFill>
          <a:blip r:embed="rId2"/>
          <a:stretch>
            <a:fillRect/>
          </a:stretch>
        </p:blipFill>
        <p:spPr>
          <a:xfrm>
            <a:off x="1654058" y="1783080"/>
            <a:ext cx="8883578"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Same frozen models, same frames, same smoothing — the only difference is whether the sentence describes a campus walkway or an industrial site. The curves track each other outside the event and separate inside it. Nothing else was free to vary, so the text caused the separation.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lowers the benchmark score by 0.105.
Nothing else could have caused it.</a:t>
            </a:r>
          </a:p>
        </p:txBody>
      </p:sp>
      <p:sp>
        <p:nvSpPr>
          <p:cNvPr id="13" name="Rectangle 12"/>
          <p:cNvSpPr/>
          <p:nvPr/>
        </p:nvSpPr>
        <p:spPr>
          <a:xfrm>
            <a:off x="777240" y="4023360"/>
            <a:ext cx="10637215" cy="141732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41732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A SECOND METRIC SHOWED (PHASE 3)</a:t>
            </a:r>
          </a:p>
        </p:txBody>
      </p:sp>
      <p:sp>
        <p:nvSpPr>
          <p:cNvPr id="16" name="TextBox 15"/>
          <p:cNvSpPr txBox="1"/>
          <p:nvPr/>
        </p:nvSpPr>
        <p:spPr>
          <a:xfrm>
            <a:off x="1033271" y="4462272"/>
            <a:ext cx="10134295" cy="8503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Judged only by which frames rank highest INSIDE each video, the gap is +0.006 (pooled: +0.100, same w=5). The sentence mostly shifts each video's overall score level — telling cameras apart — and the pooled metric rewards that. It barely re-ranks frames within a video. A full audit is the next experiment.</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Window length, and what each component adds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pic>
        <p:nvPicPr>
          <p:cNvPr id="7" name="Picture 6" descr="fig_chart_ablation.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smoothing helps up to w=31 and then hurts, so the window has a real optimum rather than the metric rewarding more blur; the grey curve is the wrong pooling and never leaves chance. Right: the error bars overlap, so the honest claim is that nothing added beats language alone — not that language alone wins.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(12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12 camera views; Avenue has one, so a scene description has nothing to tell apart. Tested next inside single ShanghaiTech views, and later on UCF-Crime's ~290 scenes.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21</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twelve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468880"/>
          <a:ext cx="10634472" cy="2148840"/>
        </p:xfrm>
        <a:graphic>
          <a:graphicData uri="http://schemas.openxmlformats.org/drawingml/2006/table">
            <a:tbl>
              <a:tblPr firstRow="1">
                <a:tableStyleId>{5C22544A-7EE6-4342-B048-85BDC9FD1C3A}</a:tableStyleId>
              </a:tblPr>
              <a:tblGrid>
                <a:gridCol w="5120640"/>
                <a:gridCol w="1737360"/>
                <a:gridCol w="2103120"/>
                <a:gridCol w="1673352"/>
              </a:tblGrid>
              <a:tr h="429768">
                <a:tc>
                  <a:txBody>
                    <a:bodyPr wrap="square"/>
                    <a:lstStyle/>
                    <a:p>
                      <a:pPr algn="l"/>
                      <a:r>
                        <a:rPr sz="14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400" b="1">
                          <a:solidFill>
                            <a:srgbClr val="FFFFFF"/>
                          </a:solidFill>
                          <a:latin typeface="Segoe UI"/>
                        </a:rPr>
                        <a:t>Scenes</a:t>
                      </a:r>
                    </a:p>
                  </a:txBody>
                  <a:tcPr marL="128016" marR="128016" marT="45720" marB="45720" anchor="ctr">
                    <a:solidFill>
                      <a:srgbClr val="141C1E"/>
                    </a:solidFill>
                  </a:tcPr>
                </a:tc>
                <a:tc>
                  <a:txBody>
                    <a:bodyPr wrap="square"/>
                    <a:lstStyle/>
                    <a:p>
                      <a:pPr algn="l"/>
                      <a:r>
                        <a:rPr sz="1400" b="1">
                          <a:solidFill>
                            <a:srgbClr val="FFFFFF"/>
                          </a:solidFill>
                          <a:latin typeface="Segoe UI"/>
                        </a:rPr>
                        <a:t>Clips</a:t>
                      </a:r>
                    </a:p>
                  </a:txBody>
                  <a:tcPr marL="128016" marR="128016" marT="45720" marB="45720" anchor="ctr">
                    <a:solidFill>
                      <a:srgbClr val="141C1E"/>
                    </a:solidFill>
                  </a:tcPr>
                </a:tc>
                <a:tc>
                  <a:txBody>
                    <a:bodyPr wrap="square"/>
                    <a:lstStyle/>
                    <a:p>
                      <a:pPr algn="r"/>
                      <a:r>
                        <a:rPr sz="1400" b="1">
                          <a:solidFill>
                            <a:srgbClr val="FFFFFF"/>
                          </a:solidFill>
                          <a:latin typeface="Segoe UI"/>
                        </a:rPr>
                        <a:t>Gap</a:t>
                      </a:r>
                    </a:p>
                  </a:txBody>
                  <a:tcPr marL="128016" marR="128016" marT="45720" marB="45720" anchor="ctr">
                    <a:solidFill>
                      <a:srgbClr val="141C1E"/>
                    </a:solidFill>
                  </a:tcPr>
                </a:tc>
              </a:tr>
              <a:tr h="429768">
                <a:tc>
                  <a:txBody>
                    <a:bodyPr wrap="square"/>
                    <a:lstStyle/>
                    <a:p>
                      <a:pPr algn="l"/>
                      <a:r>
                        <a:rPr sz="14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400" b="0">
                          <a:solidFill>
                            <a:srgbClr val="141C1E"/>
                          </a:solidFill>
                          <a:latin typeface="Segoe UI"/>
                        </a:rPr>
                        <a:t>1</a:t>
                      </a:r>
                    </a:p>
                  </a:txBody>
                  <a:tcPr marL="128016" marR="128016" marT="45720" marB="45720" anchor="ctr">
                    <a:solidFill>
                      <a:srgbClr val="FFFFFF"/>
                    </a:solidFill>
                  </a:tcPr>
                </a:tc>
                <a:tc>
                  <a:txBody>
                    <a:bodyPr wrap="square"/>
                    <a:lstStyle/>
                    <a:p>
                      <a:pPr algn="l"/>
                      <a:r>
                        <a:rPr sz="1400" b="0">
                          <a:solidFill>
                            <a:srgbClr val="141C1E"/>
                          </a:solidFill>
                          <a:latin typeface="Segoe UI"/>
                        </a:rPr>
                        <a:t>21</a:t>
                      </a:r>
                    </a:p>
                  </a:txBody>
                  <a:tcPr marL="128016" marR="128016" marT="45720" marB="45720" anchor="ctr">
                    <a:solidFill>
                      <a:srgbClr val="FFFFFF"/>
                    </a:solidFill>
                  </a:tcPr>
                </a:tc>
                <a:tc>
                  <a:txBody>
                    <a:bodyPr wrap="square"/>
                    <a:lstStyle/>
                    <a:p>
                      <a:pPr algn="r"/>
                      <a:r>
                        <a:rPr sz="1400" b="0">
                          <a:solidFill>
                            <a:srgbClr val="141C1E"/>
                          </a:solidFill>
                          <a:latin typeface="Consolas"/>
                        </a:rPr>
                        <a:t>+0.020</a:t>
                      </a:r>
                    </a:p>
                  </a:txBody>
                  <a:tcPr marL="128016" marR="128016" marT="45720" marB="45720" anchor="ctr">
                    <a:solidFill>
                      <a:srgbClr val="FFFFFF"/>
                    </a:solidFill>
                  </a:tcPr>
                </a:tc>
              </a:tr>
              <a:tr h="429768">
                <a:tc>
                  <a:txBody>
                    <a:bodyPr wrap="square"/>
                    <a:lstStyle/>
                    <a:p>
                      <a:pPr algn="l"/>
                      <a:r>
                        <a:rPr sz="1400" b="1">
                          <a:solidFill>
                            <a:srgbClr val="141C1E"/>
                          </a:solidFill>
                          <a:latin typeface="Segoe UI"/>
                        </a:rPr>
                        <a:t>ShanghaiTech, within a single view (mean)</a:t>
                      </a:r>
                    </a:p>
                  </a:txBody>
                  <a:tcPr marL="128016" marR="128016" marT="45720" marB="45720" anchor="ctr">
                    <a:solidFill>
                      <a:srgbClr val="DDEDEB"/>
                    </a:solidFill>
                  </a:tcPr>
                </a:tc>
                <a:tc>
                  <a:txBody>
                    <a:bodyPr wrap="square"/>
                    <a:lstStyle/>
                    <a:p>
                      <a:pPr algn="l"/>
                      <a:r>
                        <a:rPr sz="1400" b="1">
                          <a:solidFill>
                            <a:srgbClr val="141C1E"/>
                          </a:solidFill>
                          <a:latin typeface="Segoe UI"/>
                        </a:rPr>
                        <a:t>1 each</a:t>
                      </a:r>
                    </a:p>
                  </a:txBody>
                  <a:tcPr marL="128016" marR="128016" marT="45720" marB="45720" anchor="ctr">
                    <a:solidFill>
                      <a:srgbClr val="DDEDEB"/>
                    </a:solidFill>
                  </a:tcPr>
                </a:tc>
                <a:tc>
                  <a:txBody>
                    <a:bodyPr wrap="square"/>
                    <a:lstStyle/>
                    <a:p>
                      <a:pPr algn="l"/>
                      <a:r>
                        <a:rPr sz="1400" b="1">
                          <a:solidFill>
                            <a:srgbClr val="141C1E"/>
                          </a:solidFill>
                          <a:latin typeface="Segoe UI"/>
                        </a:rPr>
                        <a:t>5–34 each</a:t>
                      </a:r>
                    </a:p>
                  </a:txBody>
                  <a:tcPr marL="128016" marR="128016" marT="45720" marB="45720" anchor="ctr">
                    <a:solidFill>
                      <a:srgbClr val="DDEDEB"/>
                    </a:solidFill>
                  </a:tcPr>
                </a:tc>
                <a:tc>
                  <a:txBody>
                    <a:bodyPr wrap="square"/>
                    <a:lstStyle/>
                    <a:p>
                      <a:pPr algn="r"/>
                      <a:r>
                        <a:rPr sz="1400" b="1">
                          <a:solidFill>
                            <a:srgbClr val="141C1E"/>
                          </a:solidFill>
                          <a:latin typeface="Consolas"/>
                        </a:rPr>
                        <a:t>+0.033</a:t>
                      </a:r>
                    </a:p>
                  </a:txBody>
                  <a:tcPr marL="128016" marR="128016" marT="45720" marB="45720" anchor="ctr">
                    <a:solidFill>
                      <a:srgbClr val="DDEDEB"/>
                    </a:solidFill>
                  </a:tcPr>
                </a:tc>
              </a:tr>
              <a:tr h="429768">
                <a:tc>
                  <a:txBody>
                    <a:bodyPr wrap="square"/>
                    <a:lstStyle/>
                    <a:p>
                      <a:pPr algn="l"/>
                      <a:r>
                        <a:rPr sz="1400" b="0">
                          <a:solidFill>
                            <a:srgbClr val="141C1E"/>
                          </a:solidFill>
                          <a:latin typeface="Segoe UI"/>
                        </a:rPr>
                        <a:t>ShanghaiTech, pooled across views</a:t>
                      </a:r>
                    </a:p>
                  </a:txBody>
                  <a:tcPr marL="128016" marR="128016" marT="45720" marB="45720" anchor="ctr">
                    <a:solidFill>
                      <a:srgbClr val="FFFFFF"/>
                    </a:solidFill>
                  </a:tcPr>
                </a:tc>
                <a:tc>
                  <a:txBody>
                    <a:bodyPr wrap="square"/>
                    <a:lstStyle/>
                    <a:p>
                      <a:pPr algn="l"/>
                      <a:r>
                        <a:rPr sz="1400" b="0">
                          <a:solidFill>
                            <a:srgbClr val="141C1E"/>
                          </a:solidFill>
                          <a:latin typeface="Segoe UI"/>
                        </a:rPr>
                        <a:t>12</a:t>
                      </a:r>
                    </a:p>
                  </a:txBody>
                  <a:tcPr marL="128016" marR="128016" marT="45720" marB="45720" anchor="ctr">
                    <a:solidFill>
                      <a:srgbClr val="FFFFFF"/>
                    </a:solidFill>
                  </a:tcPr>
                </a:tc>
                <a:tc>
                  <a:txBody>
                    <a:bodyPr wrap="square"/>
                    <a:lstStyle/>
                    <a:p>
                      <a:pPr algn="l"/>
                      <a:r>
                        <a:rPr sz="1400" b="0">
                          <a:solidFill>
                            <a:srgbClr val="141C1E"/>
                          </a:solidFill>
                          <a:latin typeface="Segoe UI"/>
                        </a:rPr>
                        <a:t>107</a:t>
                      </a:r>
                    </a:p>
                  </a:txBody>
                  <a:tcPr marL="128016" marR="128016" marT="45720" marB="45720" anchor="ctr">
                    <a:solidFill>
                      <a:srgbClr val="FFFFFF"/>
                    </a:solidFill>
                  </a:tcPr>
                </a:tc>
                <a:tc>
                  <a:txBody>
                    <a:bodyPr wrap="square"/>
                    <a:lstStyle/>
                    <a:p>
                      <a:pPr algn="r"/>
                      <a:r>
                        <a:rPr sz="1400" b="0">
                          <a:solidFill>
                            <a:srgbClr val="141C1E"/>
                          </a:solidFill>
                          <a:latin typeface="Consolas"/>
                        </a:rPr>
                        <a:t>+0.105</a:t>
                      </a:r>
                    </a:p>
                  </a:txBody>
                  <a:tcPr marL="128016" marR="128016" marT="45720" marB="45720" anchor="ctr">
                    <a:solidFill>
                      <a:srgbClr val="FFFFFF"/>
                    </a:solidFill>
                  </a:tcPr>
                </a:tc>
              </a:tr>
              <a:tr h="429768">
                <a:tc>
                  <a:txBody>
                    <a:bodyPr wrap="square"/>
                    <a:lstStyle/>
                    <a:p>
                      <a:pPr algn="l"/>
                      <a:r>
                        <a:rPr sz="1400" b="0">
                          <a:solidFill>
                            <a:srgbClr val="141C1E"/>
                          </a:solidFill>
                          <a:latin typeface="Segoe UI"/>
                        </a:rPr>
                        <a:t>UCF-Crime, own sentence per video (raw, w=5)</a:t>
                      </a:r>
                    </a:p>
                  </a:txBody>
                  <a:tcPr marL="128016" marR="128016" marT="45720" marB="45720" anchor="ctr">
                    <a:solidFill>
                      <a:srgbClr val="F5F7F7"/>
                    </a:solidFill>
                  </a:tcPr>
                </a:tc>
                <a:tc>
                  <a:txBody>
                    <a:bodyPr wrap="square"/>
                    <a:lstStyle/>
                    <a:p>
                      <a:pPr algn="l"/>
                      <a:r>
                        <a:rPr sz="1400" b="0">
                          <a:solidFill>
                            <a:srgbClr val="141C1E"/>
                          </a:solidFill>
                          <a:latin typeface="Segoe UI"/>
                        </a:rPr>
                        <a:t>~290</a:t>
                      </a:r>
                    </a:p>
                  </a:txBody>
                  <a:tcPr marL="128016" marR="128016" marT="45720" marB="45720" anchor="ctr">
                    <a:solidFill>
                      <a:srgbClr val="F5F7F7"/>
                    </a:solidFill>
                  </a:tcPr>
                </a:tc>
                <a:tc>
                  <a:txBody>
                    <a:bodyPr wrap="square"/>
                    <a:lstStyle/>
                    <a:p>
                      <a:pPr algn="l"/>
                      <a:r>
                        <a:rPr sz="1400" b="0">
                          <a:solidFill>
                            <a:srgbClr val="141C1E"/>
                          </a:solidFill>
                          <a:latin typeface="Segoe UI"/>
                        </a:rPr>
                        <a:t>290</a:t>
                      </a:r>
                    </a:p>
                  </a:txBody>
                  <a:tcPr marL="128016" marR="128016" marT="45720" marB="45720" anchor="ctr">
                    <a:solidFill>
                      <a:srgbClr val="F5F7F7"/>
                    </a:solidFill>
                  </a:tcPr>
                </a:tc>
                <a:tc>
                  <a:txBody>
                    <a:bodyPr wrap="square"/>
                    <a:lstStyle/>
                    <a:p>
                      <a:pPr algn="r"/>
                      <a:r>
                        <a:rPr sz="1400" b="0">
                          <a:solidFill>
                            <a:srgbClr val="141C1E"/>
                          </a:solidFill>
                          <a:latin typeface="Consolas"/>
                        </a:rPr>
                        <a:t>+0.096</a:t>
                      </a:r>
                    </a:p>
                  </a:txBody>
                  <a:tcPr marL="128016" marR="128016" marT="45720" marB="45720" anchor="ctr">
                    <a:solidFill>
                      <a:srgbClr val="F5F7F7"/>
                    </a:solidFill>
                  </a:tcPr>
                </a:tc>
              </a:tr>
            </a:tbl>
          </a:graphicData>
        </a:graphic>
      </p:graphicFrame>
      <p:sp>
        <p:nvSpPr>
          <p:cNvPr id="9" name="Rectangle 8"/>
          <p:cNvSpPr/>
          <p:nvPr/>
        </p:nvSpPr>
        <p:spPr>
          <a:xfrm>
            <a:off x="777240" y="4800600"/>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800600"/>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9469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5239512"/>
            <a:ext cx="10134295" cy="393192"/>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A within-view gap near +0.105 would have refuted it; it came back at a third. But ~290 scenes gave no bigger gap than 12: it needs scenes, it does not keep growing.</a:t>
            </a:r>
          </a:p>
        </p:txBody>
      </p:sp>
      <p:sp>
        <p:nvSpPr>
          <p:cNvPr id="13" name="TextBox 12"/>
          <p:cNvSpPr txBox="1"/>
          <p:nvPr/>
        </p:nvSpPr>
        <p:spPr>
          <a:xfrm>
            <a:off x="777240" y="589788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Every camera view, one at a time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22</a:t>
            </a:r>
          </a:p>
        </p:txBody>
      </p:sp>
      <p:pic>
        <p:nvPicPr>
          <p:cNvPr id="7" name="Picture 6" descr="fig_chart_within_view.png"/>
          <p:cNvPicPr>
            <a:picLocks noChangeAspect="1"/>
          </p:cNvPicPr>
          <p:nvPr/>
        </p:nvPicPr>
        <p:blipFill>
          <a:blip r:embed="rId2"/>
          <a:stretch>
            <a:fillRect/>
          </a:stretch>
        </p:blipFill>
        <p:spPr>
          <a:xfrm>
            <a:off x="1824896" y="1783080"/>
            <a:ext cx="8541902"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orange line is the pooled result; each bar is one view on its own. Most fall well short of it and three are negative — but views 03 and 07 nearly reach it, so this is a shift in the average, not a clean collapse. The bars rest on between five and thirty-four clips each.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6</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sentence per camera — written by the system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23</a:t>
            </a:r>
          </a:p>
        </p:txBody>
      </p:sp>
      <p:pic>
        <p:nvPicPr>
          <p:cNvPr id="7" name="Picture 6" descr="fig_chart_per_camera.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camera gets its own sentence instead of one for all twelve. Written by hand: 0.749. Written by LLaVA from the camera's first three frames, with no human and no labels: 0.751. Give each camera ANOTHER camera's sentence and it drops — even the best of 11 swaps (0.737) loses. The sentence works by matching its camera.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7</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UCF-Crime: predictions written down first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24</a:t>
            </a:r>
          </a:p>
        </p:txBody>
      </p:sp>
      <p:sp>
        <p:nvSpPr>
          <p:cNvPr id="7" name="TextBox 6"/>
          <p:cNvSpPr txBox="1"/>
          <p:nvPr/>
        </p:nvSpPr>
        <p:spPr>
          <a:xfrm>
            <a:off x="777240" y="1737360"/>
            <a:ext cx="10637215" cy="658368"/>
          </a:xfrm>
          <a:prstGeom prst="rect">
            <a:avLst/>
          </a:prstGeom>
          <a:noFill/>
        </p:spPr>
        <p:txBody>
          <a:bodyPr wrap="square" lIns="0" rIns="0" tIns="0" bIns="0">
            <a:spAutoFit/>
          </a:bodyPr>
          <a:lstStyle/>
          <a:p>
            <a:pPr algn="l">
              <a:lnSpc>
                <a:spcPct val="130000"/>
              </a:lnSpc>
            </a:pPr>
            <a:r>
              <a:rPr sz="1500" b="0" i="0">
                <a:solidFill>
                  <a:srgbClr val="3A4A4C"/>
                </a:solidFill>
                <a:latin typeface="Segoe UI"/>
              </a:rPr>
              <a:t>290 real CCTV videos [27] from ~290 different places, 140 with a crime. Four predictions were committed to git before any score was computed.</a:t>
            </a:r>
          </a:p>
        </p:txBody>
      </p:sp>
      <p:sp>
        <p:nvSpPr>
          <p:cNvPr id="8" name="TextBox 7"/>
          <p:cNvSpPr txBox="1"/>
          <p:nvPr/>
        </p:nvSpPr>
        <p:spPr>
          <a:xfrm>
            <a:off x="777240" y="2514600"/>
            <a:ext cx="3291840" cy="1005840"/>
          </a:xfrm>
          <a:prstGeom prst="rect">
            <a:avLst/>
          </a:prstGeom>
          <a:noFill/>
        </p:spPr>
        <p:txBody>
          <a:bodyPr wrap="square" lIns="0" rIns="0" tIns="0" bIns="0">
            <a:spAutoFit/>
          </a:bodyPr>
          <a:lstStyle/>
          <a:p>
            <a:pPr algn="l">
              <a:lnSpc>
                <a:spcPct val="100000"/>
              </a:lnSpc>
            </a:pPr>
            <a:r>
              <a:rPr sz="6000" b="1" i="0">
                <a:solidFill>
                  <a:srgbClr val="0D6B67"/>
                </a:solidFill>
                <a:latin typeface="Segoe UI"/>
              </a:rPr>
              <a:t>0.824</a:t>
            </a:r>
          </a:p>
        </p:txBody>
      </p:sp>
      <p:sp>
        <p:nvSpPr>
          <p:cNvPr id="9" name="TextBox 8"/>
          <p:cNvSpPr txBox="1"/>
          <p:nvPr/>
        </p:nvSpPr>
        <p:spPr>
          <a:xfrm>
            <a:off x="777240" y="3502152"/>
            <a:ext cx="329184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AUROC, no training — LAVAD 0.803, AnyAnomaly 0.807</a:t>
            </a:r>
          </a:p>
        </p:txBody>
      </p:sp>
      <p:graphicFrame>
        <p:nvGraphicFramePr>
          <p:cNvPr id="10" name="Table 9"/>
          <p:cNvGraphicFramePr>
            <a:graphicFrameLocks noGrp="1"/>
          </p:cNvGraphicFramePr>
          <p:nvPr/>
        </p:nvGraphicFramePr>
        <p:xfrm>
          <a:off x="4434840" y="2514600"/>
          <a:ext cx="6976872" cy="2286000"/>
        </p:xfrm>
        <a:graphic>
          <a:graphicData uri="http://schemas.openxmlformats.org/drawingml/2006/table">
            <a:tbl>
              <a:tblPr firstRow="1">
                <a:tableStyleId>{5C22544A-7EE6-4342-B048-85BDC9FD1C3A}</a:tableStyleId>
              </a:tblPr>
              <a:tblGrid>
                <a:gridCol w="4160520"/>
                <a:gridCol w="1325880"/>
                <a:gridCol w="1490472"/>
              </a:tblGrid>
              <a:tr h="457200">
                <a:tc>
                  <a:txBody>
                    <a:bodyPr wrap="square"/>
                    <a:lstStyle/>
                    <a:p>
                      <a:pPr algn="l"/>
                      <a:r>
                        <a:rPr sz="1300" b="1">
                          <a:solidFill>
                            <a:srgbClr val="FFFFFF"/>
                          </a:solidFill>
                          <a:latin typeface="Segoe UI"/>
                        </a:rPr>
                        <a:t>Registered prediction</a:t>
                      </a:r>
                    </a:p>
                  </a:txBody>
                  <a:tcPr marL="128016" marR="128016" marT="45720" marB="45720" anchor="ctr">
                    <a:solidFill>
                      <a:srgbClr val="141C1E"/>
                    </a:solidFill>
                  </a:tcPr>
                </a:tc>
                <a:tc>
                  <a:txBody>
                    <a:bodyPr wrap="square"/>
                    <a:lstStyle/>
                    <a:p>
                      <a:pPr algn="r"/>
                      <a:r>
                        <a:rPr sz="1300" b="1">
                          <a:solidFill>
                            <a:srgbClr val="FFFFFF"/>
                          </a:solidFill>
                          <a:latin typeface="Segoe UI"/>
                        </a:rPr>
                        <a:t>Measured</a:t>
                      </a:r>
                    </a:p>
                  </a:txBody>
                  <a:tcPr marL="128016" marR="128016" marT="45720" marB="45720" anchor="ctr">
                    <a:solidFill>
                      <a:srgbClr val="141C1E"/>
                    </a:solidFill>
                  </a:tcPr>
                </a:tc>
                <a:tc>
                  <a:txBody>
                    <a:bodyPr wrap="square"/>
                    <a:lstStyle/>
                    <a:p>
                      <a:pPr algn="l"/>
                      <a:r>
                        <a:rPr sz="130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00" b="1">
                          <a:solidFill>
                            <a:srgbClr val="141C1E"/>
                          </a:solidFill>
                          <a:latin typeface="Segoe UI"/>
                        </a:rPr>
                        <a:t>P1  gap grows beyond ShanghaiTech's +0.105</a:t>
                      </a:r>
                    </a:p>
                  </a:txBody>
                  <a:tcPr marL="128016" marR="128016" marT="45720" marB="45720" anchor="ctr">
                    <a:solidFill>
                      <a:srgbClr val="DDEDEB"/>
                    </a:solidFill>
                  </a:tcPr>
                </a:tc>
                <a:tc>
                  <a:txBody>
                    <a:bodyPr wrap="square"/>
                    <a:lstStyle/>
                    <a:p>
                      <a:pPr algn="r"/>
                      <a:r>
                        <a:rPr sz="1300" b="1">
                          <a:solidFill>
                            <a:srgbClr val="141C1E"/>
                          </a:solidFill>
                          <a:latin typeface="Consolas"/>
                        </a:rPr>
                        <a:t>+0.096</a:t>
                      </a:r>
                    </a:p>
                  </a:txBody>
                  <a:tcPr marL="128016" marR="128016" marT="45720" marB="45720" anchor="ctr">
                    <a:solidFill>
                      <a:srgbClr val="DDEDEB"/>
                    </a:solidFill>
                  </a:tcPr>
                </a:tc>
                <a:tc>
                  <a:txBody>
                    <a:bodyPr wrap="square"/>
                    <a:lstStyle/>
                    <a:p>
                      <a:pPr algn="l"/>
                      <a:r>
                        <a:rPr sz="1300" b="1">
                          <a:solidFill>
                            <a:srgbClr val="141C1E"/>
                          </a:solidFill>
                          <a:latin typeface="Segoe UI"/>
                        </a:rPr>
                        <a:t>Refuted</a:t>
                      </a:r>
                    </a:p>
                  </a:txBody>
                  <a:tcPr marL="128016" marR="128016" marT="45720" marB="45720" anchor="ctr">
                    <a:solidFill>
                      <a:srgbClr val="DDEDEB"/>
                    </a:solidFill>
                  </a:tcPr>
                </a:tc>
              </a:tr>
              <a:tr h="457200">
                <a:tc>
                  <a:txBody>
                    <a:bodyPr wrap="square"/>
                    <a:lstStyle/>
                    <a:p>
                      <a:pPr algn="l"/>
                      <a:r>
                        <a:rPr sz="1300" b="0">
                          <a:solidFill>
                            <a:srgbClr val="141C1E"/>
                          </a:solidFill>
                          <a:latin typeface="Segoe UI"/>
                        </a:rPr>
                        <a:t>P2  own sentence beats borrowed ones</a:t>
                      </a:r>
                    </a:p>
                  </a:txBody>
                  <a:tcPr marL="128016" marR="128016" marT="45720" marB="45720" anchor="ctr">
                    <a:solidFill>
                      <a:srgbClr val="F5F7F7"/>
                    </a:solidFill>
                  </a:tcPr>
                </a:tc>
                <a:tc>
                  <a:txBody>
                    <a:bodyPr wrap="square"/>
                    <a:lstStyle/>
                    <a:p>
                      <a:pPr algn="r"/>
                      <a:r>
                        <a:rPr sz="1300" b="0">
                          <a:solidFill>
                            <a:srgbClr val="141C1E"/>
                          </a:solidFill>
                          <a:latin typeface="Consolas"/>
                        </a:rPr>
                        <a:t>+0.110</a:t>
                      </a:r>
                    </a:p>
                  </a:txBody>
                  <a:tcPr marL="128016" marR="128016" marT="45720" marB="45720" anchor="ctr">
                    <a:solidFill>
                      <a:srgbClr val="F5F7F7"/>
                    </a:solidFill>
                  </a:tcPr>
                </a:tc>
                <a:tc>
                  <a:txBody>
                    <a:bodyPr wrap="square"/>
                    <a:lstStyle/>
                    <a:p>
                      <a:pPr algn="l"/>
                      <a:r>
                        <a:rPr sz="1300" b="0">
                          <a:solidFill>
                            <a:srgbClr val="141C1E"/>
                          </a:solidFill>
                          <a:latin typeface="Segoe UI"/>
                        </a:rPr>
                        <a:t>Holds</a:t>
                      </a:r>
                    </a:p>
                  </a:txBody>
                  <a:tcPr marL="128016" marR="128016" marT="45720" marB="45720" anchor="ctr">
                    <a:solidFill>
                      <a:srgbClr val="F5F7F7"/>
                    </a:solidFill>
                  </a:tcPr>
                </a:tc>
              </a:tr>
              <a:tr h="457200">
                <a:tc>
                  <a:txBody>
                    <a:bodyPr wrap="square"/>
                    <a:lstStyle/>
                    <a:p>
                      <a:pPr algn="l"/>
                      <a:r>
                        <a:rPr sz="1300" b="0">
                          <a:solidFill>
                            <a:srgbClr val="141C1E"/>
                          </a:solidFill>
                          <a:latin typeface="Segoe UI"/>
                        </a:rPr>
                        <a:t>P3  own sentence beats one shared sentence</a:t>
                      </a:r>
                    </a:p>
                  </a:txBody>
                  <a:tcPr marL="128016" marR="128016" marT="45720" marB="45720" anchor="ctr">
                    <a:solidFill>
                      <a:srgbClr val="FFFFFF"/>
                    </a:solidFill>
                  </a:tcPr>
                </a:tc>
                <a:tc>
                  <a:txBody>
                    <a:bodyPr wrap="square"/>
                    <a:lstStyle/>
                    <a:p>
                      <a:pPr algn="r"/>
                      <a:r>
                        <a:rPr sz="1300" b="0">
                          <a:solidFill>
                            <a:srgbClr val="141C1E"/>
                          </a:solidFill>
                          <a:latin typeface="Consolas"/>
                        </a:rPr>
                        <a:t>+0.011</a:t>
                      </a:r>
                    </a:p>
                  </a:txBody>
                  <a:tcPr marL="128016" marR="128016" marT="45720" marB="45720" anchor="ctr">
                    <a:solidFill>
                      <a:srgbClr val="FFFFFF"/>
                    </a:solidFill>
                  </a:tcPr>
                </a:tc>
                <a:tc>
                  <a:txBody>
                    <a:bodyPr wrap="square"/>
                    <a:lstStyle/>
                    <a:p>
                      <a:pPr algn="l"/>
                      <a:r>
                        <a:rPr sz="1300" b="0">
                          <a:solidFill>
                            <a:srgbClr val="141C1E"/>
                          </a:solidFill>
                          <a:latin typeface="Segoe UI"/>
                        </a:rPr>
                        <a:t>Holds (small)</a:t>
                      </a:r>
                    </a:p>
                  </a:txBody>
                  <a:tcPr marL="128016" marR="128016" marT="45720" marB="45720" anchor="ctr">
                    <a:solidFill>
                      <a:srgbClr val="FFFFFF"/>
                    </a:solidFill>
                  </a:tcPr>
                </a:tc>
              </a:tr>
              <a:tr h="457200">
                <a:tc>
                  <a:txBody>
                    <a:bodyPr wrap="square"/>
                    <a:lstStyle/>
                    <a:p>
                      <a:pPr algn="l"/>
                      <a:r>
                        <a:rPr sz="1300" b="0">
                          <a:solidFill>
                            <a:srgbClr val="141C1E"/>
                          </a:solidFill>
                          <a:latin typeface="Segoe UI"/>
                        </a:rPr>
                        <a:t>P4  correct beats wrong-domain description</a:t>
                      </a:r>
                    </a:p>
                  </a:txBody>
                  <a:tcPr marL="128016" marR="128016" marT="45720" marB="45720" anchor="ctr">
                    <a:solidFill>
                      <a:srgbClr val="F5F7F7"/>
                    </a:solidFill>
                  </a:tcPr>
                </a:tc>
                <a:tc>
                  <a:txBody>
                    <a:bodyPr wrap="square"/>
                    <a:lstStyle/>
                    <a:p>
                      <a:pPr algn="r"/>
                      <a:r>
                        <a:rPr sz="1300" b="0">
                          <a:solidFill>
                            <a:srgbClr val="141C1E"/>
                          </a:solidFill>
                          <a:latin typeface="Consolas"/>
                        </a:rPr>
                        <a:t>+0.086</a:t>
                      </a:r>
                    </a:p>
                  </a:txBody>
                  <a:tcPr marL="128016" marR="128016" marT="45720" marB="45720" anchor="ctr">
                    <a:solidFill>
                      <a:srgbClr val="F5F7F7"/>
                    </a:solidFill>
                  </a:tcPr>
                </a:tc>
                <a:tc>
                  <a:txBody>
                    <a:bodyPr wrap="square"/>
                    <a:lstStyle/>
                    <a:p>
                      <a:pPr algn="l"/>
                      <a:r>
                        <a:rPr sz="1300" b="0">
                          <a:solidFill>
                            <a:srgbClr val="141C1E"/>
                          </a:solidFill>
                          <a:latin typeface="Segoe UI"/>
                        </a:rPr>
                        <a:t>Holds</a:t>
                      </a:r>
                    </a:p>
                  </a:txBody>
                  <a:tcPr marL="128016" marR="128016" marT="45720" marB="45720" anchor="ctr">
                    <a:solidFill>
                      <a:srgbClr val="F5F7F7"/>
                    </a:solidFill>
                  </a:tcPr>
                </a:tc>
              </a:tr>
            </a:tbl>
          </a:graphicData>
        </a:graphic>
      </p:graphicFrame>
      <p:sp>
        <p:nvSpPr>
          <p:cNvPr id="11" name="Rectangle 10"/>
          <p:cNvSpPr/>
          <p:nvPr/>
        </p:nvSpPr>
        <p:spPr>
          <a:xfrm>
            <a:off x="777240" y="507492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07492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52212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WHAT IT SHOWS</a:t>
            </a:r>
          </a:p>
        </p:txBody>
      </p:sp>
      <p:sp>
        <p:nvSpPr>
          <p:cNvPr id="14" name="TextBox 13"/>
          <p:cNvSpPr txBox="1"/>
          <p:nvPr/>
        </p:nvSpPr>
        <p:spPr>
          <a:xfrm>
            <a:off x="1033271" y="5513831"/>
            <a:ext cx="10134295" cy="7132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Another video's sentence scores BELOW no sentence (0.713 vs 0.756): the wrong scene misleads. P1 failed, so the claim is narrowed from 'the benefit scales with scene diversity' to 'the benefit needs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7</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UCF-Crime,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25</a:t>
            </a:r>
          </a:p>
        </p:txBody>
      </p:sp>
      <p:pic>
        <p:nvPicPr>
          <p:cNvPr id="7" name="Picture 6" descr="fig_chart_ucf_crime.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video's own LLaVA sentence reaches 0.824; borrowed sentences average 0.713, below having none. The dashed line is LAVAD's 0.803 (AnyAnomaly: 0.807). Both are other papers' numbers, so read it as comparable, not as a margin.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26</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27</a:t>
            </a:r>
          </a:p>
        </p:txBody>
      </p:sp>
      <p:graphicFrame>
        <p:nvGraphicFramePr>
          <p:cNvPr id="7" name="Table 6"/>
          <p:cNvGraphicFramePr>
            <a:graphicFrameLocks noGrp="1"/>
          </p:cNvGraphicFramePr>
          <p:nvPr/>
        </p:nvGraphicFramePr>
        <p:xfrm>
          <a:off x="777240" y="1755648"/>
          <a:ext cx="10634472" cy="2779776"/>
        </p:xfrm>
        <a:graphic>
          <a:graphicData uri="http://schemas.openxmlformats.org/drawingml/2006/table">
            <a:tbl>
              <a:tblPr firstRow="1">
                <a:tableStyleId>{5C22544A-7EE6-4342-B048-85BDC9FD1C3A}</a:tableStyleId>
              </a:tblPr>
              <a:tblGrid>
                <a:gridCol w="6035040"/>
                <a:gridCol w="1463040"/>
                <a:gridCol w="1463040"/>
                <a:gridCol w="1673352"/>
              </a:tblGrid>
              <a:tr h="347472">
                <a:tc>
                  <a:txBody>
                    <a:bodyPr wrap="square"/>
                    <a:lstStyle/>
                    <a:p>
                      <a:pPr algn="l"/>
                      <a:r>
                        <a:rPr sz="1350" b="1">
                          <a:solidFill>
                            <a:srgbClr val="FFFFFF"/>
                          </a:solidFill>
                          <a:latin typeface="Segoe UI"/>
                        </a:rPr>
                        <a:t>Training-free method (no target data)</a:t>
                      </a:r>
                    </a:p>
                  </a:txBody>
                  <a:tcPr marL="128016" marR="128016" marT="45720" marB="45720" anchor="ctr">
                    <a:solidFill>
                      <a:srgbClr val="141C1E"/>
                    </a:solidFill>
                  </a:tcPr>
                </a:tc>
                <a:tc>
                  <a:txBody>
                    <a:bodyPr wrap="square"/>
                    <a:lstStyle/>
                    <a:p>
                      <a:pPr algn="l"/>
                      <a:r>
                        <a:rPr sz="1350" b="1">
                          <a:solidFill>
                            <a:srgbClr val="FFFFFF"/>
                          </a:solidFill>
                          <a:latin typeface="Segoe UI"/>
                        </a:rPr>
                        <a:t>Avenue</a:t>
                      </a:r>
                    </a:p>
                  </a:txBody>
                  <a:tcPr marL="128016" marR="128016" marT="45720" marB="45720" anchor="ctr">
                    <a:solidFill>
                      <a:srgbClr val="141C1E"/>
                    </a:solidFill>
                  </a:tcPr>
                </a:tc>
                <a:tc>
                  <a:txBody>
                    <a:bodyPr wrap="square"/>
                    <a:lstStyle/>
                    <a:p>
                      <a:pPr algn="l"/>
                      <a:r>
                        <a:rPr sz="1350" b="1">
                          <a:solidFill>
                            <a:srgbClr val="FFFFFF"/>
                          </a:solidFill>
                          <a:latin typeface="Segoe UI"/>
                        </a:rPr>
                        <a:t>ShT</a:t>
                      </a:r>
                    </a:p>
                  </a:txBody>
                  <a:tcPr marL="128016" marR="128016" marT="45720" marB="45720" anchor="ctr">
                    <a:solidFill>
                      <a:srgbClr val="141C1E"/>
                    </a:solidFill>
                  </a:tcPr>
                </a:tc>
                <a:tc>
                  <a:txBody>
                    <a:bodyPr wrap="square"/>
                    <a:lstStyle/>
                    <a:p>
                      <a:pPr algn="l"/>
                      <a:r>
                        <a:rPr sz="1350" b="1">
                          <a:solidFill>
                            <a:srgbClr val="FFFFFF"/>
                          </a:solidFill>
                          <a:latin typeface="Segoe UI"/>
                        </a:rPr>
                        <a:t>UCF</a:t>
                      </a:r>
                    </a:p>
                  </a:txBody>
                  <a:tcPr marL="128016" marR="128016" marT="45720" marB="45720" anchor="ctr">
                    <a:solidFill>
                      <a:srgbClr val="141C1E"/>
                    </a:solidFill>
                  </a:tcPr>
                </a:tc>
              </a:tr>
              <a:tr h="347472">
                <a:tc>
                  <a:txBody>
                    <a:bodyPr wrap="square"/>
                    <a:lstStyle/>
                    <a:p>
                      <a:pPr algn="l"/>
                      <a:r>
                        <a:rPr sz="1350" b="0">
                          <a:solidFill>
                            <a:srgbClr val="141C1E"/>
                          </a:solidFill>
                          <a:latin typeface="Segoe UI"/>
                        </a:rPr>
                        <a:t>Zero-shot CLIP [4]</a:t>
                      </a:r>
                    </a:p>
                  </a:txBody>
                  <a:tcPr marL="128016" marR="128016" marT="45720" marB="45720" anchor="ctr">
                    <a:solidFill>
                      <a:srgbClr val="FFFFFF"/>
                    </a:solidFill>
                  </a:tcPr>
                </a:tc>
                <a:tc>
                  <a:txBody>
                    <a:bodyPr wrap="square"/>
                    <a:lstStyle/>
                    <a:p>
                      <a:pPr algn="l"/>
                      <a:r>
                        <a:rPr sz="1350" b="0">
                          <a:solidFill>
                            <a:srgbClr val="141C1E"/>
                          </a:solidFill>
                          <a:latin typeface="Segoe UI"/>
                        </a:rPr>
                        <a:t>62.3</a:t>
                      </a:r>
                    </a:p>
                  </a:txBody>
                  <a:tcPr marL="128016" marR="128016" marT="45720" marB="45720" anchor="ctr">
                    <a:solidFill>
                      <a:srgbClr val="FFFFFF"/>
                    </a:solidFill>
                  </a:tcPr>
                </a:tc>
                <a:tc>
                  <a:txBody>
                    <a:bodyPr wrap="square"/>
                    <a:lstStyle/>
                    <a:p>
                      <a:pPr algn="l"/>
                      <a:r>
                        <a:rPr sz="1350" b="0">
                          <a:solidFill>
                            <a:srgbClr val="141C1E"/>
                          </a:solidFill>
                          <a:latin typeface="Segoe UI"/>
                        </a:rPr>
                        <a:t>60.9</a:t>
                      </a:r>
                    </a:p>
                  </a:txBody>
                  <a:tcPr marL="128016" marR="128016" marT="45720" marB="45720" anchor="ctr">
                    <a:solidFill>
                      <a:srgbClr val="FFFFFF"/>
                    </a:solidFill>
                  </a:tcPr>
                </a:tc>
                <a:tc>
                  <a:txBody>
                    <a:bodyPr wrap="square"/>
                    <a:lstStyle/>
                    <a:p>
                      <a:pPr algn="l"/>
                      <a:r>
                        <a:rPr sz="1350" b="0">
                          <a:solidFill>
                            <a:srgbClr val="141C1E"/>
                          </a:solidFill>
                          <a:latin typeface="Segoe UI"/>
                        </a:rPr>
                        <a:t>53.2‡</a:t>
                      </a:r>
                    </a:p>
                  </a:txBody>
                  <a:tcPr marL="128016" marR="128016" marT="45720" marB="45720" anchor="ctr">
                    <a:solidFill>
                      <a:srgbClr val="FFFFFF"/>
                    </a:solidFill>
                  </a:tcPr>
                </a:tc>
              </a:tr>
              <a:tr h="347472">
                <a:tc>
                  <a:txBody>
                    <a:bodyPr wrap="square"/>
                    <a:lstStyle/>
                    <a:p>
                      <a:pPr algn="l"/>
                      <a:r>
                        <a:rPr sz="1350" b="0">
                          <a:solidFill>
                            <a:srgbClr val="141C1E"/>
                          </a:solidFill>
                          <a:latin typeface="Segoe UI"/>
                        </a:rPr>
                        <a:t>Zero-shot ImageBind [36]</a:t>
                      </a:r>
                    </a:p>
                  </a:txBody>
                  <a:tcPr marL="128016" marR="128016" marT="45720" marB="45720" anchor="ctr">
                    <a:solidFill>
                      <a:srgbClr val="F5F7F7"/>
                    </a:solidFill>
                  </a:tcPr>
                </a:tc>
                <a:tc>
                  <a:txBody>
                    <a:bodyPr wrap="square"/>
                    <a:lstStyle/>
                    <a:p>
                      <a:pPr algn="l"/>
                      <a:r>
                        <a:rPr sz="1350" b="0">
                          <a:solidFill>
                            <a:srgbClr val="141C1E"/>
                          </a:solidFill>
                          <a:latin typeface="Segoe UI"/>
                        </a:rPr>
                        <a:t>64.5</a:t>
                      </a:r>
                    </a:p>
                  </a:txBody>
                  <a:tcPr marL="128016" marR="128016" marT="45720" marB="45720" anchor="ctr">
                    <a:solidFill>
                      <a:srgbClr val="F5F7F7"/>
                    </a:solidFill>
                  </a:tcPr>
                </a:tc>
                <a:tc>
                  <a:txBody>
                    <a:bodyPr wrap="square"/>
                    <a:lstStyle/>
                    <a:p>
                      <a:pPr algn="l"/>
                      <a:r>
                        <a:rPr sz="1350" b="0">
                          <a:solidFill>
                            <a:srgbClr val="141C1E"/>
                          </a:solidFill>
                          <a:latin typeface="Segoe UI"/>
                        </a:rPr>
                        <a:t>61.3</a:t>
                      </a:r>
                    </a:p>
                  </a:txBody>
                  <a:tcPr marL="128016" marR="128016" marT="45720" marB="45720" anchor="ctr">
                    <a:solidFill>
                      <a:srgbClr val="F5F7F7"/>
                    </a:solidFill>
                  </a:tcPr>
                </a:tc>
                <a:tc>
                  <a:txBody>
                    <a:bodyPr wrap="square"/>
                    <a:lstStyle/>
                    <a:p>
                      <a:pPr algn="l"/>
                      <a:r>
                        <a:rPr sz="1350" b="0">
                          <a:solidFill>
                            <a:srgbClr val="141C1E"/>
                          </a:solidFill>
                          <a:latin typeface="Segoe UI"/>
                        </a:rPr>
                        <a:t>53.7‡</a:t>
                      </a:r>
                    </a:p>
                  </a:txBody>
                  <a:tcPr marL="128016" marR="128016" marT="45720" marB="45720" anchor="ctr">
                    <a:solidFill>
                      <a:srgbClr val="F5F7F7"/>
                    </a:solidFill>
                  </a:tcPr>
                </a:tc>
              </a:tr>
              <a:tr h="347472">
                <a:tc>
                  <a:txBody>
                    <a:bodyPr wrap="square"/>
                    <a:lstStyle/>
                    <a:p>
                      <a:pPr algn="l"/>
                      <a:r>
                        <a:rPr sz="1350" b="0">
                          <a:solidFill>
                            <a:srgbClr val="141C1E"/>
                          </a:solidFill>
                          <a:latin typeface="Segoe UI"/>
                        </a:rPr>
                        <a:t>LLaVA-1.5 [24]</a:t>
                      </a:r>
                    </a:p>
                  </a:txBody>
                  <a:tcPr marL="128016" marR="128016" marT="45720" marB="45720" anchor="ctr">
                    <a:solidFill>
                      <a:srgbClr val="FFFFFF"/>
                    </a:solidFill>
                  </a:tcPr>
                </a:tc>
                <a:tc>
                  <a:txBody>
                    <a:bodyPr wrap="square"/>
                    <a:lstStyle/>
                    <a:p>
                      <a:pPr algn="l"/>
                      <a:r>
                        <a:rPr sz="1350" b="0">
                          <a:solidFill>
                            <a:srgbClr val="141C1E"/>
                          </a:solidFill>
                          <a:latin typeface="Segoe UI"/>
                        </a:rPr>
                        <a:t>67.4</a:t>
                      </a:r>
                    </a:p>
                  </a:txBody>
                  <a:tcPr marL="128016" marR="128016" marT="45720" marB="45720" anchor="ctr">
                    <a:solidFill>
                      <a:srgbClr val="FFFFFF"/>
                    </a:solidFill>
                  </a:tcPr>
                </a:tc>
                <a:tc>
                  <a:txBody>
                    <a:bodyPr wrap="square"/>
                    <a:lstStyle/>
                    <a:p>
                      <a:pPr algn="l"/>
                      <a:r>
                        <a:rPr sz="1350" b="0">
                          <a:solidFill>
                            <a:srgbClr val="141C1E"/>
                          </a:solidFill>
                          <a:latin typeface="Segoe UI"/>
                        </a:rPr>
                        <a:t>59.6</a:t>
                      </a:r>
                    </a:p>
                  </a:txBody>
                  <a:tcPr marL="128016" marR="128016" marT="45720" marB="45720" anchor="ctr">
                    <a:solidFill>
                      <a:srgbClr val="FFFFFF"/>
                    </a:solidFill>
                  </a:tcPr>
                </a:tc>
                <a:tc>
                  <a:txBody>
                    <a:bodyPr wrap="square"/>
                    <a:lstStyle/>
                    <a:p>
                      <a:pPr algn="l"/>
                      <a:r>
                        <a:rPr sz="1350" b="0">
                          <a:solidFill>
                            <a:srgbClr val="141C1E"/>
                          </a:solidFill>
                          <a:latin typeface="Segoe UI"/>
                        </a:rPr>
                        <a:t>72.8‡</a:t>
                      </a:r>
                    </a:p>
                  </a:txBody>
                  <a:tcPr marL="128016" marR="128016" marT="45720" marB="45720" anchor="ctr">
                    <a:solidFill>
                      <a:srgbClr val="FFFFFF"/>
                    </a:solidFill>
                  </a:tcPr>
                </a:tc>
              </a:tr>
              <a:tr h="347472">
                <a:tc>
                  <a:txBody>
                    <a:bodyPr wrap="square"/>
                    <a:lstStyle/>
                    <a:p>
                      <a:pPr algn="l"/>
                      <a:r>
                        <a:rPr sz="1350" b="0">
                          <a:solidFill>
                            <a:srgbClr val="141C1E"/>
                          </a:solidFill>
                          <a:latin typeface="Segoe UI"/>
                        </a:rPr>
                        <a:t>Video-ChatGPT [37]</a:t>
                      </a:r>
                    </a:p>
                  </a:txBody>
                  <a:tcPr marL="128016" marR="128016" marT="45720" marB="45720" anchor="ctr">
                    <a:solidFill>
                      <a:srgbClr val="F5F7F7"/>
                    </a:solidFill>
                  </a:tcPr>
                </a:tc>
                <a:tc>
                  <a:txBody>
                    <a:bodyPr wrap="square"/>
                    <a:lstStyle/>
                    <a:p>
                      <a:pPr algn="l"/>
                      <a:r>
                        <a:rPr sz="1350" b="0">
                          <a:solidFill>
                            <a:srgbClr val="141C1E"/>
                          </a:solidFill>
                          <a:latin typeface="Segoe UI"/>
                        </a:rPr>
                        <a:t>76.9</a:t>
                      </a:r>
                    </a:p>
                  </a:txBody>
                  <a:tcPr marL="128016" marR="128016" marT="45720" marB="45720" anchor="ctr">
                    <a:solidFill>
                      <a:srgbClr val="F5F7F7"/>
                    </a:solidFill>
                  </a:tcPr>
                </a:tc>
                <a:tc>
                  <a:txBody>
                    <a:bodyPr wrap="square"/>
                    <a:lstStyle/>
                    <a:p>
                      <a:pPr algn="l"/>
                      <a:r>
                        <a:rPr sz="1350" b="0">
                          <a:solidFill>
                            <a:srgbClr val="141C1E"/>
                          </a:solidFill>
                          <a:latin typeface="Segoe UI"/>
                        </a:rPr>
                        <a:t>69.1</a:t>
                      </a:r>
                    </a:p>
                  </a:txBody>
                  <a:tcPr marL="128016" marR="128016" marT="45720" marB="45720" anchor="ctr">
                    <a:solidFill>
                      <a:srgbClr val="F5F7F7"/>
                    </a:solidFill>
                  </a:tcPr>
                </a:tc>
                <a:tc>
                  <a:txBody>
                    <a:bodyPr wrap="square"/>
                    <a:lstStyle/>
                    <a:p>
                      <a:pPr algn="l"/>
                      <a:r>
                        <a:rPr sz="1350" b="0">
                          <a:solidFill>
                            <a:srgbClr val="141C1E"/>
                          </a:solidFill>
                          <a:latin typeface="Segoe UI"/>
                        </a:rPr>
                        <a:t>—</a:t>
                      </a:r>
                    </a:p>
                  </a:txBody>
                  <a:tcPr marL="128016" marR="128016" marT="45720" marB="45720" anchor="ctr">
                    <a:solidFill>
                      <a:srgbClr val="F5F7F7"/>
                    </a:solidFill>
                  </a:tcPr>
                </a:tc>
              </a:tr>
              <a:tr h="347472">
                <a:tc>
                  <a:txBody>
                    <a:bodyPr wrap="square"/>
                    <a:lstStyle/>
                    <a:p>
                      <a:pPr algn="l"/>
                      <a:r>
                        <a:rPr sz="1350" b="0">
                          <a:solidFill>
                            <a:srgbClr val="141C1E"/>
                          </a:solidFill>
                          <a:latin typeface="Segoe UI"/>
                        </a:rPr>
                        <a:t>LAVAD [3] — captioner + LLM + refiner</a:t>
                      </a:r>
                    </a:p>
                  </a:txBody>
                  <a:tcPr marL="128016" marR="128016" marT="45720" marB="45720" anchor="ctr">
                    <a:solidFill>
                      <a:srgbClr val="FFFFFF"/>
                    </a:solidFill>
                  </a:tcPr>
                </a:tc>
                <a:tc>
                  <a:txBody>
                    <a:bodyPr wrap="square"/>
                    <a:lstStyle/>
                    <a:p>
                      <a:pPr algn="l"/>
                      <a:r>
                        <a:rPr sz="1350" b="0">
                          <a:solidFill>
                            <a:srgbClr val="141C1E"/>
                          </a:solidFill>
                          <a:latin typeface="Segoe UI"/>
                        </a:rPr>
                        <a:t>—</a:t>
                      </a:r>
                    </a:p>
                  </a:txBody>
                  <a:tcPr marL="128016" marR="128016" marT="45720" marB="45720" anchor="ctr">
                    <a:solidFill>
                      <a:srgbClr val="FFFFFF"/>
                    </a:solidFill>
                  </a:tcPr>
                </a:tc>
                <a:tc>
                  <a:txBody>
                    <a:bodyPr wrap="square"/>
                    <a:lstStyle/>
                    <a:p>
                      <a:pPr algn="l"/>
                      <a:r>
                        <a:rPr sz="1350" b="0">
                          <a:solidFill>
                            <a:srgbClr val="141C1E"/>
                          </a:solidFill>
                          <a:latin typeface="Segoe UI"/>
                        </a:rPr>
                        <a:t>—</a:t>
                      </a:r>
                    </a:p>
                  </a:txBody>
                  <a:tcPr marL="128016" marR="128016" marT="45720" marB="45720" anchor="ctr">
                    <a:solidFill>
                      <a:srgbClr val="FFFFFF"/>
                    </a:solidFill>
                  </a:tcPr>
                </a:tc>
                <a:tc>
                  <a:txBody>
                    <a:bodyPr wrap="square"/>
                    <a:lstStyle/>
                    <a:p>
                      <a:pPr algn="l"/>
                      <a:r>
                        <a:rPr sz="1350" b="0">
                          <a:solidFill>
                            <a:srgbClr val="141C1E"/>
                          </a:solidFill>
                          <a:latin typeface="Segoe UI"/>
                        </a:rPr>
                        <a:t>80.3‡</a:t>
                      </a:r>
                    </a:p>
                  </a:txBody>
                  <a:tcPr marL="128016" marR="128016" marT="45720" marB="45720" anchor="ctr">
                    <a:solidFill>
                      <a:srgbClr val="FFFFFF"/>
                    </a:solidFill>
                  </a:tcPr>
                </a:tc>
              </a:tr>
              <a:tr h="347472">
                <a:tc>
                  <a:txBody>
                    <a:bodyPr wrap="square"/>
                    <a:lstStyle/>
                    <a:p>
                      <a:pPr algn="l"/>
                      <a:r>
                        <a:rPr sz="1350" b="1">
                          <a:solidFill>
                            <a:srgbClr val="141C1E"/>
                          </a:solidFill>
                          <a:latin typeface="Segoe UI"/>
                        </a:rPr>
                        <a:t>DA-ZVAD (ours) — one frozen encoder + a sentence</a:t>
                      </a:r>
                    </a:p>
                  </a:txBody>
                  <a:tcPr marL="128016" marR="128016" marT="45720" marB="45720" anchor="ctr">
                    <a:solidFill>
                      <a:srgbClr val="DDEDEB"/>
                    </a:solidFill>
                  </a:tcPr>
                </a:tc>
                <a:tc>
                  <a:txBody>
                    <a:bodyPr wrap="square"/>
                    <a:lstStyle/>
                    <a:p>
                      <a:pPr algn="l"/>
                      <a:r>
                        <a:rPr sz="1350" b="1">
                          <a:solidFill>
                            <a:srgbClr val="141C1E"/>
                          </a:solidFill>
                          <a:latin typeface="Segoe UI"/>
                        </a:rPr>
                        <a:t>67.7</a:t>
                      </a:r>
                    </a:p>
                  </a:txBody>
                  <a:tcPr marL="128016" marR="128016" marT="45720" marB="45720" anchor="ctr">
                    <a:solidFill>
                      <a:srgbClr val="DDEDEB"/>
                    </a:solidFill>
                  </a:tcPr>
                </a:tc>
                <a:tc>
                  <a:txBody>
                    <a:bodyPr wrap="square"/>
                    <a:lstStyle/>
                    <a:p>
                      <a:pPr algn="l"/>
                      <a:r>
                        <a:rPr sz="1350" b="1">
                          <a:solidFill>
                            <a:srgbClr val="141C1E"/>
                          </a:solidFill>
                          <a:latin typeface="Segoe UI"/>
                        </a:rPr>
                        <a:t>73.4</a:t>
                      </a:r>
                    </a:p>
                  </a:txBody>
                  <a:tcPr marL="128016" marR="128016" marT="45720" marB="45720" anchor="ctr">
                    <a:solidFill>
                      <a:srgbClr val="DDEDEB"/>
                    </a:solidFill>
                  </a:tcPr>
                </a:tc>
                <a:tc>
                  <a:txBody>
                    <a:bodyPr wrap="square"/>
                    <a:lstStyle/>
                    <a:p>
                      <a:pPr algn="l"/>
                      <a:r>
                        <a:rPr sz="1350" b="1">
                          <a:solidFill>
                            <a:srgbClr val="141C1E"/>
                          </a:solidFill>
                          <a:latin typeface="Segoe UI"/>
                        </a:rPr>
                        <a:t>82.4</a:t>
                      </a:r>
                    </a:p>
                  </a:txBody>
                  <a:tcPr marL="128016" marR="128016" marT="45720" marB="45720" anchor="ctr">
                    <a:solidFill>
                      <a:srgbClr val="DDEDEB"/>
                    </a:solidFill>
                  </a:tcPr>
                </a:tc>
              </a:tr>
              <a:tr h="347472">
                <a:tc>
                  <a:txBody>
                    <a:bodyPr wrap="square"/>
                    <a:lstStyle/>
                    <a:p>
                      <a:pPr algn="l"/>
                      <a:r>
                        <a:rPr sz="1350" b="0">
                          <a:solidFill>
                            <a:srgbClr val="141C1E"/>
                          </a:solidFill>
                          <a:latin typeface="Segoe UI"/>
                        </a:rPr>
                        <a:t>AnyAnomaly [2] — 3 LVLM queries per segment</a:t>
                      </a:r>
                    </a:p>
                  </a:txBody>
                  <a:tcPr marL="128016" marR="128016" marT="45720" marB="45720" anchor="ctr">
                    <a:solidFill>
                      <a:srgbClr val="FFFFFF"/>
                    </a:solidFill>
                  </a:tcPr>
                </a:tc>
                <a:tc>
                  <a:txBody>
                    <a:bodyPr wrap="square"/>
                    <a:lstStyle/>
                    <a:p>
                      <a:pPr algn="l"/>
                      <a:r>
                        <a:rPr sz="1350" b="0">
                          <a:solidFill>
                            <a:srgbClr val="141C1E"/>
                          </a:solidFill>
                          <a:latin typeface="Segoe UI"/>
                        </a:rPr>
                        <a:t>87.3</a:t>
                      </a:r>
                    </a:p>
                  </a:txBody>
                  <a:tcPr marL="128016" marR="128016" marT="45720" marB="45720" anchor="ctr">
                    <a:solidFill>
                      <a:srgbClr val="FFFFFF"/>
                    </a:solidFill>
                  </a:tcPr>
                </a:tc>
                <a:tc>
                  <a:txBody>
                    <a:bodyPr wrap="square"/>
                    <a:lstStyle/>
                    <a:p>
                      <a:pPr algn="l"/>
                      <a:r>
                        <a:rPr sz="1350" b="0">
                          <a:solidFill>
                            <a:srgbClr val="141C1E"/>
                          </a:solidFill>
                          <a:latin typeface="Segoe UI"/>
                        </a:rPr>
                        <a:t>79.7</a:t>
                      </a:r>
                    </a:p>
                  </a:txBody>
                  <a:tcPr marL="128016" marR="128016" marT="45720" marB="45720" anchor="ctr">
                    <a:solidFill>
                      <a:srgbClr val="FFFFFF"/>
                    </a:solidFill>
                  </a:tcPr>
                </a:tc>
                <a:tc>
                  <a:txBody>
                    <a:bodyPr wrap="square"/>
                    <a:lstStyle/>
                    <a:p>
                      <a:pPr algn="l"/>
                      <a:r>
                        <a:rPr sz="1350" b="0">
                          <a:solidFill>
                            <a:srgbClr val="141C1E"/>
                          </a:solidFill>
                          <a:latin typeface="Segoe UI"/>
                        </a:rPr>
                        <a:t>80.7</a:t>
                      </a:r>
                    </a:p>
                  </a:txBody>
                  <a:tcPr marL="128016" marR="128016" marT="45720" marB="45720" anchor="ctr">
                    <a:solidFill>
                      <a:srgbClr val="FFFFFF"/>
                    </a:solidFill>
                  </a:tcPr>
                </a:tc>
              </a:tr>
            </a:tbl>
          </a:graphicData>
        </a:graphic>
      </p:graphicFrame>
      <p:sp>
        <p:nvSpPr>
          <p:cNvPr id="8" name="TextBox 7"/>
          <p:cNvSpPr txBox="1"/>
          <p:nvPr/>
        </p:nvSpPr>
        <p:spPr>
          <a:xfrm>
            <a:off x="777240" y="4590288"/>
            <a:ext cx="10637215" cy="256032"/>
          </a:xfrm>
          <a:prstGeom prst="rect">
            <a:avLst/>
          </a:prstGeom>
          <a:noFill/>
        </p:spPr>
        <p:txBody>
          <a:bodyPr wrap="square" lIns="0" rIns="0" tIns="0" bIns="0">
            <a:spAutoFit/>
          </a:bodyPr>
          <a:lstStyle/>
          <a:p>
            <a:pPr algn="l">
              <a:lnSpc>
                <a:spcPct val="100000"/>
              </a:lnSpc>
            </a:pPr>
            <a:r>
              <a:rPr sz="1100" b="0" i="1">
                <a:solidFill>
                  <a:srgbClr val="617274"/>
                </a:solidFill>
                <a:latin typeface="Segoe UI"/>
              </a:rPr>
              <a:t>‡ from LAVAD [3], Table 1. All other figures from AnyAnomaly [2], Tables 5–6.  Ours: Avenue/ShT one shared sentence; UCF one sentence per video.</a:t>
            </a:r>
          </a:p>
        </p:txBody>
      </p:sp>
      <p:sp>
        <p:nvSpPr>
          <p:cNvPr id="9" name="Rectangle 8"/>
          <p:cNvSpPr/>
          <p:nvPr/>
        </p:nvSpPr>
        <p:spPr>
          <a:xfrm>
            <a:off x="777240" y="50474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919472"/>
            <a:ext cx="10399471" cy="365760"/>
          </a:xfrm>
          <a:prstGeom prst="rect">
            <a:avLst/>
          </a:prstGeom>
          <a:noFill/>
        </p:spPr>
        <p:txBody>
          <a:bodyPr wrap="square" lIns="0" rIns="0" tIns="0" bIns="0">
            <a:spAutoFit/>
          </a:bodyPr>
          <a:lstStyle/>
          <a:p>
            <a:pPr>
              <a:lnSpc>
                <a:spcPct val="125000"/>
              </a:lnSpc>
            </a:pPr>
            <a:r>
              <a:rPr sz="1350" b="1">
                <a:solidFill>
                  <a:srgbClr val="141C1E"/>
                </a:solidFill>
                <a:latin typeface="Segoe UI"/>
              </a:rPr>
              <a:t>AnyAnomaly asks “is the thing I named happening?”  We ask “is anything happening that doesn’t belong here?”  </a:t>
            </a:r>
            <a:r>
              <a:rPr sz="1350">
                <a:solidFill>
                  <a:srgbClr val="3A4A4C"/>
                </a:solidFill>
                <a:latin typeface="Segoe UI"/>
              </a:rPr>
              <a:t>Theirs needs a list of what could go wrong — at evaluation it is handed the benchmark’s own anomaly classes. Ours needs a description of the ordinary.</a:t>
            </a:r>
          </a:p>
        </p:txBody>
      </p:sp>
      <p:sp>
        <p:nvSpPr>
          <p:cNvPr id="11" name="Rectangle 10"/>
          <p:cNvSpPr/>
          <p:nvPr/>
        </p:nvSpPr>
        <p:spPr>
          <a:xfrm>
            <a:off x="777240" y="5806440"/>
            <a:ext cx="10637215" cy="7772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806440"/>
            <a:ext cx="45720" cy="7772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595274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WHERE WE LEAD</a:t>
            </a:r>
          </a:p>
        </p:txBody>
      </p:sp>
      <p:sp>
        <p:nvSpPr>
          <p:cNvPr id="14" name="TextBox 13"/>
          <p:cNvSpPr txBox="1"/>
          <p:nvPr/>
        </p:nvSpPr>
        <p:spPr>
          <a:xfrm>
            <a:off x="1033271" y="6245352"/>
            <a:ext cx="10134295" cy="210311"/>
          </a:xfrm>
          <a:prstGeom prst="rect">
            <a:avLst/>
          </a:prstGeom>
          <a:noFill/>
        </p:spPr>
        <p:txBody>
          <a:bodyPr wrap="square" lIns="0" rIns="0" tIns="0" bIns="0">
            <a:spAutoFit/>
          </a:bodyPr>
          <a:lstStyle/>
          <a:p>
            <a:pPr algn="l">
              <a:lnSpc>
                <a:spcPct val="100000"/>
              </a:lnSpc>
            </a:pPr>
            <a:r>
              <a:rPr sz="1350" b="0" i="0">
                <a:solidFill>
                  <a:srgbClr val="141C1E"/>
                </a:solidFill>
                <a:latin typeface="Segoe UI"/>
              </a:rPr>
              <a:t>First of six training-free methods on UCF-Crime; behind AnyAnomaly on the campus benchmarks.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28</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UCF-Crime and nearly vanishes on single-camera Avenue. A pre-registered prediction that it grows with scene diversity was refuted.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What the sentence actually does is not settled.  </a:t>
            </a:r>
            <a:r>
              <a:rPr sz="1450">
                <a:solidFill>
                  <a:srgbClr val="3A4A4C"/>
                </a:solidFill>
                <a:latin typeface="Segoe UI"/>
              </a:rPr>
              <a:t>Inside each video it barely re-ranks frames (+0.006); most of the 0.105 is per-video score shifts that the pooled metric rewards. An audit is the next experiment.</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metrics are scale-sensitive.  </a:t>
            </a:r>
            <a:r>
              <a:rPr sz="1450">
                <a:solidFill>
                  <a:srgbClr val="3A4A4C"/>
                </a:solidFill>
                <a:latin typeface="Segoe UI"/>
              </a:rPr>
              <a:t>Softmax plus per-clip normalisation changes pooled figures without changing rankings; on UCF-Crime the effect shrinks under per-video normalisation.</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No explanations yet.  </a:t>
            </a:r>
            <a:r>
              <a:rPr sz="1450">
                <a:solidFill>
                  <a:srgbClr val="3A4A4C"/>
                </a:solidFill>
                <a:latin typeface="Segoe UI"/>
              </a:rPr>
              <a:t>M4 now writes the camera sentences, but has not yet explained flagged events.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comes next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29</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Measurement audit: within-video ranking and raw scores, all benchmarks</a:t>
                      </a:r>
                    </a:p>
                  </a:txBody>
                  <a:tcPr marL="128016" marR="128016" marT="45720" marB="45720" anchor="ctr">
                    <a:solidFill>
                      <a:srgbClr val="FFFFFF"/>
                    </a:solidFill>
                  </a:tcPr>
                </a:tc>
                <a:tc>
                  <a:txBody>
                    <a:bodyPr wrap="square"/>
                    <a:lstStyle/>
                    <a:p>
                      <a:pPr algn="l"/>
                      <a:r>
                        <a:rPr sz="1350" b="0">
                          <a:solidFill>
                            <a:srgbClr val="141C1E"/>
                          </a:solidFill>
                          <a:latin typeface="Segoe UI"/>
                        </a:rPr>
                        <a:t>Decides what the sentence really does: re-ranks frames or calibrates cameras</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XD-Violence (pre-registered) and UCF-Crime on every frame</a:t>
                      </a:r>
                    </a:p>
                  </a:txBody>
                  <a:tcPr marL="128016" marR="128016" marT="45720" marB="45720" anchor="ctr">
                    <a:solidFill>
                      <a:srgbClr val="F5F7F7"/>
                    </a:solidFill>
                  </a:tcPr>
                </a:tc>
                <a:tc>
                  <a:txBody>
                    <a:bodyPr wrap="square"/>
                    <a:lstStyle/>
                    <a:p>
                      <a:pPr algn="l"/>
                      <a:r>
                        <a:rPr sz="1350" b="0">
                          <a:solidFill>
                            <a:srgbClr val="141C1E"/>
                          </a:solidFill>
                          <a:latin typeface="Segoe UI"/>
                        </a:rPr>
                        <a:t>LAVAD's second benchmark; makes the comparison airtight</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NWPU Campus — scene-dependent anomalies</a:t>
                      </a:r>
                    </a:p>
                  </a:txBody>
                  <a:tcPr marL="128016" marR="128016" marT="45720" marB="45720" anchor="ctr">
                    <a:solidFill>
                      <a:srgbClr val="FFFFFF"/>
                    </a:solidFill>
                  </a:tcPr>
                </a:tc>
                <a:tc>
                  <a:txBody>
                    <a:bodyPr wrap="square"/>
                    <a:lstStyle/>
                    <a:p>
                      <a:pPr algn="l"/>
                      <a:r>
                        <a:rPr sz="1350" b="0">
                          <a:solidFill>
                            <a:srgbClr val="141C1E"/>
                          </a:solidFill>
                          <a:latin typeface="Segoe UI"/>
                        </a:rPr>
                        <a:t>The only benchmark where the same event flips label by scene: a direct concept-shift test</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Patch-level scoring; M4 explanations</a:t>
                      </a:r>
                    </a:p>
                  </a:txBody>
                  <a:tcPr marL="128016" marR="128016" marT="45720" marB="45720" anchor="ctr">
                    <a:solidFill>
                      <a:srgbClr val="F5F7F7"/>
                    </a:solidFill>
                  </a:tcPr>
                </a:tc>
                <a:tc>
                  <a:txBody>
                    <a:bodyPr wrap="square"/>
                    <a:lstStyle/>
                    <a:p>
                      <a:pPr algn="l"/>
                      <a:r>
                        <a:rPr sz="1350" b="0">
                          <a:solidFill>
                            <a:srgbClr val="141C1E"/>
                          </a:solidFill>
                          <a:latin typeface="Segoe UI"/>
                        </a:rPr>
                        <a:t>Higher figure on small anomalies; completes the framework for the thesis</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DONE SINCE PHASE 2</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Within-view control with a confidence interval; prototype direction measured; per-camera sentences written by the system (0.751); UCF-Crime under pre-registered predictions (0.824); every citation checked against its source.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30</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[14, 15].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by one sentence per camera, which the system writes itself from a few frames.</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0.751 on ShanghaiTech and 0.824 on UCF-Crime with no training. A wrong sentence costs 0.105 — mostly by shifting scores between videos.</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needs several scenes: flat on single-camera Avenue, strong on ShanghaiTech and UCF-Crime — but it does not keep growing with more scenes, as a pre-registered test showed.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1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31</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  </a:t>
            </a:r>
            <a:r>
              <a:rPr sz="900">
                <a:solidFill>
                  <a:srgbClr val="141C1E"/>
                </a:solidFill>
                <a:latin typeface="Segoe UI"/>
              </a:rPr>
              <a:t>K. Wilkinghoff, N. Madan, J. M. Valverde, K. Nasrollahi, R. T. Ionescu, R. Wisniewski, T. B. Moeslund, W. Wang, Z.-H. Tan, Out of context: Reliability in multimodal anomaly detection requires contextual inference, arXiv preprint arXiv:2604.13252 (2026).</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  </a:t>
            </a:r>
            <a:r>
              <a:rPr sz="900">
                <a:solidFill>
                  <a:srgbClr val="141C1E"/>
                </a:solidFill>
                <a:latin typeface="Segoe UI"/>
              </a:rPr>
              <a:t>S. Ahn, Y. Jo, K. Lee, S. Kwon, I. Hong, S. Park, AnyAnomaly: Zero-shot customizable video anomaly detection with LVLM, in: Proceedings of the IEEE/CVF Winter Conference on Applications of Computer Vision (WACV), 2026, pp. 3026–3035.</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  </a:t>
            </a:r>
            <a:r>
              <a:rPr sz="900">
                <a:solidFill>
                  <a:srgbClr val="141C1E"/>
                </a:solidFill>
                <a:latin typeface="Segoe UI"/>
              </a:rPr>
              <a:t>L. Zanella, W. Menapace, M. Mancini, Y. Wang, E. Ricci, Harnessing large language models for training-free video anomaly detection, in: Proceedings of the IEEE/CVF Conference on Computer Vision and Pattern Recognition (CVPR), 2024, pp. 18527–18536.</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[4]  </a:t>
            </a:r>
            <a:r>
              <a:rPr sz="900">
                <a:solidFill>
                  <a:srgbClr val="141C1E"/>
                </a:solidFill>
                <a:latin typeface="Segoe UI"/>
              </a:rPr>
              <a:t>A. Radford, J. W. Kim, C. Hallacy, A. Ramesh, G. Goh, S. Agarwal, G. Sastry, A. Askell, P. Mishkin, J. Clark, G. Krueger, I. Sutskever, Learning transferable visual models from natural language supervision, in: Proceedings of the International Conference on Machine Learning (ICML), 2021, pp. 8748–8763.</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[5]  </a:t>
            </a:r>
            <a:r>
              <a:rPr sz="900">
                <a:solidFill>
                  <a:srgbClr val="141C1E"/>
                </a:solidFill>
                <a:latin typeface="Segoe UI"/>
              </a:rPr>
              <a:t>J. Jeong, Y. Zou, T. Kim, D. Zhang, A. Ravichandran, O. Dabeer, WinCLIP: Zero-/few-shot anomaly classification and segmentation, in: Proceedings of the IEEE/CVF Conference on Computer Vision and Pattern Recognition (CVPR), 2023, pp. 19606–19616.</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[6]  </a:t>
            </a:r>
            <a:r>
              <a:rPr sz="900">
                <a:solidFill>
                  <a:srgbClr val="141C1E"/>
                </a:solidFill>
                <a:latin typeface="Segoe UI"/>
              </a:rPr>
              <a:t>Q. Zhou, G. Pang, Y. Tian, S. He, J. Chen, AnomalyCLIP: Object-agnostic prompt learning for zero-shot anomaly detection, in: Proceedings of the International Conference on Learning Representations (ICLR), 2024.</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[7]  </a:t>
            </a:r>
            <a:r>
              <a:rPr sz="900">
                <a:solidFill>
                  <a:srgbClr val="141C1E"/>
                </a:solidFill>
                <a:latin typeface="Segoe UI"/>
              </a:rPr>
              <a:t>P. Bergmann, M. Fauser, D. Sattlegger, C. Steger, MVTec AD — A comprehensive real-world dataset for unsupervised anomaly detection, in: Proceedings of the IEEE/CVF Conference on Computer Vision and Pattern Recognition (CVPR), 2019, pp. 9592–9600.</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[8]  </a:t>
            </a:r>
            <a:r>
              <a:rPr sz="900">
                <a:solidFill>
                  <a:srgbClr val="141C1E"/>
                </a:solidFill>
                <a:latin typeface="Segoe UI"/>
              </a:rPr>
              <a:t>K. Roth, L. Pemula, J. Zepeda, B. Schölkopf, T. Brox, P. Gehler, Towards total recall in industrial anomaly detection, in: Proceedings of the IEEE/CVF Conference on Computer Vision and Pattern Recognition (CVPR), 2022, pp. 14318–14328.</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[9]  </a:t>
            </a:r>
            <a:r>
              <a:rPr sz="900">
                <a:solidFill>
                  <a:srgbClr val="141C1E"/>
                </a:solidFill>
                <a:latin typeface="Segoe UI"/>
              </a:rPr>
              <a:t>M. Ye, W. Liu, P. He, VERA: Explainable video anomaly detection via verbalized learning of vision-language models, in: Proceedings of the IEEE/CVF Conference on Computer Vision and Pattern Recognition (CVPR), 2025, pp. 8679–8688.</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[10]  </a:t>
            </a:r>
            <a:r>
              <a:rPr sz="900">
                <a:solidFill>
                  <a:srgbClr val="141C1E"/>
                </a:solidFill>
                <a:latin typeface="Segoe UI"/>
              </a:rPr>
              <a:t>P. Wu, X. Zhou, G. Pang, Y. Sun, J. Liu, P. Wang, Y. Zhang, Open-vocabulary video anomaly detection, in: Proceedings of the IEEE/CVF Conference on Computer Vision and Pattern Recognition (CVPR), 2024, pp. 18297–18307.</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[11]  </a:t>
            </a:r>
            <a:r>
              <a:rPr sz="900">
                <a:solidFill>
                  <a:srgbClr val="141C1E"/>
                </a:solidFill>
                <a:latin typeface="Segoe UI"/>
              </a:rPr>
              <a:t>V. M. Patel, R. Gopalan, R. Li, R. Chellappa, Visual domain adaptation: A survey of recent advances, IEEE Signal Processing Magazine 32 (2015) 53–69.</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[12]  </a:t>
            </a:r>
            <a:r>
              <a:rPr sz="900">
                <a:solidFill>
                  <a:srgbClr val="141C1E"/>
                </a:solidFill>
                <a:latin typeface="Segoe UI"/>
              </a:rPr>
              <a:t>M. Wang, W. Deng, Deep visual domain adaptation: A survey, Neurocomputing 312 (2018) 135–153.</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[13]  </a:t>
            </a:r>
            <a:r>
              <a:rPr sz="900">
                <a:solidFill>
                  <a:srgbClr val="141C1E"/>
                </a:solidFill>
                <a:latin typeface="Segoe UI"/>
              </a:rPr>
              <a:t>G. Wilson, D. J. Cook, A survey of unsupervised deep domain adaptation, ACM Computing Surveys 51 (2020) 1–46.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2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32</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[14]  </a:t>
            </a:r>
            <a:r>
              <a:rPr sz="900">
                <a:solidFill>
                  <a:srgbClr val="141C1E"/>
                </a:solidFill>
                <a:latin typeface="Segoe UI"/>
              </a:rPr>
              <a:t>X. Liu, C. Yoo, F. Xing, H. Oh, G. El Fakhri, J.-W. Kang, J. Woo, Deep unsupervised domain adaptation: A review of recent advances and perspectives, APSIPA Transactions on Signal and Information Processing 11 (2022). ArXiv:2208.07422.</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[15]  </a:t>
            </a:r>
            <a:r>
              <a:rPr sz="900">
                <a:solidFill>
                  <a:srgbClr val="141C1E"/>
                </a:solidFill>
                <a:latin typeface="Segoe UI"/>
              </a:rPr>
              <a:t>P. Singhal, R. Walambe, S. Ramanna, K. Kotecha, Domain adaptation: Challenges, methods, datasets, and applications, IEEE Access 11 (2023) 6973–7020.</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[16]  </a:t>
            </a:r>
            <a:r>
              <a:rPr sz="900">
                <a:solidFill>
                  <a:srgbClr val="141C1E"/>
                </a:solidFill>
                <a:latin typeface="Segoe UI"/>
              </a:rPr>
              <a:t>L. Fan, F. Liu, C. Chen, Domain adaptation of large language models for geotechnical applications, Solid Earth Sciences (2026). Art. no. 100285.</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[17]  </a:t>
            </a:r>
            <a:r>
              <a:rPr sz="900">
                <a:solidFill>
                  <a:srgbClr val="141C1E"/>
                </a:solidFill>
                <a:latin typeface="Segoe UI"/>
              </a:rPr>
              <a:t>D. Guo, Y. Fu, S. Li, Ada-VAD: Domain adaptable video anomaly detection, in: Proceedings of the SIAM International Conference on Data Mining (SDM), 2024, pp. 634–642.</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[18]  </a:t>
            </a:r>
            <a:r>
              <a:rPr sz="900">
                <a:solidFill>
                  <a:srgbClr val="141C1E"/>
                </a:solidFill>
                <a:latin typeface="Segoe UI"/>
              </a:rPr>
              <a:t>Y. Lu, F. Yu, M. K. K. Reddy, Y. Wang, Few-shot scene-adaptive anomaly detection, in: Proceedings of the European Conference on Computer Vision (ECCV), 2020, pp. 125–141.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[19]  </a:t>
            </a:r>
            <a:r>
              <a:rPr sz="900">
                <a:solidFill>
                  <a:srgbClr val="141C1E"/>
                </a:solidFill>
                <a:latin typeface="Segoe UI"/>
              </a:rPr>
              <a:t>A. Aich, K.-C. Peng, A. K. Roy-Chowdhury, Cross-domain video anomaly detection without target domain adaptation, in: Proceedings of the IEEE/CVF Winter Conference on Applications of Computer Vision (WACV), 2023, pp. 2578–2590.</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[20]  </a:t>
            </a:r>
            <a:r>
              <a:rPr sz="900">
                <a:solidFill>
                  <a:srgbClr val="141C1E"/>
                </a:solidFill>
                <a:latin typeface="Segoe UI"/>
              </a:rPr>
              <a:t>W. M. Kouw, M. Loog, An introduction to domain adaptation and transfer learning, arXiv preprint arXiv:1812.11806 (2018).</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[21]  </a:t>
            </a:r>
            <a:r>
              <a:rPr sz="900">
                <a:solidFill>
                  <a:srgbClr val="141C1E"/>
                </a:solidFill>
                <a:latin typeface="Segoe UI"/>
              </a:rPr>
              <a:t>W. Liu, W. Luo, D. Lian, S. Gao, Future frame prediction for anomaly detection — A new baseline, in: Proceedings of the IEEE/CVF Conference on Computer Vision and Pattern Recognition (CVPR), 2018, pp. 6536–6545.</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[22]  </a:t>
            </a:r>
            <a:r>
              <a:rPr sz="900">
                <a:solidFill>
                  <a:srgbClr val="141C1E"/>
                </a:solidFill>
                <a:latin typeface="Segoe UI"/>
              </a:rPr>
              <a:t>A. Dosovitskiy, L. Beyer, A. Kolesnikov, D. Weissenborn, X. Zhai, T. Unterthiner, M. Dehghani, M. Minderer, G. Heigold, S. Gelly, J. Uszkoreit, N. Houlsby, An image is worth 16x16 words: Transformers for image recognition at scale, in: Proceedings of the International Conference on Learning Representations (ICLR), 2021.</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[23]  </a:t>
            </a:r>
            <a:r>
              <a:rPr sz="900">
                <a:solidFill>
                  <a:srgbClr val="141C1E"/>
                </a:solidFill>
                <a:latin typeface="Segoe UI"/>
              </a:rPr>
              <a:t>A. Vaswani, N. Shazeer, N. Parmar, J. Uszkoreit, L. Jones, A. N. Gomez, L. Kaiser, I. Polosukhin, Attention is all you need, in: Advances in Neural Information Processing Systems (NeurIPS), 2017, pp. 5998–6008.</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[24]  </a:t>
            </a:r>
            <a:r>
              <a:rPr sz="900">
                <a:solidFill>
                  <a:srgbClr val="141C1E"/>
                </a:solidFill>
                <a:latin typeface="Segoe UI"/>
              </a:rPr>
              <a:t>H. Liu, C. Li, Q. Wu, Y. J. Lee, Visual instruction tuning, in: Advances in Neural Information Processing Systems (NeurIPS), 2023, pp. 34892–34916.</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[25]  </a:t>
            </a:r>
            <a:r>
              <a:rPr sz="900">
                <a:solidFill>
                  <a:srgbClr val="141C1E"/>
                </a:solidFill>
                <a:latin typeface="Segoe UI"/>
              </a:rPr>
              <a:t>T. Dettmers, A. Pagnoni, A. Holtzman, L. Zettlemoyer, QLoRA: Efficient finetuning of quantized LLMs, in: Advances in Neural Information Processing Systems (NeurIPS), 2023, pp. 10088–10115.</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[26]  </a:t>
            </a:r>
            <a:r>
              <a:rPr sz="900">
                <a:solidFill>
                  <a:srgbClr val="141C1E"/>
                </a:solidFill>
                <a:latin typeface="Segoe UI"/>
              </a:rPr>
              <a:t>C. Lu, J. Shi, J. Jia, Abnormal event detection at 150 FPS in MATLAB, in: Proceedings of the IEEE International Conference on Computer Vision (ICCV), 2013, pp. 2720–2727.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3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33</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[27]  </a:t>
            </a:r>
            <a:r>
              <a:rPr sz="900">
                <a:solidFill>
                  <a:srgbClr val="141C1E"/>
                </a:solidFill>
                <a:latin typeface="Segoe UI"/>
              </a:rPr>
              <a:t>W. Sultani, C. Chen, M. Shah, Real-world anomaly detection in surveillance videos, in: Proceedings of the IEEE/CVF Conference on Computer Vision and Pattern Recognition (CVPR), 2018, pp. 6479–6488.</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[28]  </a:t>
            </a:r>
            <a:r>
              <a:rPr sz="900">
                <a:solidFill>
                  <a:srgbClr val="141C1E"/>
                </a:solidFill>
                <a:latin typeface="Segoe UI"/>
              </a:rPr>
              <a:t>T. Fawcett, An introduction to ROC analysis, Pattern Recognition Letters 27 (2006) 861–874.</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[29]  </a:t>
            </a:r>
            <a:r>
              <a:rPr sz="900">
                <a:solidFill>
                  <a:srgbClr val="141C1E"/>
                </a:solidFill>
                <a:latin typeface="Segoe UI"/>
              </a:rPr>
              <a:t>A. P. Bradley, The use of the area under the ROC curve in the evaluation of machine learning algorithms, Pattern Recognition 30 (1997) 1145–1159.</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[30]  </a:t>
            </a:r>
            <a:r>
              <a:rPr sz="900">
                <a:solidFill>
                  <a:srgbClr val="141C1E"/>
                </a:solidFill>
                <a:latin typeface="Segoe UI"/>
              </a:rPr>
              <a:t>J. Davis, M. Goadrich, The relationship between precision-recall and ROC curves, in: Proceedings of the International Conference on Machine Learning (ICML), 2006, pp. 233–240.</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[31]  </a:t>
            </a:r>
            <a:r>
              <a:rPr sz="900">
                <a:solidFill>
                  <a:srgbClr val="141C1E"/>
                </a:solidFill>
                <a:latin typeface="Segoe UI"/>
              </a:rPr>
              <a:t>B. Schölkopf, J. C. Platt, J. Shawe-Taylor, A. J. Smola, R. C. Williamson, Estimating the support of a high-dimensional distribution, Neural Computation 13 (2001) 1443–1471.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[32]  </a:t>
            </a:r>
            <a:r>
              <a:rPr sz="900">
                <a:solidFill>
                  <a:srgbClr val="141C1E"/>
                </a:solidFill>
                <a:latin typeface="Segoe UI"/>
              </a:rPr>
              <a:t>H. Lv, C. Chen, Z. Cui, C. Xu, Y. Li, J. Yang, Learning normal dynamics in videos with meta prototype network, in: Proceedings of the IEEE/CVF Conference on Computer Vision and Pattern Recognition (CVPR), 2021, pp. 15425–15434.</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[33]  </a:t>
            </a:r>
            <a:r>
              <a:rPr sz="900">
                <a:solidFill>
                  <a:srgbClr val="141C1E"/>
                </a:solidFill>
                <a:latin typeface="Segoe UI"/>
              </a:rPr>
              <a:t>C. Yan, S. Zhang, Y. Liu, G. Pang, W. Wang, Feature prediction diffusion model for video anomaly detection, in: Proceedings of the IEEE/CVF International Conference on Computer Vision (ICCV), 2023, pp. 5527–5537.</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[34]  </a:t>
            </a:r>
            <a:r>
              <a:rPr sz="900">
                <a:solidFill>
                  <a:srgbClr val="141C1E"/>
                </a:solidFill>
                <a:latin typeface="Segoe UI"/>
              </a:rPr>
              <a:t>H. Zhou, J. Cai, Y. Ye, Y. Feng, C. Gao, J. Yu, Z. Song, W. Yang, Video anomaly detection with motion and appearance guided patch diffusion model, arXiv preprint arXiv:2412.09026 (2024).</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[35]  </a:t>
            </a:r>
            <a:r>
              <a:rPr sz="900">
                <a:solidFill>
                  <a:srgbClr val="141C1E"/>
                </a:solidFill>
                <a:latin typeface="Segoe UI"/>
              </a:rPr>
              <a:t>J. Micorek, H. Possegger, D. Narnhofer, H. Bischof, M. Kampel, MULDE: Multiscale log-density estimation via denoising score matching for video anomaly detection, in: Proceedings of the IEEE/CVF Conference on Computer Vision and Pattern Recognition (CVPR), 2024, pp. 18868–18877.</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[36]  </a:t>
            </a:r>
            <a:r>
              <a:rPr sz="900">
                <a:solidFill>
                  <a:srgbClr val="141C1E"/>
                </a:solidFill>
                <a:latin typeface="Segoe UI"/>
              </a:rPr>
              <a:t>R. Girdhar, A. El-Nouby, Z. Liu, M. Singh, K. V. Alwala, A. Joulin, I. Misra, ImageBind: One embedding space to bind them all, in: Proceedings of the IEEE/CVF Conference on Computer Vision and Pattern Recognition (CVPR), 2023, pp. 15180–15190.</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[37]  </a:t>
            </a:r>
            <a:r>
              <a:rPr sz="900">
                <a:solidFill>
                  <a:srgbClr val="141C1E"/>
                </a:solidFill>
                <a:latin typeface="Segoe UI"/>
              </a:rPr>
              <a:t>M. Maaz, H. Rasheed, S. Khan, F. Khan, Video-ChatGPT: Towards detailed video understanding via large vision and language models, in: Proceedings of the 62nd Annual Meeting of the Association for Computational Linguistics (ACL), 2024, pp. 12585–12602.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