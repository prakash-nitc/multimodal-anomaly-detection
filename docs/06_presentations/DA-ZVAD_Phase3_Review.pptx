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Introduce yourself and the one-line premise: adapting an anomaly detector to a new camera with one sentence the system writes itself, with nothing retrained.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simple - this slide is for anyone on the panel who is not in this field. Left: a busy crossing, hundreds of people, all normal. Middle: a collision on a crossing - that is an anomaly. Right: what a detector produces, a score for every frame that rises at the unusual moment and crosses the alarm line; it is an illustration. Then the three boxes, one line each. These photos are not from our data - our data starts on page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example, not the definition. Mall versus factory - the same forklift, opposite answers. Then the cost: every new customer means new footage and a retraining cycle. That cost is what we are removing.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you read the six surveys. Read the Liu quote aloud - the field scopes concept shift OUT by explicit decision. Make clear you are not criticising them: for object recognition it is the right call.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consequence. In anomaly detection normality IS the deployment context. Mention the 2026 position paper yourself - an independent group reached the same premise, which answers 'did you invent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modules left to right in about thirty seconds. Point at the SETUP box: LLaVA captions a new camera's first frames and that caption is the camera's sentence - no human needed. Then stop on M3, the only place the domain enters, and its one rule: the sentence goes into the normal prompts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methodological point in the deck. Say it slowly. And note that the competing systems CANNOT run our experiment - their text is learned on training data (VERA), or entangled in an LLM prior (LAVAD), or paired with trained detection heads (OVVAD).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the interpretation was fixed BEFORE any measurement, and that the mismatched condition is designed to refute us. A panel will respect a test you could have failed - and later in the deck, one you partly did.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it is the credibility slide. If anyone doubts the work is yours, offer to open a manifest. Three video benchmarks now, UCF-Crime added in Phase 3; MVTec is only the image baseline.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no more. Point down one column and say the scene never changes - only the event does. Then one line on UCF-Crime: there, almost every video is a different place, which is why each gets its own sentence.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past this and do not apologise for it. The first run was chance, and the key experiment came out backwards. Then pause. The next two slides are what makes this presentation worth listening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schools analogy works on everyone - use it. Stress twice that the fix uses no labels and is the benchmark's own published protocol, and that both figures appear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that the diagnosis was not invented after the fact. Say clearly that neither panel uses labels. The cameras are separate regions of the space and sit at different similarity levels, which is exactly why pooling raw scores destroyed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interesting slide. Point at the two prompts and let them see the shared words. Then the punchline: the more accurate the description, the more damage it does. That is why the result inverted.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Point at the none column being identical in both rows - that is the control, and it proves only the injection point changed. Then point at 0.628 and say a wrong sentence costs ten points on the benchmark metric. Do not say 'the text redefines normal' - page 17 explains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of the previous table. Trace the two arrows with a finger. The grey arrow points the wrong way and the orange one points the right way, and the only thing separating them is where the sentence was attached.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persuasive slide in the deck for a sceptical panel, because there is no aggregation to argue with - two runs over identical frames with identical frozen weights. Say that the curves coincide outside the event on purpose: that is the control.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scrupulous. The +0.027 sits inside the spread, so we report direction only. Then the Phase 3 check, said plainly: judged only inside each video, the gap is +0.006. The sentence mostly shifts each video's score level - it tells cameras apart - rather than re-ranking frames. We found this ourselves and the audit is the next experiment. Saying it first is what protects you.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surprise: we expected motion to help and it does not. The pooled embedding already registers enough of it. Reporting the prediction that failed is stronger than reporting only the ones that held.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weakness before anyone asks. The error bars overlap, so the top three are statistically tied. The claim is that nothing we added beat plain language, which is a negative result about our own elaborations, not a win over the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in the deck. Detection transfers almost exactly; the adaptation does not. Give the honest reading - on Avenue a placeholder beats an accurate description, so that benefit cannot be domain adaptation. Then give the conjecture AND the experiment that would settle it - the next slide, and UCF-Crime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a full cycle: we saw something odd, formed an explanation, designed a test that could have killed it, ran it, and it held. Say out loud that a gap near +0.105 here would have refuted us. Then give the caveat yourself - three of nine views are negative, so within one scene the effect is not reliable. The last row is Phase 3: ~290 scenes gave no bigger gap than 12, so the claim is 'needs scenes', not 'grows with scenes'.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spread yourself. Three views are negative and two nearly reach the pooled figure, so the result is a shift in the mean rather than a collapse everywhere. Saying this before the panel spots it is the difference between a caveat and a hole.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starts here. Say what changed: each camera gets its own sentence, and LLaVA writes it from the first three frames - no human, no labels. Point at the swapped bars: even the best swap loses, so the sentence works by matching its camera. Do not claim LLaVA beats a human; 0.751 against 0.749 is noise.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slide for credibility. The predictions were committed to git before any score existed. Say P1 failed before anyone asks, and that the claim was narrowed because of it. On LAVAD: 'comparable or better'. LAVAD samples every 16th frame too, but other papers' numbers can differ by small protocol details. AnyAnomaly gets 0.807 here - below us, unlike on the campus benchmarks.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borrowed-sentence bar first: worse than no sentence at all. That is the clearest evidence that the sentence tells the model where it is. Then the dashed LAVAD line, with the protocol caveat.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why you are showing failures: the claim is that the minimal configuration is right, and that is only credible next to what was tried. If the panel suspects generated work, this slide is your best answer.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on the trained baseline: 73.4 matches the benchmark's own 2018 baseline using none of its training data. Then the reframe - AnyAnomaly is handed the class list, we are not. Then the UCF column: first of six training-free methods, above LAVAD and AnyAnomaly - say 'comparable or better', since these are other papers' numbers. The ‡ rows come from LAVAD's paper, the rest from AnyAnomaly's.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these confidently rather than apologetically. Dwell on the first two: we found ourselves that the pooled metric rewards score shifts, and that applies to every CLIP-based zero-shot VAD paper, not only ours.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re-check comes first because it decides how the result is described. Then XD-Violence, LAVAD's other benchmark. NWPU Campus is the one dataset where the same event is normal in one scene and abnormal in another - the direct test of concept shift. Point at the box at the bottom for what is done.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boundary, not the number. Say plainly that one registered prediction failed and the claim was narrowed, and that the within-video check is being audited. Then hand over.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these out. They are here because they are the evidence base for the gap: the six surveys are what let us say the field scopes concept shift out. Be ready to say which one contains the quote - it is Liu et al. 2022.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not read aloud. If asked how the work is positioned, this slide is the answer: the frozen models are all off-the-shelf, the benchmarks and metrics are the standard ones, and every method we compare against is here.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reference slide exists because the comparative analysis added seven entries. If asked which of these you actually read rather than cited from a table: the six DA surveys, AnyAnomaly, LAVAD and WinCLIP. The one-class figures are as tabulated by AnyAnomaly, and the slide says 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 cy="68580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00200"/>
            <a:ext cx="9601200" cy="274320"/>
          </a:xfrm>
          <a:prstGeom prst="rect">
            <a:avLst/>
          </a:prstGeom>
          <a:noFill/>
        </p:spPr>
        <p:txBody>
          <a:bodyPr wrap="square" lIns="0" rIns="0" tIns="0" bIns="0">
            <a:spAutoFit/>
          </a:bodyPr>
          <a:lstStyle/>
          <a:p>
            <a:pPr algn="l">
              <a:lnSpc>
                <a:spcPct val="100000"/>
              </a:lnSpc>
            </a:pPr>
            <a:r>
              <a:rPr sz="1200" b="1" i="0">
                <a:solidFill>
                  <a:srgbClr val="0D6B67"/>
                </a:solidFill>
                <a:latin typeface="Segoe UI"/>
              </a:rPr>
              <a:t>PHASE 3 PROGRESS  ·  SEMESTER 3</a:t>
            </a:r>
          </a:p>
        </p:txBody>
      </p:sp>
      <p:sp>
        <p:nvSpPr>
          <p:cNvPr id="5" name="TextBox 4"/>
          <p:cNvSpPr txBox="1"/>
          <p:nvPr/>
        </p:nvSpPr>
        <p:spPr>
          <a:xfrm>
            <a:off x="1371600" y="2057400"/>
            <a:ext cx="9692640" cy="1371600"/>
          </a:xfrm>
          <a:prstGeom prst="rect">
            <a:avLst/>
          </a:prstGeom>
          <a:noFill/>
        </p:spPr>
        <p:txBody>
          <a:bodyPr wrap="square" lIns="0" rIns="0" tIns="0" bIns="0">
            <a:spAutoFit/>
          </a:bodyPr>
          <a:lstStyle/>
          <a:p>
            <a:pPr algn="l">
              <a:lnSpc>
                <a:spcPct val="106000"/>
              </a:lnSpc>
            </a:pPr>
            <a:r>
              <a:rPr sz="3800" b="1" i="0">
                <a:solidFill>
                  <a:srgbClr val="141C1E"/>
                </a:solidFill>
                <a:latin typeface="Segoe UI"/>
              </a:rPr>
              <a:t>Domain-Adaptive Zero-Shot Anomaly Detection Using Vision-Language Models</a:t>
            </a:r>
          </a:p>
        </p:txBody>
      </p:sp>
      <p:sp>
        <p:nvSpPr>
          <p:cNvPr id="6" name="Rectangle 5"/>
          <p:cNvSpPr/>
          <p:nvPr/>
        </p:nvSpPr>
        <p:spPr>
          <a:xfrm>
            <a:off x="1371600" y="3611880"/>
            <a:ext cx="1828800" cy="36576"/>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886200"/>
            <a:ext cx="9144000" cy="457200"/>
          </a:xfrm>
          <a:prstGeom prst="rect">
            <a:avLst/>
          </a:prstGeom>
          <a:noFill/>
        </p:spPr>
        <p:txBody>
          <a:bodyPr wrap="square" lIns="0" rIns="0" tIns="0" bIns="0">
            <a:spAutoFit/>
          </a:bodyPr>
          <a:lstStyle/>
          <a:p>
            <a:pPr algn="l">
              <a:lnSpc>
                <a:spcPct val="130000"/>
              </a:lnSpc>
            </a:pPr>
            <a:r>
              <a:rPr sz="1600" b="0" i="0">
                <a:solidFill>
                  <a:srgbClr val="3A4A4C"/>
                </a:solidFill>
                <a:latin typeface="Segoe UI"/>
              </a:rPr>
              <a:t>Adapting a video anomaly detector to a new camera with one sentence the system writes itself — no training, no labels, every model frozen.</a:t>
            </a:r>
          </a:p>
        </p:txBody>
      </p:sp>
      <p:sp>
        <p:nvSpPr>
          <p:cNvPr id="8" name="TextBox 7"/>
          <p:cNvSpPr txBox="1"/>
          <p:nvPr/>
        </p:nvSpPr>
        <p:spPr>
          <a:xfrm>
            <a:off x="1371600" y="5074920"/>
            <a:ext cx="5486400" cy="320040"/>
          </a:xfrm>
          <a:prstGeom prst="rect">
            <a:avLst/>
          </a:prstGeom>
          <a:noFill/>
        </p:spPr>
        <p:txBody>
          <a:bodyPr wrap="square" lIns="0" rIns="0" tIns="0" bIns="0">
            <a:spAutoFit/>
          </a:bodyPr>
          <a:lstStyle/>
          <a:p>
            <a:pPr algn="l">
              <a:lnSpc>
                <a:spcPct val="100000"/>
              </a:lnSpc>
            </a:pPr>
            <a:r>
              <a:rPr sz="1700" b="1" i="0">
                <a:solidFill>
                  <a:srgbClr val="141C1E"/>
                </a:solidFill>
                <a:latin typeface="Segoe UI"/>
              </a:rPr>
              <a:t>Prakash Kumar Sarangi</a:t>
            </a:r>
          </a:p>
        </p:txBody>
      </p:sp>
      <p:sp>
        <p:nvSpPr>
          <p:cNvPr id="9" name="TextBox 8"/>
          <p:cNvSpPr txBox="1"/>
          <p:nvPr/>
        </p:nvSpPr>
        <p:spPr>
          <a:xfrm>
            <a:off x="1371600" y="5413248"/>
            <a:ext cx="6400800" cy="548640"/>
          </a:xfrm>
          <a:prstGeom prst="rect">
            <a:avLst/>
          </a:prstGeom>
          <a:noFill/>
        </p:spPr>
        <p:txBody>
          <a:bodyPr wrap="square" lIns="0" rIns="0" tIns="0" bIns="0">
            <a:spAutoFit/>
          </a:bodyPr>
          <a:lstStyle/>
          <a:p>
            <a:pPr algn="l">
              <a:lnSpc>
                <a:spcPct val="135000"/>
              </a:lnSpc>
            </a:pPr>
            <a:r>
              <a:rPr sz="1250" b="0" i="0">
                <a:solidFill>
                  <a:srgbClr val="617274"/>
                </a:solidFill>
                <a:latin typeface="Segoe UI"/>
              </a:rPr>
              <a:t>M.Tech Computer Science and Engineering
Supervisors: Dr. Pranesh Das  ·  Dr. Raju Hazari</a:t>
            </a:r>
          </a:p>
        </p:txBody>
      </p:sp>
      <p:sp>
        <p:nvSpPr>
          <p:cNvPr id="10" name="TextBox 9"/>
          <p:cNvSpPr txBox="1"/>
          <p:nvPr/>
        </p:nvSpPr>
        <p:spPr>
          <a:xfrm>
            <a:off x="1371600" y="6172200"/>
            <a:ext cx="6400800" cy="274320"/>
          </a:xfrm>
          <a:prstGeom prst="rect">
            <a:avLst/>
          </a:prstGeom>
          <a:noFill/>
        </p:spPr>
        <p:txBody>
          <a:bodyPr wrap="square" lIns="0" rIns="0" tIns="0" bIns="0">
            <a:spAutoFit/>
          </a:bodyPr>
          <a:lstStyle/>
          <a:p>
            <a:pPr algn="l">
              <a:lnSpc>
                <a:spcPct val="100000"/>
              </a:lnSpc>
            </a:pPr>
            <a:r>
              <a:rPr sz="1250" b="1" i="0">
                <a:solidFill>
                  <a:srgbClr val="0D6B67"/>
                </a:solidFill>
                <a:latin typeface="Segoe UI"/>
              </a:rPr>
              <a:t>National Institute of Technology Calicut</a:t>
            </a:r>
          </a:p>
        </p:txBody>
      </p:sp>
      <p:sp>
        <p:nvSpPr>
          <p:cNvPr id="11" name="TextBox 10"/>
          <p:cNvSpPr txBox="1"/>
          <p:nvPr/>
        </p:nvSpPr>
        <p:spPr>
          <a:xfrm>
            <a:off x="9402775" y="6172200"/>
            <a:ext cx="2011680" cy="274320"/>
          </a:xfrm>
          <a:prstGeom prst="rect">
            <a:avLst/>
          </a:prstGeom>
          <a:noFill/>
        </p:spPr>
        <p:txBody>
          <a:bodyPr wrap="square" lIns="0" rIns="0" tIns="0" bIns="0">
            <a:spAutoFit/>
          </a:bodyPr>
          <a:lstStyle/>
          <a:p>
            <a:pPr algn="r">
              <a:lnSpc>
                <a:spcPct val="100000"/>
              </a:lnSpc>
            </a:pPr>
            <a:r>
              <a:rPr sz="1250" b="0" i="0">
                <a:solidFill>
                  <a:srgbClr val="617274"/>
                </a:solidFill>
                <a:latin typeface="Segoe U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INTRODUCTION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is video anomaly detection?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a:t>
            </a:r>
          </a:p>
        </p:txBody>
      </p:sp>
      <p:pic>
        <p:nvPicPr>
          <p:cNvPr id="7" name="Picture 6" descr="fig_intro_anomaly_detection.png"/>
          <p:cNvPicPr>
            <a:picLocks noChangeAspect="1"/>
          </p:cNvPicPr>
          <p:nvPr/>
        </p:nvPicPr>
        <p:blipFill>
          <a:blip r:embed="rId2"/>
          <a:stretch>
            <a:fillRect/>
          </a:stretch>
        </p:blipFill>
        <p:spPr>
          <a:xfrm>
            <a:off x="975207" y="1645920"/>
            <a:ext cx="10241280" cy="3064625"/>
          </a:xfrm>
          <a:prstGeom prst="rect">
            <a:avLst/>
          </a:prstGeom>
        </p:spPr>
      </p:pic>
      <p:sp>
        <p:nvSpPr>
          <p:cNvPr id="8" name="Rectangle 7"/>
          <p:cNvSpPr/>
          <p:nvPr/>
        </p:nvSpPr>
        <p:spPr>
          <a:xfrm>
            <a:off x="777240" y="4820273"/>
            <a:ext cx="3393338" cy="109728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911713"/>
            <a:ext cx="3027578"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WHAT</a:t>
            </a:r>
          </a:p>
        </p:txBody>
      </p:sp>
      <p:sp>
        <p:nvSpPr>
          <p:cNvPr id="10" name="TextBox 9"/>
          <p:cNvSpPr txBox="1"/>
          <p:nvPr/>
        </p:nvSpPr>
        <p:spPr>
          <a:xfrm>
            <a:off x="960120" y="5149457"/>
            <a:ext cx="3027578" cy="731520"/>
          </a:xfrm>
          <a:prstGeom prst="rect">
            <a:avLst/>
          </a:prstGeom>
          <a:noFill/>
        </p:spPr>
        <p:txBody>
          <a:bodyPr wrap="square" lIns="0" rIns="0" tIns="0" bIns="0">
            <a:spAutoFit/>
          </a:bodyPr>
          <a:lstStyle/>
          <a:p>
            <a:pPr algn="l">
              <a:lnSpc>
                <a:spcPct val="115000"/>
              </a:lnSpc>
            </a:pPr>
            <a:r>
              <a:rPr sz="1250" b="0" i="0">
                <a:solidFill>
                  <a:srgbClr val="141C1E"/>
                </a:solidFill>
                <a:latin typeface="Segoe UI"/>
              </a:rPr>
              <a:t>Find moments in video that do not fit what usually happens at that place — a collision, a fight, a fall.</a:t>
            </a:r>
          </a:p>
        </p:txBody>
      </p:sp>
      <p:sp>
        <p:nvSpPr>
          <p:cNvPr id="11" name="Rectangle 10"/>
          <p:cNvSpPr/>
          <p:nvPr/>
        </p:nvSpPr>
        <p:spPr>
          <a:xfrm>
            <a:off x="4399178" y="4820273"/>
            <a:ext cx="3393338" cy="109728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2058" y="4911713"/>
            <a:ext cx="3027578" cy="228600"/>
          </a:xfrm>
          <a:prstGeom prst="rect">
            <a:avLst/>
          </a:prstGeom>
          <a:noFill/>
        </p:spPr>
        <p:txBody>
          <a:bodyPr wrap="square" lIns="0" rIns="0" tIns="0" bIns="0">
            <a:spAutoFit/>
          </a:bodyPr>
          <a:lstStyle/>
          <a:p>
            <a:pPr algn="l">
              <a:lnSpc>
                <a:spcPct val="100000"/>
              </a:lnSpc>
            </a:pPr>
            <a:r>
              <a:rPr sz="1100" b="1" i="0">
                <a:solidFill>
                  <a:srgbClr val="141C1E"/>
                </a:solidFill>
                <a:latin typeface="Segoe UI"/>
              </a:rPr>
              <a:t>HOW</a:t>
            </a:r>
          </a:p>
        </p:txBody>
      </p:sp>
      <p:sp>
        <p:nvSpPr>
          <p:cNvPr id="13" name="TextBox 12"/>
          <p:cNvSpPr txBox="1"/>
          <p:nvPr/>
        </p:nvSpPr>
        <p:spPr>
          <a:xfrm>
            <a:off x="4582058" y="5149457"/>
            <a:ext cx="3027578" cy="731520"/>
          </a:xfrm>
          <a:prstGeom prst="rect">
            <a:avLst/>
          </a:prstGeom>
          <a:noFill/>
        </p:spPr>
        <p:txBody>
          <a:bodyPr wrap="square" lIns="0" rIns="0" tIns="0" bIns="0">
            <a:spAutoFit/>
          </a:bodyPr>
          <a:lstStyle/>
          <a:p>
            <a:pPr algn="l">
              <a:lnSpc>
                <a:spcPct val="115000"/>
              </a:lnSpc>
            </a:pPr>
            <a:r>
              <a:rPr sz="1250" b="0" i="0">
                <a:solidFill>
                  <a:srgbClr val="141C1E"/>
                </a:solidFill>
                <a:latin typeface="Segoe UI"/>
              </a:rPr>
              <a:t>Score every frame. When the score crosses a threshold, flag that moment for a human to check.</a:t>
            </a:r>
          </a:p>
        </p:txBody>
      </p:sp>
      <p:sp>
        <p:nvSpPr>
          <p:cNvPr id="14" name="Rectangle 13"/>
          <p:cNvSpPr/>
          <p:nvPr/>
        </p:nvSpPr>
        <p:spPr>
          <a:xfrm>
            <a:off x="8021116" y="4820273"/>
            <a:ext cx="3393338" cy="109728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3996" y="4911713"/>
            <a:ext cx="3027578" cy="228600"/>
          </a:xfrm>
          <a:prstGeom prst="rect">
            <a:avLst/>
          </a:prstGeom>
          <a:noFill/>
        </p:spPr>
        <p:txBody>
          <a:bodyPr wrap="square" lIns="0" rIns="0" tIns="0" bIns="0">
            <a:spAutoFit/>
          </a:bodyPr>
          <a:lstStyle/>
          <a:p>
            <a:pPr algn="l">
              <a:lnSpc>
                <a:spcPct val="100000"/>
              </a:lnSpc>
            </a:pPr>
            <a:r>
              <a:rPr sz="1100" b="1" i="0">
                <a:solidFill>
                  <a:srgbClr val="8A5715"/>
                </a:solidFill>
                <a:latin typeface="Segoe UI"/>
              </a:rPr>
              <a:t>WHY IT IS HARD</a:t>
            </a:r>
          </a:p>
        </p:txBody>
      </p:sp>
      <p:sp>
        <p:nvSpPr>
          <p:cNvPr id="16" name="TextBox 15"/>
          <p:cNvSpPr txBox="1"/>
          <p:nvPr/>
        </p:nvSpPr>
        <p:spPr>
          <a:xfrm>
            <a:off x="8203996" y="5149457"/>
            <a:ext cx="3027578" cy="731520"/>
          </a:xfrm>
          <a:prstGeom prst="rect">
            <a:avLst/>
          </a:prstGeom>
          <a:noFill/>
        </p:spPr>
        <p:txBody>
          <a:bodyPr wrap="square" lIns="0" rIns="0" tIns="0" bIns="0">
            <a:spAutoFit/>
          </a:bodyPr>
          <a:lstStyle/>
          <a:p>
            <a:pPr algn="l">
              <a:lnSpc>
                <a:spcPct val="115000"/>
              </a:lnSpc>
            </a:pPr>
            <a:r>
              <a:rPr sz="1250" b="0" i="0">
                <a:solidFill>
                  <a:srgbClr val="141C1E"/>
                </a:solidFill>
                <a:latin typeface="Segoe UI"/>
              </a:rPr>
              <a:t>Anomalies are rare and varied, so no one can collect examples of them all. Systems learn “normal” instead.</a:t>
            </a:r>
          </a:p>
        </p:txBody>
      </p:sp>
      <p:sp>
        <p:nvSpPr>
          <p:cNvPr id="17" name="TextBox 16"/>
          <p:cNvSpPr txBox="1"/>
          <p:nvPr/>
        </p:nvSpPr>
        <p:spPr>
          <a:xfrm>
            <a:off x="777240" y="5954129"/>
            <a:ext cx="9905695" cy="201168"/>
          </a:xfrm>
          <a:prstGeom prst="rect">
            <a:avLst/>
          </a:prstGeom>
          <a:noFill/>
        </p:spPr>
        <p:txBody>
          <a:bodyPr wrap="square" lIns="0" rIns="0" tIns="0" bIns="0">
            <a:spAutoFit/>
          </a:bodyPr>
          <a:lstStyle/>
          <a:p>
            <a:pPr algn="l">
              <a:lnSpc>
                <a:spcPct val="100000"/>
              </a:lnSpc>
            </a:pPr>
            <a:r>
              <a:rPr sz="850" b="0" i="1">
                <a:solidFill>
                  <a:srgbClr val="617274"/>
                </a:solidFill>
                <a:latin typeface="Segoe UI"/>
              </a:rPr>
              <a:t>Photos: “Scramble from above, SHIBUYA SKY” by Sei F; “Japanese car accident” by Shuets Udono — both CC BY-SA 2.0, via Wikimedia Commons, cropped. Right panel: illustration.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THE PROBLEM</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detector is tied to the place it learned</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Standard approach.  </a:t>
            </a:r>
            <a:r>
              <a:rPr sz="1650">
                <a:solidFill>
                  <a:srgbClr val="3A4A4C"/>
                </a:solidFill>
                <a:latin typeface="Segoe UI"/>
              </a:rPr>
              <a:t>Show the system weeks of ordinary footage from one camera until it learns what normal looks like there.</a:t>
            </a:r>
          </a:p>
        </p:txBody>
      </p:sp>
      <p:sp>
        <p:nvSpPr>
          <p:cNvPr id="9" name="Rectangle 8"/>
          <p:cNvSpPr/>
          <p:nvPr/>
        </p:nvSpPr>
        <p:spPr>
          <a:xfrm>
            <a:off x="777240" y="256946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441448"/>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cost.  </a:t>
            </a:r>
            <a:r>
              <a:rPr sz="1650">
                <a:solidFill>
                  <a:srgbClr val="3A4A4C"/>
                </a:solidFill>
                <a:latin typeface="Segoe UI"/>
              </a:rPr>
              <a:t>Move it anywhere else and it fails — a new site means new footage collection and a full retraining cycle.</a:t>
            </a:r>
          </a:p>
        </p:txBody>
      </p:sp>
      <p:sp>
        <p:nvSpPr>
          <p:cNvPr id="11" name="Rectangle 10"/>
          <p:cNvSpPr/>
          <p:nvPr/>
        </p:nvSpPr>
        <p:spPr>
          <a:xfrm>
            <a:off x="777240" y="3246120"/>
            <a:ext cx="5074920" cy="2194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474720"/>
            <a:ext cx="4480560" cy="274320"/>
          </a:xfrm>
          <a:prstGeom prst="rect">
            <a:avLst/>
          </a:prstGeom>
          <a:noFill/>
        </p:spPr>
        <p:txBody>
          <a:bodyPr wrap="square" lIns="0" rIns="0" tIns="0" bIns="0">
            <a:spAutoFit/>
          </a:bodyPr>
          <a:lstStyle/>
          <a:p>
            <a:pPr algn="l">
              <a:lnSpc>
                <a:spcPct val="100000"/>
              </a:lnSpc>
            </a:pPr>
            <a:r>
              <a:rPr sz="1200" b="1" i="0">
                <a:solidFill>
                  <a:srgbClr val="0D6B67"/>
                </a:solidFill>
                <a:latin typeface="Segoe UI"/>
              </a:rPr>
              <a:t>SHOPPING MALL</a:t>
            </a:r>
          </a:p>
        </p:txBody>
      </p:sp>
      <p:sp>
        <p:nvSpPr>
          <p:cNvPr id="13" name="TextBox 12"/>
          <p:cNvSpPr txBox="1"/>
          <p:nvPr/>
        </p:nvSpPr>
        <p:spPr>
          <a:xfrm>
            <a:off x="1097280" y="3840480"/>
            <a:ext cx="4480560" cy="1371600"/>
          </a:xfrm>
          <a:prstGeom prst="rect">
            <a:avLst/>
          </a:prstGeom>
          <a:noFill/>
        </p:spPr>
        <p:txBody>
          <a:bodyPr wrap="square" lIns="0" rIns="0" tIns="0" bIns="0">
            <a:spAutoFit/>
          </a:bodyPr>
          <a:lstStyle/>
          <a:p>
            <a:pPr algn="l">
              <a:lnSpc>
                <a:spcPct val="135000"/>
              </a:lnSpc>
            </a:pPr>
            <a:r>
              <a:rPr sz="1700" b="0" i="0">
                <a:solidFill>
                  <a:srgbClr val="141C1E"/>
                </a:solidFill>
                <a:latin typeface="Segoe UI"/>
              </a:rPr>
              <a:t>A forklift moving through the aisles is
an immediate alarm.</a:t>
            </a:r>
          </a:p>
        </p:txBody>
      </p:sp>
      <p:sp>
        <p:nvSpPr>
          <p:cNvPr id="14" name="Rectangle 13"/>
          <p:cNvSpPr/>
          <p:nvPr/>
        </p:nvSpPr>
        <p:spPr>
          <a:xfrm>
            <a:off x="6217920" y="3246120"/>
            <a:ext cx="5074920" cy="2194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474720"/>
            <a:ext cx="4480560" cy="274320"/>
          </a:xfrm>
          <a:prstGeom prst="rect">
            <a:avLst/>
          </a:prstGeom>
          <a:noFill/>
        </p:spPr>
        <p:txBody>
          <a:bodyPr wrap="square" lIns="0" rIns="0" tIns="0" bIns="0">
            <a:spAutoFit/>
          </a:bodyPr>
          <a:lstStyle/>
          <a:p>
            <a:pPr algn="l">
              <a:lnSpc>
                <a:spcPct val="100000"/>
              </a:lnSpc>
            </a:pPr>
            <a:r>
              <a:rPr sz="1200" b="1" i="0">
                <a:solidFill>
                  <a:srgbClr val="8A5715"/>
                </a:solidFill>
                <a:latin typeface="Segoe UI"/>
              </a:rPr>
              <a:t>FACTORY FLOOR</a:t>
            </a:r>
          </a:p>
        </p:txBody>
      </p:sp>
      <p:sp>
        <p:nvSpPr>
          <p:cNvPr id="16" name="TextBox 15"/>
          <p:cNvSpPr txBox="1"/>
          <p:nvPr/>
        </p:nvSpPr>
        <p:spPr>
          <a:xfrm>
            <a:off x="6537959" y="3840480"/>
            <a:ext cx="4480560" cy="1371600"/>
          </a:xfrm>
          <a:prstGeom prst="rect">
            <a:avLst/>
          </a:prstGeom>
          <a:noFill/>
        </p:spPr>
        <p:txBody>
          <a:bodyPr wrap="square" lIns="0" rIns="0" tIns="0" bIns="0">
            <a:spAutoFit/>
          </a:bodyPr>
          <a:lstStyle/>
          <a:p>
            <a:pPr algn="l">
              <a:lnSpc>
                <a:spcPct val="135000"/>
              </a:lnSpc>
            </a:pPr>
            <a:r>
              <a:rPr sz="1700" b="0" i="0">
                <a:solidFill>
                  <a:srgbClr val="141C1E"/>
                </a:solidFill>
                <a:latin typeface="Segoe UI"/>
              </a:rPr>
              <a:t>The identical forklift is completely
routine.</a:t>
            </a:r>
          </a:p>
        </p:txBody>
      </p:sp>
      <p:sp>
        <p:nvSpPr>
          <p:cNvPr id="17" name="TextBox 16"/>
          <p:cNvSpPr txBox="1"/>
          <p:nvPr/>
        </p:nvSpPr>
        <p:spPr>
          <a:xfrm>
            <a:off x="777240" y="5760720"/>
            <a:ext cx="10637215" cy="457200"/>
          </a:xfrm>
          <a:prstGeom prst="rect">
            <a:avLst/>
          </a:prstGeom>
          <a:noFill/>
        </p:spPr>
        <p:txBody>
          <a:bodyPr wrap="square" lIns="0" rIns="0" tIns="0" bIns="0">
            <a:spAutoFit/>
          </a:bodyPr>
          <a:lstStyle/>
          <a:p>
            <a:pPr algn="ctr">
              <a:lnSpc>
                <a:spcPct val="100000"/>
              </a:lnSpc>
            </a:pPr>
            <a:r>
              <a:rPr sz="1700" b="1" i="0">
                <a:solidFill>
                  <a:srgbClr val="141C1E"/>
                </a:solidFill>
                <a:latin typeface="Segoe UI"/>
              </a:rPr>
              <a:t>Same footage. Opposite answers. The picture did not change — the rule did.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RESEARCH GAP  ·  1 OF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literature solves the adjacent problem</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3</a:t>
            </a:r>
          </a:p>
        </p:txBody>
      </p:sp>
      <p:sp>
        <p:nvSpPr>
          <p:cNvPr id="7" name="TextBox 6"/>
          <p:cNvSpPr txBox="1"/>
          <p:nvPr/>
        </p:nvSpPr>
        <p:spPr>
          <a:xfrm>
            <a:off x="777240" y="1783080"/>
            <a:ext cx="10637215" cy="365760"/>
          </a:xfrm>
          <a:prstGeom prst="rect">
            <a:avLst/>
          </a:prstGeom>
          <a:noFill/>
        </p:spPr>
        <p:txBody>
          <a:bodyPr wrap="square" lIns="0" rIns="0" tIns="0" bIns="0">
            <a:spAutoFit/>
          </a:bodyPr>
          <a:lstStyle/>
          <a:p>
            <a:pPr algn="l">
              <a:lnSpc>
                <a:spcPct val="100000"/>
              </a:lnSpc>
            </a:pPr>
            <a:r>
              <a:rPr sz="1600" b="0" i="0">
                <a:solidFill>
                  <a:srgbClr val="3A4A4C"/>
                </a:solidFill>
                <a:latin typeface="Segoe UI"/>
              </a:rPr>
              <a:t>Domain adaptation distinguishes between kinds of difference between places. [11–15, 20]</a:t>
            </a:r>
          </a:p>
        </p:txBody>
      </p:sp>
      <p:graphicFrame>
        <p:nvGraphicFramePr>
          <p:cNvPr id="8" name="Table 7"/>
          <p:cNvGraphicFramePr>
            <a:graphicFrameLocks noGrp="1"/>
          </p:cNvGraphicFramePr>
          <p:nvPr/>
        </p:nvGraphicFramePr>
        <p:xfrm>
          <a:off x="777240" y="2331720"/>
          <a:ext cx="10634472" cy="1975104"/>
        </p:xfrm>
        <a:graphic>
          <a:graphicData uri="http://schemas.openxmlformats.org/drawingml/2006/table">
            <a:tbl>
              <a:tblPr firstRow="1">
                <a:tableStyleId>{5C22544A-7EE6-4342-B048-85BDC9FD1C3A}</a:tableStyleId>
              </a:tblPr>
              <a:tblGrid>
                <a:gridCol w="2651760"/>
                <a:gridCol w="2011680"/>
                <a:gridCol w="5971032"/>
              </a:tblGrid>
              <a:tr h="658368">
                <a:tc>
                  <a:txBody>
                    <a:bodyPr wrap="square"/>
                    <a:lstStyle/>
                    <a:p>
                      <a:pPr algn="l"/>
                      <a:r>
                        <a:rPr sz="1400" b="1">
                          <a:solidFill>
                            <a:srgbClr val="FFFFFF"/>
                          </a:solidFill>
                          <a:latin typeface="Segoe UI"/>
                        </a:rPr>
                        <a:t>Type of shift</a:t>
                      </a:r>
                    </a:p>
                  </a:txBody>
                  <a:tcPr marL="128016" marR="128016" marT="45720" marB="45720" anchor="ctr">
                    <a:solidFill>
                      <a:srgbClr val="141C1E"/>
                    </a:solidFill>
                  </a:tcPr>
                </a:tc>
                <a:tc>
                  <a:txBody>
                    <a:bodyPr wrap="square"/>
                    <a:lstStyle/>
                    <a:p>
                      <a:pPr algn="l"/>
                      <a:r>
                        <a:rPr sz="1400" b="1">
                          <a:solidFill>
                            <a:srgbClr val="FFFFFF"/>
                          </a:solidFill>
                          <a:latin typeface="Segoe UI"/>
                        </a:rPr>
                        <a:t>What moves</a:t>
                      </a:r>
                    </a:p>
                  </a:txBody>
                  <a:tcPr marL="128016" marR="128016" marT="45720" marB="45720" anchor="ctr">
                    <a:solidFill>
                      <a:srgbClr val="141C1E"/>
                    </a:solidFill>
                  </a:tcPr>
                </a:tc>
                <a:tc>
                  <a:txBody>
                    <a:bodyPr wrap="square"/>
                    <a:lstStyle/>
                    <a:p>
                      <a:pPr algn="l"/>
                      <a:r>
                        <a:rPr sz="1400" b="1">
                          <a:solidFill>
                            <a:srgbClr val="FFFFFF"/>
                          </a:solidFill>
                          <a:latin typeface="Segoe UI"/>
                        </a:rPr>
                        <a:t>Example</a:t>
                      </a:r>
                    </a:p>
                  </a:txBody>
                  <a:tcPr marL="128016" marR="128016" marT="45720" marB="45720" anchor="ctr">
                    <a:solidFill>
                      <a:srgbClr val="141C1E"/>
                    </a:solidFill>
                  </a:tcPr>
                </a:tc>
              </a:tr>
              <a:tr h="658368">
                <a:tc>
                  <a:txBody>
                    <a:bodyPr wrap="square"/>
                    <a:lstStyle/>
                    <a:p>
                      <a:pPr algn="l"/>
                      <a:r>
                        <a:rPr sz="1400" b="0">
                          <a:solidFill>
                            <a:srgbClr val="141C1E"/>
                          </a:solidFill>
                          <a:latin typeface="Segoe UI"/>
                        </a:rPr>
                        <a:t>Covariate shift</a:t>
                      </a:r>
                    </a:p>
                  </a:txBody>
                  <a:tcPr marL="128016" marR="128016" marT="45720" marB="45720" anchor="ctr">
                    <a:solidFill>
                      <a:srgbClr val="FFFFFF"/>
                    </a:solidFill>
                  </a:tcPr>
                </a:tc>
                <a:tc>
                  <a:txBody>
                    <a:bodyPr wrap="square"/>
                    <a:lstStyle/>
                    <a:p>
                      <a:pPr algn="l"/>
                      <a:r>
                        <a:rPr sz="1400" b="0">
                          <a:solidFill>
                            <a:srgbClr val="141C1E"/>
                          </a:solidFill>
                          <a:latin typeface="Segoe UI"/>
                        </a:rPr>
                        <a:t>Appearance</a:t>
                      </a:r>
                    </a:p>
                  </a:txBody>
                  <a:tcPr marL="128016" marR="128016" marT="45720" marB="45720" anchor="ctr">
                    <a:solidFill>
                      <a:srgbClr val="FFFFFF"/>
                    </a:solidFill>
                  </a:tcPr>
                </a:tc>
                <a:tc>
                  <a:txBody>
                    <a:bodyPr wrap="square"/>
                    <a:lstStyle/>
                    <a:p>
                      <a:pPr algn="l"/>
                      <a:r>
                        <a:rPr sz="1400" b="0">
                          <a:solidFill>
                            <a:srgbClr val="141C1E"/>
                          </a:solidFill>
                          <a:latin typeface="Segoe UI"/>
                        </a:rPr>
                        <a:t>A stop sign in fog versus sunshine. Still a stop sign.</a:t>
                      </a:r>
                    </a:p>
                  </a:txBody>
                  <a:tcPr marL="128016" marR="128016" marT="45720" marB="45720" anchor="ctr">
                    <a:solidFill>
                      <a:srgbClr val="FFFFFF"/>
                    </a:solidFill>
                  </a:tcPr>
                </a:tc>
              </a:tr>
              <a:tr h="658368">
                <a:tc>
                  <a:txBody>
                    <a:bodyPr wrap="square"/>
                    <a:lstStyle/>
                    <a:p>
                      <a:pPr algn="l"/>
                      <a:r>
                        <a:rPr sz="1400" b="1">
                          <a:solidFill>
                            <a:srgbClr val="141C1E"/>
                          </a:solidFill>
                          <a:latin typeface="Segoe UI"/>
                        </a:rPr>
                        <a:t>Concept shift</a:t>
                      </a:r>
                    </a:p>
                  </a:txBody>
                  <a:tcPr marL="128016" marR="128016" marT="45720" marB="45720" anchor="ctr">
                    <a:solidFill>
                      <a:srgbClr val="DDEDEB"/>
                    </a:solidFill>
                  </a:tcPr>
                </a:tc>
                <a:tc>
                  <a:txBody>
                    <a:bodyPr wrap="square"/>
                    <a:lstStyle/>
                    <a:p>
                      <a:pPr algn="l"/>
                      <a:r>
                        <a:rPr sz="1400" b="1">
                          <a:solidFill>
                            <a:srgbClr val="141C1E"/>
                          </a:solidFill>
                          <a:latin typeface="Segoe UI"/>
                        </a:rPr>
                        <a:t>The rule itself</a:t>
                      </a:r>
                    </a:p>
                  </a:txBody>
                  <a:tcPr marL="128016" marR="128016" marT="45720" marB="45720" anchor="ctr">
                    <a:solidFill>
                      <a:srgbClr val="DDEDEB"/>
                    </a:solidFill>
                  </a:tcPr>
                </a:tc>
                <a:tc>
                  <a:txBody>
                    <a:bodyPr wrap="square"/>
                    <a:lstStyle/>
                    <a:p>
                      <a:pPr algn="l"/>
                      <a:r>
                        <a:rPr sz="1400" b="1">
                          <a:solidFill>
                            <a:srgbClr val="141C1E"/>
                          </a:solidFill>
                          <a:latin typeface="Segoe UI"/>
                        </a:rPr>
                        <a:t>A bicycle on a road versus on a footpath. Identical image, opposite label.</a:t>
                      </a:r>
                    </a:p>
                  </a:txBody>
                  <a:tcPr marL="128016" marR="128016" marT="45720" marB="45720" anchor="ctr">
                    <a:solidFill>
                      <a:srgbClr val="DDEDEB"/>
                    </a:solidFill>
                  </a:tcPr>
                </a:tc>
              </a:tr>
            </a:tbl>
          </a:graphicData>
        </a:graphic>
      </p:graphicFrame>
      <p:sp>
        <p:nvSpPr>
          <p:cNvPr id="9" name="Rectangle 8"/>
          <p:cNvSpPr/>
          <p:nvPr/>
        </p:nvSpPr>
        <p:spPr>
          <a:xfrm>
            <a:off x="777240" y="4434840"/>
            <a:ext cx="10637215" cy="123444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434840"/>
            <a:ext cx="45720" cy="1234440"/>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581144"/>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WHAT THE SURVEYS SAY</a:t>
            </a:r>
          </a:p>
        </p:txBody>
      </p:sp>
      <p:sp>
        <p:nvSpPr>
          <p:cNvPr id="12" name="TextBox 11"/>
          <p:cNvSpPr txBox="1"/>
          <p:nvPr/>
        </p:nvSpPr>
        <p:spPr>
          <a:xfrm>
            <a:off x="1033271" y="4873752"/>
            <a:ext cx="10134295" cy="667512"/>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“Concept shift is usually not a common problem in popular object classification… this review mainly focuses on covariate shift.”   — Liu et al., 2022 [14].   Singhal et al. [15] list stable p(y|x) as the first condition under which domain adaptation is justified.</a:t>
            </a:r>
          </a:p>
        </p:txBody>
      </p:sp>
      <p:sp>
        <p:nvSpPr>
          <p:cNvPr id="13" name="TextBox 12"/>
          <p:cNvSpPr txBox="1"/>
          <p:nvPr/>
        </p:nvSpPr>
        <p:spPr>
          <a:xfrm>
            <a:off x="777240" y="5897880"/>
            <a:ext cx="10637215" cy="365760"/>
          </a:xfrm>
          <a:prstGeom prst="rect">
            <a:avLst/>
          </a:prstGeom>
          <a:noFill/>
        </p:spPr>
        <p:txBody>
          <a:bodyPr wrap="square" lIns="0" rIns="0" tIns="0" bIns="0">
            <a:spAutoFit/>
          </a:bodyPr>
          <a:lstStyle/>
          <a:p>
            <a:pPr algn="l">
              <a:lnSpc>
                <a:spcPct val="100000"/>
              </a:lnSpc>
            </a:pPr>
            <a:r>
              <a:rPr sz="1600" b="1" i="0">
                <a:solidFill>
                  <a:srgbClr val="141C1E"/>
                </a:solidFill>
                <a:latin typeface="Segoe UI"/>
              </a:rPr>
              <a:t>Fair for object recognition — a cat is a cat everywhere. But anomaly detection is built on concept shift.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RESEARCH GAP  ·  2 OF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Why that matters for anomaly detection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4</a:t>
            </a:r>
          </a:p>
        </p:txBody>
      </p:sp>
      <p:sp>
        <p:nvSpPr>
          <p:cNvPr id="7" name="TextBox 6"/>
          <p:cNvSpPr txBox="1"/>
          <p:nvPr/>
        </p:nvSpPr>
        <p:spPr>
          <a:xfrm>
            <a:off x="777240" y="1737360"/>
            <a:ext cx="10637215" cy="365760"/>
          </a:xfrm>
          <a:prstGeom prst="rect">
            <a:avLst/>
          </a:prstGeom>
          <a:noFill/>
        </p:spPr>
        <p:txBody>
          <a:bodyPr wrap="square" lIns="0" rIns="0" tIns="0" bIns="0">
            <a:spAutoFit/>
          </a:bodyPr>
          <a:lstStyle/>
          <a:p>
            <a:pPr algn="l">
              <a:lnSpc>
                <a:spcPct val="130000"/>
              </a:lnSpc>
            </a:pPr>
            <a:r>
              <a:rPr sz="1650" b="0" i="0">
                <a:solidFill>
                  <a:srgbClr val="3A4A4C"/>
                </a:solidFill>
                <a:latin typeface="Segoe UI"/>
              </a:rPr>
              <a:t>In anomaly detection, “normal” is defined by the deployment context — not by the object. That is the definition of the task.</a:t>
            </a:r>
          </a:p>
        </p:txBody>
      </p:sp>
      <p:graphicFrame>
        <p:nvGraphicFramePr>
          <p:cNvPr id="8" name="Table 7"/>
          <p:cNvGraphicFramePr>
            <a:graphicFrameLocks noGrp="1"/>
          </p:cNvGraphicFramePr>
          <p:nvPr/>
        </p:nvGraphicFramePr>
        <p:xfrm>
          <a:off x="777240" y="2468880"/>
          <a:ext cx="10634472" cy="1828800"/>
        </p:xfrm>
        <a:graphic>
          <a:graphicData uri="http://schemas.openxmlformats.org/drawingml/2006/table">
            <a:tbl>
              <a:tblPr firstRow="1">
                <a:tableStyleId>{5C22544A-7EE6-4342-B048-85BDC9FD1C3A}</a:tableStyleId>
              </a:tblPr>
              <a:tblGrid>
                <a:gridCol w="3291840"/>
                <a:gridCol w="3657600"/>
                <a:gridCol w="3685032"/>
              </a:tblGrid>
              <a:tr h="457200">
                <a:tc>
                  <a:txBody>
                    <a:bodyPr wrap="square"/>
                    <a:lstStyle/>
                    <a:p>
                      <a:pPr algn="l"/>
                      <a:r>
                        <a:rPr sz="1450" b="1">
                          <a:solidFill>
                            <a:srgbClr val="FFFFFF"/>
                          </a:solidFill>
                          <a:latin typeface="Segoe UI"/>
                        </a:rPr>
                        <a:t>Input</a:t>
                      </a:r>
                    </a:p>
                  </a:txBody>
                  <a:tcPr marL="128016" marR="128016" marT="45720" marB="45720" anchor="ctr">
                    <a:solidFill>
                      <a:srgbClr val="141C1E"/>
                    </a:solidFill>
                  </a:tcPr>
                </a:tc>
                <a:tc>
                  <a:txBody>
                    <a:bodyPr wrap="square"/>
                    <a:lstStyle/>
                    <a:p>
                      <a:pPr algn="l"/>
                      <a:r>
                        <a:rPr sz="1450" b="1">
                          <a:solidFill>
                            <a:srgbClr val="FFFFFF"/>
                          </a:solidFill>
                          <a:latin typeface="Segoe UI"/>
                        </a:rPr>
                        <a:t>Domain A</a:t>
                      </a:r>
                    </a:p>
                  </a:txBody>
                  <a:tcPr marL="128016" marR="128016" marT="45720" marB="45720" anchor="ctr">
                    <a:solidFill>
                      <a:srgbClr val="141C1E"/>
                    </a:solidFill>
                  </a:tcPr>
                </a:tc>
                <a:tc>
                  <a:txBody>
                    <a:bodyPr wrap="square"/>
                    <a:lstStyle/>
                    <a:p>
                      <a:pPr algn="l"/>
                      <a:r>
                        <a:rPr sz="1450" b="1">
                          <a:solidFill>
                            <a:srgbClr val="FFFFFF"/>
                          </a:solidFill>
                          <a:latin typeface="Segoe UI"/>
                        </a:rPr>
                        <a:t>Domain B</a:t>
                      </a:r>
                    </a:p>
                  </a:txBody>
                  <a:tcPr marL="128016" marR="128016" marT="45720" marB="45720" anchor="ctr">
                    <a:solidFill>
                      <a:srgbClr val="141C1E"/>
                    </a:solidFill>
                  </a:tcPr>
                </a:tc>
              </a:tr>
              <a:tr h="457200">
                <a:tc>
                  <a:txBody>
                    <a:bodyPr wrap="square"/>
                    <a:lstStyle/>
                    <a:p>
                      <a:pPr algn="l"/>
                      <a:r>
                        <a:rPr sz="1450" b="0">
                          <a:solidFill>
                            <a:srgbClr val="141C1E"/>
                          </a:solidFill>
                          <a:latin typeface="Segoe UI"/>
                        </a:rPr>
                        <a:t>A person running</a:t>
                      </a:r>
                    </a:p>
                  </a:txBody>
                  <a:tcPr marL="128016" marR="128016" marT="45720" marB="45720" anchor="ctr">
                    <a:solidFill>
                      <a:srgbClr val="FFFFFF"/>
                    </a:solidFill>
                  </a:tcPr>
                </a:tc>
                <a:tc>
                  <a:txBody>
                    <a:bodyPr wrap="square"/>
                    <a:lstStyle/>
                    <a:p>
                      <a:pPr algn="l"/>
                      <a:r>
                        <a:rPr sz="1450" b="0">
                          <a:solidFill>
                            <a:srgbClr val="141C1E"/>
                          </a:solidFill>
                          <a:latin typeface="Segoe UI"/>
                        </a:rPr>
                        <a:t>Park — normal</a:t>
                      </a:r>
                    </a:p>
                  </a:txBody>
                  <a:tcPr marL="128016" marR="128016" marT="45720" marB="45720" anchor="ctr">
                    <a:solidFill>
                      <a:srgbClr val="FFFFFF"/>
                    </a:solidFill>
                  </a:tcPr>
                </a:tc>
                <a:tc>
                  <a:txBody>
                    <a:bodyPr wrap="square"/>
                    <a:lstStyle/>
                    <a:p>
                      <a:pPr algn="l"/>
                      <a:r>
                        <a:rPr sz="1450" b="0">
                          <a:solidFill>
                            <a:srgbClr val="141C1E"/>
                          </a:solidFill>
                          <a:latin typeface="Segoe UI"/>
                        </a:rPr>
                        <a:t>Bank vault — anomalous</a:t>
                      </a:r>
                    </a:p>
                  </a:txBody>
                  <a:tcPr marL="128016" marR="128016" marT="45720" marB="45720" anchor="ctr">
                    <a:solidFill>
                      <a:srgbClr val="FFFFFF"/>
                    </a:solidFill>
                  </a:tcPr>
                </a:tc>
              </a:tr>
              <a:tr h="457200">
                <a:tc>
                  <a:txBody>
                    <a:bodyPr wrap="square"/>
                    <a:lstStyle/>
                    <a:p>
                      <a:pPr algn="l"/>
                      <a:r>
                        <a:rPr sz="1450" b="0">
                          <a:solidFill>
                            <a:srgbClr val="141C1E"/>
                          </a:solidFill>
                          <a:latin typeface="Segoe UI"/>
                        </a:rPr>
                        <a:t>A person lying down</a:t>
                      </a:r>
                    </a:p>
                  </a:txBody>
                  <a:tcPr marL="128016" marR="128016" marT="45720" marB="45720" anchor="ctr">
                    <a:solidFill>
                      <a:srgbClr val="F5F7F7"/>
                    </a:solidFill>
                  </a:tcPr>
                </a:tc>
                <a:tc>
                  <a:txBody>
                    <a:bodyPr wrap="square"/>
                    <a:lstStyle/>
                    <a:p>
                      <a:pPr algn="l"/>
                      <a:r>
                        <a:rPr sz="1450" b="0">
                          <a:solidFill>
                            <a:srgbClr val="141C1E"/>
                          </a:solidFill>
                          <a:latin typeface="Segoe UI"/>
                        </a:rPr>
                        <a:t>Beach — normal</a:t>
                      </a:r>
                    </a:p>
                  </a:txBody>
                  <a:tcPr marL="128016" marR="128016" marT="45720" marB="45720" anchor="ctr">
                    <a:solidFill>
                      <a:srgbClr val="F5F7F7"/>
                    </a:solidFill>
                  </a:tcPr>
                </a:tc>
                <a:tc>
                  <a:txBody>
                    <a:bodyPr wrap="square"/>
                    <a:lstStyle/>
                    <a:p>
                      <a:pPr algn="l"/>
                      <a:r>
                        <a:rPr sz="1450" b="0">
                          <a:solidFill>
                            <a:srgbClr val="141C1E"/>
                          </a:solidFill>
                          <a:latin typeface="Segoe UI"/>
                        </a:rPr>
                        <a:t>Factory aisle — anomalous</a:t>
                      </a:r>
                    </a:p>
                  </a:txBody>
                  <a:tcPr marL="128016" marR="128016" marT="45720" marB="45720" anchor="ctr">
                    <a:solidFill>
                      <a:srgbClr val="F5F7F7"/>
                    </a:solidFill>
                  </a:tcPr>
                </a:tc>
              </a:tr>
              <a:tr h="457200">
                <a:tc>
                  <a:txBody>
                    <a:bodyPr wrap="square"/>
                    <a:lstStyle/>
                    <a:p>
                      <a:pPr algn="l"/>
                      <a:r>
                        <a:rPr sz="1450" b="0">
                          <a:solidFill>
                            <a:srgbClr val="141C1E"/>
                          </a:solidFill>
                          <a:latin typeface="Segoe UI"/>
                        </a:rPr>
                        <a:t>A vehicle</a:t>
                      </a:r>
                    </a:p>
                  </a:txBody>
                  <a:tcPr marL="128016" marR="128016" marT="45720" marB="45720" anchor="ctr">
                    <a:solidFill>
                      <a:srgbClr val="FFFFFF"/>
                    </a:solidFill>
                  </a:tcPr>
                </a:tc>
                <a:tc>
                  <a:txBody>
                    <a:bodyPr wrap="square"/>
                    <a:lstStyle/>
                    <a:p>
                      <a:pPr algn="l"/>
                      <a:r>
                        <a:rPr sz="1450" b="0">
                          <a:solidFill>
                            <a:srgbClr val="141C1E"/>
                          </a:solidFill>
                          <a:latin typeface="Segoe UI"/>
                        </a:rPr>
                        <a:t>Road — normal</a:t>
                      </a:r>
                    </a:p>
                  </a:txBody>
                  <a:tcPr marL="128016" marR="128016" marT="45720" marB="45720" anchor="ctr">
                    <a:solidFill>
                      <a:srgbClr val="FFFFFF"/>
                    </a:solidFill>
                  </a:tcPr>
                </a:tc>
                <a:tc>
                  <a:txBody>
                    <a:bodyPr wrap="square"/>
                    <a:lstStyle/>
                    <a:p>
                      <a:pPr algn="l"/>
                      <a:r>
                        <a:rPr sz="1450" b="0">
                          <a:solidFill>
                            <a:srgbClr val="141C1E"/>
                          </a:solidFill>
                          <a:latin typeface="Segoe UI"/>
                        </a:rPr>
                        <a:t>Walkway — anomalous</a:t>
                      </a:r>
                    </a:p>
                  </a:txBody>
                  <a:tcPr marL="128016" marR="128016" marT="45720" marB="45720" anchor="ctr">
                    <a:solidFill>
                      <a:srgbClr val="FFFFFF"/>
                    </a:solidFill>
                  </a:tcPr>
                </a:tc>
              </a:tr>
            </a:tbl>
          </a:graphicData>
        </a:graphic>
      </p:graphicFrame>
      <p:sp>
        <p:nvSpPr>
          <p:cNvPr id="9" name="Rectangle 8"/>
          <p:cNvSpPr/>
          <p:nvPr/>
        </p:nvSpPr>
        <p:spPr>
          <a:xfrm>
            <a:off x="777240" y="457200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572000"/>
            <a:ext cx="45720" cy="12344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7183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GAP WE TARGET</a:t>
            </a:r>
          </a:p>
        </p:txBody>
      </p:sp>
      <p:sp>
        <p:nvSpPr>
          <p:cNvPr id="12" name="TextBox 11"/>
          <p:cNvSpPr txBox="1"/>
          <p:nvPr/>
        </p:nvSpPr>
        <p:spPr>
          <a:xfrm>
            <a:off x="1033271" y="5010912"/>
            <a:ext cx="10134295" cy="667512"/>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Methods that align appearance cannot help here — the appearance is already identical. Two domains can share p(x) exactly while the labelling function differs. A 2026 position paper [1] argues the same premise independently; what is missing is a test of whether supplied context does any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PROPOSED FRAMEWORK</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DA-ZVAD: one sentence per camera, written by the system</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5</a:t>
            </a:r>
          </a:p>
        </p:txBody>
      </p:sp>
      <p:pic>
        <p:nvPicPr>
          <p:cNvPr id="7" name="Picture 6" descr="dazvad_architecture.png"/>
          <p:cNvPicPr>
            <a:picLocks noChangeAspect="1"/>
          </p:cNvPicPr>
          <p:nvPr/>
        </p:nvPicPr>
        <p:blipFill>
          <a:blip r:embed="rId2"/>
          <a:stretch>
            <a:fillRect/>
          </a:stretch>
        </p:blipFill>
        <p:spPr>
          <a:xfrm>
            <a:off x="777240" y="1645920"/>
            <a:ext cx="8092440" cy="4768759"/>
          </a:xfrm>
          <a:prstGeom prst="rect">
            <a:avLst/>
          </a:prstGeom>
        </p:spPr>
      </p:pic>
      <p:sp>
        <p:nvSpPr>
          <p:cNvPr id="8" name="TextBox 7"/>
          <p:cNvSpPr txBox="1"/>
          <p:nvPr/>
        </p:nvSpPr>
        <p:spPr>
          <a:xfrm>
            <a:off x="9144000" y="1645920"/>
            <a:ext cx="265176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EVERY MODEL FROZEN</a:t>
            </a:r>
          </a:p>
        </p:txBody>
      </p:sp>
      <p:sp>
        <p:nvSpPr>
          <p:cNvPr id="9" name="Rectangle 8"/>
          <p:cNvSpPr/>
          <p:nvPr/>
        </p:nvSpPr>
        <p:spPr>
          <a:xfrm>
            <a:off x="9144000" y="219456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81744" y="2066543"/>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M1  </a:t>
            </a:r>
            <a:r>
              <a:rPr sz="1150">
                <a:solidFill>
                  <a:srgbClr val="3A4A4C"/>
                </a:solidFill>
                <a:latin typeface="Segoe UI"/>
              </a:rPr>
              <a:t>Frozen CLIP [4] scores each frame: normal vs abnormal text.</a:t>
            </a:r>
          </a:p>
        </p:txBody>
      </p:sp>
      <p:sp>
        <p:nvSpPr>
          <p:cNvPr id="11" name="Rectangle 10"/>
          <p:cNvSpPr/>
          <p:nvPr/>
        </p:nvSpPr>
        <p:spPr>
          <a:xfrm>
            <a:off x="9144000" y="2944368"/>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81744" y="2816351"/>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M2  </a:t>
            </a:r>
            <a:r>
              <a:rPr sz="1150">
                <a:solidFill>
                  <a:srgbClr val="3A4A4C"/>
                </a:solidFill>
                <a:latin typeface="Segoe UI"/>
              </a:rPr>
              <a:t>Moving average over time — no parameters.</a:t>
            </a:r>
          </a:p>
        </p:txBody>
      </p:sp>
      <p:sp>
        <p:nvSpPr>
          <p:cNvPr id="13" name="Rectangle 12"/>
          <p:cNvSpPr/>
          <p:nvPr/>
        </p:nvSpPr>
        <p:spPr>
          <a:xfrm>
            <a:off x="9144000" y="3694175"/>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81744" y="3566159"/>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M3  </a:t>
            </a:r>
            <a:r>
              <a:rPr sz="1150">
                <a:solidFill>
                  <a:srgbClr val="3A4A4C"/>
                </a:solidFill>
                <a:latin typeface="Segoe UI"/>
              </a:rPr>
              <a:t>One scene sentence per camera, in the normal prompts only.</a:t>
            </a:r>
          </a:p>
        </p:txBody>
      </p:sp>
      <p:sp>
        <p:nvSpPr>
          <p:cNvPr id="15" name="Rectangle 14"/>
          <p:cNvSpPr/>
          <p:nvPr/>
        </p:nvSpPr>
        <p:spPr>
          <a:xfrm>
            <a:off x="9144000" y="4443983"/>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81744" y="4315968"/>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M4  </a:t>
            </a:r>
            <a:r>
              <a:rPr sz="1150">
                <a:solidFill>
                  <a:srgbClr val="3A4A4C"/>
                </a:solidFill>
                <a:latin typeface="Segoe UI"/>
              </a:rPr>
              <a:t>Frozen LLaVA [24] writes each camera's sentence, and explains events.</a:t>
            </a:r>
          </a:p>
        </p:txBody>
      </p:sp>
      <p:sp>
        <p:nvSpPr>
          <p:cNvPr id="17" name="Rectangle 16"/>
          <p:cNvSpPr/>
          <p:nvPr/>
        </p:nvSpPr>
        <p:spPr>
          <a:xfrm>
            <a:off x="9144000" y="5257800"/>
            <a:ext cx="2651760" cy="10515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5257800"/>
            <a:ext cx="45720" cy="10515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00032" y="5404104"/>
            <a:ext cx="2148839"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NEW CAMERA</a:t>
            </a:r>
          </a:p>
        </p:txBody>
      </p:sp>
      <p:sp>
        <p:nvSpPr>
          <p:cNvPr id="20" name="TextBox 19"/>
          <p:cNvSpPr txBox="1"/>
          <p:nvPr/>
        </p:nvSpPr>
        <p:spPr>
          <a:xfrm>
            <a:off x="9400032" y="5696712"/>
            <a:ext cx="2148839" cy="484631"/>
          </a:xfrm>
          <a:prstGeom prst="rect">
            <a:avLst/>
          </a:prstGeom>
          <a:noFill/>
        </p:spPr>
        <p:txBody>
          <a:bodyPr wrap="square" lIns="0" rIns="0" tIns="0" bIns="0">
            <a:spAutoFit/>
          </a:bodyPr>
          <a:lstStyle/>
          <a:p>
            <a:pPr algn="l">
              <a:lnSpc>
                <a:spcPct val="100000"/>
              </a:lnSpc>
            </a:pPr>
            <a:r>
              <a:rPr sz="1300" b="0" i="0">
                <a:solidFill>
                  <a:srgbClr val="141C1E"/>
                </a:solidFill>
                <a:latin typeface="Segoe UI"/>
              </a:rPr>
              <a:t>Caption its first frames. No labels, no gradients.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METHOD  ·  DESIGN RATIONALE</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Why freezing everything is the point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6</a:t>
            </a:r>
          </a:p>
        </p:txBody>
      </p:sp>
      <p:sp>
        <p:nvSpPr>
          <p:cNvPr id="7" name="Rectangle 6"/>
          <p:cNvSpPr/>
          <p:nvPr/>
        </p:nvSpPr>
        <p:spPr>
          <a:xfrm>
            <a:off x="777240" y="192024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9222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risk.  </a:t>
            </a:r>
            <a:r>
              <a:rPr sz="1650">
                <a:solidFill>
                  <a:srgbClr val="3A4A4C"/>
                </a:solidFill>
                <a:latin typeface="Segoe UI"/>
              </a:rPr>
              <a:t>If the system learned even a little from the new site, and performance improved, we could not say what caused it — the sentence, or the learning.</a:t>
            </a:r>
          </a:p>
        </p:txBody>
      </p:sp>
      <p:sp>
        <p:nvSpPr>
          <p:cNvPr id="9" name="Rectangle 8"/>
          <p:cNvSpPr/>
          <p:nvPr/>
        </p:nvSpPr>
        <p:spPr>
          <a:xfrm>
            <a:off x="777240" y="27889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66090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Our design.  </a:t>
            </a:r>
            <a:r>
              <a:rPr sz="1650">
                <a:solidFill>
                  <a:srgbClr val="3A4A4C"/>
                </a:solidFill>
                <a:latin typeface="Segoe UI"/>
              </a:rPr>
              <a:t>No parameter anywhere is allowed to change. Exactly one thing in the system can vary: the text.</a:t>
            </a:r>
          </a:p>
        </p:txBody>
      </p:sp>
      <p:sp>
        <p:nvSpPr>
          <p:cNvPr id="11" name="Rectangle 10"/>
          <p:cNvSpPr/>
          <p:nvPr/>
        </p:nvSpPr>
        <p:spPr>
          <a:xfrm>
            <a:off x="777240" y="365760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52958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consequence.  </a:t>
            </a:r>
            <a:r>
              <a:rPr sz="1650">
                <a:solidFill>
                  <a:srgbClr val="3A4A4C"/>
                </a:solidFill>
                <a:latin typeface="Segoe UI"/>
              </a:rPr>
              <a:t>Any measured difference is attributable to the sentence. There is no other candidate.</a:t>
            </a:r>
          </a:p>
        </p:txBody>
      </p:sp>
      <p:sp>
        <p:nvSpPr>
          <p:cNvPr id="13" name="Rectangle 12"/>
          <p:cNvSpPr/>
          <p:nvPr/>
        </p:nvSpPr>
        <p:spPr>
          <a:xfrm>
            <a:off x="777240" y="4343400"/>
            <a:ext cx="10637215"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343400"/>
            <a:ext cx="45720" cy="13716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4897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IDENTIFIABILITY</a:t>
            </a:r>
          </a:p>
        </p:txBody>
      </p:sp>
      <p:sp>
        <p:nvSpPr>
          <p:cNvPr id="16" name="TextBox 15"/>
          <p:cNvSpPr txBox="1"/>
          <p:nvPr/>
        </p:nvSpPr>
        <p:spPr>
          <a:xfrm>
            <a:off x="1033271" y="4782312"/>
            <a:ext cx="10134295" cy="804672"/>
          </a:xfrm>
          <a:prstGeom prst="rect">
            <a:avLst/>
          </a:prstGeom>
          <a:noFill/>
        </p:spPr>
        <p:txBody>
          <a:bodyPr wrap="square" lIns="0" rIns="0" tIns="0" bIns="0">
            <a:spAutoFit/>
          </a:bodyPr>
          <a:lstStyle/>
          <a:p>
            <a:pPr algn="l">
              <a:lnSpc>
                <a:spcPct val="100000"/>
              </a:lnSpc>
            </a:pPr>
            <a:r>
              <a:rPr sz="1600" b="0" i="0">
                <a:solidFill>
                  <a:srgbClr val="141C1E"/>
                </a:solidFill>
                <a:latin typeface="Segoe UI"/>
              </a:rPr>
              <a:t>This is what makes the adaptation claim testable rather than asserted. You cannot run our central experiment on the competing systems — their text is learned on training data [9], or entangled in an LLM prior [3], or paired with trained detection heads [10].</a:t>
            </a:r>
          </a:p>
        </p:txBody>
      </p:sp>
      <p:sp>
        <p:nvSpPr>
          <p:cNvPr id="17" name="TextBox 16"/>
          <p:cNvSpPr txBox="1"/>
          <p:nvPr/>
        </p:nvSpPr>
        <p:spPr>
          <a:xfrm>
            <a:off x="777240" y="5943600"/>
            <a:ext cx="10637215" cy="365760"/>
          </a:xfrm>
          <a:prstGeom prst="rect">
            <a:avLst/>
          </a:prstGeom>
          <a:noFill/>
        </p:spPr>
        <p:txBody>
          <a:bodyPr wrap="square" lIns="0" rIns="0" tIns="0" bIns="0">
            <a:spAutoFit/>
          </a:bodyPr>
          <a:lstStyle/>
          <a:p>
            <a:pPr algn="l">
              <a:lnSpc>
                <a:spcPct val="100000"/>
              </a:lnSpc>
            </a:pPr>
            <a:r>
              <a:rPr sz="1500" b="0" i="1">
                <a:solidFill>
                  <a:srgbClr val="617274"/>
                </a:solidFill>
                <a:latin typeface="Segoe UI"/>
              </a:rPr>
              <a:t>It also means the claim can be falsified — which is the next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EVALUATION DESIGN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protocol that can prove us wrong</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7</a:t>
            </a:r>
          </a:p>
        </p:txBody>
      </p:sp>
      <p:sp>
        <p:nvSpPr>
          <p:cNvPr id="7" name="TextBox 6"/>
          <p:cNvSpPr txBox="1"/>
          <p:nvPr/>
        </p:nvSpPr>
        <p:spPr>
          <a:xfrm>
            <a:off x="777240" y="1783080"/>
            <a:ext cx="10637215" cy="365760"/>
          </a:xfrm>
          <a:prstGeom prst="rect">
            <a:avLst/>
          </a:prstGeom>
          <a:noFill/>
        </p:spPr>
        <p:txBody>
          <a:bodyPr wrap="square" lIns="0" rIns="0" tIns="0" bIns="0">
            <a:spAutoFit/>
          </a:bodyPr>
          <a:lstStyle/>
          <a:p>
            <a:pPr algn="l">
              <a:lnSpc>
                <a:spcPct val="100000"/>
              </a:lnSpc>
            </a:pPr>
            <a:r>
              <a:rPr sz="1650" b="0" i="0">
                <a:solidFill>
                  <a:srgbClr val="3A4A4C"/>
                </a:solidFill>
                <a:latin typeface="Segoe UI"/>
              </a:rPr>
              <a:t>Run the identical pipeline four times. Change only the sentence.</a:t>
            </a:r>
          </a:p>
        </p:txBody>
      </p:sp>
      <p:graphicFrame>
        <p:nvGraphicFramePr>
          <p:cNvPr id="8" name="Table 7"/>
          <p:cNvGraphicFramePr>
            <a:graphicFrameLocks noGrp="1"/>
          </p:cNvGraphicFramePr>
          <p:nvPr/>
        </p:nvGraphicFramePr>
        <p:xfrm>
          <a:off x="777240" y="2377440"/>
          <a:ext cx="10634472" cy="2377440"/>
        </p:xfrm>
        <a:graphic>
          <a:graphicData uri="http://schemas.openxmlformats.org/drawingml/2006/table">
            <a:tbl>
              <a:tblPr firstRow="1">
                <a:tableStyleId>{5C22544A-7EE6-4342-B048-85BDC9FD1C3A}</a:tableStyleId>
              </a:tblPr>
              <a:tblGrid>
                <a:gridCol w="2194560"/>
                <a:gridCol w="4206240"/>
                <a:gridCol w="4233672"/>
              </a:tblGrid>
              <a:tr h="475488">
                <a:tc>
                  <a:txBody>
                    <a:bodyPr wrap="square"/>
                    <a:lstStyle/>
                    <a:p>
                      <a:pPr algn="l"/>
                      <a:r>
                        <a:rPr sz="1400" b="1">
                          <a:solidFill>
                            <a:srgbClr val="FFFFFF"/>
                          </a:solidFill>
                          <a:latin typeface="Segoe UI"/>
                        </a:rPr>
                        <a:t>Condition</a:t>
                      </a:r>
                    </a:p>
                  </a:txBody>
                  <a:tcPr marL="128016" marR="128016" marT="45720" marB="45720" anchor="ctr">
                    <a:solidFill>
                      <a:srgbClr val="141C1E"/>
                    </a:solidFill>
                  </a:tcPr>
                </a:tc>
                <a:tc>
                  <a:txBody>
                    <a:bodyPr wrap="square"/>
                    <a:lstStyle/>
                    <a:p>
                      <a:pPr algn="l"/>
                      <a:r>
                        <a:rPr sz="1400" b="1">
                          <a:solidFill>
                            <a:srgbClr val="FFFFFF"/>
                          </a:solidFill>
                          <a:latin typeface="Segoe UI"/>
                        </a:rPr>
                        <a:t>Sentence supplied</a:t>
                      </a:r>
                    </a:p>
                  </a:txBody>
                  <a:tcPr marL="128016" marR="128016" marT="45720" marB="45720" anchor="ctr">
                    <a:solidFill>
                      <a:srgbClr val="141C1E"/>
                    </a:solidFill>
                  </a:tcPr>
                </a:tc>
                <a:tc>
                  <a:txBody>
                    <a:bodyPr wrap="square"/>
                    <a:lstStyle/>
                    <a:p>
                      <a:pPr algn="l"/>
                      <a:r>
                        <a:rPr sz="1400" b="1">
                          <a:solidFill>
                            <a:srgbClr val="FFFFFF"/>
                          </a:solidFill>
                          <a:latin typeface="Segoe UI"/>
                        </a:rPr>
                        <a:t>Purpose</a:t>
                      </a:r>
                    </a:p>
                  </a:txBody>
                  <a:tcPr marL="128016" marR="128016" marT="45720" marB="45720" anchor="ctr">
                    <a:solidFill>
                      <a:srgbClr val="141C1E"/>
                    </a:solidFill>
                  </a:tcPr>
                </a:tc>
              </a:tr>
              <a:tr h="475488">
                <a:tc>
                  <a:txBody>
                    <a:bodyPr wrap="square"/>
                    <a:lstStyle/>
                    <a:p>
                      <a:pPr algn="l"/>
                      <a:r>
                        <a:rPr sz="1400" b="0">
                          <a:solidFill>
                            <a:srgbClr val="141C1E"/>
                          </a:solidFill>
                          <a:latin typeface="Segoe UI"/>
                        </a:rPr>
                        <a:t>none</a:t>
                      </a:r>
                    </a:p>
                  </a:txBody>
                  <a:tcPr marL="128016" marR="128016" marT="45720" marB="45720" anchor="ctr">
                    <a:solidFill>
                      <a:srgbClr val="FFFFFF"/>
                    </a:solidFill>
                  </a:tcPr>
                </a:tc>
                <a:tc>
                  <a:txBody>
                    <a:bodyPr wrap="square"/>
                    <a:lstStyle/>
                    <a:p>
                      <a:pPr algn="l"/>
                      <a:r>
                        <a:rPr sz="1400" b="0">
                          <a:solidFill>
                            <a:srgbClr val="141C1E"/>
                          </a:solidFill>
                          <a:latin typeface="Segoe UI"/>
                        </a:rPr>
                        <a:t>M3 disabled</a:t>
                      </a:r>
                    </a:p>
                  </a:txBody>
                  <a:tcPr marL="128016" marR="128016" marT="45720" marB="45720" anchor="ctr">
                    <a:solidFill>
                      <a:srgbClr val="FFFFFF"/>
                    </a:solidFill>
                  </a:tcPr>
                </a:tc>
                <a:tc>
                  <a:txBody>
                    <a:bodyPr wrap="square"/>
                    <a:lstStyle/>
                    <a:p>
                      <a:pPr algn="l"/>
                      <a:r>
                        <a:rPr sz="1400" b="0">
                          <a:solidFill>
                            <a:srgbClr val="141C1E"/>
                          </a:solidFill>
                          <a:latin typeface="Segoe UI"/>
                        </a:rPr>
                        <a:t>Lower reference</a:t>
                      </a:r>
                    </a:p>
                  </a:txBody>
                  <a:tcPr marL="128016" marR="128016" marT="45720" marB="45720" anchor="ctr">
                    <a:solidFill>
                      <a:srgbClr val="FFFFFF"/>
                    </a:solidFill>
                  </a:tcPr>
                </a:tc>
              </a:tr>
              <a:tr h="475488">
                <a:tc>
                  <a:txBody>
                    <a:bodyPr wrap="square"/>
                    <a:lstStyle/>
                    <a:p>
                      <a:pPr algn="l"/>
                      <a:r>
                        <a:rPr sz="1400" b="0">
                          <a:solidFill>
                            <a:srgbClr val="141C1E"/>
                          </a:solidFill>
                          <a:latin typeface="Segoe UI"/>
                        </a:rPr>
                        <a:t>generic</a:t>
                      </a:r>
                    </a:p>
                  </a:txBody>
                  <a:tcPr marL="128016" marR="128016" marT="45720" marB="45720" anchor="ctr">
                    <a:solidFill>
                      <a:srgbClr val="F5F7F7"/>
                    </a:solidFill>
                  </a:tcPr>
                </a:tc>
                <a:tc>
                  <a:txBody>
                    <a:bodyPr wrap="square"/>
                    <a:lstStyle/>
                    <a:p>
                      <a:pPr algn="l"/>
                      <a:r>
                        <a:rPr sz="1400" b="0">
                          <a:solidFill>
                            <a:srgbClr val="141C1E"/>
                          </a:solidFill>
                          <a:latin typeface="Segoe UI"/>
                        </a:rPr>
                        <a:t>“a generic scene”</a:t>
                      </a:r>
                    </a:p>
                  </a:txBody>
                  <a:tcPr marL="128016" marR="128016" marT="45720" marB="45720" anchor="ctr">
                    <a:solidFill>
                      <a:srgbClr val="F5F7F7"/>
                    </a:solidFill>
                  </a:tcPr>
                </a:tc>
                <a:tc>
                  <a:txBody>
                    <a:bodyPr wrap="square"/>
                    <a:lstStyle/>
                    <a:p>
                      <a:pPr algn="l"/>
                      <a:r>
                        <a:rPr sz="1400" b="0">
                          <a:solidFill>
                            <a:srgbClr val="141C1E"/>
                          </a:solidFill>
                          <a:latin typeface="Segoe UI"/>
                        </a:rPr>
                        <a:t>Controls for merely having context</a:t>
                      </a:r>
                    </a:p>
                  </a:txBody>
                  <a:tcPr marL="128016" marR="128016" marT="45720" marB="45720" anchor="ctr">
                    <a:solidFill>
                      <a:srgbClr val="F5F7F7"/>
                    </a:solidFill>
                  </a:tcPr>
                </a:tc>
              </a:tr>
              <a:tr h="475488">
                <a:tc>
                  <a:txBody>
                    <a:bodyPr wrap="square"/>
                    <a:lstStyle/>
                    <a:p>
                      <a:pPr algn="l"/>
                      <a:r>
                        <a:rPr sz="1400" b="0">
                          <a:solidFill>
                            <a:srgbClr val="141C1E"/>
                          </a:solidFill>
                          <a:latin typeface="Segoe UI"/>
                        </a:rPr>
                        <a:t>matched</a:t>
                      </a:r>
                    </a:p>
                  </a:txBody>
                  <a:tcPr marL="128016" marR="128016" marT="45720" marB="45720" anchor="ctr">
                    <a:solidFill>
                      <a:srgbClr val="FFFFFF"/>
                    </a:solidFill>
                  </a:tcPr>
                </a:tc>
                <a:tc>
                  <a:txBody>
                    <a:bodyPr wrap="square"/>
                    <a:lstStyle/>
                    <a:p>
                      <a:pPr algn="l"/>
                      <a:r>
                        <a:rPr sz="1400" b="0">
                          <a:solidFill>
                            <a:srgbClr val="141C1E"/>
                          </a:solidFill>
                          <a:latin typeface="Segoe UI"/>
                        </a:rPr>
                        <a:t>Correct description of the scene</a:t>
                      </a:r>
                    </a:p>
                  </a:txBody>
                  <a:tcPr marL="128016" marR="128016" marT="45720" marB="45720" anchor="ctr">
                    <a:solidFill>
                      <a:srgbClr val="FFFFFF"/>
                    </a:solidFill>
                  </a:tcPr>
                </a:tc>
                <a:tc>
                  <a:txBody>
                    <a:bodyPr wrap="square"/>
                    <a:lstStyle/>
                    <a:p>
                      <a:pPr algn="l"/>
                      <a:r>
                        <a:rPr sz="1400" b="0">
                          <a:solidFill>
                            <a:srgbClr val="141C1E"/>
                          </a:solidFill>
                          <a:latin typeface="Segoe UI"/>
                        </a:rPr>
                        <a:t>The proposed operating condition</a:t>
                      </a:r>
                    </a:p>
                  </a:txBody>
                  <a:tcPr marL="128016" marR="128016" marT="45720" marB="45720" anchor="ctr">
                    <a:solidFill>
                      <a:srgbClr val="FFFFFF"/>
                    </a:solidFill>
                  </a:tcPr>
                </a:tc>
              </a:tr>
              <a:tr h="475488">
                <a:tc>
                  <a:txBody>
                    <a:bodyPr wrap="square"/>
                    <a:lstStyle/>
                    <a:p>
                      <a:pPr algn="l"/>
                      <a:r>
                        <a:rPr sz="1400" b="1">
                          <a:solidFill>
                            <a:srgbClr val="141C1E"/>
                          </a:solidFill>
                          <a:latin typeface="Segoe UI"/>
                        </a:rPr>
                        <a:t>mismatched</a:t>
                      </a:r>
                    </a:p>
                  </a:txBody>
                  <a:tcPr marL="128016" marR="128016" marT="45720" marB="45720" anchor="ctr">
                    <a:solidFill>
                      <a:srgbClr val="DDEDEB"/>
                    </a:solidFill>
                  </a:tcPr>
                </a:tc>
                <a:tc>
                  <a:txBody>
                    <a:bodyPr wrap="square"/>
                    <a:lstStyle/>
                    <a:p>
                      <a:pPr algn="l"/>
                      <a:r>
                        <a:rPr sz="1400" b="1">
                          <a:solidFill>
                            <a:srgbClr val="141C1E"/>
                          </a:solidFill>
                          <a:latin typeface="Segoe UI"/>
                        </a:rPr>
                        <a:t>Description of the wrong domain</a:t>
                      </a:r>
                    </a:p>
                  </a:txBody>
                  <a:tcPr marL="128016" marR="128016" marT="45720" marB="45720" anchor="ctr">
                    <a:solidFill>
                      <a:srgbClr val="DDEDEB"/>
                    </a:solidFill>
                  </a:tcPr>
                </a:tc>
                <a:tc>
                  <a:txBody>
                    <a:bodyPr wrap="square"/>
                    <a:lstStyle/>
                    <a:p>
                      <a:pPr algn="l"/>
                      <a:r>
                        <a:rPr sz="1400" b="1">
                          <a:solidFill>
                            <a:srgbClr val="141C1E"/>
                          </a:solidFill>
                          <a:latin typeface="Segoe UI"/>
                        </a:rPr>
                        <a:t>FALSIFYING CONTROL</a:t>
                      </a:r>
                    </a:p>
                  </a:txBody>
                  <a:tcPr marL="128016" marR="128016" marT="45720" marB="45720" anchor="ctr">
                    <a:solidFill>
                      <a:srgbClr val="DDEDEB"/>
                    </a:solidFill>
                  </a:tcPr>
                </a:tc>
              </a:tr>
            </a:tbl>
          </a:graphicData>
        </a:graphic>
      </p:graphicFrame>
      <p:sp>
        <p:nvSpPr>
          <p:cNvPr id="9" name="Rectangle 8"/>
          <p:cNvSpPr/>
          <p:nvPr/>
        </p:nvSpPr>
        <p:spPr>
          <a:xfrm>
            <a:off x="777240" y="470916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709160"/>
            <a:ext cx="45720" cy="12344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85546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PREDICTED SIGNATURE, FIXED BEFORE MEASUREMENT</a:t>
            </a:r>
          </a:p>
        </p:txBody>
      </p:sp>
      <p:sp>
        <p:nvSpPr>
          <p:cNvPr id="12" name="TextBox 11"/>
          <p:cNvSpPr txBox="1"/>
          <p:nvPr/>
        </p:nvSpPr>
        <p:spPr>
          <a:xfrm>
            <a:off x="1033271" y="5148072"/>
            <a:ext cx="10134295" cy="66751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matched ≥ generic ≥ none, with mismatched measurably WORSE. If a deliberately wrong description costs nothing, the method ignores its context and our claim is refuted.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SETUP</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we ran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8</a:t>
            </a:r>
          </a:p>
        </p:txBody>
      </p:sp>
      <p:graphicFrame>
        <p:nvGraphicFramePr>
          <p:cNvPr id="7" name="Table 6"/>
          <p:cNvGraphicFramePr>
            <a:graphicFrameLocks noGrp="1"/>
          </p:cNvGraphicFramePr>
          <p:nvPr/>
        </p:nvGraphicFramePr>
        <p:xfrm>
          <a:off x="777240" y="1783080"/>
          <a:ext cx="10634472" cy="2743200"/>
        </p:xfrm>
        <a:graphic>
          <a:graphicData uri="http://schemas.openxmlformats.org/drawingml/2006/table">
            <a:tbl>
              <a:tblPr>
                <a:tableStyleId>{5C22544A-7EE6-4342-B048-85BDC9FD1C3A}</a:tableStyleId>
              </a:tblPr>
              <a:tblGrid>
                <a:gridCol w="1463040"/>
                <a:gridCol w="9171432"/>
              </a:tblGrid>
              <a:tr h="457200">
                <a:tc>
                  <a:txBody>
                    <a:bodyPr wrap="square"/>
                    <a:lstStyle/>
                    <a:p>
                      <a:pPr algn="l"/>
                      <a:r>
                        <a:rPr sz="1400" b="0">
                          <a:solidFill>
                            <a:srgbClr val="141C1E"/>
                          </a:solidFill>
                          <a:latin typeface="Segoe UI"/>
                        </a:rPr>
                        <a:t>Video</a:t>
                      </a:r>
                    </a:p>
                  </a:txBody>
                  <a:tcPr marL="128016" marR="128016" marT="45720" marB="45720" anchor="ctr">
                    <a:solidFill>
                      <a:srgbClr val="F5F7F7"/>
                    </a:solidFill>
                  </a:tcPr>
                </a:tc>
                <a:tc>
                  <a:txBody>
                    <a:bodyPr wrap="square"/>
                    <a:lstStyle/>
                    <a:p>
                      <a:pPr algn="l"/>
                      <a:r>
                        <a:rPr sz="1400" b="0">
                          <a:solidFill>
                            <a:srgbClr val="141C1E"/>
                          </a:solidFill>
                          <a:latin typeface="Segoe UI"/>
                        </a:rPr>
                        <a:t>ShanghaiTech [21] (12 views) · CUHK Avenue [26] (1 view) · UCF-Crime [27] (~290 scenes)</a:t>
                      </a:r>
                    </a:p>
                  </a:txBody>
                  <a:tcPr marL="128016" marR="128016" marT="45720" marB="45720" anchor="ctr">
                    <a:solidFill>
                      <a:srgbClr val="F5F7F7"/>
                    </a:solidFill>
                  </a:tcPr>
                </a:tc>
              </a:tr>
              <a:tr h="457200">
                <a:tc>
                  <a:txBody>
                    <a:bodyPr wrap="square"/>
                    <a:lstStyle/>
                    <a:p>
                      <a:pPr algn="l"/>
                      <a:r>
                        <a:rPr sz="1400" b="0">
                          <a:solidFill>
                            <a:srgbClr val="141C1E"/>
                          </a:solidFill>
                          <a:latin typeface="Segoe UI"/>
                        </a:rPr>
                        <a:t>Image</a:t>
                      </a:r>
                    </a:p>
                  </a:txBody>
                  <a:tcPr marL="128016" marR="128016" marT="45720" marB="45720" anchor="ctr">
                    <a:solidFill>
                      <a:srgbClr val="FFFFFF"/>
                    </a:solidFill>
                  </a:tcPr>
                </a:tc>
                <a:tc>
                  <a:txBody>
                    <a:bodyPr wrap="square"/>
                    <a:lstStyle/>
                    <a:p>
                      <a:pPr algn="l"/>
                      <a:r>
                        <a:rPr sz="1400" b="0">
                          <a:solidFill>
                            <a:srgbClr val="141C1E"/>
                          </a:solidFill>
                          <a:latin typeface="Segoe UI"/>
                        </a:rPr>
                        <a:t>MVTec AD [7] — detection baseline only</a:t>
                      </a:r>
                    </a:p>
                  </a:txBody>
                  <a:tcPr marL="128016" marR="128016" marT="45720" marB="45720" anchor="ctr">
                    <a:solidFill>
                      <a:srgbClr val="FFFFFF"/>
                    </a:solidFill>
                  </a:tcPr>
                </a:tc>
              </a:tr>
              <a:tr h="457200">
                <a:tc>
                  <a:txBody>
                    <a:bodyPr wrap="square"/>
                    <a:lstStyle/>
                    <a:p>
                      <a:pPr algn="l"/>
                      <a:r>
                        <a:rPr sz="1400" b="0">
                          <a:solidFill>
                            <a:srgbClr val="141C1E"/>
                          </a:solidFill>
                          <a:latin typeface="Segoe UI"/>
                        </a:rPr>
                        <a:t>Scale</a:t>
                      </a:r>
                    </a:p>
                  </a:txBody>
                  <a:tcPr marL="128016" marR="128016" marT="45720" marB="45720" anchor="ctr">
                    <a:solidFill>
                      <a:srgbClr val="F5F7F7"/>
                    </a:solidFill>
                  </a:tcPr>
                </a:tc>
                <a:tc>
                  <a:txBody>
                    <a:bodyPr wrap="square"/>
                    <a:lstStyle/>
                    <a:p>
                      <a:pPr algn="l"/>
                      <a:r>
                        <a:rPr sz="1400" b="0">
                          <a:solidFill>
                            <a:srgbClr val="141C1E"/>
                          </a:solidFill>
                          <a:latin typeface="Segoe UI"/>
                        </a:rPr>
                        <a:t>418 test videos · 97,752 sampled frames · frame-level ground truth</a:t>
                      </a:r>
                    </a:p>
                  </a:txBody>
                  <a:tcPr marL="128016" marR="128016" marT="45720" marB="45720" anchor="ctr">
                    <a:solidFill>
                      <a:srgbClr val="F5F7F7"/>
                    </a:solidFill>
                  </a:tcPr>
                </a:tc>
              </a:tr>
              <a:tr h="457200">
                <a:tc>
                  <a:txBody>
                    <a:bodyPr wrap="square"/>
                    <a:lstStyle/>
                    <a:p>
                      <a:pPr algn="l"/>
                      <a:r>
                        <a:rPr sz="1400" b="0">
                          <a:solidFill>
                            <a:srgbClr val="141C1E"/>
                          </a:solidFill>
                          <a:latin typeface="Segoe UI"/>
                        </a:rPr>
                        <a:t>Models</a:t>
                      </a:r>
                    </a:p>
                  </a:txBody>
                  <a:tcPr marL="128016" marR="128016" marT="45720" marB="45720" anchor="ctr">
                    <a:solidFill>
                      <a:srgbClr val="FFFFFF"/>
                    </a:solidFill>
                  </a:tcPr>
                </a:tc>
                <a:tc>
                  <a:txBody>
                    <a:bodyPr wrap="square"/>
                    <a:lstStyle/>
                    <a:p>
                      <a:pPr algn="l"/>
                      <a:r>
                        <a:rPr sz="1400" b="0">
                          <a:solidFill>
                            <a:srgbClr val="141C1E"/>
                          </a:solidFill>
                          <a:latin typeface="Segoe UI"/>
                        </a:rPr>
                        <a:t>CLIP ViT-L/14 [4, 22] (LAION-2B) and LLaVA-1.5-7B [24] 4-bit — all frozen</a:t>
                      </a:r>
                    </a:p>
                  </a:txBody>
                  <a:tcPr marL="128016" marR="128016" marT="45720" marB="45720" anchor="ctr">
                    <a:solidFill>
                      <a:srgbClr val="FFFFFF"/>
                    </a:solidFill>
                  </a:tcPr>
                </a:tc>
              </a:tr>
              <a:tr h="457200">
                <a:tc>
                  <a:txBody>
                    <a:bodyPr wrap="square"/>
                    <a:lstStyle/>
                    <a:p>
                      <a:pPr algn="l"/>
                      <a:r>
                        <a:rPr sz="1400" b="0">
                          <a:solidFill>
                            <a:srgbClr val="141C1E"/>
                          </a:solidFill>
                          <a:latin typeface="Segoe UI"/>
                        </a:rPr>
                        <a:t>Hardware</a:t>
                      </a:r>
                    </a:p>
                  </a:txBody>
                  <a:tcPr marL="128016" marR="128016" marT="45720" marB="45720" anchor="ctr">
                    <a:solidFill>
                      <a:srgbClr val="F5F7F7"/>
                    </a:solidFill>
                  </a:tcPr>
                </a:tc>
                <a:tc>
                  <a:txBody>
                    <a:bodyPr wrap="square"/>
                    <a:lstStyle/>
                    <a:p>
                      <a:pPr algn="l"/>
                      <a:r>
                        <a:rPr sz="1400" b="0">
                          <a:solidFill>
                            <a:srgbClr val="141C1E"/>
                          </a:solidFill>
                          <a:latin typeface="Segoe UI"/>
                        </a:rPr>
                        <a:t>NVIDIA A40, college GPU server · PyTorch 2.3.1 / CUDA 12.1</a:t>
                      </a:r>
                    </a:p>
                  </a:txBody>
                  <a:tcPr marL="128016" marR="128016" marT="45720" marB="45720" anchor="ctr">
                    <a:solidFill>
                      <a:srgbClr val="F5F7F7"/>
                    </a:solidFill>
                  </a:tcPr>
                </a:tc>
              </a:tr>
              <a:tr h="457200">
                <a:tc>
                  <a:txBody>
                    <a:bodyPr wrap="square"/>
                    <a:lstStyle/>
                    <a:p>
                      <a:pPr algn="l"/>
                      <a:r>
                        <a:rPr sz="1400" b="0">
                          <a:solidFill>
                            <a:srgbClr val="141C1E"/>
                          </a:solidFill>
                          <a:latin typeface="Segoe UI"/>
                        </a:rPr>
                        <a:t>Runs</a:t>
                      </a:r>
                    </a:p>
                  </a:txBody>
                  <a:tcPr marL="128016" marR="128016" marT="45720" marB="45720" anchor="ctr">
                    <a:solidFill>
                      <a:srgbClr val="FFFFFF"/>
                    </a:solidFill>
                  </a:tcPr>
                </a:tc>
                <a:tc>
                  <a:txBody>
                    <a:bodyPr wrap="square"/>
                    <a:lstStyle/>
                    <a:p>
                      <a:pPr algn="l"/>
                      <a:r>
                        <a:rPr sz="1400" b="0">
                          <a:solidFill>
                            <a:srgbClr val="141C1E"/>
                          </a:solidFill>
                          <a:latin typeface="Segoe UI"/>
                        </a:rPr>
                        <a:t>5 full runs, cached-embedding analyses, LLaVA captioning, UCF-Crime pre-registered run</a:t>
                      </a:r>
                    </a:p>
                  </a:txBody>
                  <a:tcPr marL="128016" marR="128016" marT="45720" marB="45720" anchor="ctr">
                    <a:solidFill>
                      <a:srgbClr val="FFFFFF"/>
                    </a:solidFill>
                  </a:tcPr>
                </a:tc>
              </a:tr>
            </a:tbl>
          </a:graphicData>
        </a:graphic>
      </p:graphicFrame>
      <p:sp>
        <p:nvSpPr>
          <p:cNvPr id="8" name="Rectangle 7"/>
          <p:cNvSpPr/>
          <p:nvPr/>
        </p:nvSpPr>
        <p:spPr>
          <a:xfrm>
            <a:off x="777240" y="4800600"/>
            <a:ext cx="10637215" cy="14630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00600"/>
            <a:ext cx="45720" cy="14630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9469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EVERY RUN RECORDS ITS OWN CONDITIONS</a:t>
            </a:r>
          </a:p>
        </p:txBody>
      </p:sp>
      <p:sp>
        <p:nvSpPr>
          <p:cNvPr id="11" name="TextBox 10"/>
          <p:cNvSpPr txBox="1"/>
          <p:nvPr/>
        </p:nvSpPr>
        <p:spPr>
          <a:xfrm>
            <a:off x="1033271" y="5239512"/>
            <a:ext cx="10134295" cy="896112"/>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Each run writes a manifest: the exact code commit, whether the working tree was clean, host, GPU, driver and library versions, full configuration, and per-dataset frame and label counts. Committed alongside the results — every figure in this deck is traceable to the state that produced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THE DATA</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the two campus benchmarks look like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9</a:t>
            </a:r>
          </a:p>
        </p:txBody>
      </p:sp>
      <p:pic>
        <p:nvPicPr>
          <p:cNvPr id="7" name="Picture 6" descr="fig_dataset_samples.png"/>
          <p:cNvPicPr>
            <a:picLocks noChangeAspect="1"/>
          </p:cNvPicPr>
          <p:nvPr/>
        </p:nvPicPr>
        <p:blipFill>
          <a:blip r:embed="rId2"/>
          <a:stretch>
            <a:fillRect/>
          </a:stretch>
        </p:blipFill>
        <p:spPr>
          <a:xfrm>
            <a:off x="2331619" y="1783079"/>
            <a:ext cx="7528456"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Each column is one fixed camera: the scene stays constant and only the event changes — an empty walkway and the same walkway with a cyclist look alike and are labelled opposite. UCF-Crime, added in Phase 3, is the opposite case: almost every one of its 290 videos is a different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WHAT HAPPENED</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first result was a failure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10</a:t>
            </a:r>
          </a:p>
        </p:txBody>
      </p:sp>
      <p:sp>
        <p:nvSpPr>
          <p:cNvPr id="7" name="Rectangle 6"/>
          <p:cNvSpPr/>
          <p:nvPr/>
        </p:nvSpPr>
        <p:spPr>
          <a:xfrm>
            <a:off x="777240" y="1783080"/>
            <a:ext cx="10637215" cy="173736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45720" cy="1737360"/>
          </a:xfrm>
          <a:prstGeom prst="rect">
            <a:avLst/>
          </a:prstGeom>
          <a:solidFill>
            <a:srgbClr val="8C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965960"/>
            <a:ext cx="2743200" cy="1005840"/>
          </a:xfrm>
          <a:prstGeom prst="rect">
            <a:avLst/>
          </a:prstGeom>
          <a:noFill/>
        </p:spPr>
        <p:txBody>
          <a:bodyPr wrap="square" lIns="0" rIns="0" tIns="0" bIns="0">
            <a:spAutoFit/>
          </a:bodyPr>
          <a:lstStyle/>
          <a:p>
            <a:pPr algn="l">
              <a:lnSpc>
                <a:spcPct val="100000"/>
              </a:lnSpc>
            </a:pPr>
            <a:r>
              <a:rPr sz="6400" b="1" i="0">
                <a:solidFill>
                  <a:srgbClr val="8C3A31"/>
                </a:solidFill>
                <a:latin typeface="Segoe UI"/>
              </a:rPr>
              <a:t>0.49</a:t>
            </a:r>
          </a:p>
        </p:txBody>
      </p:sp>
      <p:sp>
        <p:nvSpPr>
          <p:cNvPr id="10" name="TextBox 9"/>
          <p:cNvSpPr txBox="1"/>
          <p:nvPr/>
        </p:nvSpPr>
        <p:spPr>
          <a:xfrm>
            <a:off x="1234440" y="2953512"/>
            <a:ext cx="274320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frame-level AUROC — 0.50 is random guessing</a:t>
            </a:r>
          </a:p>
        </p:txBody>
      </p:sp>
      <p:sp>
        <p:nvSpPr>
          <p:cNvPr id="11" name="TextBox 10"/>
          <p:cNvSpPr txBox="1"/>
          <p:nvPr/>
        </p:nvSpPr>
        <p:spPr>
          <a:xfrm>
            <a:off x="4617720" y="2148840"/>
            <a:ext cx="6583680" cy="1097280"/>
          </a:xfrm>
          <a:prstGeom prst="rect">
            <a:avLst/>
          </a:prstGeom>
          <a:noFill/>
        </p:spPr>
        <p:txBody>
          <a:bodyPr wrap="square" lIns="0" rIns="0" tIns="0" bIns="0">
            <a:spAutoFit/>
          </a:bodyPr>
          <a:lstStyle/>
          <a:p>
            <a:pPr algn="l">
              <a:lnSpc>
                <a:spcPct val="130000"/>
              </a:lnSpc>
            </a:pPr>
            <a:r>
              <a:rPr sz="1700" b="0" i="0">
                <a:solidFill>
                  <a:srgbClr val="141C1E"/>
                </a:solidFill>
                <a:latin typeface="Segoe UI"/>
              </a:rPr>
              <a:t>Fifty minutes of GPU time produced a detector performing exactly as well as a coin flip.</a:t>
            </a:r>
          </a:p>
        </p:txBody>
      </p:sp>
      <p:sp>
        <p:nvSpPr>
          <p:cNvPr id="12" name="TextBox 11"/>
          <p:cNvSpPr txBox="1"/>
          <p:nvPr/>
        </p:nvSpPr>
        <p:spPr>
          <a:xfrm>
            <a:off x="777240" y="3840480"/>
            <a:ext cx="10637215" cy="365760"/>
          </a:xfrm>
          <a:prstGeom prst="rect">
            <a:avLst/>
          </a:prstGeom>
          <a:noFill/>
        </p:spPr>
        <p:txBody>
          <a:bodyPr wrap="square" lIns="0" rIns="0" tIns="0" bIns="0">
            <a:spAutoFit/>
          </a:bodyPr>
          <a:lstStyle/>
          <a:p>
            <a:pPr algn="l">
              <a:lnSpc>
                <a:spcPct val="100000"/>
              </a:lnSpc>
            </a:pPr>
            <a:r>
              <a:rPr sz="1650" b="1" i="0">
                <a:solidFill>
                  <a:srgbClr val="141C1E"/>
                </a:solidFill>
                <a:latin typeface="Segoe UI"/>
              </a:rPr>
              <a:t>And the central experiment came out backwards:</a:t>
            </a:r>
          </a:p>
        </p:txBody>
      </p:sp>
      <p:graphicFrame>
        <p:nvGraphicFramePr>
          <p:cNvPr id="13" name="Table 12"/>
          <p:cNvGraphicFramePr>
            <a:graphicFrameLocks noGrp="1"/>
          </p:cNvGraphicFramePr>
          <p:nvPr/>
        </p:nvGraphicFramePr>
        <p:xfrm>
          <a:off x="777240" y="4389120"/>
          <a:ext cx="10634472" cy="1371600"/>
        </p:xfrm>
        <a:graphic>
          <a:graphicData uri="http://schemas.openxmlformats.org/drawingml/2006/table">
            <a:tbl>
              <a:tblPr firstRow="1">
                <a:tableStyleId>{5C22544A-7EE6-4342-B048-85BDC9FD1C3A}</a:tableStyleId>
              </a:tblPr>
              <a:tblGrid>
                <a:gridCol w="4599432"/>
                <a:gridCol w="3017520"/>
                <a:gridCol w="3017520"/>
              </a:tblGrid>
              <a:tr h="457200">
                <a:tc>
                  <a:txBody>
                    <a:bodyPr wrap="square"/>
                    <a:lstStyle/>
                    <a:p>
                      <a:pPr algn="l"/>
                      <a:r>
                        <a:rPr sz="1450" b="1">
                          <a:solidFill>
                            <a:srgbClr val="FFFFFF"/>
                          </a:solidFill>
                          <a:latin typeface="Segoe UI"/>
                        </a:rPr>
                        <a:t>Condition</a:t>
                      </a:r>
                    </a:p>
                  </a:txBody>
                  <a:tcPr marL="128016" marR="128016" marT="45720" marB="45720" anchor="ctr">
                    <a:solidFill>
                      <a:srgbClr val="141C1E"/>
                    </a:solidFill>
                  </a:tcPr>
                </a:tc>
                <a:tc>
                  <a:txBody>
                    <a:bodyPr wrap="square"/>
                    <a:lstStyle/>
                    <a:p>
                      <a:pPr algn="l"/>
                      <a:r>
                        <a:rPr sz="1450" b="1">
                          <a:solidFill>
                            <a:srgbClr val="FFFFFF"/>
                          </a:solidFill>
                          <a:latin typeface="Segoe UI"/>
                        </a:rPr>
                        <a:t>Predicted</a:t>
                      </a:r>
                    </a:p>
                  </a:txBody>
                  <a:tcPr marL="128016" marR="128016" marT="45720" marB="45720" anchor="ctr">
                    <a:solidFill>
                      <a:srgbClr val="141C1E"/>
                    </a:solidFill>
                  </a:tcPr>
                </a:tc>
                <a:tc>
                  <a:txBody>
                    <a:bodyPr wrap="square"/>
                    <a:lstStyle/>
                    <a:p>
                      <a:pPr algn="l"/>
                      <a:r>
                        <a:rPr sz="1450" b="1">
                          <a:solidFill>
                            <a:srgbClr val="FFFFFF"/>
                          </a:solidFill>
                          <a:latin typeface="Segoe UI"/>
                        </a:rPr>
                        <a:t>Observed</a:t>
                      </a:r>
                    </a:p>
                  </a:txBody>
                  <a:tcPr marL="128016" marR="128016" marT="45720" marB="45720" anchor="ctr">
                    <a:solidFill>
                      <a:srgbClr val="141C1E"/>
                    </a:solidFill>
                  </a:tcPr>
                </a:tc>
              </a:tr>
              <a:tr h="457200">
                <a:tc>
                  <a:txBody>
                    <a:bodyPr wrap="square"/>
                    <a:lstStyle/>
                    <a:p>
                      <a:pPr algn="l"/>
                      <a:r>
                        <a:rPr sz="1450" b="0">
                          <a:solidFill>
                            <a:srgbClr val="141C1E"/>
                          </a:solidFill>
                          <a:latin typeface="Segoe UI"/>
                        </a:rPr>
                        <a:t>matched (correct description)</a:t>
                      </a:r>
                    </a:p>
                  </a:txBody>
                  <a:tcPr marL="128016" marR="128016" marT="45720" marB="45720" anchor="ctr">
                    <a:solidFill>
                      <a:srgbClr val="FFFFFF"/>
                    </a:solidFill>
                  </a:tcPr>
                </a:tc>
                <a:tc>
                  <a:txBody>
                    <a:bodyPr wrap="square"/>
                    <a:lstStyle/>
                    <a:p>
                      <a:pPr algn="l"/>
                      <a:r>
                        <a:rPr sz="1450" b="0">
                          <a:solidFill>
                            <a:srgbClr val="141C1E"/>
                          </a:solidFill>
                          <a:latin typeface="Segoe UI"/>
                        </a:rPr>
                        <a:t>Best</a:t>
                      </a:r>
                    </a:p>
                  </a:txBody>
                  <a:tcPr marL="128016" marR="128016" marT="45720" marB="45720" anchor="ctr">
                    <a:solidFill>
                      <a:srgbClr val="FFFFFF"/>
                    </a:solidFill>
                  </a:tcPr>
                </a:tc>
                <a:tc>
                  <a:txBody>
                    <a:bodyPr wrap="square"/>
                    <a:lstStyle/>
                    <a:p>
                      <a:pPr algn="l"/>
                      <a:r>
                        <a:rPr sz="1450" b="0">
                          <a:solidFill>
                            <a:srgbClr val="141C1E"/>
                          </a:solidFill>
                          <a:latin typeface="Segoe UI"/>
                        </a:rPr>
                        <a:t>WORST — 0.666</a:t>
                      </a:r>
                    </a:p>
                  </a:txBody>
                  <a:tcPr marL="128016" marR="128016" marT="45720" marB="45720" anchor="ctr">
                    <a:solidFill>
                      <a:srgbClr val="FFFFFF"/>
                    </a:solidFill>
                  </a:tcPr>
                </a:tc>
              </a:tr>
              <a:tr h="457200">
                <a:tc>
                  <a:txBody>
                    <a:bodyPr wrap="square"/>
                    <a:lstStyle/>
                    <a:p>
                      <a:pPr algn="l"/>
                      <a:r>
                        <a:rPr sz="1450" b="0">
                          <a:solidFill>
                            <a:srgbClr val="141C1E"/>
                          </a:solidFill>
                          <a:latin typeface="Segoe UI"/>
                        </a:rPr>
                        <a:t>mismatched (wrong description)</a:t>
                      </a:r>
                    </a:p>
                  </a:txBody>
                  <a:tcPr marL="128016" marR="128016" marT="45720" marB="45720" anchor="ctr">
                    <a:solidFill>
                      <a:srgbClr val="F5F7F7"/>
                    </a:solidFill>
                  </a:tcPr>
                </a:tc>
                <a:tc>
                  <a:txBody>
                    <a:bodyPr wrap="square"/>
                    <a:lstStyle/>
                    <a:p>
                      <a:pPr algn="l"/>
                      <a:r>
                        <a:rPr sz="1450" b="0">
                          <a:solidFill>
                            <a:srgbClr val="141C1E"/>
                          </a:solidFill>
                          <a:latin typeface="Segoe UI"/>
                        </a:rPr>
                        <a:t>Worst</a:t>
                      </a:r>
                    </a:p>
                  </a:txBody>
                  <a:tcPr marL="128016" marR="128016" marT="45720" marB="45720" anchor="ctr">
                    <a:solidFill>
                      <a:srgbClr val="F5F7F7"/>
                    </a:solidFill>
                  </a:tcPr>
                </a:tc>
                <a:tc>
                  <a:txBody>
                    <a:bodyPr wrap="square"/>
                    <a:lstStyle/>
                    <a:p>
                      <a:pPr algn="l"/>
                      <a:r>
                        <a:rPr sz="1450" b="0">
                          <a:solidFill>
                            <a:srgbClr val="141C1E"/>
                          </a:solidFill>
                          <a:latin typeface="Segoe UI"/>
                        </a:rPr>
                        <a:t>Among the best — 0.695</a:t>
                      </a:r>
                    </a:p>
                  </a:txBody>
                  <a:tcPr marL="128016" marR="128016" marT="45720" marB="45720" anchor="ctr">
                    <a:solidFill>
                      <a:srgbClr val="F5F7F7"/>
                    </a:solidFill>
                  </a:tcPr>
                </a:tc>
              </a:tr>
            </a:tbl>
          </a:graphicData>
        </a:graphic>
      </p:graphicFrame>
      <p:sp>
        <p:nvSpPr>
          <p:cNvPr id="14" name="TextBox 13"/>
          <p:cNvSpPr txBox="1"/>
          <p:nvPr/>
        </p:nvSpPr>
        <p:spPr>
          <a:xfrm>
            <a:off x="777240" y="5989320"/>
            <a:ext cx="10637215" cy="365760"/>
          </a:xfrm>
          <a:prstGeom prst="rect">
            <a:avLst/>
          </a:prstGeom>
          <a:noFill/>
        </p:spPr>
        <p:txBody>
          <a:bodyPr wrap="square" lIns="0" rIns="0" tIns="0" bIns="0">
            <a:spAutoFit/>
          </a:bodyPr>
          <a:lstStyle/>
          <a:p>
            <a:pPr algn="l">
              <a:lnSpc>
                <a:spcPct val="100000"/>
              </a:lnSpc>
            </a:pPr>
            <a:r>
              <a:rPr sz="1600" b="0" i="1">
                <a:solidFill>
                  <a:srgbClr val="8C3A31"/>
                </a:solidFill>
                <a:latin typeface="Segoe UI"/>
              </a:rPr>
              <a:t>This is the point at which the idea looks broken.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DIAGNOSIS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Diagnosis 1 — we were measuring it wrong</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11</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12 camera views.  </a:t>
            </a:r>
            <a:r>
              <a:rPr sz="1600">
                <a:solidFill>
                  <a:srgbClr val="3A4A4C"/>
                </a:solidFill>
                <a:latin typeface="Segoe UI"/>
              </a:rPr>
              <a:t>CLIP sits at a different baseline score under each one — different lighting, different angle.</a:t>
            </a:r>
          </a:p>
        </p:txBody>
      </p:sp>
      <p:sp>
        <p:nvSpPr>
          <p:cNvPr id="9" name="Rectangle 8"/>
          <p:cNvSpPr/>
          <p:nvPr/>
        </p:nvSpPr>
        <p:spPr>
          <a:xfrm>
            <a:off x="777240" y="267919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551176"/>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Our error.  </a:t>
            </a:r>
            <a:r>
              <a:rPr sz="1600">
                <a:solidFill>
                  <a:srgbClr val="3A4A4C"/>
                </a:solidFill>
                <a:latin typeface="Segoe UI"/>
              </a:rPr>
              <a:t>We pooled every frame from all 12 cameras into one ranking.</a:t>
            </a:r>
          </a:p>
        </p:txBody>
      </p:sp>
      <p:sp>
        <p:nvSpPr>
          <p:cNvPr id="11" name="Rectangle 10"/>
          <p:cNvSpPr/>
          <p:nvPr/>
        </p:nvSpPr>
        <p:spPr>
          <a:xfrm>
            <a:off x="777240" y="348386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355848"/>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The analogy.  </a:t>
            </a:r>
            <a:r>
              <a:rPr sz="1600">
                <a:solidFill>
                  <a:srgbClr val="3A4A4C"/>
                </a:solidFill>
                <a:latin typeface="Segoe UI"/>
              </a:rPr>
              <a:t>Ranking students from different schools by raw marks when the schools grade differently. The comparison destroys the ordering.</a:t>
            </a:r>
          </a:p>
        </p:txBody>
      </p:sp>
      <p:sp>
        <p:nvSpPr>
          <p:cNvPr id="13" name="TextBox 12"/>
          <p:cNvSpPr txBox="1"/>
          <p:nvPr/>
        </p:nvSpPr>
        <p:spPr>
          <a:xfrm>
            <a:off x="777240" y="4114800"/>
            <a:ext cx="10637215" cy="320040"/>
          </a:xfrm>
          <a:prstGeom prst="rect">
            <a:avLst/>
          </a:prstGeom>
          <a:noFill/>
        </p:spPr>
        <p:txBody>
          <a:bodyPr wrap="square" lIns="0" rIns="0" tIns="0" bIns="0">
            <a:spAutoFit/>
          </a:bodyPr>
          <a:lstStyle/>
          <a:p>
            <a:pPr algn="l">
              <a:lnSpc>
                <a:spcPct val="100000"/>
              </a:lnSpc>
            </a:pPr>
            <a:r>
              <a:rPr sz="1550" b="0" i="0">
                <a:solidFill>
                  <a:srgbClr val="617274"/>
                </a:solidFill>
                <a:latin typeface="Segoe UI"/>
              </a:rPr>
              <a:t>The published protocol for this benchmark [21] normalises each clip first. We were not doing it.</a:t>
            </a:r>
          </a:p>
        </p:txBody>
      </p:sp>
      <p:sp>
        <p:nvSpPr>
          <p:cNvPr id="14" name="Rectangle 13"/>
          <p:cNvSpPr/>
          <p:nvPr/>
        </p:nvSpPr>
        <p:spPr>
          <a:xfrm>
            <a:off x="777240" y="461772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681728"/>
            <a:ext cx="2011680" cy="1005840"/>
          </a:xfrm>
          <a:prstGeom prst="rect">
            <a:avLst/>
          </a:prstGeom>
          <a:noFill/>
        </p:spPr>
        <p:txBody>
          <a:bodyPr wrap="square" lIns="0" rIns="0" tIns="0" bIns="0">
            <a:spAutoFit/>
          </a:bodyPr>
          <a:lstStyle/>
          <a:p>
            <a:pPr algn="l">
              <a:lnSpc>
                <a:spcPct val="100000"/>
              </a:lnSpc>
            </a:pPr>
            <a:r>
              <a:rPr sz="4200" b="1" i="0">
                <a:solidFill>
                  <a:srgbClr val="617274"/>
                </a:solidFill>
                <a:latin typeface="Segoe UI"/>
              </a:rPr>
              <a:t>0.49</a:t>
            </a:r>
          </a:p>
        </p:txBody>
      </p:sp>
      <p:sp>
        <p:nvSpPr>
          <p:cNvPr id="16" name="TextBox 15"/>
          <p:cNvSpPr txBox="1"/>
          <p:nvPr/>
        </p:nvSpPr>
        <p:spPr>
          <a:xfrm>
            <a:off x="1325880" y="5669280"/>
            <a:ext cx="201168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as reported</a:t>
            </a:r>
          </a:p>
        </p:txBody>
      </p:sp>
      <p:sp>
        <p:nvSpPr>
          <p:cNvPr id="17" name="TextBox 16"/>
          <p:cNvSpPr txBox="1"/>
          <p:nvPr/>
        </p:nvSpPr>
        <p:spPr>
          <a:xfrm>
            <a:off x="3520440" y="4956048"/>
            <a:ext cx="822960" cy="548640"/>
          </a:xfrm>
          <a:prstGeom prst="rect">
            <a:avLst/>
          </a:prstGeom>
          <a:noFill/>
        </p:spPr>
        <p:txBody>
          <a:bodyPr wrap="square" lIns="0" rIns="0" tIns="0" bIns="0">
            <a:spAutoFit/>
          </a:bodyPr>
          <a:lstStyle/>
          <a:p>
            <a:pPr algn="l">
              <a:lnSpc>
                <a:spcPct val="100000"/>
              </a:lnSpc>
            </a:pPr>
            <a:r>
              <a:rPr sz="3400" b="1" i="0">
                <a:solidFill>
                  <a:srgbClr val="0D6B67"/>
                </a:solidFill>
                <a:latin typeface="Segoe UI"/>
              </a:rPr>
              <a:t>→</a:t>
            </a:r>
          </a:p>
        </p:txBody>
      </p:sp>
      <p:sp>
        <p:nvSpPr>
          <p:cNvPr id="18" name="TextBox 17"/>
          <p:cNvSpPr txBox="1"/>
          <p:nvPr/>
        </p:nvSpPr>
        <p:spPr>
          <a:xfrm>
            <a:off x="4617720" y="4681728"/>
            <a:ext cx="2194560" cy="1005840"/>
          </a:xfrm>
          <a:prstGeom prst="rect">
            <a:avLst/>
          </a:prstGeom>
          <a:noFill/>
        </p:spPr>
        <p:txBody>
          <a:bodyPr wrap="square" lIns="0" rIns="0" tIns="0" bIns="0">
            <a:spAutoFit/>
          </a:bodyPr>
          <a:lstStyle/>
          <a:p>
            <a:pPr algn="l">
              <a:lnSpc>
                <a:spcPct val="100000"/>
              </a:lnSpc>
            </a:pPr>
            <a:r>
              <a:rPr sz="4200" b="1" i="0">
                <a:solidFill>
                  <a:srgbClr val="0D6B67"/>
                </a:solidFill>
                <a:latin typeface="Segoe UI"/>
              </a:rPr>
              <a:t>0.67</a:t>
            </a:r>
          </a:p>
        </p:txBody>
      </p:sp>
      <p:sp>
        <p:nvSpPr>
          <p:cNvPr id="19" name="TextBox 18"/>
          <p:cNvSpPr txBox="1"/>
          <p:nvPr/>
        </p:nvSpPr>
        <p:spPr>
          <a:xfrm>
            <a:off x="4617720" y="5669280"/>
            <a:ext cx="219456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correctly pooled</a:t>
            </a:r>
          </a:p>
        </p:txBody>
      </p:sp>
      <p:sp>
        <p:nvSpPr>
          <p:cNvPr id="20" name="TextBox 19"/>
          <p:cNvSpPr txBox="1"/>
          <p:nvPr/>
        </p:nvSpPr>
        <p:spPr>
          <a:xfrm>
            <a:off x="7452360" y="4800600"/>
            <a:ext cx="3749039" cy="1005840"/>
          </a:xfrm>
          <a:prstGeom prst="rect">
            <a:avLst/>
          </a:prstGeom>
          <a:noFill/>
        </p:spPr>
        <p:txBody>
          <a:bodyPr wrap="square" lIns="0" rIns="0" tIns="0" bIns="0">
            <a:spAutoFit/>
          </a:bodyPr>
          <a:lstStyle/>
          <a:p>
            <a:pPr algn="l">
              <a:lnSpc>
                <a:spcPct val="125000"/>
              </a:lnSpc>
            </a:pPr>
            <a:r>
              <a:rPr sz="1350" b="0" i="0">
                <a:solidFill>
                  <a:srgbClr val="141C1E"/>
                </a:solidFill>
                <a:latin typeface="Segoe UI"/>
              </a:rPr>
              <a:t>Identical scores, no smoothing. Uses no labels.
With smoothing (w=31): 0.52 → 0.71.
Both figures are in the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DIAGNOSIS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evidence for that diagnosis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12</a:t>
            </a:r>
          </a:p>
        </p:txBody>
      </p:sp>
      <p:pic>
        <p:nvPicPr>
          <p:cNvPr id="7" name="Picture 6" descr="fig_camera_baselines.png"/>
          <p:cNvPicPr>
            <a:picLocks noChangeAspect="1"/>
          </p:cNvPicPr>
          <p:nvPr/>
        </p:nvPicPr>
        <p:blipFill>
          <a:blip r:embed="rId2"/>
          <a:stretch>
            <a:fillRect/>
          </a:stretch>
        </p:blipFill>
        <p:spPr>
          <a:xfrm>
            <a:off x="2199541" y="1783080"/>
            <a:ext cx="7792613"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Left: every frame projected to two dimensions and coloured by camera — the views sit in separate regions. Right: how similar each view is to the average frame, differing by more than 0.13 between views. Neither panel uses labels, so this is not hindsight.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THE FINDING</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Diagnosis 2 — the description cancelled itself out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13</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600" b="0" i="0">
                <a:solidFill>
                  <a:srgbClr val="3A4A4C"/>
                </a:solidFill>
                <a:latin typeface="Segoe UI"/>
              </a:rPr>
              <a:t>We were appending the scene sentence to BOTH prompt sets:</a:t>
            </a:r>
          </a:p>
        </p:txBody>
      </p:sp>
      <p:sp>
        <p:nvSpPr>
          <p:cNvPr id="8" name="Rectangle 7"/>
          <p:cNvSpPr/>
          <p:nvPr/>
        </p:nvSpPr>
        <p:spPr>
          <a:xfrm>
            <a:off x="777240" y="2240280"/>
            <a:ext cx="5074920" cy="1051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95728"/>
            <a:ext cx="4572000" cy="228600"/>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NORMAL PROMPT</a:t>
            </a:r>
          </a:p>
        </p:txBody>
      </p:sp>
      <p:sp>
        <p:nvSpPr>
          <p:cNvPr id="10" name="TextBox 9"/>
          <p:cNvSpPr txBox="1"/>
          <p:nvPr/>
        </p:nvSpPr>
        <p:spPr>
          <a:xfrm>
            <a:off x="1051560" y="2651760"/>
            <a:ext cx="4572000" cy="594360"/>
          </a:xfrm>
          <a:prstGeom prst="rect">
            <a:avLst/>
          </a:prstGeom>
          <a:noFill/>
        </p:spPr>
        <p:txBody>
          <a:bodyPr wrap="square" lIns="0" rIns="0" tIns="0" bIns="0">
            <a:spAutoFit/>
          </a:bodyPr>
          <a:lstStyle/>
          <a:p>
            <a:pPr algn="l">
              <a:lnSpc>
                <a:spcPct val="120000"/>
              </a:lnSpc>
            </a:pPr>
            <a:r>
              <a:rPr sz="1200" b="0" i="0">
                <a:solidFill>
                  <a:srgbClr val="141C1E"/>
                </a:solidFill>
                <a:latin typeface="Consolas"/>
              </a:rPr>
              <a:t>“a university campus walkway with
 pedestrians, everything is normal”</a:t>
            </a:r>
          </a:p>
        </p:txBody>
      </p:sp>
      <p:sp>
        <p:nvSpPr>
          <p:cNvPr id="11" name="Rectangle 10"/>
          <p:cNvSpPr/>
          <p:nvPr/>
        </p:nvSpPr>
        <p:spPr>
          <a:xfrm>
            <a:off x="6217920" y="2240280"/>
            <a:ext cx="5074920" cy="1051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395728"/>
            <a:ext cx="4572000" cy="228600"/>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ABNORMAL PROMPT</a:t>
            </a:r>
          </a:p>
        </p:txBody>
      </p:sp>
      <p:sp>
        <p:nvSpPr>
          <p:cNvPr id="13" name="TextBox 12"/>
          <p:cNvSpPr txBox="1"/>
          <p:nvPr/>
        </p:nvSpPr>
        <p:spPr>
          <a:xfrm>
            <a:off x="6492240" y="2651760"/>
            <a:ext cx="4572000" cy="594360"/>
          </a:xfrm>
          <a:prstGeom prst="rect">
            <a:avLst/>
          </a:prstGeom>
          <a:noFill/>
        </p:spPr>
        <p:txBody>
          <a:bodyPr wrap="square" lIns="0" rIns="0" tIns="0" bIns="0">
            <a:spAutoFit/>
          </a:bodyPr>
          <a:lstStyle/>
          <a:p>
            <a:pPr algn="l">
              <a:lnSpc>
                <a:spcPct val="120000"/>
              </a:lnSpc>
            </a:pPr>
            <a:r>
              <a:rPr sz="1200" b="0" i="0">
                <a:solidFill>
                  <a:srgbClr val="141C1E"/>
                </a:solidFill>
                <a:latin typeface="Consolas"/>
              </a:rPr>
              <a:t>“a university campus walkway with pedestrians,
 but something abnormal is happening”</a:t>
            </a:r>
          </a:p>
        </p:txBody>
      </p:sp>
      <p:sp>
        <p:nvSpPr>
          <p:cNvPr id="14" name="Rectangle 13"/>
          <p:cNvSpPr/>
          <p:nvPr/>
        </p:nvSpPr>
        <p:spPr>
          <a:xfrm>
            <a:off x="777240" y="361188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3" y="3483864"/>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Shared words.  </a:t>
            </a:r>
            <a:r>
              <a:rPr sz="1550">
                <a:solidFill>
                  <a:srgbClr val="3A4A4C"/>
                </a:solidFill>
                <a:latin typeface="Segoe UI"/>
              </a:rPr>
              <a:t>Each prompt set is averaged into one summary vector. Shared text enters both — so the two summaries move toward each other.</a:t>
            </a:r>
          </a:p>
        </p:txBody>
      </p:sp>
      <p:sp>
        <p:nvSpPr>
          <p:cNvPr id="16" name="Rectangle 15"/>
          <p:cNvSpPr/>
          <p:nvPr/>
        </p:nvSpPr>
        <p:spPr>
          <a:xfrm>
            <a:off x="777240" y="432511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4197096"/>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The method depends on them being different.  </a:t>
            </a:r>
            <a:r>
              <a:rPr sz="1550">
                <a:solidFill>
                  <a:srgbClr val="3A4A4C"/>
                </a:solidFill>
                <a:latin typeface="Segoe UI"/>
              </a:rPr>
              <a:t>We were erasing the very contrast the decision rests on.</a:t>
            </a:r>
          </a:p>
        </p:txBody>
      </p:sp>
      <p:sp>
        <p:nvSpPr>
          <p:cNvPr id="18" name="Rectangle 17"/>
          <p:cNvSpPr/>
          <p:nvPr/>
        </p:nvSpPr>
        <p:spPr>
          <a:xfrm>
            <a:off x="777240" y="503834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3" y="4910328"/>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Which explains the inversion.  </a:t>
            </a:r>
            <a:r>
              <a:rPr sz="1550">
                <a:solidFill>
                  <a:srgbClr val="3A4A4C"/>
                </a:solidFill>
                <a:latin typeface="Segoe UI"/>
              </a:rPr>
              <a:t>An accurate description matches every frame strongly, so it absorbs the most contrast. A wrong one matches nothing, so it does no damage.</a:t>
            </a:r>
          </a:p>
        </p:txBody>
      </p:sp>
      <p:sp>
        <p:nvSpPr>
          <p:cNvPr id="20" name="Rectangle 19"/>
          <p:cNvSpPr/>
          <p:nvPr/>
        </p:nvSpPr>
        <p:spPr>
          <a:xfrm>
            <a:off x="777240" y="5376672"/>
            <a:ext cx="10637215" cy="96012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76672"/>
            <a:ext cx="45720" cy="96012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1" y="5522976"/>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FIX</a:t>
            </a:r>
          </a:p>
        </p:txBody>
      </p:sp>
      <p:sp>
        <p:nvSpPr>
          <p:cNvPr id="23" name="TextBox 22"/>
          <p:cNvSpPr txBox="1"/>
          <p:nvPr/>
        </p:nvSpPr>
        <p:spPr>
          <a:xfrm>
            <a:off x="1033271" y="5815583"/>
            <a:ext cx="10134295" cy="393192"/>
          </a:xfrm>
          <a:prstGeom prst="rect">
            <a:avLst/>
          </a:prstGeom>
          <a:noFill/>
        </p:spPr>
        <p:txBody>
          <a:bodyPr wrap="square" lIns="0" rIns="0" tIns="0" bIns="0">
            <a:spAutoFit/>
          </a:bodyPr>
          <a:lstStyle/>
          <a:p>
            <a:pPr algn="l">
              <a:lnSpc>
                <a:spcPct val="100000"/>
              </a:lnSpc>
            </a:pPr>
            <a:r>
              <a:rPr sz="1500" b="0" i="0">
                <a:solidFill>
                  <a:srgbClr val="141C1E"/>
                </a:solidFill>
                <a:latin typeface="Segoe UI"/>
              </a:rPr>
              <a:t>Attach the description to the normal prompts only — the scene defines what normal looks like here; an anomaly is a departure from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CENTRAL EXPERIMENT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After the fix: the predicted signature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14</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450" b="0" i="0">
                <a:solidFill>
                  <a:srgbClr val="617274"/>
                </a:solidFill>
                <a:latin typeface="Segoe UI"/>
              </a:rPr>
              <a:t>ShanghaiTech, all 107 clips, per-clip normalised. Every model frozen; only the sentence and its injection point vary.</a:t>
            </a:r>
          </a:p>
        </p:txBody>
      </p:sp>
      <p:graphicFrame>
        <p:nvGraphicFramePr>
          <p:cNvPr id="8" name="Table 7"/>
          <p:cNvGraphicFramePr>
            <a:graphicFrameLocks noGrp="1"/>
          </p:cNvGraphicFramePr>
          <p:nvPr/>
        </p:nvGraphicFramePr>
        <p:xfrm>
          <a:off x="777240" y="2286000"/>
          <a:ext cx="10634472" cy="1591056"/>
        </p:xfrm>
        <a:graphic>
          <a:graphicData uri="http://schemas.openxmlformats.org/drawingml/2006/table">
            <a:tbl>
              <a:tblPr firstRow="1">
                <a:tableStyleId>{5C22544A-7EE6-4342-B048-85BDC9FD1C3A}</a:tableStyleId>
              </a:tblPr>
              <a:tblGrid>
                <a:gridCol w="2953512"/>
                <a:gridCol w="1536192"/>
                <a:gridCol w="1536192"/>
                <a:gridCol w="1536192"/>
                <a:gridCol w="1536192"/>
                <a:gridCol w="1536192"/>
              </a:tblGrid>
              <a:tr h="530352">
                <a:tc>
                  <a:txBody>
                    <a:bodyPr wrap="square"/>
                    <a:lstStyle/>
                    <a:p>
                      <a:pPr algn="l"/>
                      <a:r>
                        <a:rPr sz="1500" b="1">
                          <a:solidFill>
                            <a:srgbClr val="FFFFFF"/>
                          </a:solidFill>
                          <a:latin typeface="Segoe UI"/>
                        </a:rPr>
                        <a:t>Injection point</a:t>
                      </a:r>
                    </a:p>
                  </a:txBody>
                  <a:tcPr marL="128016" marR="128016" marT="45720" marB="45720" anchor="ctr">
                    <a:solidFill>
                      <a:srgbClr val="141C1E"/>
                    </a:solidFill>
                  </a:tcPr>
                </a:tc>
                <a:tc>
                  <a:txBody>
                    <a:bodyPr wrap="square"/>
                    <a:lstStyle/>
                    <a:p>
                      <a:pPr algn="r"/>
                      <a:r>
                        <a:rPr sz="1500" b="1">
                          <a:solidFill>
                            <a:srgbClr val="FFFFFF"/>
                          </a:solidFill>
                          <a:latin typeface="Segoe UI"/>
                        </a:rPr>
                        <a:t>none</a:t>
                      </a:r>
                    </a:p>
                  </a:txBody>
                  <a:tcPr marL="128016" marR="128016" marT="45720" marB="45720" anchor="ctr">
                    <a:solidFill>
                      <a:srgbClr val="141C1E"/>
                    </a:solidFill>
                  </a:tcPr>
                </a:tc>
                <a:tc>
                  <a:txBody>
                    <a:bodyPr wrap="square"/>
                    <a:lstStyle/>
                    <a:p>
                      <a:pPr algn="r"/>
                      <a:r>
                        <a:rPr sz="1500" b="1">
                          <a:solidFill>
                            <a:srgbClr val="FFFFFF"/>
                          </a:solidFill>
                          <a:latin typeface="Segoe UI"/>
                        </a:rPr>
                        <a:t>generic</a:t>
                      </a:r>
                    </a:p>
                  </a:txBody>
                  <a:tcPr marL="128016" marR="128016" marT="45720" marB="45720" anchor="ctr">
                    <a:solidFill>
                      <a:srgbClr val="141C1E"/>
                    </a:solidFill>
                  </a:tcPr>
                </a:tc>
                <a:tc>
                  <a:txBody>
                    <a:bodyPr wrap="square"/>
                    <a:lstStyle/>
                    <a:p>
                      <a:pPr algn="r"/>
                      <a:r>
                        <a:rPr sz="1500" b="1">
                          <a:solidFill>
                            <a:srgbClr val="FFFFFF"/>
                          </a:solidFill>
                          <a:latin typeface="Segoe UI"/>
                        </a:rPr>
                        <a:t>matched</a:t>
                      </a:r>
                    </a:p>
                  </a:txBody>
                  <a:tcPr marL="128016" marR="128016" marT="45720" marB="45720" anchor="ctr">
                    <a:solidFill>
                      <a:srgbClr val="141C1E"/>
                    </a:solidFill>
                  </a:tcPr>
                </a:tc>
                <a:tc>
                  <a:txBody>
                    <a:bodyPr wrap="square"/>
                    <a:lstStyle/>
                    <a:p>
                      <a:pPr algn="r"/>
                      <a:r>
                        <a:rPr sz="1500" b="1">
                          <a:solidFill>
                            <a:srgbClr val="FFFFFF"/>
                          </a:solidFill>
                          <a:latin typeface="Segoe UI"/>
                        </a:rPr>
                        <a:t>mismatched</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30352">
                <a:tc>
                  <a:txBody>
                    <a:bodyPr wrap="square"/>
                    <a:lstStyle/>
                    <a:p>
                      <a:pPr algn="l"/>
                      <a:r>
                        <a:rPr sz="1500" b="0">
                          <a:solidFill>
                            <a:srgbClr val="141C1E"/>
                          </a:solidFill>
                          <a:latin typeface="Segoe UI"/>
                        </a:rPr>
                        <a:t>Both prompt sets</a:t>
                      </a:r>
                    </a:p>
                  </a:txBody>
                  <a:tcPr marL="128016" marR="128016" marT="45720" marB="45720" anchor="ctr">
                    <a:solidFill>
                      <a:srgbClr val="FFFFFF"/>
                    </a:solidFill>
                  </a:tcPr>
                </a:tc>
                <a:tc>
                  <a:txBody>
                    <a:bodyPr wrap="square"/>
                    <a:lstStyle/>
                    <a:p>
                      <a:pPr algn="r"/>
                      <a:r>
                        <a:rPr sz="1500" b="0">
                          <a:solidFill>
                            <a:srgbClr val="141C1E"/>
                          </a:solidFill>
                          <a:latin typeface="Consolas"/>
                        </a:rPr>
                        <a:t>0.707</a:t>
                      </a:r>
                    </a:p>
                  </a:txBody>
                  <a:tcPr marL="128016" marR="128016" marT="45720" marB="45720" anchor="ctr">
                    <a:solidFill>
                      <a:srgbClr val="FFFFFF"/>
                    </a:solidFill>
                  </a:tcPr>
                </a:tc>
                <a:tc>
                  <a:txBody>
                    <a:bodyPr wrap="square"/>
                    <a:lstStyle/>
                    <a:p>
                      <a:pPr algn="r"/>
                      <a:r>
                        <a:rPr sz="1500" b="0">
                          <a:solidFill>
                            <a:srgbClr val="141C1E"/>
                          </a:solidFill>
                          <a:latin typeface="Consolas"/>
                        </a:rPr>
                        <a:t>0.670</a:t>
                      </a:r>
                    </a:p>
                  </a:txBody>
                  <a:tcPr marL="128016" marR="128016" marT="45720" marB="45720" anchor="ctr">
                    <a:solidFill>
                      <a:srgbClr val="FFFFFF"/>
                    </a:solidFill>
                  </a:tcPr>
                </a:tc>
                <a:tc>
                  <a:txBody>
                    <a:bodyPr wrap="square"/>
                    <a:lstStyle/>
                    <a:p>
                      <a:pPr algn="r"/>
                      <a:r>
                        <a:rPr sz="1500" b="0">
                          <a:solidFill>
                            <a:srgbClr val="141C1E"/>
                          </a:solidFill>
                          <a:latin typeface="Consolas"/>
                        </a:rPr>
                        <a:t>0.666</a:t>
                      </a:r>
                    </a:p>
                  </a:txBody>
                  <a:tcPr marL="128016" marR="128016" marT="45720" marB="45720" anchor="ctr">
                    <a:solidFill>
                      <a:srgbClr val="FFFFFF"/>
                    </a:solidFill>
                  </a:tcPr>
                </a:tc>
                <a:tc>
                  <a:txBody>
                    <a:bodyPr wrap="square"/>
                    <a:lstStyle/>
                    <a:p>
                      <a:pPr algn="r"/>
                      <a:r>
                        <a:rPr sz="1500" b="0">
                          <a:solidFill>
                            <a:srgbClr val="141C1E"/>
                          </a:solidFill>
                          <a:latin typeface="Consolas"/>
                        </a:rPr>
                        <a:t>0.695</a:t>
                      </a:r>
                    </a:p>
                  </a:txBody>
                  <a:tcPr marL="128016" marR="128016" marT="45720" marB="45720" anchor="ctr">
                    <a:solidFill>
                      <a:srgbClr val="FFFFFF"/>
                    </a:solidFill>
                  </a:tcPr>
                </a:tc>
                <a:tc>
                  <a:txBody>
                    <a:bodyPr wrap="square"/>
                    <a:lstStyle/>
                    <a:p>
                      <a:pPr algn="r"/>
                      <a:r>
                        <a:rPr sz="1500" b="0">
                          <a:solidFill>
                            <a:srgbClr val="141C1E"/>
                          </a:solidFill>
                          <a:latin typeface="Consolas"/>
                        </a:rPr>
                        <a:t>−0.029</a:t>
                      </a:r>
                    </a:p>
                  </a:txBody>
                  <a:tcPr marL="128016" marR="128016" marT="45720" marB="45720" anchor="ctr">
                    <a:solidFill>
                      <a:srgbClr val="FFFFFF"/>
                    </a:solidFill>
                  </a:tcPr>
                </a:tc>
              </a:tr>
              <a:tr h="530352">
                <a:tc>
                  <a:txBody>
                    <a:bodyPr wrap="square"/>
                    <a:lstStyle/>
                    <a:p>
                      <a:pPr algn="l"/>
                      <a:r>
                        <a:rPr sz="1500" b="1">
                          <a:solidFill>
                            <a:srgbClr val="141C1E"/>
                          </a:solidFill>
                          <a:latin typeface="Segoe UI"/>
                        </a:rPr>
                        <a:t>Normal set only</a:t>
                      </a:r>
                    </a:p>
                  </a:txBody>
                  <a:tcPr marL="128016" marR="128016" marT="45720" marB="45720" anchor="ctr">
                    <a:solidFill>
                      <a:srgbClr val="DDEDEB"/>
                    </a:solidFill>
                  </a:tcPr>
                </a:tc>
                <a:tc>
                  <a:txBody>
                    <a:bodyPr wrap="square"/>
                    <a:lstStyle/>
                    <a:p>
                      <a:pPr algn="r"/>
                      <a:r>
                        <a:rPr sz="1500" b="1">
                          <a:solidFill>
                            <a:srgbClr val="141C1E"/>
                          </a:solidFill>
                          <a:latin typeface="Consolas"/>
                        </a:rPr>
                        <a:t>0.707</a:t>
                      </a:r>
                    </a:p>
                  </a:txBody>
                  <a:tcPr marL="128016" marR="128016" marT="45720" marB="45720" anchor="ctr">
                    <a:solidFill>
                      <a:srgbClr val="DDEDEB"/>
                    </a:solidFill>
                  </a:tcPr>
                </a:tc>
                <a:tc>
                  <a:txBody>
                    <a:bodyPr wrap="square"/>
                    <a:lstStyle/>
                    <a:p>
                      <a:pPr algn="r"/>
                      <a:r>
                        <a:rPr sz="1500" b="1">
                          <a:solidFill>
                            <a:srgbClr val="141C1E"/>
                          </a:solidFill>
                          <a:latin typeface="Consolas"/>
                        </a:rPr>
                        <a:t>0.691</a:t>
                      </a:r>
                    </a:p>
                  </a:txBody>
                  <a:tcPr marL="128016" marR="128016" marT="45720" marB="45720" anchor="ctr">
                    <a:solidFill>
                      <a:srgbClr val="DDEDEB"/>
                    </a:solidFill>
                  </a:tcPr>
                </a:tc>
                <a:tc>
                  <a:txBody>
                    <a:bodyPr wrap="square"/>
                    <a:lstStyle/>
                    <a:p>
                      <a:pPr algn="r"/>
                      <a:r>
                        <a:rPr sz="1500" b="1">
                          <a:solidFill>
                            <a:srgbClr val="141C1E"/>
                          </a:solidFill>
                          <a:latin typeface="Consolas"/>
                        </a:rPr>
                        <a:t>0.734</a:t>
                      </a:r>
                    </a:p>
                  </a:txBody>
                  <a:tcPr marL="128016" marR="128016" marT="45720" marB="45720" anchor="ctr">
                    <a:solidFill>
                      <a:srgbClr val="DDEDEB"/>
                    </a:solidFill>
                  </a:tcPr>
                </a:tc>
                <a:tc>
                  <a:txBody>
                    <a:bodyPr wrap="square"/>
                    <a:lstStyle/>
                    <a:p>
                      <a:pPr algn="r"/>
                      <a:r>
                        <a:rPr sz="1500" b="1">
                          <a:solidFill>
                            <a:srgbClr val="141C1E"/>
                          </a:solidFill>
                          <a:latin typeface="Consolas"/>
                        </a:rPr>
                        <a:t>0.628</a:t>
                      </a:r>
                    </a:p>
                  </a:txBody>
                  <a:tcPr marL="128016" marR="128016" marT="45720" marB="45720" anchor="ctr">
                    <a:solidFill>
                      <a:srgbClr val="DDEDEB"/>
                    </a:solidFill>
                  </a:tcPr>
                </a:tc>
                <a:tc>
                  <a:txBody>
                    <a:bodyPr wrap="square"/>
                    <a:lstStyle/>
                    <a:p>
                      <a:pPr algn="r"/>
                      <a:r>
                        <a:rPr sz="1500" b="1">
                          <a:solidFill>
                            <a:srgbClr val="141C1E"/>
                          </a:solidFill>
                          <a:latin typeface="Consolas"/>
                        </a:rPr>
                        <a:t>+0.105</a:t>
                      </a:r>
                    </a:p>
                  </a:txBody>
                  <a:tcPr marL="128016" marR="128016" marT="45720" marB="45720" anchor="ctr">
                    <a:solidFill>
                      <a:srgbClr val="DDEDEB"/>
                    </a:solidFill>
                  </a:tcPr>
                </a:tc>
              </a:tr>
            </a:tbl>
          </a:graphicData>
        </a:graphic>
      </p:graphicFrame>
      <p:sp>
        <p:nvSpPr>
          <p:cNvPr id="9" name="TextBox 8"/>
          <p:cNvSpPr txBox="1"/>
          <p:nvPr/>
        </p:nvSpPr>
        <p:spPr>
          <a:xfrm>
            <a:off x="777240" y="3977639"/>
            <a:ext cx="10637215" cy="320040"/>
          </a:xfrm>
          <a:prstGeom prst="rect">
            <a:avLst/>
          </a:prstGeom>
          <a:noFill/>
        </p:spPr>
        <p:txBody>
          <a:bodyPr wrap="square" lIns="0" rIns="0" tIns="0" bIns="0">
            <a:spAutoFit/>
          </a:bodyPr>
          <a:lstStyle/>
          <a:p>
            <a:pPr algn="l">
              <a:lnSpc>
                <a:spcPct val="100000"/>
              </a:lnSpc>
            </a:pPr>
            <a:r>
              <a:rPr sz="1400" b="0" i="1">
                <a:solidFill>
                  <a:srgbClr val="617274"/>
                </a:solidFill>
                <a:latin typeface="Segoe UI"/>
              </a:rPr>
              <a:t>The “none” column is identical in both rows — confirming nothing but the injection point changed.</a:t>
            </a:r>
          </a:p>
        </p:txBody>
      </p:sp>
      <p:sp>
        <p:nvSpPr>
          <p:cNvPr id="10" name="Rectangle 9"/>
          <p:cNvSpPr/>
          <p:nvPr/>
        </p:nvSpPr>
        <p:spPr>
          <a:xfrm>
            <a:off x="777240" y="4526280"/>
            <a:ext cx="5074920" cy="16002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663440"/>
            <a:ext cx="3200400" cy="1005840"/>
          </a:xfrm>
          <a:prstGeom prst="rect">
            <a:avLst/>
          </a:prstGeom>
          <a:noFill/>
        </p:spPr>
        <p:txBody>
          <a:bodyPr wrap="square" lIns="0" rIns="0" tIns="0" bIns="0">
            <a:spAutoFit/>
          </a:bodyPr>
          <a:lstStyle/>
          <a:p>
            <a:pPr algn="l">
              <a:lnSpc>
                <a:spcPct val="100000"/>
              </a:lnSpc>
            </a:pPr>
            <a:r>
              <a:rPr sz="4400" b="1" i="0">
                <a:solidFill>
                  <a:srgbClr val="0D6B67"/>
                </a:solidFill>
                <a:latin typeface="Segoe UI"/>
              </a:rPr>
              <a:t>0.734</a:t>
            </a:r>
          </a:p>
        </p:txBody>
      </p:sp>
      <p:sp>
        <p:nvSpPr>
          <p:cNvPr id="12" name="TextBox 11"/>
          <p:cNvSpPr txBox="1"/>
          <p:nvPr/>
        </p:nvSpPr>
        <p:spPr>
          <a:xfrm>
            <a:off x="1188720" y="5650992"/>
            <a:ext cx="320040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correct description</a:t>
            </a:r>
          </a:p>
        </p:txBody>
      </p:sp>
      <p:sp>
        <p:nvSpPr>
          <p:cNvPr id="13" name="Rectangle 12"/>
          <p:cNvSpPr/>
          <p:nvPr/>
        </p:nvSpPr>
        <p:spPr>
          <a:xfrm>
            <a:off x="6217920" y="4526280"/>
            <a:ext cx="5074920" cy="160020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4663440"/>
            <a:ext cx="4480560" cy="1005840"/>
          </a:xfrm>
          <a:prstGeom prst="rect">
            <a:avLst/>
          </a:prstGeom>
          <a:noFill/>
        </p:spPr>
        <p:txBody>
          <a:bodyPr wrap="square" lIns="0" rIns="0" tIns="0" bIns="0">
            <a:spAutoFit/>
          </a:bodyPr>
          <a:lstStyle/>
          <a:p>
            <a:pPr algn="l">
              <a:lnSpc>
                <a:spcPct val="100000"/>
              </a:lnSpc>
            </a:pPr>
            <a:r>
              <a:rPr sz="4400" b="1" i="0">
                <a:solidFill>
                  <a:srgbClr val="8C3A31"/>
                </a:solidFill>
                <a:latin typeface="Segoe UI"/>
              </a:rPr>
              <a:t>0.628</a:t>
            </a:r>
          </a:p>
        </p:txBody>
      </p:sp>
      <p:sp>
        <p:nvSpPr>
          <p:cNvPr id="15" name="TextBox 14"/>
          <p:cNvSpPr txBox="1"/>
          <p:nvPr/>
        </p:nvSpPr>
        <p:spPr>
          <a:xfrm>
            <a:off x="6629400" y="5650992"/>
            <a:ext cx="448056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wrong description  —  a 10-point penalty</a:t>
            </a:r>
          </a:p>
        </p:txBody>
      </p:sp>
      <p:sp>
        <p:nvSpPr>
          <p:cNvPr id="16" name="TextBox 15"/>
          <p:cNvSpPr txBox="1"/>
          <p:nvPr/>
        </p:nvSpPr>
        <p:spPr>
          <a:xfrm>
            <a:off x="777240" y="6309360"/>
            <a:ext cx="10637215" cy="320040"/>
          </a:xfrm>
          <a:prstGeom prst="rect">
            <a:avLst/>
          </a:prstGeom>
          <a:noFill/>
        </p:spPr>
        <p:txBody>
          <a:bodyPr wrap="square" lIns="0" rIns="0" tIns="0" bIns="0">
            <a:spAutoFit/>
          </a:bodyPr>
          <a:lstStyle/>
          <a:p>
            <a:pPr algn="ctr">
              <a:lnSpc>
                <a:spcPct val="100000"/>
              </a:lnSpc>
            </a:pPr>
            <a:r>
              <a:rPr sz="1550" b="1" i="0">
                <a:solidFill>
                  <a:srgbClr val="141C1E"/>
                </a:solidFill>
                <a:latin typeface="Segoe UI"/>
              </a:rPr>
              <a:t>Nothing else was permitted to change, so the text caused it — page 17 says how.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CENTRAL EXPERIMENT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same experiment, drawn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15</a:t>
            </a:r>
          </a:p>
        </p:txBody>
      </p:sp>
      <p:pic>
        <p:nvPicPr>
          <p:cNvPr id="7" name="Picture 6" descr="fig_chart_sweep.png"/>
          <p:cNvPicPr>
            <a:picLocks noChangeAspect="1"/>
          </p:cNvPicPr>
          <p:nvPr/>
        </p:nvPicPr>
        <p:blipFill>
          <a:blip r:embed="rId2"/>
          <a:stretch>
            <a:fillRect/>
          </a:stretch>
        </p:blipFill>
        <p:spPr>
          <a:xfrm>
            <a:off x="1983079" y="1783080"/>
            <a:ext cx="8225535"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The number the experiment exists to produce is the arrow: the distance between the matched and mismatched bars. Grey bars put the sentence in both prompt sets and that distance is negative. Orange bars put it in the normal set only and it becomes +0.105.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WHAT THE GAP LOOKS LIKE</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One clip, two sentences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16</a:t>
            </a:r>
          </a:p>
        </p:txBody>
      </p:sp>
      <p:pic>
        <p:nvPicPr>
          <p:cNvPr id="7" name="Picture 6" descr="fig_context_effect.png"/>
          <p:cNvPicPr>
            <a:picLocks noChangeAspect="1"/>
          </p:cNvPicPr>
          <p:nvPr/>
        </p:nvPicPr>
        <p:blipFill>
          <a:blip r:embed="rId2"/>
          <a:stretch>
            <a:fillRect/>
          </a:stretch>
        </p:blipFill>
        <p:spPr>
          <a:xfrm>
            <a:off x="1654058" y="1783080"/>
            <a:ext cx="8883578"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Same frozen models, same frames, same smoothing — the only difference is whether the sentence describes a campus walkway or an industrial site. The curves track each other outside the event and separate inside it. Nothing else was free to vary, so the text caused the separation.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INTERPRETATION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Stating the claim precisely</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17</a:t>
            </a:r>
          </a:p>
        </p:txBody>
      </p:sp>
      <p:sp>
        <p:nvSpPr>
          <p:cNvPr id="7" name="Rectangle 6"/>
          <p:cNvSpPr/>
          <p:nvPr/>
        </p:nvSpPr>
        <p:spPr>
          <a:xfrm>
            <a:off x="777240" y="1783080"/>
            <a:ext cx="5074920" cy="19659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11680"/>
            <a:ext cx="4389120" cy="274320"/>
          </a:xfrm>
          <a:prstGeom prst="rect">
            <a:avLst/>
          </a:prstGeom>
          <a:noFill/>
        </p:spPr>
        <p:txBody>
          <a:bodyPr wrap="square" lIns="0" rIns="0" tIns="0" bIns="0">
            <a:spAutoFit/>
          </a:bodyPr>
          <a:lstStyle/>
          <a:p>
            <a:pPr algn="l">
              <a:lnSpc>
                <a:spcPct val="100000"/>
              </a:lnSpc>
            </a:pPr>
            <a:r>
              <a:rPr sz="1150" b="1" i="0">
                <a:solidFill>
                  <a:srgbClr val="617274"/>
                </a:solidFill>
                <a:latin typeface="Segoe UI"/>
              </a:rPr>
              <a:t>THE WEAKER HALF</a:t>
            </a:r>
          </a:p>
        </p:txBody>
      </p:sp>
      <p:sp>
        <p:nvSpPr>
          <p:cNvPr id="9" name="TextBox 8"/>
          <p:cNvSpPr txBox="1"/>
          <p:nvPr/>
        </p:nvSpPr>
        <p:spPr>
          <a:xfrm>
            <a:off x="1143000" y="2377440"/>
            <a:ext cx="4389120" cy="11887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A correct description beats none by +0.027.
Positive at every window, but inside the ±0.036 split-to-split spread.</a:t>
            </a:r>
          </a:p>
        </p:txBody>
      </p:sp>
      <p:sp>
        <p:nvSpPr>
          <p:cNvPr id="10" name="Rectangle 9"/>
          <p:cNvSpPr/>
          <p:nvPr/>
        </p:nvSpPr>
        <p:spPr>
          <a:xfrm>
            <a:off x="6217920" y="1783080"/>
            <a:ext cx="5074920" cy="19659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79" y="2011680"/>
            <a:ext cx="438912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THE CLAIM WE MAKE</a:t>
            </a:r>
          </a:p>
        </p:txBody>
      </p:sp>
      <p:sp>
        <p:nvSpPr>
          <p:cNvPr id="12" name="TextBox 11"/>
          <p:cNvSpPr txBox="1"/>
          <p:nvPr/>
        </p:nvSpPr>
        <p:spPr>
          <a:xfrm>
            <a:off x="6583679" y="2377440"/>
            <a:ext cx="4389120" cy="11887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A WRONG description lowers the benchmark score by 0.105.
Nothing else could have caused it.</a:t>
            </a:r>
          </a:p>
        </p:txBody>
      </p:sp>
      <p:sp>
        <p:nvSpPr>
          <p:cNvPr id="13" name="Rectangle 12"/>
          <p:cNvSpPr/>
          <p:nvPr/>
        </p:nvSpPr>
        <p:spPr>
          <a:xfrm>
            <a:off x="777240" y="4023360"/>
            <a:ext cx="10637215" cy="141732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023360"/>
            <a:ext cx="45720" cy="1417320"/>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169664"/>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WHAT A SECOND METRIC SHOWED (PHASE 3)</a:t>
            </a:r>
          </a:p>
        </p:txBody>
      </p:sp>
      <p:sp>
        <p:nvSpPr>
          <p:cNvPr id="16" name="TextBox 15"/>
          <p:cNvSpPr txBox="1"/>
          <p:nvPr/>
        </p:nvSpPr>
        <p:spPr>
          <a:xfrm>
            <a:off x="1033271" y="4462272"/>
            <a:ext cx="10134295" cy="850392"/>
          </a:xfrm>
          <a:prstGeom prst="rect">
            <a:avLst/>
          </a:prstGeom>
          <a:noFill/>
        </p:spPr>
        <p:txBody>
          <a:bodyPr wrap="square" lIns="0" rIns="0" tIns="0" bIns="0">
            <a:spAutoFit/>
          </a:bodyPr>
          <a:lstStyle/>
          <a:p>
            <a:pPr algn="l">
              <a:lnSpc>
                <a:spcPct val="100000"/>
              </a:lnSpc>
            </a:pPr>
            <a:r>
              <a:rPr sz="1500" b="0" i="0">
                <a:solidFill>
                  <a:srgbClr val="141C1E"/>
                </a:solidFill>
                <a:latin typeface="Segoe UI"/>
              </a:rPr>
              <a:t>Judged only by which frames rank highest INSIDE each video, the gap is +0.006 (pooled: +0.100, same w=5). The sentence mostly shifts each video's overall score level — telling cameras apart — and the pooled metric rewards that. It barely re-ranks frames within a video. A full audit is the next experiment.</a:t>
            </a:r>
          </a:p>
        </p:txBody>
      </p:sp>
      <p:sp>
        <p:nvSpPr>
          <p:cNvPr id="17" name="TextBox 16"/>
          <p:cNvSpPr txBox="1"/>
          <p:nvPr/>
        </p:nvSpPr>
        <p:spPr>
          <a:xfrm>
            <a:off x="777240" y="5623560"/>
            <a:ext cx="10637215" cy="640080"/>
          </a:xfrm>
          <a:prstGeom prst="rect">
            <a:avLst/>
          </a:prstGeom>
          <a:noFill/>
        </p:spPr>
        <p:txBody>
          <a:bodyPr wrap="square" lIns="0" rIns="0" tIns="0" bIns="0">
            <a:spAutoFit/>
          </a:bodyPr>
          <a:lstStyle/>
          <a:p>
            <a:pPr algn="l">
              <a:lnSpc>
                <a:spcPct val="130000"/>
              </a:lnSpc>
            </a:pPr>
            <a:r>
              <a:rPr sz="1600" b="1" i="0">
                <a:solidFill>
                  <a:srgbClr val="141C1E"/>
                </a:solidFill>
                <a:latin typeface="Segoe UI"/>
              </a:rPr>
              <a:t>A secondary finding, not present in the literature: WHERE the description is injected dominates WHAT it says — to the point of reversing the direction of the effect.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COMPONENT ABLATION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Which components earn their place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18</a:t>
            </a:r>
          </a:p>
        </p:txBody>
      </p:sp>
      <p:graphicFrame>
        <p:nvGraphicFramePr>
          <p:cNvPr id="7" name="Table 6"/>
          <p:cNvGraphicFramePr>
            <a:graphicFrameLocks noGrp="1"/>
          </p:cNvGraphicFramePr>
          <p:nvPr/>
        </p:nvGraphicFramePr>
        <p:xfrm>
          <a:off x="777240" y="1828800"/>
          <a:ext cx="10634472" cy="2578608"/>
        </p:xfrm>
        <a:graphic>
          <a:graphicData uri="http://schemas.openxmlformats.org/drawingml/2006/table">
            <a:tbl>
              <a:tblPr firstRow="1">
                <a:tableStyleId>{5C22544A-7EE6-4342-B048-85BDC9FD1C3A}</a:tableStyleId>
              </a:tblPr>
              <a:tblGrid>
                <a:gridCol w="4754880"/>
                <a:gridCol w="2971800"/>
                <a:gridCol w="2907792"/>
              </a:tblGrid>
              <a:tr h="429768">
                <a:tc>
                  <a:txBody>
                    <a:bodyPr wrap="square"/>
                    <a:lstStyle/>
                    <a:p>
                      <a:pPr algn="l"/>
                      <a:r>
                        <a:rPr sz="1450" b="1">
                          <a:solidFill>
                            <a:srgbClr val="FFFFFF"/>
                          </a:solidFill>
                          <a:latin typeface="Segoe UI"/>
                        </a:rPr>
                        <a:t>Scoring signal</a:t>
                      </a:r>
                    </a:p>
                  </a:txBody>
                  <a:tcPr marL="128016" marR="128016" marT="45720" marB="45720" anchor="ctr">
                    <a:solidFill>
                      <a:srgbClr val="141C1E"/>
                    </a:solidFill>
                  </a:tcPr>
                </a:tc>
                <a:tc>
                  <a:txBody>
                    <a:bodyPr wrap="square"/>
                    <a:lstStyle/>
                    <a:p>
                      <a:pPr algn="r"/>
                      <a:r>
                        <a:rPr sz="1450" b="1">
                          <a:solidFill>
                            <a:srgbClr val="FFFFFF"/>
                          </a:solidFill>
                          <a:latin typeface="Segoe UI"/>
                        </a:rPr>
                        <a:t>Held-out AUROC</a:t>
                      </a:r>
                    </a:p>
                  </a:txBody>
                  <a:tcPr marL="128016" marR="128016" marT="45720" marB="45720" anchor="ctr">
                    <a:solidFill>
                      <a:srgbClr val="141C1E"/>
                    </a:solidFill>
                  </a:tcPr>
                </a:tc>
                <a:tc>
                  <a:txBody>
                    <a:bodyPr wrap="square"/>
                    <a:lstStyle/>
                    <a:p>
                      <a:pPr algn="r"/>
                      <a:r>
                        <a:rPr sz="1450" b="1">
                          <a:solidFill>
                            <a:srgbClr val="FFFFFF"/>
                          </a:solidFill>
                          <a:latin typeface="Segoe UI"/>
                        </a:rPr>
                        <a:t>Full test set</a:t>
                      </a:r>
                    </a:p>
                  </a:txBody>
                  <a:tcPr marL="128016" marR="128016" marT="45720" marB="45720" anchor="ctr">
                    <a:solidFill>
                      <a:srgbClr val="141C1E"/>
                    </a:solidFill>
                  </a:tcPr>
                </a:tc>
              </a:tr>
              <a:tr h="429768">
                <a:tc>
                  <a:txBody>
                    <a:bodyPr wrap="square"/>
                    <a:lstStyle/>
                    <a:p>
                      <a:pPr algn="l"/>
                      <a:r>
                        <a:rPr sz="1450" b="0">
                          <a:solidFill>
                            <a:srgbClr val="141C1E"/>
                          </a:solidFill>
                          <a:latin typeface="Segoe UI"/>
                        </a:rPr>
                        <a:t>Scene-centre normality only</a:t>
                      </a:r>
                    </a:p>
                  </a:txBody>
                  <a:tcPr marL="128016" marR="128016" marT="45720" marB="45720" anchor="ctr">
                    <a:solidFill>
                      <a:srgbClr val="FFFFFF"/>
                    </a:solidFill>
                  </a:tcPr>
                </a:tc>
                <a:tc>
                  <a:txBody>
                    <a:bodyPr wrap="square"/>
                    <a:lstStyle/>
                    <a:p>
                      <a:pPr algn="r"/>
                      <a:r>
                        <a:rPr sz="1450" b="0">
                          <a:solidFill>
                            <a:srgbClr val="141C1E"/>
                          </a:solidFill>
                          <a:latin typeface="Consolas"/>
                        </a:rPr>
                        <a:t>0.585 ± 0.025</a:t>
                      </a:r>
                    </a:p>
                  </a:txBody>
                  <a:tcPr marL="128016" marR="128016" marT="45720" marB="45720" anchor="ctr">
                    <a:solidFill>
                      <a:srgbClr val="FFFFFF"/>
                    </a:solidFill>
                  </a:tcPr>
                </a:tc>
                <a:tc>
                  <a:txBody>
                    <a:bodyPr wrap="square"/>
                    <a:lstStyle/>
                    <a:p>
                      <a:pPr algn="r"/>
                      <a:r>
                        <a:rPr sz="1450" b="0">
                          <a:solidFill>
                            <a:srgbClr val="141C1E"/>
                          </a:solidFill>
                          <a:latin typeface="Consolas"/>
                        </a:rPr>
                        <a:t>0.585</a:t>
                      </a:r>
                    </a:p>
                  </a:txBody>
                  <a:tcPr marL="128016" marR="128016" marT="45720" marB="45720" anchor="ctr">
                    <a:solidFill>
                      <a:srgbClr val="FFFFFF"/>
                    </a:solidFill>
                  </a:tcPr>
                </a:tc>
              </a:tr>
              <a:tr h="429768">
                <a:tc>
                  <a:txBody>
                    <a:bodyPr wrap="square"/>
                    <a:lstStyle/>
                    <a:p>
                      <a:pPr algn="l"/>
                      <a:r>
                        <a:rPr sz="1450" b="0">
                          <a:solidFill>
                            <a:srgbClr val="141C1E"/>
                          </a:solidFill>
                          <a:latin typeface="Segoe UI"/>
                        </a:rPr>
                        <a:t>Semantic + scene-centre</a:t>
                      </a:r>
                    </a:p>
                  </a:txBody>
                  <a:tcPr marL="128016" marR="128016" marT="45720" marB="45720" anchor="ctr">
                    <a:solidFill>
                      <a:srgbClr val="F5F7F7"/>
                    </a:solidFill>
                  </a:tcPr>
                </a:tc>
                <a:tc>
                  <a:txBody>
                    <a:bodyPr wrap="square"/>
                    <a:lstStyle/>
                    <a:p>
                      <a:pPr algn="r"/>
                      <a:r>
                        <a:rPr sz="1450" b="0">
                          <a:solidFill>
                            <a:srgbClr val="141C1E"/>
                          </a:solidFill>
                          <a:latin typeface="Consolas"/>
                        </a:rPr>
                        <a:t>0.645 ± 0.034</a:t>
                      </a:r>
                    </a:p>
                  </a:txBody>
                  <a:tcPr marL="128016" marR="128016" marT="45720" marB="45720" anchor="ctr">
                    <a:solidFill>
                      <a:srgbClr val="F5F7F7"/>
                    </a:solidFill>
                  </a:tcPr>
                </a:tc>
                <a:tc>
                  <a:txBody>
                    <a:bodyPr wrap="square"/>
                    <a:lstStyle/>
                    <a:p>
                      <a:pPr algn="r"/>
                      <a:r>
                        <a:rPr sz="1450" b="0">
                          <a:solidFill>
                            <a:srgbClr val="141C1E"/>
                          </a:solidFill>
                          <a:latin typeface="Consolas"/>
                        </a:rPr>
                        <a:t>0.640</a:t>
                      </a:r>
                    </a:p>
                  </a:txBody>
                  <a:tcPr marL="128016" marR="128016" marT="45720" marB="45720" anchor="ctr">
                    <a:solidFill>
                      <a:srgbClr val="F5F7F7"/>
                    </a:solidFill>
                  </a:tcPr>
                </a:tc>
              </a:tr>
              <a:tr h="429768">
                <a:tc>
                  <a:txBody>
                    <a:bodyPr wrap="square"/>
                    <a:lstStyle/>
                    <a:p>
                      <a:pPr algn="l"/>
                      <a:r>
                        <a:rPr sz="1450" b="0">
                          <a:solidFill>
                            <a:srgbClr val="141C1E"/>
                          </a:solidFill>
                          <a:latin typeface="Segoe UI"/>
                        </a:rPr>
                        <a:t>Kinematic — motion only</a:t>
                      </a:r>
                    </a:p>
                  </a:txBody>
                  <a:tcPr marL="128016" marR="128016" marT="45720" marB="45720" anchor="ctr">
                    <a:solidFill>
                      <a:srgbClr val="FFFFFF"/>
                    </a:solidFill>
                  </a:tcPr>
                </a:tc>
                <a:tc>
                  <a:txBody>
                    <a:bodyPr wrap="square"/>
                    <a:lstStyle/>
                    <a:p>
                      <a:pPr algn="r"/>
                      <a:r>
                        <a:rPr sz="1450" b="0">
                          <a:solidFill>
                            <a:srgbClr val="141C1E"/>
                          </a:solidFill>
                          <a:latin typeface="Consolas"/>
                        </a:rPr>
                        <a:t>0.685 ± 0.015</a:t>
                      </a:r>
                    </a:p>
                  </a:txBody>
                  <a:tcPr marL="128016" marR="128016" marT="45720" marB="45720" anchor="ctr">
                    <a:solidFill>
                      <a:srgbClr val="FFFFFF"/>
                    </a:solidFill>
                  </a:tcPr>
                </a:tc>
                <a:tc>
                  <a:txBody>
                    <a:bodyPr wrap="square"/>
                    <a:lstStyle/>
                    <a:p>
                      <a:pPr algn="r"/>
                      <a:r>
                        <a:rPr sz="1450" b="0">
                          <a:solidFill>
                            <a:srgbClr val="141C1E"/>
                          </a:solidFill>
                          <a:latin typeface="Consolas"/>
                        </a:rPr>
                        <a:t>0.686</a:t>
                      </a:r>
                    </a:p>
                  </a:txBody>
                  <a:tcPr marL="128016" marR="128016" marT="45720" marB="45720" anchor="ctr">
                    <a:solidFill>
                      <a:srgbClr val="FFFFFF"/>
                    </a:solidFill>
                  </a:tcPr>
                </a:tc>
              </a:tr>
              <a:tr h="429768">
                <a:tc>
                  <a:txBody>
                    <a:bodyPr wrap="square"/>
                    <a:lstStyle/>
                    <a:p>
                      <a:pPr algn="l"/>
                      <a:r>
                        <a:rPr sz="1450" b="0">
                          <a:solidFill>
                            <a:srgbClr val="141C1E"/>
                          </a:solidFill>
                          <a:latin typeface="Segoe UI"/>
                        </a:rPr>
                        <a:t>Semantic + kinematic</a:t>
                      </a:r>
                    </a:p>
                  </a:txBody>
                  <a:tcPr marL="128016" marR="128016" marT="45720" marB="45720" anchor="ctr">
                    <a:solidFill>
                      <a:srgbClr val="F5F7F7"/>
                    </a:solidFill>
                  </a:tcPr>
                </a:tc>
                <a:tc>
                  <a:txBody>
                    <a:bodyPr wrap="square"/>
                    <a:lstStyle/>
                    <a:p>
                      <a:pPr algn="r"/>
                      <a:r>
                        <a:rPr sz="1450" b="0">
                          <a:solidFill>
                            <a:srgbClr val="141C1E"/>
                          </a:solidFill>
                          <a:latin typeface="Consolas"/>
                        </a:rPr>
                        <a:t>0.711 ± 0.034</a:t>
                      </a:r>
                    </a:p>
                  </a:txBody>
                  <a:tcPr marL="128016" marR="128016" marT="45720" marB="45720" anchor="ctr">
                    <a:solidFill>
                      <a:srgbClr val="F5F7F7"/>
                    </a:solidFill>
                  </a:tcPr>
                </a:tc>
                <a:tc>
                  <a:txBody>
                    <a:bodyPr wrap="square"/>
                    <a:lstStyle/>
                    <a:p>
                      <a:pPr algn="r"/>
                      <a:r>
                        <a:rPr sz="1450" b="0">
                          <a:solidFill>
                            <a:srgbClr val="141C1E"/>
                          </a:solidFill>
                          <a:latin typeface="Consolas"/>
                        </a:rPr>
                        <a:t>0.706</a:t>
                      </a:r>
                    </a:p>
                  </a:txBody>
                  <a:tcPr marL="128016" marR="128016" marT="45720" marB="45720" anchor="ctr">
                    <a:solidFill>
                      <a:srgbClr val="F5F7F7"/>
                    </a:solidFill>
                  </a:tcPr>
                </a:tc>
              </a:tr>
              <a:tr h="429768">
                <a:tc>
                  <a:txBody>
                    <a:bodyPr wrap="square"/>
                    <a:lstStyle/>
                    <a:p>
                      <a:pPr algn="l"/>
                      <a:r>
                        <a:rPr sz="1450" b="1">
                          <a:solidFill>
                            <a:srgbClr val="141C1E"/>
                          </a:solidFill>
                          <a:latin typeface="Segoe UI"/>
                        </a:rPr>
                        <a:t>Semantic — language only</a:t>
                      </a:r>
                    </a:p>
                  </a:txBody>
                  <a:tcPr marL="128016" marR="128016" marT="45720" marB="45720" anchor="ctr">
                    <a:solidFill>
                      <a:srgbClr val="DDEDEB"/>
                    </a:solidFill>
                  </a:tcPr>
                </a:tc>
                <a:tc>
                  <a:txBody>
                    <a:bodyPr wrap="square"/>
                    <a:lstStyle/>
                    <a:p>
                      <a:pPr algn="r"/>
                      <a:r>
                        <a:rPr sz="1450" b="1">
                          <a:solidFill>
                            <a:srgbClr val="141C1E"/>
                          </a:solidFill>
                          <a:latin typeface="Consolas"/>
                        </a:rPr>
                        <a:t>0.718 ± 0.036</a:t>
                      </a:r>
                    </a:p>
                  </a:txBody>
                  <a:tcPr marL="128016" marR="128016" marT="45720" marB="45720" anchor="ctr">
                    <a:solidFill>
                      <a:srgbClr val="DDEDEB"/>
                    </a:solidFill>
                  </a:tcPr>
                </a:tc>
                <a:tc>
                  <a:txBody>
                    <a:bodyPr wrap="square"/>
                    <a:lstStyle/>
                    <a:p>
                      <a:pPr algn="r"/>
                      <a:r>
                        <a:rPr sz="1450" b="1">
                          <a:solidFill>
                            <a:srgbClr val="141C1E"/>
                          </a:solidFill>
                          <a:latin typeface="Consolas"/>
                        </a:rPr>
                        <a:t>0.707</a:t>
                      </a:r>
                    </a:p>
                  </a:txBody>
                  <a:tcPr marL="128016" marR="128016" marT="45720" marB="45720" anchor="ctr">
                    <a:solidFill>
                      <a:srgbClr val="DDEDEB"/>
                    </a:solidFill>
                  </a:tcPr>
                </a:tc>
              </a:tr>
            </a:tbl>
          </a:graphicData>
        </a:graphic>
      </p:graphicFrame>
      <p:sp>
        <p:nvSpPr>
          <p:cNvPr id="8" name="TextBox 7"/>
          <p:cNvSpPr txBox="1"/>
          <p:nvPr/>
        </p:nvSpPr>
        <p:spPr>
          <a:xfrm>
            <a:off x="777240" y="4251960"/>
            <a:ext cx="10637215" cy="320040"/>
          </a:xfrm>
          <a:prstGeom prst="rect">
            <a:avLst/>
          </a:prstGeom>
          <a:noFill/>
        </p:spPr>
        <p:txBody>
          <a:bodyPr wrap="square" lIns="0" rIns="0" tIns="0" bIns="0">
            <a:spAutoFit/>
          </a:bodyPr>
          <a:lstStyle/>
          <a:p>
            <a:pPr algn="l">
              <a:lnSpc>
                <a:spcPct val="100000"/>
              </a:lnSpc>
            </a:pPr>
            <a:r>
              <a:rPr sz="1350" b="0" i="1">
                <a:solidFill>
                  <a:srgbClr val="617274"/>
                </a:solidFill>
                <a:latin typeface="Segoe UI"/>
              </a:rPr>
              <a:t>Held-out figures are means over five clip-level partitions, with the spread across them.</a:t>
            </a:r>
          </a:p>
        </p:txBody>
      </p:sp>
      <p:sp>
        <p:nvSpPr>
          <p:cNvPr id="9" name="Rectangle 8"/>
          <p:cNvSpPr/>
          <p:nvPr/>
        </p:nvSpPr>
        <p:spPr>
          <a:xfrm>
            <a:off x="777240" y="48463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4718304"/>
            <a:ext cx="10399471" cy="365760"/>
          </a:xfrm>
          <a:prstGeom prst="rect">
            <a:avLst/>
          </a:prstGeom>
          <a:noFill/>
        </p:spPr>
        <p:txBody>
          <a:bodyPr wrap="square" lIns="0" rIns="0" tIns="0" bIns="0">
            <a:spAutoFit/>
          </a:bodyPr>
          <a:lstStyle/>
          <a:p>
            <a:pPr>
              <a:lnSpc>
                <a:spcPct val="125000"/>
              </a:lnSpc>
            </a:pPr>
            <a:r>
              <a:rPr sz="1500" b="1">
                <a:solidFill>
                  <a:srgbClr val="141C1E"/>
                </a:solidFill>
                <a:latin typeface="Segoe UI"/>
              </a:rPr>
              <a:t>The language pathway alone is best.  </a:t>
            </a:r>
            <a:r>
              <a:rPr sz="1500">
                <a:solidFill>
                  <a:srgbClr val="3A4A4C"/>
                </a:solidFill>
                <a:latin typeface="Segoe UI"/>
              </a:rPr>
              <a:t>Adding a motion signal costs 0.001 on the full set; adding scene-centre normality costs 0.067.</a:t>
            </a:r>
          </a:p>
        </p:txBody>
      </p:sp>
      <p:sp>
        <p:nvSpPr>
          <p:cNvPr id="11" name="Rectangle 10"/>
          <p:cNvSpPr/>
          <p:nvPr/>
        </p:nvSpPr>
        <p:spPr>
          <a:xfrm>
            <a:off x="777240" y="57607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5632704"/>
            <a:ext cx="10399471" cy="365760"/>
          </a:xfrm>
          <a:prstGeom prst="rect">
            <a:avLst/>
          </a:prstGeom>
          <a:noFill/>
        </p:spPr>
        <p:txBody>
          <a:bodyPr wrap="square" lIns="0" rIns="0" tIns="0" bIns="0">
            <a:spAutoFit/>
          </a:bodyPr>
          <a:lstStyle/>
          <a:p>
            <a:pPr>
              <a:lnSpc>
                <a:spcPct val="125000"/>
              </a:lnSpc>
            </a:pPr>
            <a:r>
              <a:rPr sz="1500" b="1">
                <a:solidFill>
                  <a:srgbClr val="141C1E"/>
                </a:solidFill>
                <a:latin typeface="Segoe UI"/>
              </a:rPr>
              <a:t>This was not the expected answer.  </a:t>
            </a:r>
            <a:r>
              <a:rPr sz="1500">
                <a:solidFill>
                  <a:srgbClr val="3A4A4C"/>
                </a:solidFill>
                <a:latin typeface="Segoe UI"/>
              </a:rPr>
              <a:t>ShanghaiTech's anomalies look kinematic — a bicycle at cycling speed — so appearance and motion should be complementary. Measured here, they are not.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ABLATION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Window length, and what each component adds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19</a:t>
            </a:r>
          </a:p>
        </p:txBody>
      </p:sp>
      <p:pic>
        <p:nvPicPr>
          <p:cNvPr id="7" name="Picture 6" descr="fig_chart_ablation.png"/>
          <p:cNvPicPr>
            <a:picLocks noChangeAspect="1"/>
          </p:cNvPicPr>
          <p:nvPr/>
        </p:nvPicPr>
        <p:blipFill>
          <a:blip r:embed="rId2"/>
          <a:stretch>
            <a:fillRect/>
          </a:stretch>
        </p:blipFill>
        <p:spPr>
          <a:xfrm>
            <a:off x="2057857" y="1783080"/>
            <a:ext cx="8075980" cy="3218688"/>
          </a:xfrm>
          <a:prstGeom prst="rect">
            <a:avLst/>
          </a:prstGeom>
        </p:spPr>
      </p:pic>
      <p:sp>
        <p:nvSpPr>
          <p:cNvPr id="8" name="Rectangle 7"/>
          <p:cNvSpPr/>
          <p:nvPr/>
        </p:nvSpPr>
        <p:spPr>
          <a:xfrm>
            <a:off x="777240" y="5230368"/>
            <a:ext cx="10637215" cy="1298448"/>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Left: smoothing helps up to w=31 and then hurts, so the window has a real optimum rather than the metric rewarding more blur; the grey curve is the wrong pooling and never leaves chance. Right: the error bars overlap, so the honest claim is that nothing added beats language alone — not that language alone wins.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CROSS-DOMAIN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second domain — the replication test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20</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500" b="0" i="0">
                <a:solidFill>
                  <a:srgbClr val="3A4A4C"/>
                </a:solidFill>
                <a:latin typeface="Segoe UI"/>
              </a:rPr>
              <a:t>Identical frozen configuration applied to CUHK Avenue. Nothing retuned. Only the scene sentence changed.</a:t>
            </a:r>
          </a:p>
        </p:txBody>
      </p:sp>
      <p:graphicFrame>
        <p:nvGraphicFramePr>
          <p:cNvPr id="8" name="Table 7"/>
          <p:cNvGraphicFramePr>
            <a:graphicFrameLocks noGrp="1"/>
          </p:cNvGraphicFramePr>
          <p:nvPr/>
        </p:nvGraphicFramePr>
        <p:xfrm>
          <a:off x="777240" y="2286000"/>
          <a:ext cx="10634472" cy="1591056"/>
        </p:xfrm>
        <a:graphic>
          <a:graphicData uri="http://schemas.openxmlformats.org/drawingml/2006/table">
            <a:tbl>
              <a:tblPr firstRow="1">
                <a:tableStyleId>{5C22544A-7EE6-4342-B048-85BDC9FD1C3A}</a:tableStyleId>
              </a:tblPr>
              <a:tblGrid>
                <a:gridCol w="2953512"/>
                <a:gridCol w="1536192"/>
                <a:gridCol w="1536192"/>
                <a:gridCol w="1536192"/>
                <a:gridCol w="1536192"/>
                <a:gridCol w="1536192"/>
              </a:tblGrid>
              <a:tr h="530352">
                <a:tc>
                  <a:txBody>
                    <a:bodyPr wrap="square"/>
                    <a:lstStyle/>
                    <a:p>
                      <a:pPr algn="l"/>
                      <a:r>
                        <a:rPr sz="1500" b="1">
                          <a:solidFill>
                            <a:srgbClr val="FFFFFF"/>
                          </a:solidFill>
                          <a:latin typeface="Segoe UI"/>
                        </a:rPr>
                        <a:t>Dataset</a:t>
                      </a:r>
                    </a:p>
                  </a:txBody>
                  <a:tcPr marL="128016" marR="128016" marT="45720" marB="45720" anchor="ctr">
                    <a:solidFill>
                      <a:srgbClr val="141C1E"/>
                    </a:solidFill>
                  </a:tcPr>
                </a:tc>
                <a:tc>
                  <a:txBody>
                    <a:bodyPr wrap="square"/>
                    <a:lstStyle/>
                    <a:p>
                      <a:pPr algn="r"/>
                      <a:r>
                        <a:rPr sz="1500" b="1">
                          <a:solidFill>
                            <a:srgbClr val="FFFFFF"/>
                          </a:solidFill>
                          <a:latin typeface="Segoe UI"/>
                        </a:rPr>
                        <a:t>none</a:t>
                      </a:r>
                    </a:p>
                  </a:txBody>
                  <a:tcPr marL="128016" marR="128016" marT="45720" marB="45720" anchor="ctr">
                    <a:solidFill>
                      <a:srgbClr val="141C1E"/>
                    </a:solidFill>
                  </a:tcPr>
                </a:tc>
                <a:tc>
                  <a:txBody>
                    <a:bodyPr wrap="square"/>
                    <a:lstStyle/>
                    <a:p>
                      <a:pPr algn="r"/>
                      <a:r>
                        <a:rPr sz="1500" b="1">
                          <a:solidFill>
                            <a:srgbClr val="FFFFFF"/>
                          </a:solidFill>
                          <a:latin typeface="Segoe UI"/>
                        </a:rPr>
                        <a:t>generic</a:t>
                      </a:r>
                    </a:p>
                  </a:txBody>
                  <a:tcPr marL="128016" marR="128016" marT="45720" marB="45720" anchor="ctr">
                    <a:solidFill>
                      <a:srgbClr val="141C1E"/>
                    </a:solidFill>
                  </a:tcPr>
                </a:tc>
                <a:tc>
                  <a:txBody>
                    <a:bodyPr wrap="square"/>
                    <a:lstStyle/>
                    <a:p>
                      <a:pPr algn="r"/>
                      <a:r>
                        <a:rPr sz="1500" b="1">
                          <a:solidFill>
                            <a:srgbClr val="FFFFFF"/>
                          </a:solidFill>
                          <a:latin typeface="Segoe UI"/>
                        </a:rPr>
                        <a:t>matched</a:t>
                      </a:r>
                    </a:p>
                  </a:txBody>
                  <a:tcPr marL="128016" marR="128016" marT="45720" marB="45720" anchor="ctr">
                    <a:solidFill>
                      <a:srgbClr val="141C1E"/>
                    </a:solidFill>
                  </a:tcPr>
                </a:tc>
                <a:tc>
                  <a:txBody>
                    <a:bodyPr wrap="square"/>
                    <a:lstStyle/>
                    <a:p>
                      <a:pPr algn="r"/>
                      <a:r>
                        <a:rPr sz="1500" b="1">
                          <a:solidFill>
                            <a:srgbClr val="FFFFFF"/>
                          </a:solidFill>
                          <a:latin typeface="Segoe UI"/>
                        </a:rPr>
                        <a:t>mismatched</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30352">
                <a:tc>
                  <a:txBody>
                    <a:bodyPr wrap="square"/>
                    <a:lstStyle/>
                    <a:p>
                      <a:pPr algn="l"/>
                      <a:r>
                        <a:rPr sz="1500" b="0">
                          <a:solidFill>
                            <a:srgbClr val="141C1E"/>
                          </a:solidFill>
                          <a:latin typeface="Segoe UI"/>
                        </a:rPr>
                        <a:t>ShanghaiTech  (12 views)</a:t>
                      </a:r>
                    </a:p>
                  </a:txBody>
                  <a:tcPr marL="128016" marR="128016" marT="45720" marB="45720" anchor="ctr">
                    <a:solidFill>
                      <a:srgbClr val="FFFFFF"/>
                    </a:solidFill>
                  </a:tcPr>
                </a:tc>
                <a:tc>
                  <a:txBody>
                    <a:bodyPr wrap="square"/>
                    <a:lstStyle/>
                    <a:p>
                      <a:pPr algn="r"/>
                      <a:r>
                        <a:rPr sz="1500" b="0">
                          <a:solidFill>
                            <a:srgbClr val="141C1E"/>
                          </a:solidFill>
                          <a:latin typeface="Consolas"/>
                        </a:rPr>
                        <a:t>0.707</a:t>
                      </a:r>
                    </a:p>
                  </a:txBody>
                  <a:tcPr marL="128016" marR="128016" marT="45720" marB="45720" anchor="ctr">
                    <a:solidFill>
                      <a:srgbClr val="FFFFFF"/>
                    </a:solidFill>
                  </a:tcPr>
                </a:tc>
                <a:tc>
                  <a:txBody>
                    <a:bodyPr wrap="square"/>
                    <a:lstStyle/>
                    <a:p>
                      <a:pPr algn="r"/>
                      <a:r>
                        <a:rPr sz="1500" b="0">
                          <a:solidFill>
                            <a:srgbClr val="141C1E"/>
                          </a:solidFill>
                          <a:latin typeface="Consolas"/>
                        </a:rPr>
                        <a:t>0.691</a:t>
                      </a:r>
                    </a:p>
                  </a:txBody>
                  <a:tcPr marL="128016" marR="128016" marT="45720" marB="45720" anchor="ctr">
                    <a:solidFill>
                      <a:srgbClr val="FFFFFF"/>
                    </a:solidFill>
                  </a:tcPr>
                </a:tc>
                <a:tc>
                  <a:txBody>
                    <a:bodyPr wrap="square"/>
                    <a:lstStyle/>
                    <a:p>
                      <a:pPr algn="r"/>
                      <a:r>
                        <a:rPr sz="1500" b="0">
                          <a:solidFill>
                            <a:srgbClr val="141C1E"/>
                          </a:solidFill>
                          <a:latin typeface="Consolas"/>
                        </a:rPr>
                        <a:t>0.734</a:t>
                      </a:r>
                    </a:p>
                  </a:txBody>
                  <a:tcPr marL="128016" marR="128016" marT="45720" marB="45720" anchor="ctr">
                    <a:solidFill>
                      <a:srgbClr val="FFFFFF"/>
                    </a:solidFill>
                  </a:tcPr>
                </a:tc>
                <a:tc>
                  <a:txBody>
                    <a:bodyPr wrap="square"/>
                    <a:lstStyle/>
                    <a:p>
                      <a:pPr algn="r"/>
                      <a:r>
                        <a:rPr sz="1500" b="0">
                          <a:solidFill>
                            <a:srgbClr val="141C1E"/>
                          </a:solidFill>
                          <a:latin typeface="Consolas"/>
                        </a:rPr>
                        <a:t>0.628</a:t>
                      </a:r>
                    </a:p>
                  </a:txBody>
                  <a:tcPr marL="128016" marR="128016" marT="45720" marB="45720" anchor="ctr">
                    <a:solidFill>
                      <a:srgbClr val="FFFFFF"/>
                    </a:solidFill>
                  </a:tcPr>
                </a:tc>
                <a:tc>
                  <a:txBody>
                    <a:bodyPr wrap="square"/>
                    <a:lstStyle/>
                    <a:p>
                      <a:pPr algn="r"/>
                      <a:r>
                        <a:rPr sz="1500" b="0">
                          <a:solidFill>
                            <a:srgbClr val="141C1E"/>
                          </a:solidFill>
                          <a:latin typeface="Consolas"/>
                        </a:rPr>
                        <a:t>+0.105</a:t>
                      </a:r>
                    </a:p>
                  </a:txBody>
                  <a:tcPr marL="128016" marR="128016" marT="45720" marB="45720" anchor="ctr">
                    <a:solidFill>
                      <a:srgbClr val="FFFFFF"/>
                    </a:solidFill>
                  </a:tcPr>
                </a:tc>
              </a:tr>
              <a:tr h="530352">
                <a:tc>
                  <a:txBody>
                    <a:bodyPr wrap="square"/>
                    <a:lstStyle/>
                    <a:p>
                      <a:pPr algn="l"/>
                      <a:r>
                        <a:rPr sz="1500" b="1">
                          <a:solidFill>
                            <a:srgbClr val="141C1E"/>
                          </a:solidFill>
                          <a:latin typeface="Segoe UI"/>
                        </a:rPr>
                        <a:t>CUHK Avenue  (1 view)</a:t>
                      </a:r>
                    </a:p>
                  </a:txBody>
                  <a:tcPr marL="128016" marR="128016" marT="45720" marB="45720" anchor="ctr">
                    <a:solidFill>
                      <a:srgbClr val="DDEDEB"/>
                    </a:solidFill>
                  </a:tcPr>
                </a:tc>
                <a:tc>
                  <a:txBody>
                    <a:bodyPr wrap="square"/>
                    <a:lstStyle/>
                    <a:p>
                      <a:pPr algn="r"/>
                      <a:r>
                        <a:rPr sz="1500" b="1">
                          <a:solidFill>
                            <a:srgbClr val="141C1E"/>
                          </a:solidFill>
                          <a:latin typeface="Consolas"/>
                        </a:rPr>
                        <a:t>0.706</a:t>
                      </a:r>
                    </a:p>
                  </a:txBody>
                  <a:tcPr marL="128016" marR="128016" marT="45720" marB="45720" anchor="ctr">
                    <a:solidFill>
                      <a:srgbClr val="DDEDEB"/>
                    </a:solidFill>
                  </a:tcPr>
                </a:tc>
                <a:tc>
                  <a:txBody>
                    <a:bodyPr wrap="square"/>
                    <a:lstStyle/>
                    <a:p>
                      <a:pPr algn="r"/>
                      <a:r>
                        <a:rPr sz="1500" b="1">
                          <a:solidFill>
                            <a:srgbClr val="141C1E"/>
                          </a:solidFill>
                          <a:latin typeface="Consolas"/>
                        </a:rPr>
                        <a:t>0.729</a:t>
                      </a:r>
                    </a:p>
                  </a:txBody>
                  <a:tcPr marL="128016" marR="128016" marT="45720" marB="45720" anchor="ctr">
                    <a:solidFill>
                      <a:srgbClr val="DDEDEB"/>
                    </a:solidFill>
                  </a:tcPr>
                </a:tc>
                <a:tc>
                  <a:txBody>
                    <a:bodyPr wrap="square"/>
                    <a:lstStyle/>
                    <a:p>
                      <a:pPr algn="r"/>
                      <a:r>
                        <a:rPr sz="1500" b="1">
                          <a:solidFill>
                            <a:srgbClr val="141C1E"/>
                          </a:solidFill>
                          <a:latin typeface="Consolas"/>
                        </a:rPr>
                        <a:t>0.677</a:t>
                      </a:r>
                    </a:p>
                  </a:txBody>
                  <a:tcPr marL="128016" marR="128016" marT="45720" marB="45720" anchor="ctr">
                    <a:solidFill>
                      <a:srgbClr val="DDEDEB"/>
                    </a:solidFill>
                  </a:tcPr>
                </a:tc>
                <a:tc>
                  <a:txBody>
                    <a:bodyPr wrap="square"/>
                    <a:lstStyle/>
                    <a:p>
                      <a:pPr algn="r"/>
                      <a:r>
                        <a:rPr sz="1500" b="1">
                          <a:solidFill>
                            <a:srgbClr val="141C1E"/>
                          </a:solidFill>
                          <a:latin typeface="Consolas"/>
                        </a:rPr>
                        <a:t>0.657</a:t>
                      </a:r>
                    </a:p>
                  </a:txBody>
                  <a:tcPr marL="128016" marR="128016" marT="45720" marB="45720" anchor="ctr">
                    <a:solidFill>
                      <a:srgbClr val="DDEDEB"/>
                    </a:solidFill>
                  </a:tcPr>
                </a:tc>
                <a:tc>
                  <a:txBody>
                    <a:bodyPr wrap="square"/>
                    <a:lstStyle/>
                    <a:p>
                      <a:pPr algn="r"/>
                      <a:r>
                        <a:rPr sz="1500" b="1">
                          <a:solidFill>
                            <a:srgbClr val="141C1E"/>
                          </a:solidFill>
                          <a:latin typeface="Consolas"/>
                        </a:rPr>
                        <a:t>+0.020</a:t>
                      </a:r>
                    </a:p>
                  </a:txBody>
                  <a:tcPr marL="128016" marR="128016" marT="45720" marB="45720" anchor="ctr">
                    <a:solidFill>
                      <a:srgbClr val="DDEDEB"/>
                    </a:solidFill>
                  </a:tcPr>
                </a:tc>
              </a:tr>
            </a:tbl>
          </a:graphicData>
        </a:graphic>
      </p:graphicFrame>
      <p:sp>
        <p:nvSpPr>
          <p:cNvPr id="9" name="Rectangle 8"/>
          <p:cNvSpPr/>
          <p:nvPr/>
        </p:nvSpPr>
        <p:spPr>
          <a:xfrm>
            <a:off x="777240" y="3977639"/>
            <a:ext cx="5074920"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160520"/>
            <a:ext cx="448056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DETECTION TRANSFERS</a:t>
            </a:r>
          </a:p>
        </p:txBody>
      </p:sp>
      <p:sp>
        <p:nvSpPr>
          <p:cNvPr id="11" name="TextBox 10"/>
          <p:cNvSpPr txBox="1"/>
          <p:nvPr/>
        </p:nvSpPr>
        <p:spPr>
          <a:xfrm>
            <a:off x="1097280" y="4480560"/>
            <a:ext cx="4480560" cy="7315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0.706 vs 0.707 with no descriptor.
The detector works equally well.</a:t>
            </a:r>
          </a:p>
        </p:txBody>
      </p:sp>
      <p:sp>
        <p:nvSpPr>
          <p:cNvPr id="12" name="Rectangle 11"/>
          <p:cNvSpPr/>
          <p:nvPr/>
        </p:nvSpPr>
        <p:spPr>
          <a:xfrm>
            <a:off x="6217920" y="3977639"/>
            <a:ext cx="5074920" cy="137160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4160520"/>
            <a:ext cx="4480560" cy="274320"/>
          </a:xfrm>
          <a:prstGeom prst="rect">
            <a:avLst/>
          </a:prstGeom>
          <a:noFill/>
        </p:spPr>
        <p:txBody>
          <a:bodyPr wrap="square" lIns="0" rIns="0" tIns="0" bIns="0">
            <a:spAutoFit/>
          </a:bodyPr>
          <a:lstStyle/>
          <a:p>
            <a:pPr algn="l">
              <a:lnSpc>
                <a:spcPct val="100000"/>
              </a:lnSpc>
            </a:pPr>
            <a:r>
              <a:rPr sz="1150" b="1" i="0">
                <a:solidFill>
                  <a:srgbClr val="8C3A31"/>
                </a:solidFill>
                <a:latin typeface="Segoe UI"/>
              </a:rPr>
              <a:t>ADAPTATION DOES NOT</a:t>
            </a:r>
          </a:p>
        </p:txBody>
      </p:sp>
      <p:sp>
        <p:nvSpPr>
          <p:cNvPr id="14" name="TextBox 13"/>
          <p:cNvSpPr txBox="1"/>
          <p:nvPr/>
        </p:nvSpPr>
        <p:spPr>
          <a:xfrm>
            <a:off x="6537959" y="4480560"/>
            <a:ext cx="4480560" cy="7315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Gap 5× smaller, and the correct
description scores BELOW none.</a:t>
            </a:r>
          </a:p>
        </p:txBody>
      </p:sp>
      <p:sp>
        <p:nvSpPr>
          <p:cNvPr id="15" name="Rectangle 14"/>
          <p:cNvSpPr/>
          <p:nvPr/>
        </p:nvSpPr>
        <p:spPr>
          <a:xfrm>
            <a:off x="777240" y="5486400"/>
            <a:ext cx="10637215" cy="105156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486400"/>
            <a:ext cx="45720" cy="1051560"/>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5632704"/>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OUR EXPLANATION — STATED AS A CONJECTURE</a:t>
            </a:r>
          </a:p>
        </p:txBody>
      </p:sp>
      <p:sp>
        <p:nvSpPr>
          <p:cNvPr id="18" name="TextBox 17"/>
          <p:cNvSpPr txBox="1"/>
          <p:nvPr/>
        </p:nvSpPr>
        <p:spPr>
          <a:xfrm>
            <a:off x="1033271" y="5925312"/>
            <a:ext cx="10134295" cy="484631"/>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ShanghaiTech has 12 camera views; Avenue has one, so a scene description has nothing to tell apart. Tested next inside single ShanghaiTech views, and later on UCF-Crime's ~290 scenes.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THE CONTROL</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We tested that explanation, and it held</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21</a:t>
            </a:r>
          </a:p>
        </p:txBody>
      </p:sp>
      <p:sp>
        <p:nvSpPr>
          <p:cNvPr id="7" name="TextBox 6"/>
          <p:cNvSpPr txBox="1"/>
          <p:nvPr/>
        </p:nvSpPr>
        <p:spPr>
          <a:xfrm>
            <a:off x="777240" y="1737360"/>
            <a:ext cx="10637215" cy="640080"/>
          </a:xfrm>
          <a:prstGeom prst="rect">
            <a:avLst/>
          </a:prstGeom>
          <a:noFill/>
        </p:spPr>
        <p:txBody>
          <a:bodyPr wrap="square" lIns="0" rIns="0" tIns="0" bIns="0">
            <a:spAutoFit/>
          </a:bodyPr>
          <a:lstStyle/>
          <a:p>
            <a:pPr algn="l">
              <a:lnSpc>
                <a:spcPct val="130000"/>
              </a:lnSpc>
            </a:pPr>
            <a:r>
              <a:rPr sz="1550" b="0" i="0">
                <a:solidFill>
                  <a:srgbClr val="3A4A4C"/>
                </a:solidFill>
                <a:latin typeface="Segoe UI"/>
              </a:rPr>
              <a:t>ShanghaiTech is twelve single-view datasets stacked together. If the descriptor works by telling the model WHICH scene it is in, then confining the sweep to one camera view should reproduce Avenue's flat result.</a:t>
            </a:r>
          </a:p>
        </p:txBody>
      </p:sp>
      <p:graphicFrame>
        <p:nvGraphicFramePr>
          <p:cNvPr id="8" name="Table 7"/>
          <p:cNvGraphicFramePr>
            <a:graphicFrameLocks noGrp="1"/>
          </p:cNvGraphicFramePr>
          <p:nvPr/>
        </p:nvGraphicFramePr>
        <p:xfrm>
          <a:off x="777240" y="2468880"/>
          <a:ext cx="10634472" cy="2148840"/>
        </p:xfrm>
        <a:graphic>
          <a:graphicData uri="http://schemas.openxmlformats.org/drawingml/2006/table">
            <a:tbl>
              <a:tblPr firstRow="1">
                <a:tableStyleId>{5C22544A-7EE6-4342-B048-85BDC9FD1C3A}</a:tableStyleId>
              </a:tblPr>
              <a:tblGrid>
                <a:gridCol w="5120640"/>
                <a:gridCol w="1737360"/>
                <a:gridCol w="2103120"/>
                <a:gridCol w="1673352"/>
              </a:tblGrid>
              <a:tr h="429768">
                <a:tc>
                  <a:txBody>
                    <a:bodyPr wrap="square"/>
                    <a:lstStyle/>
                    <a:p>
                      <a:pPr algn="l"/>
                      <a:r>
                        <a:rPr sz="1400" b="1">
                          <a:solidFill>
                            <a:srgbClr val="FFFFFF"/>
                          </a:solidFill>
                          <a:latin typeface="Segoe UI"/>
                        </a:rPr>
                        <a:t>Evaluation</a:t>
                      </a:r>
                    </a:p>
                  </a:txBody>
                  <a:tcPr marL="128016" marR="128016" marT="45720" marB="45720" anchor="ctr">
                    <a:solidFill>
                      <a:srgbClr val="141C1E"/>
                    </a:solidFill>
                  </a:tcPr>
                </a:tc>
                <a:tc>
                  <a:txBody>
                    <a:bodyPr wrap="square"/>
                    <a:lstStyle/>
                    <a:p>
                      <a:pPr algn="l"/>
                      <a:r>
                        <a:rPr sz="1400" b="1">
                          <a:solidFill>
                            <a:srgbClr val="FFFFFF"/>
                          </a:solidFill>
                          <a:latin typeface="Segoe UI"/>
                        </a:rPr>
                        <a:t>Scenes</a:t>
                      </a:r>
                    </a:p>
                  </a:txBody>
                  <a:tcPr marL="128016" marR="128016" marT="45720" marB="45720" anchor="ctr">
                    <a:solidFill>
                      <a:srgbClr val="141C1E"/>
                    </a:solidFill>
                  </a:tcPr>
                </a:tc>
                <a:tc>
                  <a:txBody>
                    <a:bodyPr wrap="square"/>
                    <a:lstStyle/>
                    <a:p>
                      <a:pPr algn="l"/>
                      <a:r>
                        <a:rPr sz="1400" b="1">
                          <a:solidFill>
                            <a:srgbClr val="FFFFFF"/>
                          </a:solidFill>
                          <a:latin typeface="Segoe UI"/>
                        </a:rPr>
                        <a:t>Clips</a:t>
                      </a:r>
                    </a:p>
                  </a:txBody>
                  <a:tcPr marL="128016" marR="128016" marT="45720" marB="45720" anchor="ctr">
                    <a:solidFill>
                      <a:srgbClr val="141C1E"/>
                    </a:solidFill>
                  </a:tcPr>
                </a:tc>
                <a:tc>
                  <a:txBody>
                    <a:bodyPr wrap="square"/>
                    <a:lstStyle/>
                    <a:p>
                      <a:pPr algn="r"/>
                      <a:r>
                        <a:rPr sz="1400" b="1">
                          <a:solidFill>
                            <a:srgbClr val="FFFFFF"/>
                          </a:solidFill>
                          <a:latin typeface="Segoe UI"/>
                        </a:rPr>
                        <a:t>Gap</a:t>
                      </a:r>
                    </a:p>
                  </a:txBody>
                  <a:tcPr marL="128016" marR="128016" marT="45720" marB="45720" anchor="ctr">
                    <a:solidFill>
                      <a:srgbClr val="141C1E"/>
                    </a:solidFill>
                  </a:tcPr>
                </a:tc>
              </a:tr>
              <a:tr h="429768">
                <a:tc>
                  <a:txBody>
                    <a:bodyPr wrap="square"/>
                    <a:lstStyle/>
                    <a:p>
                      <a:pPr algn="l"/>
                      <a:r>
                        <a:rPr sz="1400" b="0">
                          <a:solidFill>
                            <a:srgbClr val="141C1E"/>
                          </a:solidFill>
                          <a:latin typeface="Segoe UI"/>
                        </a:rPr>
                        <a:t>CUHK Avenue (single view)</a:t>
                      </a:r>
                    </a:p>
                  </a:txBody>
                  <a:tcPr marL="128016" marR="128016" marT="45720" marB="45720" anchor="ctr">
                    <a:solidFill>
                      <a:srgbClr val="FFFFFF"/>
                    </a:solidFill>
                  </a:tcPr>
                </a:tc>
                <a:tc>
                  <a:txBody>
                    <a:bodyPr wrap="square"/>
                    <a:lstStyle/>
                    <a:p>
                      <a:pPr algn="l"/>
                      <a:r>
                        <a:rPr sz="1400" b="0">
                          <a:solidFill>
                            <a:srgbClr val="141C1E"/>
                          </a:solidFill>
                          <a:latin typeface="Segoe UI"/>
                        </a:rPr>
                        <a:t>1</a:t>
                      </a:r>
                    </a:p>
                  </a:txBody>
                  <a:tcPr marL="128016" marR="128016" marT="45720" marB="45720" anchor="ctr">
                    <a:solidFill>
                      <a:srgbClr val="FFFFFF"/>
                    </a:solidFill>
                  </a:tcPr>
                </a:tc>
                <a:tc>
                  <a:txBody>
                    <a:bodyPr wrap="square"/>
                    <a:lstStyle/>
                    <a:p>
                      <a:pPr algn="l"/>
                      <a:r>
                        <a:rPr sz="1400" b="0">
                          <a:solidFill>
                            <a:srgbClr val="141C1E"/>
                          </a:solidFill>
                          <a:latin typeface="Segoe UI"/>
                        </a:rPr>
                        <a:t>21</a:t>
                      </a:r>
                    </a:p>
                  </a:txBody>
                  <a:tcPr marL="128016" marR="128016" marT="45720" marB="45720" anchor="ctr">
                    <a:solidFill>
                      <a:srgbClr val="FFFFFF"/>
                    </a:solidFill>
                  </a:tcPr>
                </a:tc>
                <a:tc>
                  <a:txBody>
                    <a:bodyPr wrap="square"/>
                    <a:lstStyle/>
                    <a:p>
                      <a:pPr algn="r"/>
                      <a:r>
                        <a:rPr sz="1400" b="0">
                          <a:solidFill>
                            <a:srgbClr val="141C1E"/>
                          </a:solidFill>
                          <a:latin typeface="Consolas"/>
                        </a:rPr>
                        <a:t>+0.020</a:t>
                      </a:r>
                    </a:p>
                  </a:txBody>
                  <a:tcPr marL="128016" marR="128016" marT="45720" marB="45720" anchor="ctr">
                    <a:solidFill>
                      <a:srgbClr val="FFFFFF"/>
                    </a:solidFill>
                  </a:tcPr>
                </a:tc>
              </a:tr>
              <a:tr h="429768">
                <a:tc>
                  <a:txBody>
                    <a:bodyPr wrap="square"/>
                    <a:lstStyle/>
                    <a:p>
                      <a:pPr algn="l"/>
                      <a:r>
                        <a:rPr sz="1400" b="1">
                          <a:solidFill>
                            <a:srgbClr val="141C1E"/>
                          </a:solidFill>
                          <a:latin typeface="Segoe UI"/>
                        </a:rPr>
                        <a:t>ShanghaiTech, within a single view (mean)</a:t>
                      </a:r>
                    </a:p>
                  </a:txBody>
                  <a:tcPr marL="128016" marR="128016" marT="45720" marB="45720" anchor="ctr">
                    <a:solidFill>
                      <a:srgbClr val="DDEDEB"/>
                    </a:solidFill>
                  </a:tcPr>
                </a:tc>
                <a:tc>
                  <a:txBody>
                    <a:bodyPr wrap="square"/>
                    <a:lstStyle/>
                    <a:p>
                      <a:pPr algn="l"/>
                      <a:r>
                        <a:rPr sz="1400" b="1">
                          <a:solidFill>
                            <a:srgbClr val="141C1E"/>
                          </a:solidFill>
                          <a:latin typeface="Segoe UI"/>
                        </a:rPr>
                        <a:t>1 each</a:t>
                      </a:r>
                    </a:p>
                  </a:txBody>
                  <a:tcPr marL="128016" marR="128016" marT="45720" marB="45720" anchor="ctr">
                    <a:solidFill>
                      <a:srgbClr val="DDEDEB"/>
                    </a:solidFill>
                  </a:tcPr>
                </a:tc>
                <a:tc>
                  <a:txBody>
                    <a:bodyPr wrap="square"/>
                    <a:lstStyle/>
                    <a:p>
                      <a:pPr algn="l"/>
                      <a:r>
                        <a:rPr sz="1400" b="1">
                          <a:solidFill>
                            <a:srgbClr val="141C1E"/>
                          </a:solidFill>
                          <a:latin typeface="Segoe UI"/>
                        </a:rPr>
                        <a:t>5–34 each</a:t>
                      </a:r>
                    </a:p>
                  </a:txBody>
                  <a:tcPr marL="128016" marR="128016" marT="45720" marB="45720" anchor="ctr">
                    <a:solidFill>
                      <a:srgbClr val="DDEDEB"/>
                    </a:solidFill>
                  </a:tcPr>
                </a:tc>
                <a:tc>
                  <a:txBody>
                    <a:bodyPr wrap="square"/>
                    <a:lstStyle/>
                    <a:p>
                      <a:pPr algn="r"/>
                      <a:r>
                        <a:rPr sz="1400" b="1">
                          <a:solidFill>
                            <a:srgbClr val="141C1E"/>
                          </a:solidFill>
                          <a:latin typeface="Consolas"/>
                        </a:rPr>
                        <a:t>+0.033</a:t>
                      </a:r>
                    </a:p>
                  </a:txBody>
                  <a:tcPr marL="128016" marR="128016" marT="45720" marB="45720" anchor="ctr">
                    <a:solidFill>
                      <a:srgbClr val="DDEDEB"/>
                    </a:solidFill>
                  </a:tcPr>
                </a:tc>
              </a:tr>
              <a:tr h="429768">
                <a:tc>
                  <a:txBody>
                    <a:bodyPr wrap="square"/>
                    <a:lstStyle/>
                    <a:p>
                      <a:pPr algn="l"/>
                      <a:r>
                        <a:rPr sz="1400" b="0">
                          <a:solidFill>
                            <a:srgbClr val="141C1E"/>
                          </a:solidFill>
                          <a:latin typeface="Segoe UI"/>
                        </a:rPr>
                        <a:t>ShanghaiTech, pooled across views</a:t>
                      </a:r>
                    </a:p>
                  </a:txBody>
                  <a:tcPr marL="128016" marR="128016" marT="45720" marB="45720" anchor="ctr">
                    <a:solidFill>
                      <a:srgbClr val="FFFFFF"/>
                    </a:solidFill>
                  </a:tcPr>
                </a:tc>
                <a:tc>
                  <a:txBody>
                    <a:bodyPr wrap="square"/>
                    <a:lstStyle/>
                    <a:p>
                      <a:pPr algn="l"/>
                      <a:r>
                        <a:rPr sz="1400" b="0">
                          <a:solidFill>
                            <a:srgbClr val="141C1E"/>
                          </a:solidFill>
                          <a:latin typeface="Segoe UI"/>
                        </a:rPr>
                        <a:t>12</a:t>
                      </a:r>
                    </a:p>
                  </a:txBody>
                  <a:tcPr marL="128016" marR="128016" marT="45720" marB="45720" anchor="ctr">
                    <a:solidFill>
                      <a:srgbClr val="FFFFFF"/>
                    </a:solidFill>
                  </a:tcPr>
                </a:tc>
                <a:tc>
                  <a:txBody>
                    <a:bodyPr wrap="square"/>
                    <a:lstStyle/>
                    <a:p>
                      <a:pPr algn="l"/>
                      <a:r>
                        <a:rPr sz="1400" b="0">
                          <a:solidFill>
                            <a:srgbClr val="141C1E"/>
                          </a:solidFill>
                          <a:latin typeface="Segoe UI"/>
                        </a:rPr>
                        <a:t>107</a:t>
                      </a:r>
                    </a:p>
                  </a:txBody>
                  <a:tcPr marL="128016" marR="128016" marT="45720" marB="45720" anchor="ctr">
                    <a:solidFill>
                      <a:srgbClr val="FFFFFF"/>
                    </a:solidFill>
                  </a:tcPr>
                </a:tc>
                <a:tc>
                  <a:txBody>
                    <a:bodyPr wrap="square"/>
                    <a:lstStyle/>
                    <a:p>
                      <a:pPr algn="r"/>
                      <a:r>
                        <a:rPr sz="1400" b="0">
                          <a:solidFill>
                            <a:srgbClr val="141C1E"/>
                          </a:solidFill>
                          <a:latin typeface="Consolas"/>
                        </a:rPr>
                        <a:t>+0.105</a:t>
                      </a:r>
                    </a:p>
                  </a:txBody>
                  <a:tcPr marL="128016" marR="128016" marT="45720" marB="45720" anchor="ctr">
                    <a:solidFill>
                      <a:srgbClr val="FFFFFF"/>
                    </a:solidFill>
                  </a:tcPr>
                </a:tc>
              </a:tr>
              <a:tr h="429768">
                <a:tc>
                  <a:txBody>
                    <a:bodyPr wrap="square"/>
                    <a:lstStyle/>
                    <a:p>
                      <a:pPr algn="l"/>
                      <a:r>
                        <a:rPr sz="1400" b="0">
                          <a:solidFill>
                            <a:srgbClr val="141C1E"/>
                          </a:solidFill>
                          <a:latin typeface="Segoe UI"/>
                        </a:rPr>
                        <a:t>UCF-Crime, own sentence per video (raw, w=5)</a:t>
                      </a:r>
                    </a:p>
                  </a:txBody>
                  <a:tcPr marL="128016" marR="128016" marT="45720" marB="45720" anchor="ctr">
                    <a:solidFill>
                      <a:srgbClr val="F5F7F7"/>
                    </a:solidFill>
                  </a:tcPr>
                </a:tc>
                <a:tc>
                  <a:txBody>
                    <a:bodyPr wrap="square"/>
                    <a:lstStyle/>
                    <a:p>
                      <a:pPr algn="l"/>
                      <a:r>
                        <a:rPr sz="1400" b="0">
                          <a:solidFill>
                            <a:srgbClr val="141C1E"/>
                          </a:solidFill>
                          <a:latin typeface="Segoe UI"/>
                        </a:rPr>
                        <a:t>~290</a:t>
                      </a:r>
                    </a:p>
                  </a:txBody>
                  <a:tcPr marL="128016" marR="128016" marT="45720" marB="45720" anchor="ctr">
                    <a:solidFill>
                      <a:srgbClr val="F5F7F7"/>
                    </a:solidFill>
                  </a:tcPr>
                </a:tc>
                <a:tc>
                  <a:txBody>
                    <a:bodyPr wrap="square"/>
                    <a:lstStyle/>
                    <a:p>
                      <a:pPr algn="l"/>
                      <a:r>
                        <a:rPr sz="1400" b="0">
                          <a:solidFill>
                            <a:srgbClr val="141C1E"/>
                          </a:solidFill>
                          <a:latin typeface="Segoe UI"/>
                        </a:rPr>
                        <a:t>290</a:t>
                      </a:r>
                    </a:p>
                  </a:txBody>
                  <a:tcPr marL="128016" marR="128016" marT="45720" marB="45720" anchor="ctr">
                    <a:solidFill>
                      <a:srgbClr val="F5F7F7"/>
                    </a:solidFill>
                  </a:tcPr>
                </a:tc>
                <a:tc>
                  <a:txBody>
                    <a:bodyPr wrap="square"/>
                    <a:lstStyle/>
                    <a:p>
                      <a:pPr algn="r"/>
                      <a:r>
                        <a:rPr sz="1400" b="0">
                          <a:solidFill>
                            <a:srgbClr val="141C1E"/>
                          </a:solidFill>
                          <a:latin typeface="Consolas"/>
                        </a:rPr>
                        <a:t>+0.096</a:t>
                      </a:r>
                    </a:p>
                  </a:txBody>
                  <a:tcPr marL="128016" marR="128016" marT="45720" marB="45720" anchor="ctr">
                    <a:solidFill>
                      <a:srgbClr val="F5F7F7"/>
                    </a:solidFill>
                  </a:tcPr>
                </a:tc>
              </a:tr>
            </a:tbl>
          </a:graphicData>
        </a:graphic>
      </p:graphicFrame>
      <p:sp>
        <p:nvSpPr>
          <p:cNvPr id="9" name="Rectangle 8"/>
          <p:cNvSpPr/>
          <p:nvPr/>
        </p:nvSpPr>
        <p:spPr>
          <a:xfrm>
            <a:off x="777240" y="4800600"/>
            <a:ext cx="10637215" cy="96012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800600"/>
            <a:ext cx="45720" cy="96012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9469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PREDICTION COULD HAVE FAILED</a:t>
            </a:r>
          </a:p>
        </p:txBody>
      </p:sp>
      <p:sp>
        <p:nvSpPr>
          <p:cNvPr id="12" name="TextBox 11"/>
          <p:cNvSpPr txBox="1"/>
          <p:nvPr/>
        </p:nvSpPr>
        <p:spPr>
          <a:xfrm>
            <a:off x="1033271" y="5239512"/>
            <a:ext cx="10134295" cy="393192"/>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A within-view gap near +0.105 would have refuted it; it came back at a third. But ~290 scenes gave no bigger gap than 12: it needs scenes, it does not keep growing.</a:t>
            </a:r>
          </a:p>
        </p:txBody>
      </p:sp>
      <p:sp>
        <p:nvSpPr>
          <p:cNvPr id="13" name="TextBox 12"/>
          <p:cNvSpPr txBox="1"/>
          <p:nvPr/>
        </p:nvSpPr>
        <p:spPr>
          <a:xfrm>
            <a:off x="777240" y="5897880"/>
            <a:ext cx="10637215" cy="640080"/>
          </a:xfrm>
          <a:prstGeom prst="rect">
            <a:avLst/>
          </a:prstGeom>
          <a:noFill/>
        </p:spPr>
        <p:txBody>
          <a:bodyPr wrap="square" lIns="0" rIns="0" tIns="0" bIns="0">
            <a:spAutoFit/>
          </a:bodyPr>
          <a:lstStyle/>
          <a:p>
            <a:pPr algn="l">
              <a:lnSpc>
                <a:spcPct val="130000"/>
              </a:lnSpc>
            </a:pPr>
            <a:r>
              <a:rPr sz="1550" b="1" i="0">
                <a:solidFill>
                  <a:srgbClr val="141C1E"/>
                </a:solidFill>
                <a:latin typeface="Segoe UI"/>
              </a:rPr>
              <a:t>What the sentence mainly supplies is WHICH scene you are in — not what counts as normal within it. Three of nine views show a negative gap, so inside one scene the effect is not reliable.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THE CONTROL</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Every camera view, one at a time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22</a:t>
            </a:r>
          </a:p>
        </p:txBody>
      </p:sp>
      <p:pic>
        <p:nvPicPr>
          <p:cNvPr id="7" name="Picture 6" descr="fig_chart_within_view.png"/>
          <p:cNvPicPr>
            <a:picLocks noChangeAspect="1"/>
          </p:cNvPicPr>
          <p:nvPr/>
        </p:nvPicPr>
        <p:blipFill>
          <a:blip r:embed="rId2"/>
          <a:stretch>
            <a:fillRect/>
          </a:stretch>
        </p:blipFill>
        <p:spPr>
          <a:xfrm>
            <a:off x="1824896" y="1783080"/>
            <a:ext cx="8541902" cy="3218688"/>
          </a:xfrm>
          <a:prstGeom prst="rect">
            <a:avLst/>
          </a:prstGeom>
        </p:spPr>
      </p:pic>
      <p:sp>
        <p:nvSpPr>
          <p:cNvPr id="8" name="Rectangle 7"/>
          <p:cNvSpPr/>
          <p:nvPr/>
        </p:nvSpPr>
        <p:spPr>
          <a:xfrm>
            <a:off x="777240" y="5230368"/>
            <a:ext cx="10637215" cy="1298448"/>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The orange line is the pooled result; each bar is one view on its own. Most fall well short of it and three are negative — but views 03 and 07 nearly reach it, so this is a shift in the average, not a clean collapse. The bars rest on between five and thirty-four clips each.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PHASE 3  ·  RESULT 6</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sentence per camera — written by the system</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23</a:t>
            </a:r>
          </a:p>
        </p:txBody>
      </p:sp>
      <p:pic>
        <p:nvPicPr>
          <p:cNvPr id="7" name="Picture 6" descr="fig_chart_per_camera.png"/>
          <p:cNvPicPr>
            <a:picLocks noChangeAspect="1"/>
          </p:cNvPicPr>
          <p:nvPr/>
        </p:nvPicPr>
        <p:blipFill>
          <a:blip r:embed="rId2"/>
          <a:stretch>
            <a:fillRect/>
          </a:stretch>
        </p:blipFill>
        <p:spPr>
          <a:xfrm>
            <a:off x="2057857" y="1783080"/>
            <a:ext cx="8075980"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Each camera gets its own sentence instead of one for all twelve. Written by hand: 0.749. Written by LLaVA from the camera's first three frames, with no human and no labels: 0.751. Give each camera ANOTHER camera's sentence and it drops — even the best of 11 swaps (0.737) loses. The sentence works by matching its camera.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PHASE 3  ·  RESULT 7</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UCF-Crime: predictions written down first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24</a:t>
            </a:r>
          </a:p>
        </p:txBody>
      </p:sp>
      <p:sp>
        <p:nvSpPr>
          <p:cNvPr id="7" name="TextBox 6"/>
          <p:cNvSpPr txBox="1"/>
          <p:nvPr/>
        </p:nvSpPr>
        <p:spPr>
          <a:xfrm>
            <a:off x="777240" y="1737360"/>
            <a:ext cx="10637215" cy="658368"/>
          </a:xfrm>
          <a:prstGeom prst="rect">
            <a:avLst/>
          </a:prstGeom>
          <a:noFill/>
        </p:spPr>
        <p:txBody>
          <a:bodyPr wrap="square" lIns="0" rIns="0" tIns="0" bIns="0">
            <a:spAutoFit/>
          </a:bodyPr>
          <a:lstStyle/>
          <a:p>
            <a:pPr algn="l">
              <a:lnSpc>
                <a:spcPct val="130000"/>
              </a:lnSpc>
            </a:pPr>
            <a:r>
              <a:rPr sz="1500" b="0" i="0">
                <a:solidFill>
                  <a:srgbClr val="3A4A4C"/>
                </a:solidFill>
                <a:latin typeface="Segoe UI"/>
              </a:rPr>
              <a:t>290 real CCTV videos [27] from ~290 different places, 140 with a crime. Four predictions were committed to git before any score was computed.</a:t>
            </a:r>
          </a:p>
        </p:txBody>
      </p:sp>
      <p:sp>
        <p:nvSpPr>
          <p:cNvPr id="8" name="TextBox 7"/>
          <p:cNvSpPr txBox="1"/>
          <p:nvPr/>
        </p:nvSpPr>
        <p:spPr>
          <a:xfrm>
            <a:off x="777240" y="2514600"/>
            <a:ext cx="3291840" cy="1005840"/>
          </a:xfrm>
          <a:prstGeom prst="rect">
            <a:avLst/>
          </a:prstGeom>
          <a:noFill/>
        </p:spPr>
        <p:txBody>
          <a:bodyPr wrap="square" lIns="0" rIns="0" tIns="0" bIns="0">
            <a:spAutoFit/>
          </a:bodyPr>
          <a:lstStyle/>
          <a:p>
            <a:pPr algn="l">
              <a:lnSpc>
                <a:spcPct val="100000"/>
              </a:lnSpc>
            </a:pPr>
            <a:r>
              <a:rPr sz="6000" b="1" i="0">
                <a:solidFill>
                  <a:srgbClr val="0D6B67"/>
                </a:solidFill>
                <a:latin typeface="Segoe UI"/>
              </a:rPr>
              <a:t>0.824</a:t>
            </a:r>
          </a:p>
        </p:txBody>
      </p:sp>
      <p:sp>
        <p:nvSpPr>
          <p:cNvPr id="9" name="TextBox 8"/>
          <p:cNvSpPr txBox="1"/>
          <p:nvPr/>
        </p:nvSpPr>
        <p:spPr>
          <a:xfrm>
            <a:off x="777240" y="3502152"/>
            <a:ext cx="329184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AUROC, no training — LAVAD 0.803, AnyAnomaly 0.807</a:t>
            </a:r>
          </a:p>
        </p:txBody>
      </p:sp>
      <p:graphicFrame>
        <p:nvGraphicFramePr>
          <p:cNvPr id="10" name="Table 9"/>
          <p:cNvGraphicFramePr>
            <a:graphicFrameLocks noGrp="1"/>
          </p:cNvGraphicFramePr>
          <p:nvPr/>
        </p:nvGraphicFramePr>
        <p:xfrm>
          <a:off x="4434840" y="2514600"/>
          <a:ext cx="6976872" cy="2286000"/>
        </p:xfrm>
        <a:graphic>
          <a:graphicData uri="http://schemas.openxmlformats.org/drawingml/2006/table">
            <a:tbl>
              <a:tblPr firstRow="1">
                <a:tableStyleId>{5C22544A-7EE6-4342-B048-85BDC9FD1C3A}</a:tableStyleId>
              </a:tblPr>
              <a:tblGrid>
                <a:gridCol w="4160520"/>
                <a:gridCol w="1325880"/>
                <a:gridCol w="1490472"/>
              </a:tblGrid>
              <a:tr h="457200">
                <a:tc>
                  <a:txBody>
                    <a:bodyPr wrap="square"/>
                    <a:lstStyle/>
                    <a:p>
                      <a:pPr algn="l"/>
                      <a:r>
                        <a:rPr sz="1300" b="1">
                          <a:solidFill>
                            <a:srgbClr val="FFFFFF"/>
                          </a:solidFill>
                          <a:latin typeface="Segoe UI"/>
                        </a:rPr>
                        <a:t>Registered prediction</a:t>
                      </a:r>
                    </a:p>
                  </a:txBody>
                  <a:tcPr marL="128016" marR="128016" marT="45720" marB="45720" anchor="ctr">
                    <a:solidFill>
                      <a:srgbClr val="141C1E"/>
                    </a:solidFill>
                  </a:tcPr>
                </a:tc>
                <a:tc>
                  <a:txBody>
                    <a:bodyPr wrap="square"/>
                    <a:lstStyle/>
                    <a:p>
                      <a:pPr algn="r"/>
                      <a:r>
                        <a:rPr sz="1300" b="1">
                          <a:solidFill>
                            <a:srgbClr val="FFFFFF"/>
                          </a:solidFill>
                          <a:latin typeface="Segoe UI"/>
                        </a:rPr>
                        <a:t>Measured</a:t>
                      </a:r>
                    </a:p>
                  </a:txBody>
                  <a:tcPr marL="128016" marR="128016" marT="45720" marB="45720" anchor="ctr">
                    <a:solidFill>
                      <a:srgbClr val="141C1E"/>
                    </a:solidFill>
                  </a:tcPr>
                </a:tc>
                <a:tc>
                  <a:txBody>
                    <a:bodyPr wrap="square"/>
                    <a:lstStyle/>
                    <a:p>
                      <a:pPr algn="l"/>
                      <a:r>
                        <a:rPr sz="1300" b="1">
                          <a:solidFill>
                            <a:srgbClr val="FFFFFF"/>
                          </a:solidFill>
                          <a:latin typeface="Segoe UI"/>
                        </a:rPr>
                        <a:t>Outcome</a:t>
                      </a:r>
                    </a:p>
                  </a:txBody>
                  <a:tcPr marL="128016" marR="128016" marT="45720" marB="45720" anchor="ctr">
                    <a:solidFill>
                      <a:srgbClr val="141C1E"/>
                    </a:solidFill>
                  </a:tcPr>
                </a:tc>
              </a:tr>
              <a:tr h="457200">
                <a:tc>
                  <a:txBody>
                    <a:bodyPr wrap="square"/>
                    <a:lstStyle/>
                    <a:p>
                      <a:pPr algn="l"/>
                      <a:r>
                        <a:rPr sz="1300" b="1">
                          <a:solidFill>
                            <a:srgbClr val="141C1E"/>
                          </a:solidFill>
                          <a:latin typeface="Segoe UI"/>
                        </a:rPr>
                        <a:t>P1  gap grows beyond ShanghaiTech's +0.105</a:t>
                      </a:r>
                    </a:p>
                  </a:txBody>
                  <a:tcPr marL="128016" marR="128016" marT="45720" marB="45720" anchor="ctr">
                    <a:solidFill>
                      <a:srgbClr val="DDEDEB"/>
                    </a:solidFill>
                  </a:tcPr>
                </a:tc>
                <a:tc>
                  <a:txBody>
                    <a:bodyPr wrap="square"/>
                    <a:lstStyle/>
                    <a:p>
                      <a:pPr algn="r"/>
                      <a:r>
                        <a:rPr sz="1300" b="1">
                          <a:solidFill>
                            <a:srgbClr val="141C1E"/>
                          </a:solidFill>
                          <a:latin typeface="Consolas"/>
                        </a:rPr>
                        <a:t>+0.096</a:t>
                      </a:r>
                    </a:p>
                  </a:txBody>
                  <a:tcPr marL="128016" marR="128016" marT="45720" marB="45720" anchor="ctr">
                    <a:solidFill>
                      <a:srgbClr val="DDEDEB"/>
                    </a:solidFill>
                  </a:tcPr>
                </a:tc>
                <a:tc>
                  <a:txBody>
                    <a:bodyPr wrap="square"/>
                    <a:lstStyle/>
                    <a:p>
                      <a:pPr algn="l"/>
                      <a:r>
                        <a:rPr sz="1300" b="1">
                          <a:solidFill>
                            <a:srgbClr val="141C1E"/>
                          </a:solidFill>
                          <a:latin typeface="Segoe UI"/>
                        </a:rPr>
                        <a:t>Refuted</a:t>
                      </a:r>
                    </a:p>
                  </a:txBody>
                  <a:tcPr marL="128016" marR="128016" marT="45720" marB="45720" anchor="ctr">
                    <a:solidFill>
                      <a:srgbClr val="DDEDEB"/>
                    </a:solidFill>
                  </a:tcPr>
                </a:tc>
              </a:tr>
              <a:tr h="457200">
                <a:tc>
                  <a:txBody>
                    <a:bodyPr wrap="square"/>
                    <a:lstStyle/>
                    <a:p>
                      <a:pPr algn="l"/>
                      <a:r>
                        <a:rPr sz="1300" b="0">
                          <a:solidFill>
                            <a:srgbClr val="141C1E"/>
                          </a:solidFill>
                          <a:latin typeface="Segoe UI"/>
                        </a:rPr>
                        <a:t>P2  own sentence beats borrowed ones</a:t>
                      </a:r>
                    </a:p>
                  </a:txBody>
                  <a:tcPr marL="128016" marR="128016" marT="45720" marB="45720" anchor="ctr">
                    <a:solidFill>
                      <a:srgbClr val="F5F7F7"/>
                    </a:solidFill>
                  </a:tcPr>
                </a:tc>
                <a:tc>
                  <a:txBody>
                    <a:bodyPr wrap="square"/>
                    <a:lstStyle/>
                    <a:p>
                      <a:pPr algn="r"/>
                      <a:r>
                        <a:rPr sz="1300" b="0">
                          <a:solidFill>
                            <a:srgbClr val="141C1E"/>
                          </a:solidFill>
                          <a:latin typeface="Consolas"/>
                        </a:rPr>
                        <a:t>+0.110</a:t>
                      </a:r>
                    </a:p>
                  </a:txBody>
                  <a:tcPr marL="128016" marR="128016" marT="45720" marB="45720" anchor="ctr">
                    <a:solidFill>
                      <a:srgbClr val="F5F7F7"/>
                    </a:solidFill>
                  </a:tcPr>
                </a:tc>
                <a:tc>
                  <a:txBody>
                    <a:bodyPr wrap="square"/>
                    <a:lstStyle/>
                    <a:p>
                      <a:pPr algn="l"/>
                      <a:r>
                        <a:rPr sz="1300" b="0">
                          <a:solidFill>
                            <a:srgbClr val="141C1E"/>
                          </a:solidFill>
                          <a:latin typeface="Segoe UI"/>
                        </a:rPr>
                        <a:t>Holds</a:t>
                      </a:r>
                    </a:p>
                  </a:txBody>
                  <a:tcPr marL="128016" marR="128016" marT="45720" marB="45720" anchor="ctr">
                    <a:solidFill>
                      <a:srgbClr val="F5F7F7"/>
                    </a:solidFill>
                  </a:tcPr>
                </a:tc>
              </a:tr>
              <a:tr h="457200">
                <a:tc>
                  <a:txBody>
                    <a:bodyPr wrap="square"/>
                    <a:lstStyle/>
                    <a:p>
                      <a:pPr algn="l"/>
                      <a:r>
                        <a:rPr sz="1300" b="0">
                          <a:solidFill>
                            <a:srgbClr val="141C1E"/>
                          </a:solidFill>
                          <a:latin typeface="Segoe UI"/>
                        </a:rPr>
                        <a:t>P3  own sentence beats one shared sentence</a:t>
                      </a:r>
                    </a:p>
                  </a:txBody>
                  <a:tcPr marL="128016" marR="128016" marT="45720" marB="45720" anchor="ctr">
                    <a:solidFill>
                      <a:srgbClr val="FFFFFF"/>
                    </a:solidFill>
                  </a:tcPr>
                </a:tc>
                <a:tc>
                  <a:txBody>
                    <a:bodyPr wrap="square"/>
                    <a:lstStyle/>
                    <a:p>
                      <a:pPr algn="r"/>
                      <a:r>
                        <a:rPr sz="1300" b="0">
                          <a:solidFill>
                            <a:srgbClr val="141C1E"/>
                          </a:solidFill>
                          <a:latin typeface="Consolas"/>
                        </a:rPr>
                        <a:t>+0.011</a:t>
                      </a:r>
                    </a:p>
                  </a:txBody>
                  <a:tcPr marL="128016" marR="128016" marT="45720" marB="45720" anchor="ctr">
                    <a:solidFill>
                      <a:srgbClr val="FFFFFF"/>
                    </a:solidFill>
                  </a:tcPr>
                </a:tc>
                <a:tc>
                  <a:txBody>
                    <a:bodyPr wrap="square"/>
                    <a:lstStyle/>
                    <a:p>
                      <a:pPr algn="l"/>
                      <a:r>
                        <a:rPr sz="1300" b="0">
                          <a:solidFill>
                            <a:srgbClr val="141C1E"/>
                          </a:solidFill>
                          <a:latin typeface="Segoe UI"/>
                        </a:rPr>
                        <a:t>Holds (small)</a:t>
                      </a:r>
                    </a:p>
                  </a:txBody>
                  <a:tcPr marL="128016" marR="128016" marT="45720" marB="45720" anchor="ctr">
                    <a:solidFill>
                      <a:srgbClr val="FFFFFF"/>
                    </a:solidFill>
                  </a:tcPr>
                </a:tc>
              </a:tr>
              <a:tr h="457200">
                <a:tc>
                  <a:txBody>
                    <a:bodyPr wrap="square"/>
                    <a:lstStyle/>
                    <a:p>
                      <a:pPr algn="l"/>
                      <a:r>
                        <a:rPr sz="1300" b="0">
                          <a:solidFill>
                            <a:srgbClr val="141C1E"/>
                          </a:solidFill>
                          <a:latin typeface="Segoe UI"/>
                        </a:rPr>
                        <a:t>P4  correct beats wrong-domain description</a:t>
                      </a:r>
                    </a:p>
                  </a:txBody>
                  <a:tcPr marL="128016" marR="128016" marT="45720" marB="45720" anchor="ctr">
                    <a:solidFill>
                      <a:srgbClr val="F5F7F7"/>
                    </a:solidFill>
                  </a:tcPr>
                </a:tc>
                <a:tc>
                  <a:txBody>
                    <a:bodyPr wrap="square"/>
                    <a:lstStyle/>
                    <a:p>
                      <a:pPr algn="r"/>
                      <a:r>
                        <a:rPr sz="1300" b="0">
                          <a:solidFill>
                            <a:srgbClr val="141C1E"/>
                          </a:solidFill>
                          <a:latin typeface="Consolas"/>
                        </a:rPr>
                        <a:t>+0.086</a:t>
                      </a:r>
                    </a:p>
                  </a:txBody>
                  <a:tcPr marL="128016" marR="128016" marT="45720" marB="45720" anchor="ctr">
                    <a:solidFill>
                      <a:srgbClr val="F5F7F7"/>
                    </a:solidFill>
                  </a:tcPr>
                </a:tc>
                <a:tc>
                  <a:txBody>
                    <a:bodyPr wrap="square"/>
                    <a:lstStyle/>
                    <a:p>
                      <a:pPr algn="l"/>
                      <a:r>
                        <a:rPr sz="1300" b="0">
                          <a:solidFill>
                            <a:srgbClr val="141C1E"/>
                          </a:solidFill>
                          <a:latin typeface="Segoe UI"/>
                        </a:rPr>
                        <a:t>Holds</a:t>
                      </a:r>
                    </a:p>
                  </a:txBody>
                  <a:tcPr marL="128016" marR="128016" marT="45720" marB="45720" anchor="ctr">
                    <a:solidFill>
                      <a:srgbClr val="F5F7F7"/>
                    </a:solidFill>
                  </a:tcPr>
                </a:tc>
              </a:tr>
            </a:tbl>
          </a:graphicData>
        </a:graphic>
      </p:graphicFrame>
      <p:sp>
        <p:nvSpPr>
          <p:cNvPr id="11" name="Rectangle 10"/>
          <p:cNvSpPr/>
          <p:nvPr/>
        </p:nvSpPr>
        <p:spPr>
          <a:xfrm>
            <a:off x="777240" y="5074920"/>
            <a:ext cx="10637215" cy="12801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074920"/>
            <a:ext cx="45720" cy="12801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522122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WHAT IT SHOWS</a:t>
            </a:r>
          </a:p>
        </p:txBody>
      </p:sp>
      <p:sp>
        <p:nvSpPr>
          <p:cNvPr id="14" name="TextBox 13"/>
          <p:cNvSpPr txBox="1"/>
          <p:nvPr/>
        </p:nvSpPr>
        <p:spPr>
          <a:xfrm>
            <a:off x="1033271" y="5513831"/>
            <a:ext cx="10134295" cy="713231"/>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Another video's sentence scores BELOW no sentence (0.713 vs 0.756): the wrong scene misleads. P1 failed, so the claim is narrowed from 'the benefit scales with scene diversity' to 'the benefit needs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PHASE 3  ·  RESULT 7</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UCF-Crime, drawn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25</a:t>
            </a:r>
          </a:p>
        </p:txBody>
      </p:sp>
      <p:pic>
        <p:nvPicPr>
          <p:cNvPr id="7" name="Picture 6" descr="fig_chart_ucf_crime.png"/>
          <p:cNvPicPr>
            <a:picLocks noChangeAspect="1"/>
          </p:cNvPicPr>
          <p:nvPr/>
        </p:nvPicPr>
        <p:blipFill>
          <a:blip r:embed="rId2"/>
          <a:stretch>
            <a:fillRect/>
          </a:stretch>
        </p:blipFill>
        <p:spPr>
          <a:xfrm>
            <a:off x="2057857" y="1783080"/>
            <a:ext cx="8075980"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The video's own LLaVA sentence reaches 0.824; borrowed sentences average 0.713, below having none. The dashed line is LAVAD's 0.803 (AnyAnomaly: 0.807). Both are other papers' numbers, so read it as comparable, not as a margin.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NEGATIVE FINDINGS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Six things that did not work</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26</a:t>
            </a:r>
          </a:p>
        </p:txBody>
      </p:sp>
      <p:graphicFrame>
        <p:nvGraphicFramePr>
          <p:cNvPr id="7" name="Table 6"/>
          <p:cNvGraphicFramePr>
            <a:graphicFrameLocks noGrp="1"/>
          </p:cNvGraphicFramePr>
          <p:nvPr/>
        </p:nvGraphicFramePr>
        <p:xfrm>
          <a:off x="777240" y="1828800"/>
          <a:ext cx="10634472" cy="3200400"/>
        </p:xfrm>
        <a:graphic>
          <a:graphicData uri="http://schemas.openxmlformats.org/drawingml/2006/table">
            <a:tbl>
              <a:tblPr firstRow="1">
                <a:tableStyleId>{5C22544A-7EE6-4342-B048-85BDC9FD1C3A}</a:tableStyleId>
              </a:tblPr>
              <a:tblGrid>
                <a:gridCol w="6035040"/>
                <a:gridCol w="4599432"/>
              </a:tblGrid>
              <a:tr h="457200">
                <a:tc>
                  <a:txBody>
                    <a:bodyPr wrap="square"/>
                    <a:lstStyle/>
                    <a:p>
                      <a:pPr algn="l"/>
                      <a:r>
                        <a:rPr sz="1350" b="1">
                          <a:solidFill>
                            <a:srgbClr val="FFFFFF"/>
                          </a:solidFill>
                          <a:latin typeface="Segoe UI"/>
                        </a:rPr>
                        <a:t>Modification</a:t>
                      </a:r>
                    </a:p>
                  </a:txBody>
                  <a:tcPr marL="128016" marR="128016" marT="45720" marB="45720" anchor="ctr">
                    <a:solidFill>
                      <a:srgbClr val="141C1E"/>
                    </a:solidFill>
                  </a:tcPr>
                </a:tc>
                <a:tc>
                  <a:txBody>
                    <a:bodyPr wrap="square"/>
                    <a:lstStyle/>
                    <a:p>
                      <a:pPr algn="l"/>
                      <a:r>
                        <a:rPr sz="1350" b="1">
                          <a:solidFill>
                            <a:srgbClr val="FFFFFF"/>
                          </a:solidFill>
                          <a:latin typeface="Segoe UI"/>
                        </a:rPr>
                        <a:t>Outcome</a:t>
                      </a:r>
                    </a:p>
                  </a:txBody>
                  <a:tcPr marL="128016" marR="128016" marT="45720" marB="45720" anchor="ctr">
                    <a:solidFill>
                      <a:srgbClr val="141C1E"/>
                    </a:solidFill>
                  </a:tcPr>
                </a:tc>
              </a:tr>
              <a:tr h="457200">
                <a:tc>
                  <a:txBody>
                    <a:bodyPr wrap="square"/>
                    <a:lstStyle/>
                    <a:p>
                      <a:pPr algn="l"/>
                      <a:r>
                        <a:rPr sz="1350" b="0">
                          <a:solidFill>
                            <a:srgbClr val="141C1E"/>
                          </a:solidFill>
                          <a:latin typeface="Segoe UI"/>
                        </a:rPr>
                        <a:t>Quadrant scoring, to catch small objects</a:t>
                      </a:r>
                    </a:p>
                  </a:txBody>
                  <a:tcPr marL="128016" marR="128016" marT="45720" marB="45720" anchor="ctr">
                    <a:solidFill>
                      <a:srgbClr val="FFFFFF"/>
                    </a:solidFill>
                  </a:tcPr>
                </a:tc>
                <a:tc>
                  <a:txBody>
                    <a:bodyPr wrap="square"/>
                    <a:lstStyle/>
                    <a:p>
                      <a:pPr algn="l"/>
                      <a:r>
                        <a:rPr sz="1350" b="0">
                          <a:solidFill>
                            <a:srgbClr val="141C1E"/>
                          </a:solidFill>
                          <a:latin typeface="Segoe UI"/>
                        </a:rPr>
                        <a:t>No improvement in any configuration</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Prompts naming bicycles and vehicles</a:t>
                      </a:r>
                    </a:p>
                  </a:txBody>
                  <a:tcPr marL="128016" marR="128016" marT="45720" marB="45720" anchor="ctr">
                    <a:solidFill>
                      <a:srgbClr val="F5F7F7"/>
                    </a:solidFill>
                  </a:tcPr>
                </a:tc>
                <a:tc>
                  <a:txBody>
                    <a:bodyPr wrap="square"/>
                    <a:lstStyle/>
                    <a:p>
                      <a:pPr algn="l"/>
                      <a:r>
                        <a:rPr sz="1350" b="0">
                          <a:solidFill>
                            <a:srgbClr val="141C1E"/>
                          </a:solidFill>
                          <a:latin typeface="Segoe UI"/>
                        </a:rPr>
                        <a:t>Much worse alone — 0.486</a:t>
                      </a:r>
                    </a:p>
                  </a:txBody>
                  <a:tcPr marL="128016" marR="128016" marT="45720" marB="45720" anchor="ctr">
                    <a:solidFill>
                      <a:srgbClr val="F5F7F7"/>
                    </a:solidFill>
                  </a:tcPr>
                </a:tc>
              </a:tr>
              <a:tr h="457200">
                <a:tc>
                  <a:txBody>
                    <a:bodyPr wrap="square"/>
                    <a:lstStyle/>
                    <a:p>
                      <a:pPr algn="l"/>
                      <a:r>
                        <a:rPr sz="1350" b="0">
                          <a:solidFill>
                            <a:srgbClr val="141C1E"/>
                          </a:solidFill>
                          <a:latin typeface="Segoe UI"/>
                        </a:rPr>
                        <a:t>Clip's own average as the normality reference</a:t>
                      </a:r>
                    </a:p>
                  </a:txBody>
                  <a:tcPr marL="128016" marR="128016" marT="45720" marB="45720" anchor="ctr">
                    <a:solidFill>
                      <a:srgbClr val="FFFFFF"/>
                    </a:solidFill>
                  </a:tcPr>
                </a:tc>
                <a:tc>
                  <a:txBody>
                    <a:bodyPr wrap="square"/>
                    <a:lstStyle/>
                    <a:p>
                      <a:pPr algn="l"/>
                      <a:r>
                        <a:rPr sz="1350" b="0">
                          <a:solidFill>
                            <a:srgbClr val="141C1E"/>
                          </a:solidFill>
                          <a:latin typeface="Segoe UI"/>
                        </a:rPr>
                        <a:t>0.585, and it degrades the language signal</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Adding a motion signal</a:t>
                      </a:r>
                    </a:p>
                  </a:txBody>
                  <a:tcPr marL="128016" marR="128016" marT="45720" marB="45720" anchor="ctr">
                    <a:solidFill>
                      <a:srgbClr val="F5F7F7"/>
                    </a:solidFill>
                  </a:tcPr>
                </a:tc>
                <a:tc>
                  <a:txBody>
                    <a:bodyPr wrap="square"/>
                    <a:lstStyle/>
                    <a:p>
                      <a:pPr algn="l"/>
                      <a:r>
                        <a:rPr sz="1350" b="0">
                          <a:solidFill>
                            <a:srgbClr val="141C1E"/>
                          </a:solidFill>
                          <a:latin typeface="Segoe UI"/>
                        </a:rPr>
                        <a:t>Costs 0.001 — not complementary</a:t>
                      </a:r>
                    </a:p>
                  </a:txBody>
                  <a:tcPr marL="128016" marR="128016" marT="45720" marB="45720" anchor="ctr">
                    <a:solidFill>
                      <a:srgbClr val="F5F7F7"/>
                    </a:solidFill>
                  </a:tcPr>
                </a:tc>
              </a:tr>
              <a:tr h="457200">
                <a:tc>
                  <a:txBody>
                    <a:bodyPr wrap="square"/>
                    <a:lstStyle/>
                    <a:p>
                      <a:pPr algn="l"/>
                      <a:r>
                        <a:rPr sz="1350" b="0">
                          <a:solidFill>
                            <a:srgbClr val="141C1E"/>
                          </a:solidFill>
                          <a:latin typeface="Segoe UI"/>
                        </a:rPr>
                        <a:t>Local temporal deviation before projection</a:t>
                      </a:r>
                    </a:p>
                  </a:txBody>
                  <a:tcPr marL="128016" marR="128016" marT="45720" marB="45720" anchor="ctr">
                    <a:solidFill>
                      <a:srgbClr val="FFFFFF"/>
                    </a:solidFill>
                  </a:tcPr>
                </a:tc>
                <a:tc>
                  <a:txBody>
                    <a:bodyPr wrap="square"/>
                    <a:lstStyle/>
                    <a:p>
                      <a:pPr algn="l"/>
                      <a:r>
                        <a:rPr sz="1350" b="0">
                          <a:solidFill>
                            <a:srgbClr val="141C1E"/>
                          </a:solidFill>
                          <a:latin typeface="Segoe UI"/>
                        </a:rPr>
                        <a:t>Better scorer, but narrows the context gap</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Per-prompt max pooling</a:t>
                      </a:r>
                    </a:p>
                  </a:txBody>
                  <a:tcPr marL="128016" marR="128016" marT="45720" marB="45720" anchor="ctr">
                    <a:solidFill>
                      <a:srgbClr val="F5F7F7"/>
                    </a:solidFill>
                  </a:tcPr>
                </a:tc>
                <a:tc>
                  <a:txBody>
                    <a:bodyPr wrap="square"/>
                    <a:lstStyle/>
                    <a:p>
                      <a:pPr algn="l"/>
                      <a:r>
                        <a:rPr sz="1350" b="0">
                          <a:solidFill>
                            <a:srgbClr val="141C1E"/>
                          </a:solidFill>
                          <a:latin typeface="Segoe UI"/>
                        </a:rPr>
                        <a:t>0.678 against 0.707</a:t>
                      </a:r>
                    </a:p>
                  </a:txBody>
                  <a:tcPr marL="128016" marR="128016" marT="45720" marB="45720" anchor="ctr">
                    <a:solidFill>
                      <a:srgbClr val="F5F7F7"/>
                    </a:solidFill>
                  </a:tcPr>
                </a:tc>
              </a:tr>
            </a:tbl>
          </a:graphicData>
        </a:graphic>
      </p:graphicFrame>
      <p:sp>
        <p:nvSpPr>
          <p:cNvPr id="8" name="Rectangle 7"/>
          <p:cNvSpPr/>
          <p:nvPr/>
        </p:nvSpPr>
        <p:spPr>
          <a:xfrm>
            <a:off x="777240" y="4846320"/>
            <a:ext cx="10637215" cy="141732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46320"/>
            <a:ext cx="45720" cy="141732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99262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WHY THESE ARE IN THE DECK</a:t>
            </a:r>
          </a:p>
        </p:txBody>
      </p:sp>
      <p:sp>
        <p:nvSpPr>
          <p:cNvPr id="11" name="TextBox 10"/>
          <p:cNvSpPr txBox="1"/>
          <p:nvPr/>
        </p:nvSpPr>
        <p:spPr>
          <a:xfrm>
            <a:off x="1033271" y="5285231"/>
            <a:ext cx="10134295" cy="85039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The claim is that the minimal configuration is the right one. That is only credible alongside the alternatives that were tried. A clean table of successes is the artefact that is easy to fabricate; six diagnosed failures are not.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ASSESSMENT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Where this sits against the literature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27</a:t>
            </a:r>
          </a:p>
        </p:txBody>
      </p:sp>
      <p:graphicFrame>
        <p:nvGraphicFramePr>
          <p:cNvPr id="7" name="Table 6"/>
          <p:cNvGraphicFramePr>
            <a:graphicFrameLocks noGrp="1"/>
          </p:cNvGraphicFramePr>
          <p:nvPr/>
        </p:nvGraphicFramePr>
        <p:xfrm>
          <a:off x="777240" y="1755648"/>
          <a:ext cx="10634472" cy="2779776"/>
        </p:xfrm>
        <a:graphic>
          <a:graphicData uri="http://schemas.openxmlformats.org/drawingml/2006/table">
            <a:tbl>
              <a:tblPr firstRow="1">
                <a:tableStyleId>{5C22544A-7EE6-4342-B048-85BDC9FD1C3A}</a:tableStyleId>
              </a:tblPr>
              <a:tblGrid>
                <a:gridCol w="6035040"/>
                <a:gridCol w="1463040"/>
                <a:gridCol w="1463040"/>
                <a:gridCol w="1673352"/>
              </a:tblGrid>
              <a:tr h="347472">
                <a:tc>
                  <a:txBody>
                    <a:bodyPr wrap="square"/>
                    <a:lstStyle/>
                    <a:p>
                      <a:pPr algn="l"/>
                      <a:r>
                        <a:rPr sz="1350" b="1">
                          <a:solidFill>
                            <a:srgbClr val="FFFFFF"/>
                          </a:solidFill>
                          <a:latin typeface="Segoe UI"/>
                        </a:rPr>
                        <a:t>Training-free method (no target data)</a:t>
                      </a:r>
                    </a:p>
                  </a:txBody>
                  <a:tcPr marL="128016" marR="128016" marT="45720" marB="45720" anchor="ctr">
                    <a:solidFill>
                      <a:srgbClr val="141C1E"/>
                    </a:solidFill>
                  </a:tcPr>
                </a:tc>
                <a:tc>
                  <a:txBody>
                    <a:bodyPr wrap="square"/>
                    <a:lstStyle/>
                    <a:p>
                      <a:pPr algn="l"/>
                      <a:r>
                        <a:rPr sz="1350" b="1">
                          <a:solidFill>
                            <a:srgbClr val="FFFFFF"/>
                          </a:solidFill>
                          <a:latin typeface="Segoe UI"/>
                        </a:rPr>
                        <a:t>Avenue</a:t>
                      </a:r>
                    </a:p>
                  </a:txBody>
                  <a:tcPr marL="128016" marR="128016" marT="45720" marB="45720" anchor="ctr">
                    <a:solidFill>
                      <a:srgbClr val="141C1E"/>
                    </a:solidFill>
                  </a:tcPr>
                </a:tc>
                <a:tc>
                  <a:txBody>
                    <a:bodyPr wrap="square"/>
                    <a:lstStyle/>
                    <a:p>
                      <a:pPr algn="l"/>
                      <a:r>
                        <a:rPr sz="1350" b="1">
                          <a:solidFill>
                            <a:srgbClr val="FFFFFF"/>
                          </a:solidFill>
                          <a:latin typeface="Segoe UI"/>
                        </a:rPr>
                        <a:t>ShT</a:t>
                      </a:r>
                    </a:p>
                  </a:txBody>
                  <a:tcPr marL="128016" marR="128016" marT="45720" marB="45720" anchor="ctr">
                    <a:solidFill>
                      <a:srgbClr val="141C1E"/>
                    </a:solidFill>
                  </a:tcPr>
                </a:tc>
                <a:tc>
                  <a:txBody>
                    <a:bodyPr wrap="square"/>
                    <a:lstStyle/>
                    <a:p>
                      <a:pPr algn="l"/>
                      <a:r>
                        <a:rPr sz="1350" b="1">
                          <a:solidFill>
                            <a:srgbClr val="FFFFFF"/>
                          </a:solidFill>
                          <a:latin typeface="Segoe UI"/>
                        </a:rPr>
                        <a:t>UCF</a:t>
                      </a:r>
                    </a:p>
                  </a:txBody>
                  <a:tcPr marL="128016" marR="128016" marT="45720" marB="45720" anchor="ctr">
                    <a:solidFill>
                      <a:srgbClr val="141C1E"/>
                    </a:solidFill>
                  </a:tcPr>
                </a:tc>
              </a:tr>
              <a:tr h="347472">
                <a:tc>
                  <a:txBody>
                    <a:bodyPr wrap="square"/>
                    <a:lstStyle/>
                    <a:p>
                      <a:pPr algn="l"/>
                      <a:r>
                        <a:rPr sz="1350" b="0">
                          <a:solidFill>
                            <a:srgbClr val="141C1E"/>
                          </a:solidFill>
                          <a:latin typeface="Segoe UI"/>
                        </a:rPr>
                        <a:t>Zero-shot CLIP [4]</a:t>
                      </a:r>
                    </a:p>
                  </a:txBody>
                  <a:tcPr marL="128016" marR="128016" marT="45720" marB="45720" anchor="ctr">
                    <a:solidFill>
                      <a:srgbClr val="FFFFFF"/>
                    </a:solidFill>
                  </a:tcPr>
                </a:tc>
                <a:tc>
                  <a:txBody>
                    <a:bodyPr wrap="square"/>
                    <a:lstStyle/>
                    <a:p>
                      <a:pPr algn="l"/>
                      <a:r>
                        <a:rPr sz="1350" b="0">
                          <a:solidFill>
                            <a:srgbClr val="141C1E"/>
                          </a:solidFill>
                          <a:latin typeface="Segoe UI"/>
                        </a:rPr>
                        <a:t>62.3</a:t>
                      </a:r>
                    </a:p>
                  </a:txBody>
                  <a:tcPr marL="128016" marR="128016" marT="45720" marB="45720" anchor="ctr">
                    <a:solidFill>
                      <a:srgbClr val="FFFFFF"/>
                    </a:solidFill>
                  </a:tcPr>
                </a:tc>
                <a:tc>
                  <a:txBody>
                    <a:bodyPr wrap="square"/>
                    <a:lstStyle/>
                    <a:p>
                      <a:pPr algn="l"/>
                      <a:r>
                        <a:rPr sz="1350" b="0">
                          <a:solidFill>
                            <a:srgbClr val="141C1E"/>
                          </a:solidFill>
                          <a:latin typeface="Segoe UI"/>
                        </a:rPr>
                        <a:t>60.9</a:t>
                      </a:r>
                    </a:p>
                  </a:txBody>
                  <a:tcPr marL="128016" marR="128016" marT="45720" marB="45720" anchor="ctr">
                    <a:solidFill>
                      <a:srgbClr val="FFFFFF"/>
                    </a:solidFill>
                  </a:tcPr>
                </a:tc>
                <a:tc>
                  <a:txBody>
                    <a:bodyPr wrap="square"/>
                    <a:lstStyle/>
                    <a:p>
                      <a:pPr algn="l"/>
                      <a:r>
                        <a:rPr sz="1350" b="0">
                          <a:solidFill>
                            <a:srgbClr val="141C1E"/>
                          </a:solidFill>
                          <a:latin typeface="Segoe UI"/>
                        </a:rPr>
                        <a:t>53.2‡</a:t>
                      </a:r>
                    </a:p>
                  </a:txBody>
                  <a:tcPr marL="128016" marR="128016" marT="45720" marB="45720" anchor="ctr">
                    <a:solidFill>
                      <a:srgbClr val="FFFFFF"/>
                    </a:solidFill>
                  </a:tcPr>
                </a:tc>
              </a:tr>
              <a:tr h="347472">
                <a:tc>
                  <a:txBody>
                    <a:bodyPr wrap="square"/>
                    <a:lstStyle/>
                    <a:p>
                      <a:pPr algn="l"/>
                      <a:r>
                        <a:rPr sz="1350" b="0">
                          <a:solidFill>
                            <a:srgbClr val="141C1E"/>
                          </a:solidFill>
                          <a:latin typeface="Segoe UI"/>
                        </a:rPr>
                        <a:t>Zero-shot ImageBind [36]</a:t>
                      </a:r>
                    </a:p>
                  </a:txBody>
                  <a:tcPr marL="128016" marR="128016" marT="45720" marB="45720" anchor="ctr">
                    <a:solidFill>
                      <a:srgbClr val="F5F7F7"/>
                    </a:solidFill>
                  </a:tcPr>
                </a:tc>
                <a:tc>
                  <a:txBody>
                    <a:bodyPr wrap="square"/>
                    <a:lstStyle/>
                    <a:p>
                      <a:pPr algn="l"/>
                      <a:r>
                        <a:rPr sz="1350" b="0">
                          <a:solidFill>
                            <a:srgbClr val="141C1E"/>
                          </a:solidFill>
                          <a:latin typeface="Segoe UI"/>
                        </a:rPr>
                        <a:t>64.5</a:t>
                      </a:r>
                    </a:p>
                  </a:txBody>
                  <a:tcPr marL="128016" marR="128016" marT="45720" marB="45720" anchor="ctr">
                    <a:solidFill>
                      <a:srgbClr val="F5F7F7"/>
                    </a:solidFill>
                  </a:tcPr>
                </a:tc>
                <a:tc>
                  <a:txBody>
                    <a:bodyPr wrap="square"/>
                    <a:lstStyle/>
                    <a:p>
                      <a:pPr algn="l"/>
                      <a:r>
                        <a:rPr sz="1350" b="0">
                          <a:solidFill>
                            <a:srgbClr val="141C1E"/>
                          </a:solidFill>
                          <a:latin typeface="Segoe UI"/>
                        </a:rPr>
                        <a:t>61.3</a:t>
                      </a:r>
                    </a:p>
                  </a:txBody>
                  <a:tcPr marL="128016" marR="128016" marT="45720" marB="45720" anchor="ctr">
                    <a:solidFill>
                      <a:srgbClr val="F5F7F7"/>
                    </a:solidFill>
                  </a:tcPr>
                </a:tc>
                <a:tc>
                  <a:txBody>
                    <a:bodyPr wrap="square"/>
                    <a:lstStyle/>
                    <a:p>
                      <a:pPr algn="l"/>
                      <a:r>
                        <a:rPr sz="1350" b="0">
                          <a:solidFill>
                            <a:srgbClr val="141C1E"/>
                          </a:solidFill>
                          <a:latin typeface="Segoe UI"/>
                        </a:rPr>
                        <a:t>53.7‡</a:t>
                      </a:r>
                    </a:p>
                  </a:txBody>
                  <a:tcPr marL="128016" marR="128016" marT="45720" marB="45720" anchor="ctr">
                    <a:solidFill>
                      <a:srgbClr val="F5F7F7"/>
                    </a:solidFill>
                  </a:tcPr>
                </a:tc>
              </a:tr>
              <a:tr h="347472">
                <a:tc>
                  <a:txBody>
                    <a:bodyPr wrap="square"/>
                    <a:lstStyle/>
                    <a:p>
                      <a:pPr algn="l"/>
                      <a:r>
                        <a:rPr sz="1350" b="0">
                          <a:solidFill>
                            <a:srgbClr val="141C1E"/>
                          </a:solidFill>
                          <a:latin typeface="Segoe UI"/>
                        </a:rPr>
                        <a:t>LLaVA-1.5 [24]</a:t>
                      </a:r>
                    </a:p>
                  </a:txBody>
                  <a:tcPr marL="128016" marR="128016" marT="45720" marB="45720" anchor="ctr">
                    <a:solidFill>
                      <a:srgbClr val="FFFFFF"/>
                    </a:solidFill>
                  </a:tcPr>
                </a:tc>
                <a:tc>
                  <a:txBody>
                    <a:bodyPr wrap="square"/>
                    <a:lstStyle/>
                    <a:p>
                      <a:pPr algn="l"/>
                      <a:r>
                        <a:rPr sz="1350" b="0">
                          <a:solidFill>
                            <a:srgbClr val="141C1E"/>
                          </a:solidFill>
                          <a:latin typeface="Segoe UI"/>
                        </a:rPr>
                        <a:t>67.4</a:t>
                      </a:r>
                    </a:p>
                  </a:txBody>
                  <a:tcPr marL="128016" marR="128016" marT="45720" marB="45720" anchor="ctr">
                    <a:solidFill>
                      <a:srgbClr val="FFFFFF"/>
                    </a:solidFill>
                  </a:tcPr>
                </a:tc>
                <a:tc>
                  <a:txBody>
                    <a:bodyPr wrap="square"/>
                    <a:lstStyle/>
                    <a:p>
                      <a:pPr algn="l"/>
                      <a:r>
                        <a:rPr sz="1350" b="0">
                          <a:solidFill>
                            <a:srgbClr val="141C1E"/>
                          </a:solidFill>
                          <a:latin typeface="Segoe UI"/>
                        </a:rPr>
                        <a:t>59.6</a:t>
                      </a:r>
                    </a:p>
                  </a:txBody>
                  <a:tcPr marL="128016" marR="128016" marT="45720" marB="45720" anchor="ctr">
                    <a:solidFill>
                      <a:srgbClr val="FFFFFF"/>
                    </a:solidFill>
                  </a:tcPr>
                </a:tc>
                <a:tc>
                  <a:txBody>
                    <a:bodyPr wrap="square"/>
                    <a:lstStyle/>
                    <a:p>
                      <a:pPr algn="l"/>
                      <a:r>
                        <a:rPr sz="1350" b="0">
                          <a:solidFill>
                            <a:srgbClr val="141C1E"/>
                          </a:solidFill>
                          <a:latin typeface="Segoe UI"/>
                        </a:rPr>
                        <a:t>72.8‡</a:t>
                      </a:r>
                    </a:p>
                  </a:txBody>
                  <a:tcPr marL="128016" marR="128016" marT="45720" marB="45720" anchor="ctr">
                    <a:solidFill>
                      <a:srgbClr val="FFFFFF"/>
                    </a:solidFill>
                  </a:tcPr>
                </a:tc>
              </a:tr>
              <a:tr h="347472">
                <a:tc>
                  <a:txBody>
                    <a:bodyPr wrap="square"/>
                    <a:lstStyle/>
                    <a:p>
                      <a:pPr algn="l"/>
                      <a:r>
                        <a:rPr sz="1350" b="0">
                          <a:solidFill>
                            <a:srgbClr val="141C1E"/>
                          </a:solidFill>
                          <a:latin typeface="Segoe UI"/>
                        </a:rPr>
                        <a:t>Video-ChatGPT [37]</a:t>
                      </a:r>
                    </a:p>
                  </a:txBody>
                  <a:tcPr marL="128016" marR="128016" marT="45720" marB="45720" anchor="ctr">
                    <a:solidFill>
                      <a:srgbClr val="F5F7F7"/>
                    </a:solidFill>
                  </a:tcPr>
                </a:tc>
                <a:tc>
                  <a:txBody>
                    <a:bodyPr wrap="square"/>
                    <a:lstStyle/>
                    <a:p>
                      <a:pPr algn="l"/>
                      <a:r>
                        <a:rPr sz="1350" b="0">
                          <a:solidFill>
                            <a:srgbClr val="141C1E"/>
                          </a:solidFill>
                          <a:latin typeface="Segoe UI"/>
                        </a:rPr>
                        <a:t>76.9</a:t>
                      </a:r>
                    </a:p>
                  </a:txBody>
                  <a:tcPr marL="128016" marR="128016" marT="45720" marB="45720" anchor="ctr">
                    <a:solidFill>
                      <a:srgbClr val="F5F7F7"/>
                    </a:solidFill>
                  </a:tcPr>
                </a:tc>
                <a:tc>
                  <a:txBody>
                    <a:bodyPr wrap="square"/>
                    <a:lstStyle/>
                    <a:p>
                      <a:pPr algn="l"/>
                      <a:r>
                        <a:rPr sz="1350" b="0">
                          <a:solidFill>
                            <a:srgbClr val="141C1E"/>
                          </a:solidFill>
                          <a:latin typeface="Segoe UI"/>
                        </a:rPr>
                        <a:t>69.1</a:t>
                      </a:r>
                    </a:p>
                  </a:txBody>
                  <a:tcPr marL="128016" marR="128016" marT="45720" marB="45720" anchor="ctr">
                    <a:solidFill>
                      <a:srgbClr val="F5F7F7"/>
                    </a:solidFill>
                  </a:tcPr>
                </a:tc>
                <a:tc>
                  <a:txBody>
                    <a:bodyPr wrap="square"/>
                    <a:lstStyle/>
                    <a:p>
                      <a:pPr algn="l"/>
                      <a:r>
                        <a:rPr sz="1350" b="0">
                          <a:solidFill>
                            <a:srgbClr val="141C1E"/>
                          </a:solidFill>
                          <a:latin typeface="Segoe UI"/>
                        </a:rPr>
                        <a:t>—</a:t>
                      </a:r>
                    </a:p>
                  </a:txBody>
                  <a:tcPr marL="128016" marR="128016" marT="45720" marB="45720" anchor="ctr">
                    <a:solidFill>
                      <a:srgbClr val="F5F7F7"/>
                    </a:solidFill>
                  </a:tcPr>
                </a:tc>
              </a:tr>
              <a:tr h="347472">
                <a:tc>
                  <a:txBody>
                    <a:bodyPr wrap="square"/>
                    <a:lstStyle/>
                    <a:p>
                      <a:pPr algn="l"/>
                      <a:r>
                        <a:rPr sz="1350" b="0">
                          <a:solidFill>
                            <a:srgbClr val="141C1E"/>
                          </a:solidFill>
                          <a:latin typeface="Segoe UI"/>
                        </a:rPr>
                        <a:t>LAVAD [3] — captioner + LLM + refiner</a:t>
                      </a:r>
                    </a:p>
                  </a:txBody>
                  <a:tcPr marL="128016" marR="128016" marT="45720" marB="45720" anchor="ctr">
                    <a:solidFill>
                      <a:srgbClr val="FFFFFF"/>
                    </a:solidFill>
                  </a:tcPr>
                </a:tc>
                <a:tc>
                  <a:txBody>
                    <a:bodyPr wrap="square"/>
                    <a:lstStyle/>
                    <a:p>
                      <a:pPr algn="l"/>
                      <a:r>
                        <a:rPr sz="1350" b="0">
                          <a:solidFill>
                            <a:srgbClr val="141C1E"/>
                          </a:solidFill>
                          <a:latin typeface="Segoe UI"/>
                        </a:rPr>
                        <a:t>—</a:t>
                      </a:r>
                    </a:p>
                  </a:txBody>
                  <a:tcPr marL="128016" marR="128016" marT="45720" marB="45720" anchor="ctr">
                    <a:solidFill>
                      <a:srgbClr val="FFFFFF"/>
                    </a:solidFill>
                  </a:tcPr>
                </a:tc>
                <a:tc>
                  <a:txBody>
                    <a:bodyPr wrap="square"/>
                    <a:lstStyle/>
                    <a:p>
                      <a:pPr algn="l"/>
                      <a:r>
                        <a:rPr sz="1350" b="0">
                          <a:solidFill>
                            <a:srgbClr val="141C1E"/>
                          </a:solidFill>
                          <a:latin typeface="Segoe UI"/>
                        </a:rPr>
                        <a:t>—</a:t>
                      </a:r>
                    </a:p>
                  </a:txBody>
                  <a:tcPr marL="128016" marR="128016" marT="45720" marB="45720" anchor="ctr">
                    <a:solidFill>
                      <a:srgbClr val="FFFFFF"/>
                    </a:solidFill>
                  </a:tcPr>
                </a:tc>
                <a:tc>
                  <a:txBody>
                    <a:bodyPr wrap="square"/>
                    <a:lstStyle/>
                    <a:p>
                      <a:pPr algn="l"/>
                      <a:r>
                        <a:rPr sz="1350" b="0">
                          <a:solidFill>
                            <a:srgbClr val="141C1E"/>
                          </a:solidFill>
                          <a:latin typeface="Segoe UI"/>
                        </a:rPr>
                        <a:t>80.3‡</a:t>
                      </a:r>
                    </a:p>
                  </a:txBody>
                  <a:tcPr marL="128016" marR="128016" marT="45720" marB="45720" anchor="ctr">
                    <a:solidFill>
                      <a:srgbClr val="FFFFFF"/>
                    </a:solidFill>
                  </a:tcPr>
                </a:tc>
              </a:tr>
              <a:tr h="347472">
                <a:tc>
                  <a:txBody>
                    <a:bodyPr wrap="square"/>
                    <a:lstStyle/>
                    <a:p>
                      <a:pPr algn="l"/>
                      <a:r>
                        <a:rPr sz="1350" b="1">
                          <a:solidFill>
                            <a:srgbClr val="141C1E"/>
                          </a:solidFill>
                          <a:latin typeface="Segoe UI"/>
                        </a:rPr>
                        <a:t>DA-ZVAD (ours) — one frozen encoder + a sentence</a:t>
                      </a:r>
                    </a:p>
                  </a:txBody>
                  <a:tcPr marL="128016" marR="128016" marT="45720" marB="45720" anchor="ctr">
                    <a:solidFill>
                      <a:srgbClr val="DDEDEB"/>
                    </a:solidFill>
                  </a:tcPr>
                </a:tc>
                <a:tc>
                  <a:txBody>
                    <a:bodyPr wrap="square"/>
                    <a:lstStyle/>
                    <a:p>
                      <a:pPr algn="l"/>
                      <a:r>
                        <a:rPr sz="1350" b="1">
                          <a:solidFill>
                            <a:srgbClr val="141C1E"/>
                          </a:solidFill>
                          <a:latin typeface="Segoe UI"/>
                        </a:rPr>
                        <a:t>67.7</a:t>
                      </a:r>
                    </a:p>
                  </a:txBody>
                  <a:tcPr marL="128016" marR="128016" marT="45720" marB="45720" anchor="ctr">
                    <a:solidFill>
                      <a:srgbClr val="DDEDEB"/>
                    </a:solidFill>
                  </a:tcPr>
                </a:tc>
                <a:tc>
                  <a:txBody>
                    <a:bodyPr wrap="square"/>
                    <a:lstStyle/>
                    <a:p>
                      <a:pPr algn="l"/>
                      <a:r>
                        <a:rPr sz="1350" b="1">
                          <a:solidFill>
                            <a:srgbClr val="141C1E"/>
                          </a:solidFill>
                          <a:latin typeface="Segoe UI"/>
                        </a:rPr>
                        <a:t>73.4</a:t>
                      </a:r>
                    </a:p>
                  </a:txBody>
                  <a:tcPr marL="128016" marR="128016" marT="45720" marB="45720" anchor="ctr">
                    <a:solidFill>
                      <a:srgbClr val="DDEDEB"/>
                    </a:solidFill>
                  </a:tcPr>
                </a:tc>
                <a:tc>
                  <a:txBody>
                    <a:bodyPr wrap="square"/>
                    <a:lstStyle/>
                    <a:p>
                      <a:pPr algn="l"/>
                      <a:r>
                        <a:rPr sz="1350" b="1">
                          <a:solidFill>
                            <a:srgbClr val="141C1E"/>
                          </a:solidFill>
                          <a:latin typeface="Segoe UI"/>
                        </a:rPr>
                        <a:t>82.4</a:t>
                      </a:r>
                    </a:p>
                  </a:txBody>
                  <a:tcPr marL="128016" marR="128016" marT="45720" marB="45720" anchor="ctr">
                    <a:solidFill>
                      <a:srgbClr val="DDEDEB"/>
                    </a:solidFill>
                  </a:tcPr>
                </a:tc>
              </a:tr>
              <a:tr h="347472">
                <a:tc>
                  <a:txBody>
                    <a:bodyPr wrap="square"/>
                    <a:lstStyle/>
                    <a:p>
                      <a:pPr algn="l"/>
                      <a:r>
                        <a:rPr sz="1350" b="0">
                          <a:solidFill>
                            <a:srgbClr val="141C1E"/>
                          </a:solidFill>
                          <a:latin typeface="Segoe UI"/>
                        </a:rPr>
                        <a:t>AnyAnomaly [2] — 3 LVLM queries per segment</a:t>
                      </a:r>
                    </a:p>
                  </a:txBody>
                  <a:tcPr marL="128016" marR="128016" marT="45720" marB="45720" anchor="ctr">
                    <a:solidFill>
                      <a:srgbClr val="FFFFFF"/>
                    </a:solidFill>
                  </a:tcPr>
                </a:tc>
                <a:tc>
                  <a:txBody>
                    <a:bodyPr wrap="square"/>
                    <a:lstStyle/>
                    <a:p>
                      <a:pPr algn="l"/>
                      <a:r>
                        <a:rPr sz="1350" b="0">
                          <a:solidFill>
                            <a:srgbClr val="141C1E"/>
                          </a:solidFill>
                          <a:latin typeface="Segoe UI"/>
                        </a:rPr>
                        <a:t>87.3</a:t>
                      </a:r>
                    </a:p>
                  </a:txBody>
                  <a:tcPr marL="128016" marR="128016" marT="45720" marB="45720" anchor="ctr">
                    <a:solidFill>
                      <a:srgbClr val="FFFFFF"/>
                    </a:solidFill>
                  </a:tcPr>
                </a:tc>
                <a:tc>
                  <a:txBody>
                    <a:bodyPr wrap="square"/>
                    <a:lstStyle/>
                    <a:p>
                      <a:pPr algn="l"/>
                      <a:r>
                        <a:rPr sz="1350" b="0">
                          <a:solidFill>
                            <a:srgbClr val="141C1E"/>
                          </a:solidFill>
                          <a:latin typeface="Segoe UI"/>
                        </a:rPr>
                        <a:t>79.7</a:t>
                      </a:r>
                    </a:p>
                  </a:txBody>
                  <a:tcPr marL="128016" marR="128016" marT="45720" marB="45720" anchor="ctr">
                    <a:solidFill>
                      <a:srgbClr val="FFFFFF"/>
                    </a:solidFill>
                  </a:tcPr>
                </a:tc>
                <a:tc>
                  <a:txBody>
                    <a:bodyPr wrap="square"/>
                    <a:lstStyle/>
                    <a:p>
                      <a:pPr algn="l"/>
                      <a:r>
                        <a:rPr sz="1350" b="0">
                          <a:solidFill>
                            <a:srgbClr val="141C1E"/>
                          </a:solidFill>
                          <a:latin typeface="Segoe UI"/>
                        </a:rPr>
                        <a:t>80.7</a:t>
                      </a:r>
                    </a:p>
                  </a:txBody>
                  <a:tcPr marL="128016" marR="128016" marT="45720" marB="45720" anchor="ctr">
                    <a:solidFill>
                      <a:srgbClr val="FFFFFF"/>
                    </a:solidFill>
                  </a:tcPr>
                </a:tc>
              </a:tr>
            </a:tbl>
          </a:graphicData>
        </a:graphic>
      </p:graphicFrame>
      <p:sp>
        <p:nvSpPr>
          <p:cNvPr id="8" name="TextBox 7"/>
          <p:cNvSpPr txBox="1"/>
          <p:nvPr/>
        </p:nvSpPr>
        <p:spPr>
          <a:xfrm>
            <a:off x="777240" y="4590288"/>
            <a:ext cx="10637215" cy="256032"/>
          </a:xfrm>
          <a:prstGeom prst="rect">
            <a:avLst/>
          </a:prstGeom>
          <a:noFill/>
        </p:spPr>
        <p:txBody>
          <a:bodyPr wrap="square" lIns="0" rIns="0" tIns="0" bIns="0">
            <a:spAutoFit/>
          </a:bodyPr>
          <a:lstStyle/>
          <a:p>
            <a:pPr algn="l">
              <a:lnSpc>
                <a:spcPct val="100000"/>
              </a:lnSpc>
            </a:pPr>
            <a:r>
              <a:rPr sz="1100" b="0" i="1">
                <a:solidFill>
                  <a:srgbClr val="617274"/>
                </a:solidFill>
                <a:latin typeface="Segoe UI"/>
              </a:rPr>
              <a:t>‡ from LAVAD [3], Table 1. All other figures from AnyAnomaly [2], Tables 5–6.  Ours: Avenue/ShT one shared sentence; UCF one sentence per video.</a:t>
            </a:r>
          </a:p>
        </p:txBody>
      </p:sp>
      <p:sp>
        <p:nvSpPr>
          <p:cNvPr id="9" name="Rectangle 8"/>
          <p:cNvSpPr/>
          <p:nvPr/>
        </p:nvSpPr>
        <p:spPr>
          <a:xfrm>
            <a:off x="777240" y="5047488"/>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4919472"/>
            <a:ext cx="10399471" cy="365760"/>
          </a:xfrm>
          <a:prstGeom prst="rect">
            <a:avLst/>
          </a:prstGeom>
          <a:noFill/>
        </p:spPr>
        <p:txBody>
          <a:bodyPr wrap="square" lIns="0" rIns="0" tIns="0" bIns="0">
            <a:spAutoFit/>
          </a:bodyPr>
          <a:lstStyle/>
          <a:p>
            <a:pPr>
              <a:lnSpc>
                <a:spcPct val="125000"/>
              </a:lnSpc>
            </a:pPr>
            <a:r>
              <a:rPr sz="1350" b="1">
                <a:solidFill>
                  <a:srgbClr val="141C1E"/>
                </a:solidFill>
                <a:latin typeface="Segoe UI"/>
              </a:rPr>
              <a:t>AnyAnomaly asks “is the thing I named happening?”  We ask “is anything happening that doesn’t belong here?”  </a:t>
            </a:r>
            <a:r>
              <a:rPr sz="1350">
                <a:solidFill>
                  <a:srgbClr val="3A4A4C"/>
                </a:solidFill>
                <a:latin typeface="Segoe UI"/>
              </a:rPr>
              <a:t>Theirs needs a list of what could go wrong — at evaluation it is handed the benchmark’s own anomaly classes. Ours needs a description of the ordinary.</a:t>
            </a:r>
          </a:p>
        </p:txBody>
      </p:sp>
      <p:sp>
        <p:nvSpPr>
          <p:cNvPr id="11" name="Rectangle 10"/>
          <p:cNvSpPr/>
          <p:nvPr/>
        </p:nvSpPr>
        <p:spPr>
          <a:xfrm>
            <a:off x="777240" y="5806440"/>
            <a:ext cx="10637215" cy="7772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806440"/>
            <a:ext cx="45720" cy="7772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595274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WHERE WE LEAD</a:t>
            </a:r>
          </a:p>
        </p:txBody>
      </p:sp>
      <p:sp>
        <p:nvSpPr>
          <p:cNvPr id="14" name="TextBox 13"/>
          <p:cNvSpPr txBox="1"/>
          <p:nvPr/>
        </p:nvSpPr>
        <p:spPr>
          <a:xfrm>
            <a:off x="1033271" y="6245352"/>
            <a:ext cx="10134295" cy="210311"/>
          </a:xfrm>
          <a:prstGeom prst="rect">
            <a:avLst/>
          </a:prstGeom>
          <a:noFill/>
        </p:spPr>
        <p:txBody>
          <a:bodyPr wrap="square" lIns="0" rIns="0" tIns="0" bIns="0">
            <a:spAutoFit/>
          </a:bodyPr>
          <a:lstStyle/>
          <a:p>
            <a:pPr algn="l">
              <a:lnSpc>
                <a:spcPct val="100000"/>
              </a:lnSpc>
            </a:pPr>
            <a:r>
              <a:rPr sz="1350" b="0" i="0">
                <a:solidFill>
                  <a:srgbClr val="141C1E"/>
                </a:solidFill>
                <a:latin typeface="Segoe UI"/>
              </a:rPr>
              <a:t>First of six training-free methods on UCF-Crime; behind AnyAnomaly on the campus benchmarks.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ASSESSMENT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Limitations we are stating ourselves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28</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The mechanism is bounded.  </a:t>
            </a:r>
            <a:r>
              <a:rPr sz="1450">
                <a:solidFill>
                  <a:srgbClr val="3A4A4C"/>
                </a:solidFill>
                <a:latin typeface="Segoe UI"/>
              </a:rPr>
              <a:t>It works on ShanghaiTech and UCF-Crime and nearly vanishes on single-camera Avenue. A pre-registered prediction that it grows with scene diversity was refuted.</a:t>
            </a:r>
          </a:p>
        </p:txBody>
      </p:sp>
      <p:sp>
        <p:nvSpPr>
          <p:cNvPr id="9" name="Rectangle 8"/>
          <p:cNvSpPr/>
          <p:nvPr/>
        </p:nvSpPr>
        <p:spPr>
          <a:xfrm>
            <a:off x="777240" y="266090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532888"/>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Resolution ceiling.  </a:t>
            </a:r>
            <a:r>
              <a:rPr sz="1450">
                <a:solidFill>
                  <a:srgbClr val="3A4A4C"/>
                </a:solidFill>
                <a:latin typeface="Segoe UI"/>
              </a:rPr>
              <a:t>Whole-frame embeddings at 224×224 cannot resolve small objects. Quadrant scoring did not close it; patch-level scoring is untested.</a:t>
            </a:r>
          </a:p>
        </p:txBody>
      </p:sp>
      <p:sp>
        <p:nvSpPr>
          <p:cNvPr id="11" name="Rectangle 10"/>
          <p:cNvSpPr/>
          <p:nvPr/>
        </p:nvSpPr>
        <p:spPr>
          <a:xfrm>
            <a:off x="777240" y="3447288"/>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319272"/>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What the sentence actually does is not settled.  </a:t>
            </a:r>
            <a:r>
              <a:rPr sz="1450">
                <a:solidFill>
                  <a:srgbClr val="3A4A4C"/>
                </a:solidFill>
                <a:latin typeface="Segoe UI"/>
              </a:rPr>
              <a:t>Inside each video it barely re-ranks frames (+0.006); most of the 0.105 is per-video score shifts that the pooled metric rewards. An audit is the next experiment.</a:t>
            </a:r>
          </a:p>
        </p:txBody>
      </p:sp>
      <p:sp>
        <p:nvSpPr>
          <p:cNvPr id="13" name="Rectangle 12"/>
          <p:cNvSpPr/>
          <p:nvPr/>
        </p:nvSpPr>
        <p:spPr>
          <a:xfrm>
            <a:off x="777240" y="423367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3" y="4105656"/>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The metrics are scale-sensitive.  </a:t>
            </a:r>
            <a:r>
              <a:rPr sz="1450">
                <a:solidFill>
                  <a:srgbClr val="3A4A4C"/>
                </a:solidFill>
                <a:latin typeface="Segoe UI"/>
              </a:rPr>
              <a:t>Softmax plus per-clip normalisation changes pooled figures without changing rankings; on UCF-Crime the effect shrinks under per-video normalisation.</a:t>
            </a:r>
          </a:p>
        </p:txBody>
      </p:sp>
      <p:sp>
        <p:nvSpPr>
          <p:cNvPr id="15" name="Rectangle 14"/>
          <p:cNvSpPr/>
          <p:nvPr/>
        </p:nvSpPr>
        <p:spPr>
          <a:xfrm>
            <a:off x="777240" y="5020056"/>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3" y="4892040"/>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Configuration selection.  </a:t>
            </a:r>
            <a:r>
              <a:rPr sz="1450">
                <a:solidFill>
                  <a:srgbClr val="3A4A4C"/>
                </a:solidFill>
                <a:latin typeface="Segoe UI"/>
              </a:rPr>
              <a:t>No validation split exists for these benchmarks, so we split clips and report the half never used to select.</a:t>
            </a:r>
          </a:p>
        </p:txBody>
      </p:sp>
      <p:sp>
        <p:nvSpPr>
          <p:cNvPr id="17" name="Rectangle 16"/>
          <p:cNvSpPr/>
          <p:nvPr/>
        </p:nvSpPr>
        <p:spPr>
          <a:xfrm>
            <a:off x="777240" y="580644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5678424"/>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No explanations yet.  </a:t>
            </a:r>
            <a:r>
              <a:rPr sz="1450">
                <a:solidFill>
                  <a:srgbClr val="3A4A4C"/>
                </a:solidFill>
                <a:latin typeface="Segoe UI"/>
              </a:rPr>
              <a:t>M4 now writes the camera sentences, but has not yet explained flagged events.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NEXT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comes next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29</a:t>
            </a:r>
          </a:p>
        </p:txBody>
      </p:sp>
      <p:graphicFrame>
        <p:nvGraphicFramePr>
          <p:cNvPr id="7" name="Table 6"/>
          <p:cNvGraphicFramePr>
            <a:graphicFrameLocks noGrp="1"/>
          </p:cNvGraphicFramePr>
          <p:nvPr/>
        </p:nvGraphicFramePr>
        <p:xfrm>
          <a:off x="777240" y="1828800"/>
          <a:ext cx="10634472" cy="2834640"/>
        </p:xfrm>
        <a:graphic>
          <a:graphicData uri="http://schemas.openxmlformats.org/drawingml/2006/table">
            <a:tbl>
              <a:tblPr firstRow="1">
                <a:tableStyleId>{5C22544A-7EE6-4342-B048-85BDC9FD1C3A}</a:tableStyleId>
              </a:tblPr>
              <a:tblGrid>
                <a:gridCol w="1097280"/>
                <a:gridCol w="5029200"/>
                <a:gridCol w="4507992"/>
              </a:tblGrid>
              <a:tr h="566928">
                <a:tc>
                  <a:txBody>
                    <a:bodyPr wrap="square"/>
                    <a:lstStyle/>
                    <a:p>
                      <a:pPr algn="r"/>
                      <a:r>
                        <a:rPr sz="1350" b="1">
                          <a:solidFill>
                            <a:srgbClr val="FFFFFF"/>
                          </a:solidFill>
                          <a:latin typeface="Segoe UI"/>
                        </a:rPr>
                        <a:t>Priority</a:t>
                      </a:r>
                    </a:p>
                  </a:txBody>
                  <a:tcPr marL="128016" marR="128016" marT="45720" marB="45720" anchor="ctr">
                    <a:solidFill>
                      <a:srgbClr val="141C1E"/>
                    </a:solidFill>
                  </a:tcPr>
                </a:tc>
                <a:tc>
                  <a:txBody>
                    <a:bodyPr wrap="square"/>
                    <a:lstStyle/>
                    <a:p>
                      <a:pPr algn="l"/>
                      <a:r>
                        <a:rPr sz="1350" b="1">
                          <a:solidFill>
                            <a:srgbClr val="FFFFFF"/>
                          </a:solidFill>
                          <a:latin typeface="Segoe UI"/>
                        </a:rPr>
                        <a:t>Work</a:t>
                      </a:r>
                    </a:p>
                  </a:txBody>
                  <a:tcPr marL="128016" marR="128016" marT="45720" marB="45720" anchor="ctr">
                    <a:solidFill>
                      <a:srgbClr val="141C1E"/>
                    </a:solidFill>
                  </a:tcPr>
                </a:tc>
                <a:tc>
                  <a:txBody>
                    <a:bodyPr wrap="square"/>
                    <a:lstStyle/>
                    <a:p>
                      <a:pPr algn="l"/>
                      <a:r>
                        <a:rPr sz="1350" b="1">
                          <a:solidFill>
                            <a:srgbClr val="FFFFFF"/>
                          </a:solidFill>
                          <a:latin typeface="Segoe UI"/>
                        </a:rPr>
                        <a:t>Why it matters</a:t>
                      </a:r>
                    </a:p>
                  </a:txBody>
                  <a:tcPr marL="128016" marR="128016" marT="45720" marB="45720" anchor="ctr">
                    <a:solidFill>
                      <a:srgbClr val="141C1E"/>
                    </a:solidFill>
                  </a:tcPr>
                </a:tc>
              </a:tr>
              <a:tr h="566928">
                <a:tc>
                  <a:txBody>
                    <a:bodyPr wrap="square"/>
                    <a:lstStyle/>
                    <a:p>
                      <a:pPr algn="r"/>
                      <a:r>
                        <a:rPr sz="1350" b="0">
                          <a:solidFill>
                            <a:srgbClr val="141C1E"/>
                          </a:solidFill>
                          <a:latin typeface="Consolas"/>
                        </a:rPr>
                        <a:t>1</a:t>
                      </a:r>
                    </a:p>
                  </a:txBody>
                  <a:tcPr marL="128016" marR="128016" marT="45720" marB="45720" anchor="ctr">
                    <a:solidFill>
                      <a:srgbClr val="FFFFFF"/>
                    </a:solidFill>
                  </a:tcPr>
                </a:tc>
                <a:tc>
                  <a:txBody>
                    <a:bodyPr wrap="square"/>
                    <a:lstStyle/>
                    <a:p>
                      <a:pPr algn="l"/>
                      <a:r>
                        <a:rPr sz="1350" b="0">
                          <a:solidFill>
                            <a:srgbClr val="141C1E"/>
                          </a:solidFill>
                          <a:latin typeface="Segoe UI"/>
                        </a:rPr>
                        <a:t>Re-check how the scene sentence helps, on all datasets</a:t>
                      </a:r>
                    </a:p>
                  </a:txBody>
                  <a:tcPr marL="128016" marR="128016" marT="45720" marB="45720" anchor="ctr">
                    <a:solidFill>
                      <a:srgbClr val="FFFFFF"/>
                    </a:solidFill>
                  </a:tcPr>
                </a:tc>
                <a:tc>
                  <a:txBody>
                    <a:bodyPr wrap="square"/>
                    <a:lstStyle/>
                    <a:p>
                      <a:pPr algn="l"/>
                      <a:r>
                        <a:rPr sz="1350" b="0">
                          <a:solidFill>
                            <a:srgbClr val="141C1E"/>
                          </a:solidFill>
                          <a:latin typeface="Segoe UI"/>
                        </a:rPr>
                        <a:t>Does it spot anomalies better, or mainly put all cameras on the same scale?</a:t>
                      </a:r>
                    </a:p>
                  </a:txBody>
                  <a:tcPr marL="128016" marR="128016" marT="45720" marB="45720" anchor="ctr">
                    <a:solidFill>
                      <a:srgbClr val="FFFFFF"/>
                    </a:solidFill>
                  </a:tcPr>
                </a:tc>
              </a:tr>
              <a:tr h="566928">
                <a:tc>
                  <a:txBody>
                    <a:bodyPr wrap="square"/>
                    <a:lstStyle/>
                    <a:p>
                      <a:pPr algn="r"/>
                      <a:r>
                        <a:rPr sz="1350" b="0">
                          <a:solidFill>
                            <a:srgbClr val="141C1E"/>
                          </a:solidFill>
                          <a:latin typeface="Consolas"/>
                        </a:rPr>
                        <a:t>2</a:t>
                      </a:r>
                    </a:p>
                  </a:txBody>
                  <a:tcPr marL="128016" marR="128016" marT="45720" marB="45720" anchor="ctr">
                    <a:solidFill>
                      <a:srgbClr val="F5F7F7"/>
                    </a:solidFill>
                  </a:tcPr>
                </a:tc>
                <a:tc>
                  <a:txBody>
                    <a:bodyPr wrap="square"/>
                    <a:lstStyle/>
                    <a:p>
                      <a:pPr algn="l"/>
                      <a:r>
                        <a:rPr sz="1350" b="0">
                          <a:solidFill>
                            <a:srgbClr val="141C1E"/>
                          </a:solidFill>
                          <a:latin typeface="Segoe UI"/>
                        </a:rPr>
                        <a:t>XD-Violence (pre-registered) and UCF-Crime on every frame</a:t>
                      </a:r>
                    </a:p>
                  </a:txBody>
                  <a:tcPr marL="128016" marR="128016" marT="45720" marB="45720" anchor="ctr">
                    <a:solidFill>
                      <a:srgbClr val="F5F7F7"/>
                    </a:solidFill>
                  </a:tcPr>
                </a:tc>
                <a:tc>
                  <a:txBody>
                    <a:bodyPr wrap="square"/>
                    <a:lstStyle/>
                    <a:p>
                      <a:pPr algn="l"/>
                      <a:r>
                        <a:rPr sz="1350" b="0">
                          <a:solidFill>
                            <a:srgbClr val="141C1E"/>
                          </a:solidFill>
                          <a:latin typeface="Segoe UI"/>
                        </a:rPr>
                        <a:t>LAVAD's second benchmark; makes the comparison airtight</a:t>
                      </a:r>
                    </a:p>
                  </a:txBody>
                  <a:tcPr marL="128016" marR="128016" marT="45720" marB="45720" anchor="ctr">
                    <a:solidFill>
                      <a:srgbClr val="F5F7F7"/>
                    </a:solidFill>
                  </a:tcPr>
                </a:tc>
              </a:tr>
              <a:tr h="566928">
                <a:tc>
                  <a:txBody>
                    <a:bodyPr wrap="square"/>
                    <a:lstStyle/>
                    <a:p>
                      <a:pPr algn="r"/>
                      <a:r>
                        <a:rPr sz="1350" b="0">
                          <a:solidFill>
                            <a:srgbClr val="141C1E"/>
                          </a:solidFill>
                          <a:latin typeface="Consolas"/>
                        </a:rPr>
                        <a:t>3</a:t>
                      </a:r>
                    </a:p>
                  </a:txBody>
                  <a:tcPr marL="128016" marR="128016" marT="45720" marB="45720" anchor="ctr">
                    <a:solidFill>
                      <a:srgbClr val="FFFFFF"/>
                    </a:solidFill>
                  </a:tcPr>
                </a:tc>
                <a:tc>
                  <a:txBody>
                    <a:bodyPr wrap="square"/>
                    <a:lstStyle/>
                    <a:p>
                      <a:pPr algn="l"/>
                      <a:r>
                        <a:rPr sz="1350" b="0">
                          <a:solidFill>
                            <a:srgbClr val="141C1E"/>
                          </a:solidFill>
                          <a:latin typeface="Segoe UI"/>
                        </a:rPr>
                        <a:t>NWPU Campus — scene-dependent anomalies</a:t>
                      </a:r>
                    </a:p>
                  </a:txBody>
                  <a:tcPr marL="128016" marR="128016" marT="45720" marB="45720" anchor="ctr">
                    <a:solidFill>
                      <a:srgbClr val="FFFFFF"/>
                    </a:solidFill>
                  </a:tcPr>
                </a:tc>
                <a:tc>
                  <a:txBody>
                    <a:bodyPr wrap="square"/>
                    <a:lstStyle/>
                    <a:p>
                      <a:pPr algn="l"/>
                      <a:r>
                        <a:rPr sz="1350" b="0">
                          <a:solidFill>
                            <a:srgbClr val="141C1E"/>
                          </a:solidFill>
                          <a:latin typeface="Segoe UI"/>
                        </a:rPr>
                        <a:t>The only benchmark where the same event flips label by scene: a direct concept-shift test</a:t>
                      </a:r>
                    </a:p>
                  </a:txBody>
                  <a:tcPr marL="128016" marR="128016" marT="45720" marB="45720" anchor="ctr">
                    <a:solidFill>
                      <a:srgbClr val="FFFFFF"/>
                    </a:solidFill>
                  </a:tcPr>
                </a:tc>
              </a:tr>
              <a:tr h="566928">
                <a:tc>
                  <a:txBody>
                    <a:bodyPr wrap="square"/>
                    <a:lstStyle/>
                    <a:p>
                      <a:pPr algn="r"/>
                      <a:r>
                        <a:rPr sz="1350" b="0">
                          <a:solidFill>
                            <a:srgbClr val="141C1E"/>
                          </a:solidFill>
                          <a:latin typeface="Consolas"/>
                        </a:rPr>
                        <a:t>4</a:t>
                      </a:r>
                    </a:p>
                  </a:txBody>
                  <a:tcPr marL="128016" marR="128016" marT="45720" marB="45720" anchor="ctr">
                    <a:solidFill>
                      <a:srgbClr val="F5F7F7"/>
                    </a:solidFill>
                  </a:tcPr>
                </a:tc>
                <a:tc>
                  <a:txBody>
                    <a:bodyPr wrap="square"/>
                    <a:lstStyle/>
                    <a:p>
                      <a:pPr algn="l"/>
                      <a:r>
                        <a:rPr sz="1350" b="0">
                          <a:solidFill>
                            <a:srgbClr val="141C1E"/>
                          </a:solidFill>
                          <a:latin typeface="Segoe UI"/>
                        </a:rPr>
                        <a:t>Patch-level scoring; M4 explanations</a:t>
                      </a:r>
                    </a:p>
                  </a:txBody>
                  <a:tcPr marL="128016" marR="128016" marT="45720" marB="45720" anchor="ctr">
                    <a:solidFill>
                      <a:srgbClr val="F5F7F7"/>
                    </a:solidFill>
                  </a:tcPr>
                </a:tc>
                <a:tc>
                  <a:txBody>
                    <a:bodyPr wrap="square"/>
                    <a:lstStyle/>
                    <a:p>
                      <a:pPr algn="l"/>
                      <a:r>
                        <a:rPr sz="1350" b="0">
                          <a:solidFill>
                            <a:srgbClr val="141C1E"/>
                          </a:solidFill>
                          <a:latin typeface="Segoe UI"/>
                        </a:rPr>
                        <a:t>Higher figure on small anomalies; completes the framework for the thesis</a:t>
                      </a:r>
                    </a:p>
                  </a:txBody>
                  <a:tcPr marL="128016" marR="128016" marT="45720" marB="45720" anchor="ctr">
                    <a:solidFill>
                      <a:srgbClr val="F5F7F7"/>
                    </a:solidFill>
                  </a:tcPr>
                </a:tc>
              </a:tr>
            </a:tbl>
          </a:graphicData>
        </a:graphic>
      </p:graphicFrame>
      <p:sp>
        <p:nvSpPr>
          <p:cNvPr id="8" name="Rectangle 7"/>
          <p:cNvSpPr/>
          <p:nvPr/>
        </p:nvSpPr>
        <p:spPr>
          <a:xfrm>
            <a:off x="777240" y="4754880"/>
            <a:ext cx="10637215"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754880"/>
            <a:ext cx="45720" cy="13716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90118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DONE SINCE PHASE 2</a:t>
            </a:r>
          </a:p>
        </p:txBody>
      </p:sp>
      <p:sp>
        <p:nvSpPr>
          <p:cNvPr id="11" name="TextBox 10"/>
          <p:cNvSpPr txBox="1"/>
          <p:nvPr/>
        </p:nvSpPr>
        <p:spPr>
          <a:xfrm>
            <a:off x="1033271" y="5193792"/>
            <a:ext cx="10134295" cy="804672"/>
          </a:xfrm>
          <a:prstGeom prst="rect">
            <a:avLst/>
          </a:prstGeom>
          <a:noFill/>
        </p:spPr>
        <p:txBody>
          <a:bodyPr wrap="square" lIns="0" rIns="0" tIns="0" bIns="0">
            <a:spAutoFit/>
          </a:bodyPr>
          <a:lstStyle/>
          <a:p>
            <a:pPr algn="l">
              <a:lnSpc>
                <a:spcPct val="100000"/>
              </a:lnSpc>
            </a:pPr>
            <a:r>
              <a:rPr sz="1500" b="0" i="0">
                <a:solidFill>
                  <a:srgbClr val="141C1E"/>
                </a:solidFill>
                <a:latin typeface="Segoe UI"/>
              </a:rPr>
              <a:t>Within-view control with a confidence interval; prototype direction measured; per-camera sentences written by the system (0.751); UCF-Crime under pre-registered predictions (0.824); every citation checked against its source.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PHASE 3</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Summary</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30</a:t>
            </a:r>
          </a:p>
        </p:txBody>
      </p:sp>
      <p:sp>
        <p:nvSpPr>
          <p:cNvPr id="7" name="Rectangle 6"/>
          <p:cNvSpPr/>
          <p:nvPr/>
        </p:nvSpPr>
        <p:spPr>
          <a:xfrm>
            <a:off x="777240" y="178308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0253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1</a:t>
            </a:r>
          </a:p>
        </p:txBody>
      </p:sp>
      <p:sp>
        <p:nvSpPr>
          <p:cNvPr id="9" name="TextBox 8"/>
          <p:cNvSpPr txBox="1"/>
          <p:nvPr/>
        </p:nvSpPr>
        <p:spPr>
          <a:xfrm>
            <a:off x="1645919" y="1892807"/>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gap</a:t>
            </a:r>
          </a:p>
        </p:txBody>
      </p:sp>
      <p:sp>
        <p:nvSpPr>
          <p:cNvPr id="10" name="TextBox 9"/>
          <p:cNvSpPr txBox="1"/>
          <p:nvPr/>
        </p:nvSpPr>
        <p:spPr>
          <a:xfrm>
            <a:off x="1645919" y="216712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Domain adaptation research targets covariate shift by explicit scoping [14, 15]. Anomaly detection is dominated by concept shift.</a:t>
            </a:r>
          </a:p>
        </p:txBody>
      </p:sp>
      <p:sp>
        <p:nvSpPr>
          <p:cNvPr id="11" name="Rectangle 10"/>
          <p:cNvSpPr/>
          <p:nvPr/>
        </p:nvSpPr>
        <p:spPr>
          <a:xfrm>
            <a:off x="777240" y="2606040"/>
            <a:ext cx="10637215"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2549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2</a:t>
            </a:r>
          </a:p>
        </p:txBody>
      </p:sp>
      <p:sp>
        <p:nvSpPr>
          <p:cNvPr id="13" name="TextBox 12"/>
          <p:cNvSpPr txBox="1"/>
          <p:nvPr/>
        </p:nvSpPr>
        <p:spPr>
          <a:xfrm>
            <a:off x="1645919" y="271576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method</a:t>
            </a:r>
          </a:p>
        </p:txBody>
      </p:sp>
      <p:sp>
        <p:nvSpPr>
          <p:cNvPr id="14" name="TextBox 13"/>
          <p:cNvSpPr txBox="1"/>
          <p:nvPr/>
        </p:nvSpPr>
        <p:spPr>
          <a:xfrm>
            <a:off x="1645919" y="299008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Every model frozen; adaptation carried by one sentence per camera, which the system writes itself from a few frames.</a:t>
            </a:r>
          </a:p>
        </p:txBody>
      </p:sp>
      <p:sp>
        <p:nvSpPr>
          <p:cNvPr id="15" name="Rectangle 14"/>
          <p:cNvSpPr/>
          <p:nvPr/>
        </p:nvSpPr>
        <p:spPr>
          <a:xfrm>
            <a:off x="777240" y="342900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64845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3</a:t>
            </a:r>
          </a:p>
        </p:txBody>
      </p:sp>
      <p:sp>
        <p:nvSpPr>
          <p:cNvPr id="17" name="TextBox 16"/>
          <p:cNvSpPr txBox="1"/>
          <p:nvPr/>
        </p:nvSpPr>
        <p:spPr>
          <a:xfrm>
            <a:off x="1645919" y="353872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result</a:t>
            </a:r>
          </a:p>
        </p:txBody>
      </p:sp>
      <p:sp>
        <p:nvSpPr>
          <p:cNvPr id="18" name="TextBox 17"/>
          <p:cNvSpPr txBox="1"/>
          <p:nvPr/>
        </p:nvSpPr>
        <p:spPr>
          <a:xfrm>
            <a:off x="1645919" y="381304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0.751 on ShanghaiTech and 0.824 on UCF-Crime with no training. A wrong sentence costs 0.105 — mostly by shifting scores between videos.</a:t>
            </a:r>
          </a:p>
        </p:txBody>
      </p:sp>
      <p:sp>
        <p:nvSpPr>
          <p:cNvPr id="19" name="Rectangle 18"/>
          <p:cNvSpPr/>
          <p:nvPr/>
        </p:nvSpPr>
        <p:spPr>
          <a:xfrm>
            <a:off x="777240" y="4251960"/>
            <a:ext cx="10637215"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7141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4</a:t>
            </a:r>
          </a:p>
        </p:txBody>
      </p:sp>
      <p:sp>
        <p:nvSpPr>
          <p:cNvPr id="21" name="TextBox 20"/>
          <p:cNvSpPr txBox="1"/>
          <p:nvPr/>
        </p:nvSpPr>
        <p:spPr>
          <a:xfrm>
            <a:off x="1645919" y="436168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finding</a:t>
            </a:r>
          </a:p>
        </p:txBody>
      </p:sp>
      <p:sp>
        <p:nvSpPr>
          <p:cNvPr id="22" name="TextBox 21"/>
          <p:cNvSpPr txBox="1"/>
          <p:nvPr/>
        </p:nvSpPr>
        <p:spPr>
          <a:xfrm>
            <a:off x="1645919" y="463600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Where the description is injected dominates what it says, to the point of reversing the effect. Not in the literature.</a:t>
            </a:r>
          </a:p>
        </p:txBody>
      </p:sp>
      <p:sp>
        <p:nvSpPr>
          <p:cNvPr id="23" name="Rectangle 22"/>
          <p:cNvSpPr/>
          <p:nvPr/>
        </p:nvSpPr>
        <p:spPr>
          <a:xfrm>
            <a:off x="777240" y="507492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29437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5</a:t>
            </a:r>
          </a:p>
        </p:txBody>
      </p:sp>
      <p:sp>
        <p:nvSpPr>
          <p:cNvPr id="25" name="TextBox 24"/>
          <p:cNvSpPr txBox="1"/>
          <p:nvPr/>
        </p:nvSpPr>
        <p:spPr>
          <a:xfrm>
            <a:off x="1645919" y="518464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boundary</a:t>
            </a:r>
          </a:p>
        </p:txBody>
      </p:sp>
      <p:sp>
        <p:nvSpPr>
          <p:cNvPr id="26" name="TextBox 25"/>
          <p:cNvSpPr txBox="1"/>
          <p:nvPr/>
        </p:nvSpPr>
        <p:spPr>
          <a:xfrm>
            <a:off x="1645919" y="545896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It needs several scenes: flat on single-camera Avenue, strong on ShanghaiTech and UCF-Crime — but it does not keep growing with more scenes, as a pre-registered test showed.</a:t>
            </a:r>
          </a:p>
        </p:txBody>
      </p:sp>
      <p:sp>
        <p:nvSpPr>
          <p:cNvPr id="27" name="TextBox 26"/>
          <p:cNvSpPr txBox="1"/>
          <p:nvPr/>
        </p:nvSpPr>
        <p:spPr>
          <a:xfrm>
            <a:off x="777240" y="6172200"/>
            <a:ext cx="10637215" cy="320040"/>
          </a:xfrm>
          <a:prstGeom prst="rect">
            <a:avLst/>
          </a:prstGeom>
          <a:noFill/>
        </p:spPr>
        <p:txBody>
          <a:bodyPr wrap="square" lIns="0" rIns="0" tIns="0" bIns="0">
            <a:spAutoFit/>
          </a:bodyPr>
          <a:lstStyle/>
          <a:p>
            <a:pPr algn="ctr">
              <a:lnSpc>
                <a:spcPct val="100000"/>
              </a:lnSpc>
            </a:pPr>
            <a:r>
              <a:rPr sz="1300" b="0" i="1">
                <a:solidFill>
                  <a:srgbClr val="617274"/>
                </a:solidFill>
                <a:latin typeface="Segoe UI"/>
              </a:rPr>
              <a:t>All results reproducible from committed code and run manifests.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1 OF 3</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31</a:t>
            </a:r>
          </a:p>
        </p:txBody>
      </p:sp>
      <p:sp>
        <p:nvSpPr>
          <p:cNvPr id="7" name="TextBox 6"/>
          <p:cNvSpPr txBox="1"/>
          <p:nvPr/>
        </p:nvSpPr>
        <p:spPr>
          <a:xfrm>
            <a:off x="777240" y="175564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  </a:t>
            </a:r>
            <a:r>
              <a:rPr sz="900">
                <a:solidFill>
                  <a:srgbClr val="141C1E"/>
                </a:solidFill>
                <a:latin typeface="Segoe UI"/>
              </a:rPr>
              <a:t>K. Wilkinghoff, N. Madan, J. M. Valverde, K. Nasrollahi, R. T. Ionescu, R. Wisniewski, T. B. Moeslund, W. Wang, Z.-H. Tan, Out of context: Reliability in multimodal anomaly detection requires contextual inference, arXiv preprint arXiv:2604.13252 (2026).</a:t>
            </a:r>
          </a:p>
        </p:txBody>
      </p:sp>
      <p:sp>
        <p:nvSpPr>
          <p:cNvPr id="8" name="TextBox 7"/>
          <p:cNvSpPr txBox="1"/>
          <p:nvPr/>
        </p:nvSpPr>
        <p:spPr>
          <a:xfrm>
            <a:off x="777240" y="206197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  </a:t>
            </a:r>
            <a:r>
              <a:rPr sz="900">
                <a:solidFill>
                  <a:srgbClr val="141C1E"/>
                </a:solidFill>
                <a:latin typeface="Segoe UI"/>
              </a:rPr>
              <a:t>S. Ahn, Y. Jo, K. Lee, S. Kwon, I. Hong, S. Park, AnyAnomaly: Zero-shot customizable video anomaly detection with LVLM, in: Proceedings of the IEEE/CVF Winter Conference on Applications of Computer Vision (WACV), 2026, pp. 3026–3035.</a:t>
            </a:r>
          </a:p>
        </p:txBody>
      </p:sp>
      <p:sp>
        <p:nvSpPr>
          <p:cNvPr id="9" name="TextBox 8"/>
          <p:cNvSpPr txBox="1"/>
          <p:nvPr/>
        </p:nvSpPr>
        <p:spPr>
          <a:xfrm>
            <a:off x="777240" y="236829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  </a:t>
            </a:r>
            <a:r>
              <a:rPr sz="900">
                <a:solidFill>
                  <a:srgbClr val="141C1E"/>
                </a:solidFill>
                <a:latin typeface="Segoe UI"/>
              </a:rPr>
              <a:t>L. Zanella, W. Menapace, M. Mancini, Y. Wang, E. Ricci, Harnessing large language models for training-free video anomaly detection, in: Proceedings of the IEEE/CVF Conference on Computer Vision and Pattern Recognition (CVPR), 2024, pp. 18527–18536.</a:t>
            </a:r>
          </a:p>
        </p:txBody>
      </p:sp>
      <p:sp>
        <p:nvSpPr>
          <p:cNvPr id="10" name="TextBox 9"/>
          <p:cNvSpPr txBox="1"/>
          <p:nvPr/>
        </p:nvSpPr>
        <p:spPr>
          <a:xfrm>
            <a:off x="777240" y="267462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[4]  </a:t>
            </a:r>
            <a:r>
              <a:rPr sz="900">
                <a:solidFill>
                  <a:srgbClr val="141C1E"/>
                </a:solidFill>
                <a:latin typeface="Segoe UI"/>
              </a:rPr>
              <a:t>A. Radford, J. W. Kim, C. Hallacy, A. Ramesh, G. Goh, S. Agarwal, G. Sastry, A. Askell, P. Mishkin, J. Clark, G. Krueger, I. Sutskever, Learning transferable visual models from natural language supervision, in: Proceedings of the International Conference on Machine Learning (ICML), 2021, pp. 8748–8763.</a:t>
            </a:r>
          </a:p>
        </p:txBody>
      </p:sp>
      <p:sp>
        <p:nvSpPr>
          <p:cNvPr id="11" name="TextBox 10"/>
          <p:cNvSpPr txBox="1"/>
          <p:nvPr/>
        </p:nvSpPr>
        <p:spPr>
          <a:xfrm>
            <a:off x="777240" y="298094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[5]  </a:t>
            </a:r>
            <a:r>
              <a:rPr sz="900">
                <a:solidFill>
                  <a:srgbClr val="141C1E"/>
                </a:solidFill>
                <a:latin typeface="Segoe UI"/>
              </a:rPr>
              <a:t>J. Jeong, Y. Zou, T. Kim, D. Zhang, A. Ravichandran, O. Dabeer, WinCLIP: Zero-/few-shot anomaly classification and segmentation, in: Proceedings of the IEEE/CVF Conference on Computer Vision and Pattern Recognition (CVPR), 2023, pp. 19606–19616.</a:t>
            </a:r>
          </a:p>
        </p:txBody>
      </p:sp>
      <p:sp>
        <p:nvSpPr>
          <p:cNvPr id="12" name="TextBox 11"/>
          <p:cNvSpPr txBox="1"/>
          <p:nvPr/>
        </p:nvSpPr>
        <p:spPr>
          <a:xfrm>
            <a:off x="777240" y="328726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[6]  </a:t>
            </a:r>
            <a:r>
              <a:rPr sz="900">
                <a:solidFill>
                  <a:srgbClr val="141C1E"/>
                </a:solidFill>
                <a:latin typeface="Segoe UI"/>
              </a:rPr>
              <a:t>Q. Zhou, G. Pang, Y. Tian, S. He, J. Chen, AnomalyCLIP: Object-agnostic prompt learning for zero-shot anomaly detection, in: Proceedings of the International Conference on Learning Representations (ICLR), 2024.</a:t>
            </a:r>
          </a:p>
        </p:txBody>
      </p:sp>
      <p:sp>
        <p:nvSpPr>
          <p:cNvPr id="13" name="TextBox 12"/>
          <p:cNvSpPr txBox="1"/>
          <p:nvPr/>
        </p:nvSpPr>
        <p:spPr>
          <a:xfrm>
            <a:off x="777240" y="3593591"/>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[7]  </a:t>
            </a:r>
            <a:r>
              <a:rPr sz="900">
                <a:solidFill>
                  <a:srgbClr val="141C1E"/>
                </a:solidFill>
                <a:latin typeface="Segoe UI"/>
              </a:rPr>
              <a:t>P. Bergmann, M. Fauser, D. Sattlegger, C. Steger, MVTec AD — A comprehensive real-world dataset for unsupervised anomaly detection, in: Proceedings of the IEEE/CVF Conference on Computer Vision and Pattern Recognition (CVPR), 2019, pp. 9592–9600.</a:t>
            </a:r>
          </a:p>
        </p:txBody>
      </p:sp>
      <p:sp>
        <p:nvSpPr>
          <p:cNvPr id="14" name="TextBox 13"/>
          <p:cNvSpPr txBox="1"/>
          <p:nvPr/>
        </p:nvSpPr>
        <p:spPr>
          <a:xfrm>
            <a:off x="777240" y="3899915"/>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[8]  </a:t>
            </a:r>
            <a:r>
              <a:rPr sz="900">
                <a:solidFill>
                  <a:srgbClr val="141C1E"/>
                </a:solidFill>
                <a:latin typeface="Segoe UI"/>
              </a:rPr>
              <a:t>K. Roth, L. Pemula, J. Zepeda, B. Schölkopf, T. Brox, P. Gehler, Towards total recall in industrial anomaly detection, in: Proceedings of the IEEE/CVF Conference on Computer Vision and Pattern Recognition (CVPR), 2022, pp. 14318–14328.</a:t>
            </a:r>
          </a:p>
        </p:txBody>
      </p:sp>
      <p:sp>
        <p:nvSpPr>
          <p:cNvPr id="15" name="TextBox 14"/>
          <p:cNvSpPr txBox="1"/>
          <p:nvPr/>
        </p:nvSpPr>
        <p:spPr>
          <a:xfrm>
            <a:off x="777240" y="420624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[9]  </a:t>
            </a:r>
            <a:r>
              <a:rPr sz="900">
                <a:solidFill>
                  <a:srgbClr val="141C1E"/>
                </a:solidFill>
                <a:latin typeface="Segoe UI"/>
              </a:rPr>
              <a:t>M. Ye, W. Liu, P. He, VERA: Explainable video anomaly detection via verbalized learning of vision-language models, in: Proceedings of the IEEE/CVF Conference on Computer Vision and Pattern Recognition (CVPR), 2025, pp. 8679–8688.</a:t>
            </a:r>
          </a:p>
        </p:txBody>
      </p:sp>
      <p:sp>
        <p:nvSpPr>
          <p:cNvPr id="16" name="TextBox 15"/>
          <p:cNvSpPr txBox="1"/>
          <p:nvPr/>
        </p:nvSpPr>
        <p:spPr>
          <a:xfrm>
            <a:off x="777240" y="451256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[10]  </a:t>
            </a:r>
            <a:r>
              <a:rPr sz="900">
                <a:solidFill>
                  <a:srgbClr val="141C1E"/>
                </a:solidFill>
                <a:latin typeface="Segoe UI"/>
              </a:rPr>
              <a:t>P. Wu, X. Zhou, G. Pang, Y. Sun, J. Liu, P. Wang, Y. Zhang, Open-vocabulary video anomaly detection, in: Proceedings of the IEEE/CVF Conference on Computer Vision and Pattern Recognition (CVPR), 2024, pp. 18297–18307.</a:t>
            </a:r>
          </a:p>
        </p:txBody>
      </p:sp>
      <p:sp>
        <p:nvSpPr>
          <p:cNvPr id="17" name="TextBox 16"/>
          <p:cNvSpPr txBox="1"/>
          <p:nvPr/>
        </p:nvSpPr>
        <p:spPr>
          <a:xfrm>
            <a:off x="777240" y="481888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[11]  </a:t>
            </a:r>
            <a:r>
              <a:rPr sz="900">
                <a:solidFill>
                  <a:srgbClr val="141C1E"/>
                </a:solidFill>
                <a:latin typeface="Segoe UI"/>
              </a:rPr>
              <a:t>V. M. Patel, R. Gopalan, R. Li, R. Chellappa, Visual domain adaptation: A survey of recent advances, IEEE Signal Processing Magazine 32 (2015) 53–69.</a:t>
            </a:r>
          </a:p>
        </p:txBody>
      </p:sp>
      <p:sp>
        <p:nvSpPr>
          <p:cNvPr id="18" name="TextBox 17"/>
          <p:cNvSpPr txBox="1"/>
          <p:nvPr/>
        </p:nvSpPr>
        <p:spPr>
          <a:xfrm>
            <a:off x="777240" y="512521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[12]  </a:t>
            </a:r>
            <a:r>
              <a:rPr sz="900">
                <a:solidFill>
                  <a:srgbClr val="141C1E"/>
                </a:solidFill>
                <a:latin typeface="Segoe UI"/>
              </a:rPr>
              <a:t>M. Wang, W. Deng, Deep visual domain adaptation: A survey, Neurocomputing 312 (2018) 135–153.</a:t>
            </a:r>
          </a:p>
        </p:txBody>
      </p:sp>
      <p:sp>
        <p:nvSpPr>
          <p:cNvPr id="19" name="TextBox 18"/>
          <p:cNvSpPr txBox="1"/>
          <p:nvPr/>
        </p:nvSpPr>
        <p:spPr>
          <a:xfrm>
            <a:off x="777240" y="543153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[13]  </a:t>
            </a:r>
            <a:r>
              <a:rPr sz="900">
                <a:solidFill>
                  <a:srgbClr val="141C1E"/>
                </a:solidFill>
                <a:latin typeface="Segoe UI"/>
              </a:rPr>
              <a:t>G. Wilson, D. J. Cook, A survey of unsupervised deep domain adaptation, ACM Computing Surveys 51 (2020) 1–46.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2 OF 3</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32</a:t>
            </a:r>
          </a:p>
        </p:txBody>
      </p:sp>
      <p:sp>
        <p:nvSpPr>
          <p:cNvPr id="7" name="TextBox 6"/>
          <p:cNvSpPr txBox="1"/>
          <p:nvPr/>
        </p:nvSpPr>
        <p:spPr>
          <a:xfrm>
            <a:off x="777240" y="175564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[14]  </a:t>
            </a:r>
            <a:r>
              <a:rPr sz="900">
                <a:solidFill>
                  <a:srgbClr val="141C1E"/>
                </a:solidFill>
                <a:latin typeface="Segoe UI"/>
              </a:rPr>
              <a:t>X. Liu, C. Yoo, F. Xing, H. Oh, G. El Fakhri, J.-W. Kang, J. Woo, Deep unsupervised domain adaptation: A review of recent advances and perspectives, APSIPA Transactions on Signal and Information Processing 11 (2022). ArXiv:2208.07422.</a:t>
            </a:r>
          </a:p>
        </p:txBody>
      </p:sp>
      <p:sp>
        <p:nvSpPr>
          <p:cNvPr id="8" name="TextBox 7"/>
          <p:cNvSpPr txBox="1"/>
          <p:nvPr/>
        </p:nvSpPr>
        <p:spPr>
          <a:xfrm>
            <a:off x="777240" y="206197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[15]  </a:t>
            </a:r>
            <a:r>
              <a:rPr sz="900">
                <a:solidFill>
                  <a:srgbClr val="141C1E"/>
                </a:solidFill>
                <a:latin typeface="Segoe UI"/>
              </a:rPr>
              <a:t>P. Singhal, R. Walambe, S. Ramanna, K. Kotecha, Domain adaptation: Challenges, methods, datasets, and applications, IEEE Access 11 (2023) 6973–7020.</a:t>
            </a:r>
          </a:p>
        </p:txBody>
      </p:sp>
      <p:sp>
        <p:nvSpPr>
          <p:cNvPr id="9" name="TextBox 8"/>
          <p:cNvSpPr txBox="1"/>
          <p:nvPr/>
        </p:nvSpPr>
        <p:spPr>
          <a:xfrm>
            <a:off x="777240" y="236829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[16]  </a:t>
            </a:r>
            <a:r>
              <a:rPr sz="900">
                <a:solidFill>
                  <a:srgbClr val="141C1E"/>
                </a:solidFill>
                <a:latin typeface="Segoe UI"/>
              </a:rPr>
              <a:t>L. Fan, F. Liu, C. Chen, Domain adaptation of large language models for geotechnical applications, Solid Earth Sciences (2026). Art. no. 100285.</a:t>
            </a:r>
          </a:p>
        </p:txBody>
      </p:sp>
      <p:sp>
        <p:nvSpPr>
          <p:cNvPr id="10" name="TextBox 9"/>
          <p:cNvSpPr txBox="1"/>
          <p:nvPr/>
        </p:nvSpPr>
        <p:spPr>
          <a:xfrm>
            <a:off x="777240" y="267462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[17]  </a:t>
            </a:r>
            <a:r>
              <a:rPr sz="900">
                <a:solidFill>
                  <a:srgbClr val="141C1E"/>
                </a:solidFill>
                <a:latin typeface="Segoe UI"/>
              </a:rPr>
              <a:t>D. Guo, Y. Fu, S. Li, Ada-VAD: Domain adaptable video anomaly detection, in: Proceedings of the SIAM International Conference on Data Mining (SDM), 2024, pp. 634–642.</a:t>
            </a:r>
          </a:p>
        </p:txBody>
      </p:sp>
      <p:sp>
        <p:nvSpPr>
          <p:cNvPr id="11" name="TextBox 10"/>
          <p:cNvSpPr txBox="1"/>
          <p:nvPr/>
        </p:nvSpPr>
        <p:spPr>
          <a:xfrm>
            <a:off x="777240" y="298094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[18]  </a:t>
            </a:r>
            <a:r>
              <a:rPr sz="900">
                <a:solidFill>
                  <a:srgbClr val="141C1E"/>
                </a:solidFill>
                <a:latin typeface="Segoe UI"/>
              </a:rPr>
              <a:t>Y. Lu, F. Yu, M. K. K. Reddy, Y. Wang, Few-shot scene-adaptive anomaly detection, in: Proceedings of the European Conference on Computer Vision (ECCV), 2020, pp. 125–141.</a:t>
            </a:r>
          </a:p>
        </p:txBody>
      </p:sp>
      <p:sp>
        <p:nvSpPr>
          <p:cNvPr id="12" name="TextBox 11"/>
          <p:cNvSpPr txBox="1"/>
          <p:nvPr/>
        </p:nvSpPr>
        <p:spPr>
          <a:xfrm>
            <a:off x="777240" y="328726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[19]  </a:t>
            </a:r>
            <a:r>
              <a:rPr sz="900">
                <a:solidFill>
                  <a:srgbClr val="141C1E"/>
                </a:solidFill>
                <a:latin typeface="Segoe UI"/>
              </a:rPr>
              <a:t>A. Aich, K.-C. Peng, A. K. Roy-Chowdhury, Cross-domain video anomaly detection without target domain adaptation, in: Proceedings of the IEEE/CVF Winter Conference on Applications of Computer Vision (WACV), 2023, pp. 2578–2590.</a:t>
            </a:r>
          </a:p>
        </p:txBody>
      </p:sp>
      <p:sp>
        <p:nvSpPr>
          <p:cNvPr id="13" name="TextBox 12"/>
          <p:cNvSpPr txBox="1"/>
          <p:nvPr/>
        </p:nvSpPr>
        <p:spPr>
          <a:xfrm>
            <a:off x="777240" y="3593591"/>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[20]  </a:t>
            </a:r>
            <a:r>
              <a:rPr sz="900">
                <a:solidFill>
                  <a:srgbClr val="141C1E"/>
                </a:solidFill>
                <a:latin typeface="Segoe UI"/>
              </a:rPr>
              <a:t>W. M. Kouw, M. Loog, An introduction to domain adaptation and transfer learning, arXiv preprint arXiv:1812.11806 (2018).</a:t>
            </a:r>
          </a:p>
        </p:txBody>
      </p:sp>
      <p:sp>
        <p:nvSpPr>
          <p:cNvPr id="14" name="TextBox 13"/>
          <p:cNvSpPr txBox="1"/>
          <p:nvPr/>
        </p:nvSpPr>
        <p:spPr>
          <a:xfrm>
            <a:off x="777240" y="3899915"/>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[21]  </a:t>
            </a:r>
            <a:r>
              <a:rPr sz="900">
                <a:solidFill>
                  <a:srgbClr val="141C1E"/>
                </a:solidFill>
                <a:latin typeface="Segoe UI"/>
              </a:rPr>
              <a:t>W. Liu, W. Luo, D. Lian, S. Gao, Future frame prediction for anomaly detection — A new baseline, in: Proceedings of the IEEE/CVF Conference on Computer Vision and Pattern Recognition (CVPR), 2018, pp. 6536–6545.</a:t>
            </a:r>
          </a:p>
        </p:txBody>
      </p:sp>
      <p:sp>
        <p:nvSpPr>
          <p:cNvPr id="15" name="TextBox 14"/>
          <p:cNvSpPr txBox="1"/>
          <p:nvPr/>
        </p:nvSpPr>
        <p:spPr>
          <a:xfrm>
            <a:off x="777240" y="420624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[22]  </a:t>
            </a:r>
            <a:r>
              <a:rPr sz="900">
                <a:solidFill>
                  <a:srgbClr val="141C1E"/>
                </a:solidFill>
                <a:latin typeface="Segoe UI"/>
              </a:rPr>
              <a:t>A. Dosovitskiy, L. Beyer, A. Kolesnikov, D. Weissenborn, X. Zhai, T. Unterthiner, M. Dehghani, M. Minderer, G. Heigold, S. Gelly, J. Uszkoreit, N. Houlsby, An image is worth 16x16 words: Transformers for image recognition at scale, in: Proceedings of the International Conference on Learning Representations (ICLR), 2021.</a:t>
            </a:r>
          </a:p>
        </p:txBody>
      </p:sp>
      <p:sp>
        <p:nvSpPr>
          <p:cNvPr id="16" name="TextBox 15"/>
          <p:cNvSpPr txBox="1"/>
          <p:nvPr/>
        </p:nvSpPr>
        <p:spPr>
          <a:xfrm>
            <a:off x="777240" y="451256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[23]  </a:t>
            </a:r>
            <a:r>
              <a:rPr sz="900">
                <a:solidFill>
                  <a:srgbClr val="141C1E"/>
                </a:solidFill>
                <a:latin typeface="Segoe UI"/>
              </a:rPr>
              <a:t>A. Vaswani, N. Shazeer, N. Parmar, J. Uszkoreit, L. Jones, A. N. Gomez, L. Kaiser, I. Polosukhin, Attention is all you need, in: Advances in Neural Information Processing Systems (NeurIPS), 2017, pp. 5998–6008.</a:t>
            </a:r>
          </a:p>
        </p:txBody>
      </p:sp>
      <p:sp>
        <p:nvSpPr>
          <p:cNvPr id="17" name="TextBox 16"/>
          <p:cNvSpPr txBox="1"/>
          <p:nvPr/>
        </p:nvSpPr>
        <p:spPr>
          <a:xfrm>
            <a:off x="777240" y="481888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[24]  </a:t>
            </a:r>
            <a:r>
              <a:rPr sz="900">
                <a:solidFill>
                  <a:srgbClr val="141C1E"/>
                </a:solidFill>
                <a:latin typeface="Segoe UI"/>
              </a:rPr>
              <a:t>H. Liu, C. Li, Q. Wu, Y. J. Lee, Visual instruction tuning, in: Advances in Neural Information Processing Systems (NeurIPS), 2023, pp. 34892–34916.</a:t>
            </a:r>
          </a:p>
        </p:txBody>
      </p:sp>
      <p:sp>
        <p:nvSpPr>
          <p:cNvPr id="18" name="TextBox 17"/>
          <p:cNvSpPr txBox="1"/>
          <p:nvPr/>
        </p:nvSpPr>
        <p:spPr>
          <a:xfrm>
            <a:off x="777240" y="512521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[25]  </a:t>
            </a:r>
            <a:r>
              <a:rPr sz="900">
                <a:solidFill>
                  <a:srgbClr val="141C1E"/>
                </a:solidFill>
                <a:latin typeface="Segoe UI"/>
              </a:rPr>
              <a:t>T. Dettmers, A. Pagnoni, A. Holtzman, L. Zettlemoyer, QLoRA: Efficient finetuning of quantized LLMs, in: Advances in Neural Information Processing Systems (NeurIPS), 2023, pp. 10088–10115.</a:t>
            </a:r>
          </a:p>
        </p:txBody>
      </p:sp>
      <p:sp>
        <p:nvSpPr>
          <p:cNvPr id="19" name="TextBox 18"/>
          <p:cNvSpPr txBox="1"/>
          <p:nvPr/>
        </p:nvSpPr>
        <p:spPr>
          <a:xfrm>
            <a:off x="777240" y="543153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[26]  </a:t>
            </a:r>
            <a:r>
              <a:rPr sz="900">
                <a:solidFill>
                  <a:srgbClr val="141C1E"/>
                </a:solidFill>
                <a:latin typeface="Segoe UI"/>
              </a:rPr>
              <a:t>C. Lu, J. Shi, J. Jia, Abnormal event detection at 150 FPS in MATLAB, in: Proceedings of the IEEE International Conference on Computer Vision (ICCV), 2013, pp. 2720–2727.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3 OF 3</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33</a:t>
            </a:r>
          </a:p>
        </p:txBody>
      </p:sp>
      <p:sp>
        <p:nvSpPr>
          <p:cNvPr id="7" name="TextBox 6"/>
          <p:cNvSpPr txBox="1"/>
          <p:nvPr/>
        </p:nvSpPr>
        <p:spPr>
          <a:xfrm>
            <a:off x="777240" y="175564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[27]  </a:t>
            </a:r>
            <a:r>
              <a:rPr sz="900">
                <a:solidFill>
                  <a:srgbClr val="141C1E"/>
                </a:solidFill>
                <a:latin typeface="Segoe UI"/>
              </a:rPr>
              <a:t>W. Sultani, C. Chen, M. Shah, Real-world anomaly detection in surveillance videos, in: Proceedings of the IEEE/CVF Conference on Computer Vision and Pattern Recognition (CVPR), 2018, pp. 6479–6488.</a:t>
            </a:r>
          </a:p>
        </p:txBody>
      </p:sp>
      <p:sp>
        <p:nvSpPr>
          <p:cNvPr id="8" name="TextBox 7"/>
          <p:cNvSpPr txBox="1"/>
          <p:nvPr/>
        </p:nvSpPr>
        <p:spPr>
          <a:xfrm>
            <a:off x="777240" y="206197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[28]  </a:t>
            </a:r>
            <a:r>
              <a:rPr sz="900">
                <a:solidFill>
                  <a:srgbClr val="141C1E"/>
                </a:solidFill>
                <a:latin typeface="Segoe UI"/>
              </a:rPr>
              <a:t>T. Fawcett, An introduction to ROC analysis, Pattern Recognition Letters 27 (2006) 861–874.</a:t>
            </a:r>
          </a:p>
        </p:txBody>
      </p:sp>
      <p:sp>
        <p:nvSpPr>
          <p:cNvPr id="9" name="TextBox 8"/>
          <p:cNvSpPr txBox="1"/>
          <p:nvPr/>
        </p:nvSpPr>
        <p:spPr>
          <a:xfrm>
            <a:off x="777240" y="236829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[29]  </a:t>
            </a:r>
            <a:r>
              <a:rPr sz="900">
                <a:solidFill>
                  <a:srgbClr val="141C1E"/>
                </a:solidFill>
                <a:latin typeface="Segoe UI"/>
              </a:rPr>
              <a:t>A. P. Bradley, The use of the area under the ROC curve in the evaluation of machine learning algorithms, Pattern Recognition 30 (1997) 1145–1159.</a:t>
            </a:r>
          </a:p>
        </p:txBody>
      </p:sp>
      <p:sp>
        <p:nvSpPr>
          <p:cNvPr id="10" name="TextBox 9"/>
          <p:cNvSpPr txBox="1"/>
          <p:nvPr/>
        </p:nvSpPr>
        <p:spPr>
          <a:xfrm>
            <a:off x="777240" y="267462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[30]  </a:t>
            </a:r>
            <a:r>
              <a:rPr sz="900">
                <a:solidFill>
                  <a:srgbClr val="141C1E"/>
                </a:solidFill>
                <a:latin typeface="Segoe UI"/>
              </a:rPr>
              <a:t>J. Davis, M. Goadrich, The relationship between precision-recall and ROC curves, in: Proceedings of the International Conference on Machine Learning (ICML), 2006, pp. 233–240.</a:t>
            </a:r>
          </a:p>
        </p:txBody>
      </p:sp>
      <p:sp>
        <p:nvSpPr>
          <p:cNvPr id="11" name="TextBox 10"/>
          <p:cNvSpPr txBox="1"/>
          <p:nvPr/>
        </p:nvSpPr>
        <p:spPr>
          <a:xfrm>
            <a:off x="777240" y="298094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[31]  </a:t>
            </a:r>
            <a:r>
              <a:rPr sz="900">
                <a:solidFill>
                  <a:srgbClr val="141C1E"/>
                </a:solidFill>
                <a:latin typeface="Segoe UI"/>
              </a:rPr>
              <a:t>B. Schölkopf, J. C. Platt, J. Shawe-Taylor, A. J. Smola, R. C. Williamson, Estimating the support of a high-dimensional distribution, Neural Computation 13 (2001) 1443–1471.</a:t>
            </a:r>
          </a:p>
        </p:txBody>
      </p:sp>
      <p:sp>
        <p:nvSpPr>
          <p:cNvPr id="12" name="TextBox 11"/>
          <p:cNvSpPr txBox="1"/>
          <p:nvPr/>
        </p:nvSpPr>
        <p:spPr>
          <a:xfrm>
            <a:off x="777240" y="328726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[32]  </a:t>
            </a:r>
            <a:r>
              <a:rPr sz="900">
                <a:solidFill>
                  <a:srgbClr val="141C1E"/>
                </a:solidFill>
                <a:latin typeface="Segoe UI"/>
              </a:rPr>
              <a:t>H. Lv, C. Chen, Z. Cui, C. Xu, Y. Li, J. Yang, Learning normal dynamics in videos with meta prototype network, in: Proceedings of the IEEE/CVF Conference on Computer Vision and Pattern Recognition (CVPR), 2021, pp. 15425–15434.</a:t>
            </a:r>
          </a:p>
        </p:txBody>
      </p:sp>
      <p:sp>
        <p:nvSpPr>
          <p:cNvPr id="13" name="TextBox 12"/>
          <p:cNvSpPr txBox="1"/>
          <p:nvPr/>
        </p:nvSpPr>
        <p:spPr>
          <a:xfrm>
            <a:off x="777240" y="3593591"/>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[33]  </a:t>
            </a:r>
            <a:r>
              <a:rPr sz="900">
                <a:solidFill>
                  <a:srgbClr val="141C1E"/>
                </a:solidFill>
                <a:latin typeface="Segoe UI"/>
              </a:rPr>
              <a:t>C. Yan, S. Zhang, Y. Liu, G. Pang, W. Wang, Feature prediction diffusion model for video anomaly detection, in: Proceedings of the IEEE/CVF International Conference on Computer Vision (ICCV), 2023, pp. 5527–5537.</a:t>
            </a:r>
          </a:p>
        </p:txBody>
      </p:sp>
      <p:sp>
        <p:nvSpPr>
          <p:cNvPr id="14" name="TextBox 13"/>
          <p:cNvSpPr txBox="1"/>
          <p:nvPr/>
        </p:nvSpPr>
        <p:spPr>
          <a:xfrm>
            <a:off x="777240" y="3899915"/>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[34]  </a:t>
            </a:r>
            <a:r>
              <a:rPr sz="900">
                <a:solidFill>
                  <a:srgbClr val="141C1E"/>
                </a:solidFill>
                <a:latin typeface="Segoe UI"/>
              </a:rPr>
              <a:t>H. Zhou, J. Cai, Y. Ye, Y. Feng, C. Gao, J. Yu, Z. Song, W. Yang, Video anomaly detection with motion and appearance guided patch diffusion model, arXiv preprint arXiv:2412.09026 (2024).</a:t>
            </a:r>
          </a:p>
        </p:txBody>
      </p:sp>
      <p:sp>
        <p:nvSpPr>
          <p:cNvPr id="15" name="TextBox 14"/>
          <p:cNvSpPr txBox="1"/>
          <p:nvPr/>
        </p:nvSpPr>
        <p:spPr>
          <a:xfrm>
            <a:off x="777240" y="420624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[35]  </a:t>
            </a:r>
            <a:r>
              <a:rPr sz="900">
                <a:solidFill>
                  <a:srgbClr val="141C1E"/>
                </a:solidFill>
                <a:latin typeface="Segoe UI"/>
              </a:rPr>
              <a:t>J. Micorek, H. Possegger, D. Narnhofer, H. Bischof, M. Kampel, MULDE: Multiscale log-density estimation via denoising score matching for video anomaly detection, in: Proceedings of the IEEE/CVF Conference on Computer Vision and Pattern Recognition (CVPR), 2024, pp. 18868–18877.</a:t>
            </a:r>
          </a:p>
        </p:txBody>
      </p:sp>
      <p:sp>
        <p:nvSpPr>
          <p:cNvPr id="16" name="TextBox 15"/>
          <p:cNvSpPr txBox="1"/>
          <p:nvPr/>
        </p:nvSpPr>
        <p:spPr>
          <a:xfrm>
            <a:off x="777240" y="451256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[36]  </a:t>
            </a:r>
            <a:r>
              <a:rPr sz="900">
                <a:solidFill>
                  <a:srgbClr val="141C1E"/>
                </a:solidFill>
                <a:latin typeface="Segoe UI"/>
              </a:rPr>
              <a:t>R. Girdhar, A. El-Nouby, Z. Liu, M. Singh, K. V. Alwala, A. Joulin, I. Misra, ImageBind: One embedding space to bind them all, in: Proceedings of the IEEE/CVF Conference on Computer Vision and Pattern Recognition (CVPR), 2023, pp. 15180–15190.</a:t>
            </a:r>
          </a:p>
        </p:txBody>
      </p:sp>
      <p:sp>
        <p:nvSpPr>
          <p:cNvPr id="17" name="TextBox 16"/>
          <p:cNvSpPr txBox="1"/>
          <p:nvPr/>
        </p:nvSpPr>
        <p:spPr>
          <a:xfrm>
            <a:off x="777240" y="481888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[37]  </a:t>
            </a:r>
            <a:r>
              <a:rPr sz="900">
                <a:solidFill>
                  <a:srgbClr val="141C1E"/>
                </a:solidFill>
                <a:latin typeface="Segoe UI"/>
              </a:rPr>
              <a:t>M. Maaz, H. Rasheed, S. Khan, F. Khan, Video-ChatGPT: Towards detailed video understanding via large vision and language models, in: Proceedings of the 62nd Annual Meeting of the Association for Computational Linguistics (ACL), 2024, pp. 12585–12602.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