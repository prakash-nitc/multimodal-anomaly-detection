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place by writing a sentence,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Then stop on M3 - the orange box - and say that is the only place the domain enters.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source data, or entangled in an LLM prior, or paired with a trained adapter.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Five runs, all recorded.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no more. Point down one column and say the scene never changes - only the event does. If someone asks later why context matters, come back 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that the diagnosis was not invented after the fact. Say clearly that neither panel uses labels. The cameras are separate regions of the space and sit at different similarity levels, which is exactly why pooling raw scores destroyed the ordering.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of the previous table. Trace the two arrows with a finger. The grey arrow points the wrong way and the orange one points the right way, and the only thing separating them is where the sentence was attached.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persuasive slide in the deck for a sceptical panel, because there is no aggregation to argue with - two runs over identical frames with identical frozen weights. Say that the curves coincide outside the event on purpose: that is the control.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is positive at every window but sits inside the spread, so we report direction and not magnitude. The claim rests on the mismatched penalty. Understating here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weakness before anyone asks. The error bars overlap, so the top three are statistically tied. The claim is that nothing we added beat plain language, which is a negative result about our own elaborations, not a win over the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spread yourself. Three views are negative and two nearly reach the pooled figure, so the result is a shift in the mean rather than a collapse everywhere. Saying this before the panel spots it is the difference between a caveat and a hole.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not on LAVAD. You match the benchmark's own 2018 baseline using none of its training data. Then concede LAVAD openly.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The metric limitation is worth dwelling on - it is a real methodological point about a protocol the whole field uses, and we found it by chasing our own bug.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Priority one is the within-view control because it turns our explanation from a conjecture into a result. Note the infrastructure cost is now paid.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The claim is scoped rather than abandoned, and we named the experiment that settles it. Then hand over.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here because they are the evidence base for the gap: the six surveys are what let us say the field scopes concept shift out. Be ready to say which one contains the quote - it is Liu et al. 2022.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not read aloud. If asked how the work is positioned, this slide is the answer: the frozen models are all off-the-shelf, the benchmarks and metrics are the standard ones, and every method we compare against is here.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reference slide exists because the comparative analysis added seven entries. If asked which of these you actually read rather than cited from a table: the six DA surveys, AnyAnomaly, LAVAD and WinCLIP. The one-class figures are as tabulated by AnyAnomaly, and the slide says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2 REVIEW  ·  SEMESTER 3  ·  SUMMER PROGRESS</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environment by writing a sentence — with no training, no target data, and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5694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44144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474720"/>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76072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 [11–15, 20]</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[14].   Singhal et al. [15]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[1] argues the same premise independently; what is missing is a test of whether supplied context does any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adapt by writing a sentence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pic>
        <p:nvPicPr>
          <p:cNvPr id="7" name="Picture 6" descr="dazvad_architecture.png"/>
          <p:cNvPicPr>
            <a:picLocks noChangeAspect="1"/>
          </p:cNvPicPr>
          <p:nvPr/>
        </p:nvPicPr>
        <p:blipFill>
          <a:blip r:embed="rId2"/>
          <a:stretch>
            <a:fillRect/>
          </a:stretch>
        </p:blipFill>
        <p:spPr>
          <a:xfrm>
            <a:off x="777240" y="1645920"/>
            <a:ext cx="8092440" cy="4768759"/>
          </a:xfrm>
          <a:prstGeom prst="rect">
            <a:avLst/>
          </a:prstGeom>
        </p:spPr>
      </p:pic>
      <p:sp>
        <p:nvSpPr>
          <p:cNvPr id="8" name="TextBox 7"/>
          <p:cNvSpPr txBox="1"/>
          <p:nvPr/>
        </p:nvSpPr>
        <p:spPr>
          <a:xfrm>
            <a:off x="9144000" y="1645920"/>
            <a:ext cx="26517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9144000" y="219456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81744" y="2066543"/>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M1  </a:t>
            </a:r>
            <a:r>
              <a:rPr sz="1150">
                <a:solidFill>
                  <a:srgbClr val="3A4A4C"/>
                </a:solidFill>
                <a:latin typeface="Segoe UI"/>
              </a:rPr>
              <a:t>Frozen CLIP [2] scores each frame: normal vs abnormal text.</a:t>
            </a:r>
          </a:p>
        </p:txBody>
      </p:sp>
      <p:sp>
        <p:nvSpPr>
          <p:cNvPr id="11" name="Rectangle 10"/>
          <p:cNvSpPr/>
          <p:nvPr/>
        </p:nvSpPr>
        <p:spPr>
          <a:xfrm>
            <a:off x="9144000" y="294436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81744" y="2816351"/>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M2  </a:t>
            </a:r>
            <a:r>
              <a:rPr sz="1150">
                <a:solidFill>
                  <a:srgbClr val="3A4A4C"/>
                </a:solidFill>
                <a:latin typeface="Segoe UI"/>
              </a:rPr>
              <a:t>Moving average over time — no parameters.</a:t>
            </a:r>
          </a:p>
        </p:txBody>
      </p:sp>
      <p:sp>
        <p:nvSpPr>
          <p:cNvPr id="13" name="Rectangle 12"/>
          <p:cNvSpPr/>
          <p:nvPr/>
        </p:nvSpPr>
        <p:spPr>
          <a:xfrm>
            <a:off x="9144000" y="3694175"/>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81744" y="3566159"/>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M3  </a:t>
            </a:r>
            <a:r>
              <a:rPr sz="1150">
                <a:solidFill>
                  <a:srgbClr val="3A4A4C"/>
                </a:solidFill>
                <a:latin typeface="Segoe UI"/>
              </a:rPr>
              <a:t>The scene description. The adaptation mechanism.</a:t>
            </a:r>
          </a:p>
        </p:txBody>
      </p:sp>
      <p:sp>
        <p:nvSpPr>
          <p:cNvPr id="15" name="Rectangle 14"/>
          <p:cNvSpPr/>
          <p:nvPr/>
        </p:nvSpPr>
        <p:spPr>
          <a:xfrm>
            <a:off x="9144000" y="4443983"/>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1744" y="4315968"/>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M4  </a:t>
            </a:r>
            <a:r>
              <a:rPr sz="1150">
                <a:solidFill>
                  <a:srgbClr val="3A4A4C"/>
                </a:solidFill>
                <a:latin typeface="Segoe UI"/>
              </a:rPr>
              <a:t>Frozen LLaVA [24] explains each detected event.</a:t>
            </a:r>
          </a:p>
        </p:txBody>
      </p:sp>
      <p:sp>
        <p:nvSpPr>
          <p:cNvPr id="17" name="Rectangle 16"/>
          <p:cNvSpPr/>
          <p:nvPr/>
        </p:nvSpPr>
        <p:spPr>
          <a:xfrm>
            <a:off x="9144000" y="5257800"/>
            <a:ext cx="2651760"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52578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00032" y="5404104"/>
            <a:ext cx="2148839"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DEPLOYMENT</a:t>
            </a:r>
          </a:p>
        </p:txBody>
      </p:sp>
      <p:sp>
        <p:nvSpPr>
          <p:cNvPr id="20" name="TextBox 19"/>
          <p:cNvSpPr txBox="1"/>
          <p:nvPr/>
        </p:nvSpPr>
        <p:spPr>
          <a:xfrm>
            <a:off x="9400032" y="5696712"/>
            <a:ext cx="2148839"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Editing one sentence. No target data, no gradients.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source data [4], or entangled in an LLM prior [7], or accompanied by a trained adapter [17].</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graphicFrame>
        <p:nvGraphicFramePr>
          <p:cNvPr id="7" name="Table 6"/>
          <p:cNvGraphicFramePr>
            <a:graphicFrameLocks noGrp="1"/>
          </p:cNvGraphicFramePr>
          <p:nvPr/>
        </p:nvGraphicFramePr>
        <p:xfrm>
          <a:off x="777240" y="1828800"/>
          <a:ext cx="10634472" cy="2377440"/>
        </p:xfrm>
        <a:graphic>
          <a:graphicData uri="http://schemas.openxmlformats.org/drawingml/2006/table">
            <a:tbl>
              <a:tblPr>
                <a:tableStyleId>{5C22544A-7EE6-4342-B048-85BDC9FD1C3A}</a:tableStyleId>
              </a:tblPr>
              <a:tblGrid>
                <a:gridCol w="2194560"/>
                <a:gridCol w="8439912"/>
              </a:tblGrid>
              <a:tr h="475488">
                <a:tc>
                  <a:txBody>
                    <a:bodyPr wrap="square"/>
                    <a:lstStyle/>
                    <a:p>
                      <a:pPr algn="l"/>
                      <a:r>
                        <a:rPr sz="1500" b="0">
                          <a:solidFill>
                            <a:srgbClr val="141C1E"/>
                          </a:solidFill>
                          <a:latin typeface="Segoe UI"/>
                        </a:rPr>
                        <a:t>Benchmarks</a:t>
                      </a:r>
                    </a:p>
                  </a:txBody>
                  <a:tcPr marL="128016" marR="128016" marT="45720" marB="45720" anchor="ctr">
                    <a:solidFill>
                      <a:srgbClr val="F5F7F7"/>
                    </a:solidFill>
                  </a:tcPr>
                </a:tc>
                <a:tc>
                  <a:txBody>
                    <a:bodyPr wrap="square"/>
                    <a:lstStyle/>
                    <a:p>
                      <a:pPr algn="l"/>
                      <a:r>
                        <a:rPr sz="1500" b="0">
                          <a:solidFill>
                            <a:srgbClr val="141C1E"/>
                          </a:solidFill>
                          <a:latin typeface="Segoe UI"/>
                        </a:rPr>
                        <a:t>ShanghaiTech [21] (12 views) and CUHK Avenue [26] (1 view)</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Scale</a:t>
                      </a:r>
                    </a:p>
                  </a:txBody>
                  <a:tcPr marL="128016" marR="128016" marT="45720" marB="45720" anchor="ctr">
                    <a:solidFill>
                      <a:srgbClr val="FFFFFF"/>
                    </a:solidFill>
                  </a:tcPr>
                </a:tc>
                <a:tc>
                  <a:txBody>
                    <a:bodyPr wrap="square"/>
                    <a:lstStyle/>
                    <a:p>
                      <a:pPr algn="l"/>
                      <a:r>
                        <a:rPr sz="1500" b="0">
                          <a:solidFill>
                            <a:srgbClr val="141C1E"/>
                          </a:solidFill>
                          <a:latin typeface="Segoe UI"/>
                        </a:rPr>
                        <a:t>128 test clips · 28,118 frames · frame-level ground truth</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Hardware</a:t>
                      </a:r>
                    </a:p>
                  </a:txBody>
                  <a:tcPr marL="128016" marR="128016" marT="45720" marB="45720" anchor="ctr">
                    <a:solidFill>
                      <a:srgbClr val="F5F7F7"/>
                    </a:solidFill>
                  </a:tcPr>
                </a:tc>
                <a:tc>
                  <a:txBody>
                    <a:bodyPr wrap="square"/>
                    <a:lstStyle/>
                    <a:p>
                      <a:pPr algn="l"/>
                      <a:r>
                        <a:rPr sz="1500" b="0">
                          <a:solidFill>
                            <a:srgbClr val="141C1E"/>
                          </a:solidFill>
                          <a:latin typeface="Segoe UI"/>
                        </a:rPr>
                        <a:t>NVIDIA A40, college GPU server</a:t>
                      </a:r>
                    </a:p>
                  </a:txBody>
                  <a:tcPr marL="128016" marR="128016" marT="45720" marB="45720" anchor="ctr">
                    <a:solidFill>
                      <a:srgbClr val="F5F7F7"/>
                    </a:solidFill>
                  </a:tcPr>
                </a:tc>
              </a:tr>
              <a:tr h="475488">
                <a:tc>
                  <a:txBody>
                    <a:bodyPr wrap="square"/>
                    <a:lstStyle/>
                    <a:p>
                      <a:pPr algn="l"/>
                      <a:r>
                        <a:rPr sz="1500" b="0">
                          <a:solidFill>
                            <a:srgbClr val="141C1E"/>
                          </a:solidFill>
                          <a:latin typeface="Segoe UI"/>
                        </a:rPr>
                        <a:t>Backbone</a:t>
                      </a:r>
                    </a:p>
                  </a:txBody>
                  <a:tcPr marL="128016" marR="128016" marT="45720" marB="45720" anchor="ctr">
                    <a:solidFill>
                      <a:srgbClr val="FFFFFF"/>
                    </a:solidFill>
                  </a:tcPr>
                </a:tc>
                <a:tc>
                  <a:txBody>
                    <a:bodyPr wrap="square"/>
                    <a:lstStyle/>
                    <a:p>
                      <a:pPr algn="l"/>
                      <a:r>
                        <a:rPr sz="1500" b="0">
                          <a:solidFill>
                            <a:srgbClr val="141C1E"/>
                          </a:solidFill>
                          <a:latin typeface="Segoe UI"/>
                        </a:rPr>
                        <a:t>CLIP ViT-L/14 [2, 22] (LAION-2B), frozen · PyTorch 2.3.1 / CUDA 12.1</a:t>
                      </a:r>
                    </a:p>
                  </a:txBody>
                  <a:tcPr marL="128016" marR="128016" marT="45720" marB="45720" anchor="ctr">
                    <a:solidFill>
                      <a:srgbClr val="FFFFFF"/>
                    </a:solidFill>
                  </a:tcPr>
                </a:tc>
              </a:tr>
              <a:tr h="475488">
                <a:tc>
                  <a:txBody>
                    <a:bodyPr wrap="square"/>
                    <a:lstStyle/>
                    <a:p>
                      <a:pPr algn="l"/>
                      <a:r>
                        <a:rPr sz="1500" b="0">
                          <a:solidFill>
                            <a:srgbClr val="141C1E"/>
                          </a:solidFill>
                          <a:latin typeface="Segoe UI"/>
                        </a:rPr>
                        <a:t>Runs</a:t>
                      </a:r>
                    </a:p>
                  </a:txBody>
                  <a:tcPr marL="128016" marR="128016" marT="45720" marB="45720" anchor="ctr">
                    <a:solidFill>
                      <a:srgbClr val="F5F7F7"/>
                    </a:solidFill>
                  </a:tcPr>
                </a:tc>
                <a:tc>
                  <a:txBody>
                    <a:bodyPr wrap="square"/>
                    <a:lstStyle/>
                    <a:p>
                      <a:pPr algn="l"/>
                      <a:r>
                        <a:rPr sz="1500" b="0">
                          <a:solidFill>
                            <a:srgbClr val="141C1E"/>
                          </a:solidFill>
                          <a:latin typeface="Segoe UI"/>
                        </a:rPr>
                        <a:t>5 full experiment runs + cached-embedding analysis</a:t>
                      </a:r>
                    </a:p>
                  </a:txBody>
                  <a:tcPr marL="128016" marR="128016" marT="45720" marB="45720" anchor="ctr">
                    <a:solidFill>
                      <a:srgbClr val="F5F7F7"/>
                    </a:solidFill>
                  </a:tcPr>
                </a:tc>
              </a:tr>
            </a:tbl>
          </a:graphicData>
        </a:graphic>
      </p:graphicFrame>
      <p:sp>
        <p:nvSpPr>
          <p:cNvPr id="8" name="Rectangle 7"/>
          <p:cNvSpPr/>
          <p:nvPr/>
        </p:nvSpPr>
        <p:spPr>
          <a:xfrm>
            <a:off x="777240" y="4389120"/>
            <a:ext cx="10637215"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389120"/>
            <a:ext cx="45720" cy="16002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5354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4828031"/>
            <a:ext cx="10134295" cy="1033271"/>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DATA</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the two benchmarks actually look like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pic>
        <p:nvPicPr>
          <p:cNvPr id="7" name="Picture 6" descr="fig_dataset_samples.png"/>
          <p:cNvPicPr>
            <a:picLocks noChangeAspect="1"/>
          </p:cNvPicPr>
          <p:nvPr/>
        </p:nvPicPr>
        <p:blipFill>
          <a:blip r:embed="rId2"/>
          <a:stretch>
            <a:fillRect/>
          </a:stretch>
        </p:blipFill>
        <p:spPr>
          <a:xfrm>
            <a:off x="2331619" y="1783079"/>
            <a:ext cx="7528456"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column is one fixed camera, so the scene, the angle and the lighting are constant down a column and only the event changes. That is the whole argument in a photograph: an empty walkway and the same walkway with a cyclist look alike and are labelled opposite.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[21] normalises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0.71</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92040"/>
            <a:ext cx="3749039" cy="822960"/>
          </a:xfrm>
          <a:prstGeom prst="rect">
            <a:avLst/>
          </a:prstGeom>
          <a:noFill/>
        </p:spPr>
        <p:txBody>
          <a:bodyPr wrap="square" lIns="0" rIns="0" tIns="0" bIns="0">
            <a:spAutoFit/>
          </a:bodyPr>
          <a:lstStyle/>
          <a:p>
            <a:pPr algn="l">
              <a:lnSpc>
                <a:spcPct val="130000"/>
              </a:lnSpc>
            </a:pPr>
            <a:r>
              <a:rPr sz="1400" b="0" i="0">
                <a:solidFill>
                  <a:srgbClr val="141C1E"/>
                </a:solidFill>
                <a:latin typeface="Segoe UI"/>
              </a:rPr>
              <a:t>Identical scores. Uses no labels.
We report both figures in the paper.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evidence for that diagnosis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pic>
        <p:nvPicPr>
          <p:cNvPr id="7" name="Picture 6" descr="fig_camera_baselines.png"/>
          <p:cNvPicPr>
            <a:picLocks noChangeAspect="1"/>
          </p:cNvPicPr>
          <p:nvPr/>
        </p:nvPicPr>
        <p:blipFill>
          <a:blip r:embed="rId2"/>
          <a:stretch>
            <a:fillRect/>
          </a:stretch>
        </p:blipFill>
        <p:spPr>
          <a:xfrm>
            <a:off x="2199541" y="1783080"/>
            <a:ext cx="7792613"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every frame projected to two dimensions and coloured by camera — the views sit in separate regions. Right: how similar each view is to the average frame, differing by more than 0.13 between views. Neither panel uses labels, so this is not hindsight.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97480"/>
            <a:ext cx="4572000" cy="548640"/>
          </a:xfrm>
          <a:prstGeom prst="rect">
            <a:avLst/>
          </a:prstGeom>
          <a:noFill/>
        </p:spPr>
        <p:txBody>
          <a:bodyPr wrap="square" lIns="0" rIns="0" tIns="0" bIns="0">
            <a:spAutoFit/>
          </a:bodyPr>
          <a:lstStyle/>
          <a:p>
            <a:pPr algn="l">
              <a:lnSpc>
                <a:spcPct val="130000"/>
              </a:lnSpc>
            </a:pPr>
            <a:r>
              <a:rPr sz="1300" b="0" i="0">
                <a:solidFill>
                  <a:srgbClr val="141C1E"/>
                </a:solidFill>
                <a:latin typeface="Consolas"/>
              </a:rPr>
              <a:t>“a campus walkway with pedestrians,
 but something is wrong”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376672"/>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376672"/>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522976"/>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5815583"/>
            <a:ext cx="10134295" cy="3931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in the system was permitted to change. The text caused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same experiment,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pic>
        <p:nvPicPr>
          <p:cNvPr id="7" name="Picture 6" descr="fig_chart_sweep.png"/>
          <p:cNvPicPr>
            <a:picLocks noChangeAspect="1"/>
          </p:cNvPicPr>
          <p:nvPr/>
        </p:nvPicPr>
        <p:blipFill>
          <a:blip r:embed="rId2"/>
          <a:stretch>
            <a:fillRect/>
          </a:stretch>
        </p:blipFill>
        <p:spPr>
          <a:xfrm>
            <a:off x="1983079" y="1783080"/>
            <a:ext cx="8225535"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number the experiment exists to produce is the arrow: the distance between the matched and mismatched bars. Grey bars put the sentence in both prompt sets and that distance is negative. Orange bars put it in the normal set only and it becomes +0.105.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WHAT THE GAP LOOKS LIKE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One clip, two sentences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pic>
        <p:nvPicPr>
          <p:cNvPr id="7" name="Picture 6" descr="fig_context_effect.png"/>
          <p:cNvPicPr>
            <a:picLocks noChangeAspect="1"/>
          </p:cNvPicPr>
          <p:nvPr/>
        </p:nvPicPr>
        <p:blipFill>
          <a:blip r:embed="rId2"/>
          <a:stretch>
            <a:fillRect/>
          </a:stretch>
        </p:blipFill>
        <p:spPr>
          <a:xfrm>
            <a:off x="1654058" y="1783080"/>
            <a:ext cx="8883578"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Same frozen models, same frames, same smoothing — the only difference is whether the sentence describes a campus walkway or an industrial site. The curves track each other outside the event and separate inside it. Nothing else was free to vary, so the text caused the separation.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costs −0.105.
Unambiguous, and nothing else could have caused it.</a:t>
            </a:r>
          </a:p>
        </p:txBody>
      </p:sp>
      <p:sp>
        <p:nvSpPr>
          <p:cNvPr id="13" name="Rectangle 12"/>
          <p:cNvSpPr/>
          <p:nvPr/>
        </p:nvSpPr>
        <p:spPr>
          <a:xfrm>
            <a:off x="777240" y="402336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THE MECHANISM</a:t>
            </a:r>
          </a:p>
        </p:txBody>
      </p:sp>
      <p:sp>
        <p:nvSpPr>
          <p:cNvPr id="16" name="TextBox 15"/>
          <p:cNvSpPr txBox="1"/>
          <p:nvPr/>
        </p:nvSpPr>
        <p:spPr>
          <a:xfrm>
            <a:off x="1033271" y="4462272"/>
            <a:ext cx="10134295" cy="713231"/>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The description constrains a decision boundary rather than adding information. It does not reliably lift performance when correct; it degrades performance sharply when misdirected.</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Window length, and what each component adds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pic>
        <p:nvPicPr>
          <p:cNvPr id="7" name="Picture 6" descr="fig_chart_ablation.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smoothing helps up to w=31 and then hurts, so the window has a real optimum rather than the metric rewarding more blur; the grey curve is the wrong pooling and never leaves chance. Right: the error bars overlap, so the honest claim is that nothing added beats language alone — not that language alone wins.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A scene description has work to do only when there are several environments to tell apart. Testable: run the sweep inside a single ShanghaiTech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606040"/>
          <a:ext cx="10634472" cy="2048256"/>
        </p:xfrm>
        <a:graphic>
          <a:graphicData uri="http://schemas.openxmlformats.org/drawingml/2006/table">
            <a:tbl>
              <a:tblPr firstRow="1">
                <a:tableStyleId>{5C22544A-7EE6-4342-B048-85BDC9FD1C3A}</a:tableStyleId>
              </a:tblPr>
              <a:tblGrid>
                <a:gridCol w="5120640"/>
                <a:gridCol w="1737360"/>
                <a:gridCol w="2103120"/>
                <a:gridCol w="1673352"/>
              </a:tblGrid>
              <a:tr h="512064">
                <a:tc>
                  <a:txBody>
                    <a:bodyPr wrap="square"/>
                    <a:lstStyle/>
                    <a:p>
                      <a:pPr algn="l"/>
                      <a:r>
                        <a:rPr sz="15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500" b="1">
                          <a:solidFill>
                            <a:srgbClr val="FFFFFF"/>
                          </a:solidFill>
                          <a:latin typeface="Segoe UI"/>
                        </a:rPr>
                        <a:t>Views</a:t>
                      </a:r>
                    </a:p>
                  </a:txBody>
                  <a:tcPr marL="128016" marR="128016" marT="45720" marB="45720" anchor="ctr">
                    <a:solidFill>
                      <a:srgbClr val="141C1E"/>
                    </a:solidFill>
                  </a:tcPr>
                </a:tc>
                <a:tc>
                  <a:txBody>
                    <a:bodyPr wrap="square"/>
                    <a:lstStyle/>
                    <a:p>
                      <a:pPr algn="l"/>
                      <a:r>
                        <a:rPr sz="1500" b="1">
                          <a:solidFill>
                            <a:srgbClr val="FFFFFF"/>
                          </a:solidFill>
                          <a:latin typeface="Segoe UI"/>
                        </a:rPr>
                        <a:t>Clips</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12064">
                <a:tc>
                  <a:txBody>
                    <a:bodyPr wrap="square"/>
                    <a:lstStyle/>
                    <a:p>
                      <a:pPr algn="l"/>
                      <a:r>
                        <a:rPr sz="1500" b="0">
                          <a:solidFill>
                            <a:srgbClr val="141C1E"/>
                          </a:solidFill>
                          <a:latin typeface="Segoe UI"/>
                        </a:rPr>
                        <a:t>Pooled across views</a:t>
                      </a:r>
                    </a:p>
                  </a:txBody>
                  <a:tcPr marL="128016" marR="128016" marT="45720" marB="45720" anchor="ctr">
                    <a:solidFill>
                      <a:srgbClr val="FFFFFF"/>
                    </a:solidFill>
                  </a:tcPr>
                </a:tc>
                <a:tc>
                  <a:txBody>
                    <a:bodyPr wrap="square"/>
                    <a:lstStyle/>
                    <a:p>
                      <a:pPr algn="l"/>
                      <a:r>
                        <a:rPr sz="1500" b="0">
                          <a:solidFill>
                            <a:srgbClr val="141C1E"/>
                          </a:solidFill>
                          <a:latin typeface="Segoe UI"/>
                        </a:rPr>
                        <a:t>12</a:t>
                      </a:r>
                    </a:p>
                  </a:txBody>
                  <a:tcPr marL="128016" marR="128016" marT="45720" marB="45720" anchor="ctr">
                    <a:solidFill>
                      <a:srgbClr val="FFFFFF"/>
                    </a:solidFill>
                  </a:tcPr>
                </a:tc>
                <a:tc>
                  <a:txBody>
                    <a:bodyPr wrap="square"/>
                    <a:lstStyle/>
                    <a:p>
                      <a:pPr algn="l"/>
                      <a:r>
                        <a:rPr sz="1500" b="0">
                          <a:solidFill>
                            <a:srgbClr val="141C1E"/>
                          </a:solidFill>
                          <a:latin typeface="Segoe UI"/>
                        </a:rPr>
                        <a:t>107</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12064">
                <a:tc>
                  <a:txBody>
                    <a:bodyPr wrap="square"/>
                    <a:lstStyle/>
                    <a:p>
                      <a:pPr algn="l"/>
                      <a:r>
                        <a:rPr sz="1500" b="1">
                          <a:solidFill>
                            <a:srgbClr val="141C1E"/>
                          </a:solidFill>
                          <a:latin typeface="Segoe UI"/>
                        </a:rPr>
                        <a:t>Within a single view (mean)</a:t>
                      </a:r>
                    </a:p>
                  </a:txBody>
                  <a:tcPr marL="128016" marR="128016" marT="45720" marB="45720" anchor="ctr">
                    <a:solidFill>
                      <a:srgbClr val="DDEDEB"/>
                    </a:solidFill>
                  </a:tcPr>
                </a:tc>
                <a:tc>
                  <a:txBody>
                    <a:bodyPr wrap="square"/>
                    <a:lstStyle/>
                    <a:p>
                      <a:pPr algn="l"/>
                      <a:r>
                        <a:rPr sz="1500" b="1">
                          <a:solidFill>
                            <a:srgbClr val="141C1E"/>
                          </a:solidFill>
                          <a:latin typeface="Segoe UI"/>
                        </a:rPr>
                        <a:t>9</a:t>
                      </a:r>
                    </a:p>
                  </a:txBody>
                  <a:tcPr marL="128016" marR="128016" marT="45720" marB="45720" anchor="ctr">
                    <a:solidFill>
                      <a:srgbClr val="DDEDEB"/>
                    </a:solidFill>
                  </a:tcPr>
                </a:tc>
                <a:tc>
                  <a:txBody>
                    <a:bodyPr wrap="square"/>
                    <a:lstStyle/>
                    <a:p>
                      <a:pPr algn="l"/>
                      <a:r>
                        <a:rPr sz="1500" b="1">
                          <a:solidFill>
                            <a:srgbClr val="141C1E"/>
                          </a:solidFill>
                          <a:latin typeface="Segoe UI"/>
                        </a:rPr>
                        <a:t>5–34 each</a:t>
                      </a:r>
                    </a:p>
                  </a:txBody>
                  <a:tcPr marL="128016" marR="128016" marT="45720" marB="45720" anchor="ctr">
                    <a:solidFill>
                      <a:srgbClr val="DDEDEB"/>
                    </a:solidFill>
                  </a:tcPr>
                </a:tc>
                <a:tc>
                  <a:txBody>
                    <a:bodyPr wrap="square"/>
                    <a:lstStyle/>
                    <a:p>
                      <a:pPr algn="r"/>
                      <a:r>
                        <a:rPr sz="1500" b="1">
                          <a:solidFill>
                            <a:srgbClr val="141C1E"/>
                          </a:solidFill>
                          <a:latin typeface="Consolas"/>
                        </a:rPr>
                        <a:t>+0.033</a:t>
                      </a:r>
                    </a:p>
                  </a:txBody>
                  <a:tcPr marL="128016" marR="128016" marT="45720" marB="45720" anchor="ctr">
                    <a:solidFill>
                      <a:srgbClr val="DDEDEB"/>
                    </a:solidFill>
                  </a:tcPr>
                </a:tc>
              </a:tr>
              <a:tr h="512064">
                <a:tc>
                  <a:txBody>
                    <a:bodyPr wrap="square"/>
                    <a:lstStyle/>
                    <a:p>
                      <a:pPr algn="l"/>
                      <a:r>
                        <a:rPr sz="15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500" b="0">
                          <a:solidFill>
                            <a:srgbClr val="141C1E"/>
                          </a:solidFill>
                          <a:latin typeface="Segoe UI"/>
                        </a:rPr>
                        <a:t>1</a:t>
                      </a:r>
                    </a:p>
                  </a:txBody>
                  <a:tcPr marL="128016" marR="128016" marT="45720" marB="45720" anchor="ctr">
                    <a:solidFill>
                      <a:srgbClr val="FFFFFF"/>
                    </a:solidFill>
                  </a:tcPr>
                </a:tc>
                <a:tc>
                  <a:txBody>
                    <a:bodyPr wrap="square"/>
                    <a:lstStyle/>
                    <a:p>
                      <a:pPr algn="l"/>
                      <a:r>
                        <a:rPr sz="1500" b="0">
                          <a:solidFill>
                            <a:srgbClr val="141C1E"/>
                          </a:solidFill>
                          <a:latin typeface="Segoe UI"/>
                        </a:rPr>
                        <a:t>21</a:t>
                      </a:r>
                    </a:p>
                  </a:txBody>
                  <a:tcPr marL="128016" marR="128016" marT="45720" marB="45720" anchor="ctr">
                    <a:solidFill>
                      <a:srgbClr val="FFFFFF"/>
                    </a:solidFill>
                  </a:tcPr>
                </a:tc>
                <a:tc>
                  <a:txBody>
                    <a:bodyPr wrap="square"/>
                    <a:lstStyle/>
                    <a:p>
                      <a:pPr algn="r"/>
                      <a:r>
                        <a:rPr sz="1500" b="0">
                          <a:solidFill>
                            <a:srgbClr val="141C1E"/>
                          </a:solidFill>
                          <a:latin typeface="Consolas"/>
                        </a:rPr>
                        <a:t>+0.020</a:t>
                      </a:r>
                    </a:p>
                  </a:txBody>
                  <a:tcPr marL="128016" marR="128016" marT="45720" marB="45720" anchor="ctr">
                    <a:solidFill>
                      <a:srgbClr val="FFFFFF"/>
                    </a:solidFill>
                  </a:tcPr>
                </a:tc>
              </a:tr>
            </a:tbl>
          </a:graphicData>
        </a:graphic>
      </p:graphicFrame>
      <p:sp>
        <p:nvSpPr>
          <p:cNvPr id="9" name="Rectangle 8"/>
          <p:cNvSpPr/>
          <p:nvPr/>
        </p:nvSpPr>
        <p:spPr>
          <a:xfrm>
            <a:off x="777240" y="4480560"/>
            <a:ext cx="10637215"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8056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6268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4919472"/>
            <a:ext cx="10134295" cy="484631"/>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A within-view gap near +0.105 would have refuted the explanation outright. It came back at a third of that, next to Avenue's figure.</a:t>
            </a:r>
          </a:p>
        </p:txBody>
      </p:sp>
      <p:sp>
        <p:nvSpPr>
          <p:cNvPr id="13" name="TextBox 12"/>
          <p:cNvSpPr txBox="1"/>
          <p:nvPr/>
        </p:nvSpPr>
        <p:spPr>
          <a:xfrm>
            <a:off x="777240" y="571500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Every camera view, one at a time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21</a:t>
            </a:r>
          </a:p>
        </p:txBody>
      </p:sp>
      <p:pic>
        <p:nvPicPr>
          <p:cNvPr id="7" name="Picture 6" descr="fig_chart_within_view.png"/>
          <p:cNvPicPr>
            <a:picLocks noChangeAspect="1"/>
          </p:cNvPicPr>
          <p:nvPr/>
        </p:nvPicPr>
        <p:blipFill>
          <a:blip r:embed="rId2"/>
          <a:stretch>
            <a:fillRect/>
          </a:stretch>
        </p:blipFill>
        <p:spPr>
          <a:xfrm>
            <a:off x="1824896" y="1783080"/>
            <a:ext cx="8541902"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orange line is the pooled result; each bar is one view on its own. Most fall well short of it and three are negative — but views 03 and 07 nearly reach it, so this is a shift in the average, not a clean collapse. The bars rest on between five and thirty-four clips each.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22</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23</a:t>
            </a:r>
          </a:p>
        </p:txBody>
      </p:sp>
      <p:graphicFrame>
        <p:nvGraphicFramePr>
          <p:cNvPr id="7" name="Table 6"/>
          <p:cNvGraphicFramePr>
            <a:graphicFrameLocks noGrp="1"/>
          </p:cNvGraphicFramePr>
          <p:nvPr/>
        </p:nvGraphicFramePr>
        <p:xfrm>
          <a:off x="777240" y="1755648"/>
          <a:ext cx="10634472" cy="2816352"/>
        </p:xfrm>
        <a:graphic>
          <a:graphicData uri="http://schemas.openxmlformats.org/drawingml/2006/table">
            <a:tbl>
              <a:tblPr firstRow="1">
                <a:tableStyleId>{5C22544A-7EE6-4342-B048-85BDC9FD1C3A}</a:tableStyleId>
              </a:tblPr>
              <a:tblGrid>
                <a:gridCol w="6766560"/>
                <a:gridCol w="1920240"/>
                <a:gridCol w="1947672"/>
              </a:tblGrid>
              <a:tr h="402336">
                <a:tc>
                  <a:txBody>
                    <a:bodyPr wrap="square"/>
                    <a:lstStyle/>
                    <a:p>
                      <a:pPr algn="l"/>
                      <a:r>
                        <a:rPr sz="1400" b="1">
                          <a:solidFill>
                            <a:srgbClr val="FFFFFF"/>
                          </a:solidFill>
                          <a:latin typeface="Segoe UI"/>
                        </a:rPr>
                        <a:t>Training-free method (no target data)</a:t>
                      </a:r>
                    </a:p>
                  </a:txBody>
                  <a:tcPr marL="128016" marR="128016" marT="45720" marB="45720" anchor="ctr">
                    <a:solidFill>
                      <a:srgbClr val="141C1E"/>
                    </a:solidFill>
                  </a:tcPr>
                </a:tc>
                <a:tc>
                  <a:txBody>
                    <a:bodyPr wrap="square"/>
                    <a:lstStyle/>
                    <a:p>
                      <a:pPr algn="l"/>
                      <a:r>
                        <a:rPr sz="1400" b="1">
                          <a:solidFill>
                            <a:srgbClr val="FFFFFF"/>
                          </a:solidFill>
                          <a:latin typeface="Segoe UI"/>
                        </a:rPr>
                        <a:t>Avenue</a:t>
                      </a:r>
                    </a:p>
                  </a:txBody>
                  <a:tcPr marL="128016" marR="128016" marT="45720" marB="45720" anchor="ctr">
                    <a:solidFill>
                      <a:srgbClr val="141C1E"/>
                    </a:solidFill>
                  </a:tcPr>
                </a:tc>
                <a:tc>
                  <a:txBody>
                    <a:bodyPr wrap="square"/>
                    <a:lstStyle/>
                    <a:p>
                      <a:pPr algn="l"/>
                      <a:r>
                        <a:rPr sz="1400" b="1">
                          <a:solidFill>
                            <a:srgbClr val="FFFFFF"/>
                          </a:solidFill>
                          <a:latin typeface="Segoe UI"/>
                        </a:rPr>
                        <a:t>ShT</a:t>
                      </a:r>
                    </a:p>
                  </a:txBody>
                  <a:tcPr marL="128016" marR="128016" marT="45720" marB="45720" anchor="ctr">
                    <a:solidFill>
                      <a:srgbClr val="141C1E"/>
                    </a:solidFill>
                  </a:tcPr>
                </a:tc>
              </a:tr>
              <a:tr h="402336">
                <a:tc>
                  <a:txBody>
                    <a:bodyPr wrap="square"/>
                    <a:lstStyle/>
                    <a:p>
                      <a:pPr algn="l"/>
                      <a:r>
                        <a:rPr sz="1400" b="0">
                          <a:solidFill>
                            <a:srgbClr val="141C1E"/>
                          </a:solidFill>
                          <a:latin typeface="Segoe UI"/>
                        </a:rPr>
                        <a:t>Zero-shot CLIP [2]</a:t>
                      </a:r>
                    </a:p>
                  </a:txBody>
                  <a:tcPr marL="128016" marR="128016" marT="45720" marB="45720" anchor="ctr">
                    <a:solidFill>
                      <a:srgbClr val="FFFFFF"/>
                    </a:solidFill>
                  </a:tcPr>
                </a:tc>
                <a:tc>
                  <a:txBody>
                    <a:bodyPr wrap="square"/>
                    <a:lstStyle/>
                    <a:p>
                      <a:pPr algn="l"/>
                      <a:r>
                        <a:rPr sz="1400" b="0">
                          <a:solidFill>
                            <a:srgbClr val="141C1E"/>
                          </a:solidFill>
                          <a:latin typeface="Segoe UI"/>
                        </a:rPr>
                        <a:t>62.3</a:t>
                      </a:r>
                    </a:p>
                  </a:txBody>
                  <a:tcPr marL="128016" marR="128016" marT="45720" marB="45720" anchor="ctr">
                    <a:solidFill>
                      <a:srgbClr val="FFFFFF"/>
                    </a:solidFill>
                  </a:tcPr>
                </a:tc>
                <a:tc>
                  <a:txBody>
                    <a:bodyPr wrap="square"/>
                    <a:lstStyle/>
                    <a:p>
                      <a:pPr algn="l"/>
                      <a:r>
                        <a:rPr sz="1400" b="0">
                          <a:solidFill>
                            <a:srgbClr val="141C1E"/>
                          </a:solidFill>
                          <a:latin typeface="Segoe UI"/>
                        </a:rPr>
                        <a:t>60.9</a:t>
                      </a:r>
                    </a:p>
                  </a:txBody>
                  <a:tcPr marL="128016" marR="128016" marT="45720" marB="45720" anchor="ctr">
                    <a:solidFill>
                      <a:srgbClr val="FFFFFF"/>
                    </a:solidFill>
                  </a:tcPr>
                </a:tc>
              </a:tr>
              <a:tr h="402336">
                <a:tc>
                  <a:txBody>
                    <a:bodyPr wrap="square"/>
                    <a:lstStyle/>
                    <a:p>
                      <a:pPr algn="l"/>
                      <a:r>
                        <a:rPr sz="1400" b="0">
                          <a:solidFill>
                            <a:srgbClr val="141C1E"/>
                          </a:solidFill>
                          <a:latin typeface="Segoe UI"/>
                        </a:rPr>
                        <a:t>Zero-shot ImageBind [36]</a:t>
                      </a:r>
                    </a:p>
                  </a:txBody>
                  <a:tcPr marL="128016" marR="128016" marT="45720" marB="45720" anchor="ctr">
                    <a:solidFill>
                      <a:srgbClr val="F5F7F7"/>
                    </a:solidFill>
                  </a:tcPr>
                </a:tc>
                <a:tc>
                  <a:txBody>
                    <a:bodyPr wrap="square"/>
                    <a:lstStyle/>
                    <a:p>
                      <a:pPr algn="l"/>
                      <a:r>
                        <a:rPr sz="1400" b="0">
                          <a:solidFill>
                            <a:srgbClr val="141C1E"/>
                          </a:solidFill>
                          <a:latin typeface="Segoe UI"/>
                        </a:rPr>
                        <a:t>64.5</a:t>
                      </a:r>
                    </a:p>
                  </a:txBody>
                  <a:tcPr marL="128016" marR="128016" marT="45720" marB="45720" anchor="ctr">
                    <a:solidFill>
                      <a:srgbClr val="F5F7F7"/>
                    </a:solidFill>
                  </a:tcPr>
                </a:tc>
                <a:tc>
                  <a:txBody>
                    <a:bodyPr wrap="square"/>
                    <a:lstStyle/>
                    <a:p>
                      <a:pPr algn="l"/>
                      <a:r>
                        <a:rPr sz="1400" b="0">
                          <a:solidFill>
                            <a:srgbClr val="141C1E"/>
                          </a:solidFill>
                          <a:latin typeface="Segoe UI"/>
                        </a:rPr>
                        <a:t>61.3</a:t>
                      </a:r>
                    </a:p>
                  </a:txBody>
                  <a:tcPr marL="128016" marR="128016" marT="45720" marB="45720" anchor="ctr">
                    <a:solidFill>
                      <a:srgbClr val="F5F7F7"/>
                    </a:solidFill>
                  </a:tcPr>
                </a:tc>
              </a:tr>
              <a:tr h="402336">
                <a:tc>
                  <a:txBody>
                    <a:bodyPr wrap="square"/>
                    <a:lstStyle/>
                    <a:p>
                      <a:pPr algn="l"/>
                      <a:r>
                        <a:rPr sz="1400" b="0">
                          <a:solidFill>
                            <a:srgbClr val="141C1E"/>
                          </a:solidFill>
                          <a:latin typeface="Segoe UI"/>
                        </a:rPr>
                        <a:t>LLaVA-1.5 [24]</a:t>
                      </a:r>
                    </a:p>
                  </a:txBody>
                  <a:tcPr marL="128016" marR="128016" marT="45720" marB="45720" anchor="ctr">
                    <a:solidFill>
                      <a:srgbClr val="FFFFFF"/>
                    </a:solidFill>
                  </a:tcPr>
                </a:tc>
                <a:tc>
                  <a:txBody>
                    <a:bodyPr wrap="square"/>
                    <a:lstStyle/>
                    <a:p>
                      <a:pPr algn="l"/>
                      <a:r>
                        <a:rPr sz="1400" b="0">
                          <a:solidFill>
                            <a:srgbClr val="141C1E"/>
                          </a:solidFill>
                          <a:latin typeface="Segoe UI"/>
                        </a:rPr>
                        <a:t>67.4</a:t>
                      </a:r>
                    </a:p>
                  </a:txBody>
                  <a:tcPr marL="128016" marR="128016" marT="45720" marB="45720" anchor="ctr">
                    <a:solidFill>
                      <a:srgbClr val="FFFFFF"/>
                    </a:solidFill>
                  </a:tcPr>
                </a:tc>
                <a:tc>
                  <a:txBody>
                    <a:bodyPr wrap="square"/>
                    <a:lstStyle/>
                    <a:p>
                      <a:pPr algn="l"/>
                      <a:r>
                        <a:rPr sz="1400" b="0">
                          <a:solidFill>
                            <a:srgbClr val="141C1E"/>
                          </a:solidFill>
                          <a:latin typeface="Segoe UI"/>
                        </a:rPr>
                        <a:t>59.6</a:t>
                      </a:r>
                    </a:p>
                  </a:txBody>
                  <a:tcPr marL="128016" marR="128016" marT="45720" marB="45720" anchor="ctr">
                    <a:solidFill>
                      <a:srgbClr val="FFFFFF"/>
                    </a:solidFill>
                  </a:tcPr>
                </a:tc>
              </a:tr>
              <a:tr h="402336">
                <a:tc>
                  <a:txBody>
                    <a:bodyPr wrap="square"/>
                    <a:lstStyle/>
                    <a:p>
                      <a:pPr algn="l"/>
                      <a:r>
                        <a:rPr sz="1400" b="0">
                          <a:solidFill>
                            <a:srgbClr val="141C1E"/>
                          </a:solidFill>
                          <a:latin typeface="Segoe UI"/>
                        </a:rPr>
                        <a:t>Video-ChatGPT [37]</a:t>
                      </a:r>
                    </a:p>
                  </a:txBody>
                  <a:tcPr marL="128016" marR="128016" marT="45720" marB="45720" anchor="ctr">
                    <a:solidFill>
                      <a:srgbClr val="F5F7F7"/>
                    </a:solidFill>
                  </a:tcPr>
                </a:tc>
                <a:tc>
                  <a:txBody>
                    <a:bodyPr wrap="square"/>
                    <a:lstStyle/>
                    <a:p>
                      <a:pPr algn="l"/>
                      <a:r>
                        <a:rPr sz="1400" b="0">
                          <a:solidFill>
                            <a:srgbClr val="141C1E"/>
                          </a:solidFill>
                          <a:latin typeface="Segoe UI"/>
                        </a:rPr>
                        <a:t>76.9</a:t>
                      </a:r>
                    </a:p>
                  </a:txBody>
                  <a:tcPr marL="128016" marR="128016" marT="45720" marB="45720" anchor="ctr">
                    <a:solidFill>
                      <a:srgbClr val="F5F7F7"/>
                    </a:solidFill>
                  </a:tcPr>
                </a:tc>
                <a:tc>
                  <a:txBody>
                    <a:bodyPr wrap="square"/>
                    <a:lstStyle/>
                    <a:p>
                      <a:pPr algn="l"/>
                      <a:r>
                        <a:rPr sz="1400" b="0">
                          <a:solidFill>
                            <a:srgbClr val="141C1E"/>
                          </a:solidFill>
                          <a:latin typeface="Segoe UI"/>
                        </a:rPr>
                        <a:t>69.1</a:t>
                      </a:r>
                    </a:p>
                  </a:txBody>
                  <a:tcPr marL="128016" marR="128016" marT="45720" marB="45720" anchor="ctr">
                    <a:solidFill>
                      <a:srgbClr val="F5F7F7"/>
                    </a:solidFill>
                  </a:tcPr>
                </a:tc>
              </a:tr>
              <a:tr h="402336">
                <a:tc>
                  <a:txBody>
                    <a:bodyPr wrap="square"/>
                    <a:lstStyle/>
                    <a:p>
                      <a:pPr algn="l"/>
                      <a:r>
                        <a:rPr sz="1400" b="0">
                          <a:solidFill>
                            <a:srgbClr val="141C1E"/>
                          </a:solidFill>
                          <a:latin typeface="Segoe UI"/>
                        </a:rPr>
                        <a:t>DA-ZVAD (ours) — one frozen encoder + a sentence</a:t>
                      </a:r>
                    </a:p>
                  </a:txBody>
                  <a:tcPr marL="128016" marR="128016" marT="45720" marB="45720" anchor="ctr">
                    <a:solidFill>
                      <a:srgbClr val="FFFFFF"/>
                    </a:solidFill>
                  </a:tcPr>
                </a:tc>
                <a:tc>
                  <a:txBody>
                    <a:bodyPr wrap="square"/>
                    <a:lstStyle/>
                    <a:p>
                      <a:pPr algn="l"/>
                      <a:r>
                        <a:rPr sz="1400" b="0">
                          <a:solidFill>
                            <a:srgbClr val="141C1E"/>
                          </a:solidFill>
                          <a:latin typeface="Segoe UI"/>
                        </a:rPr>
                        <a:t>70.6</a:t>
                      </a:r>
                    </a:p>
                  </a:txBody>
                  <a:tcPr marL="128016" marR="128016" marT="45720" marB="45720" anchor="ctr">
                    <a:solidFill>
                      <a:srgbClr val="FFFFFF"/>
                    </a:solidFill>
                  </a:tcPr>
                </a:tc>
                <a:tc>
                  <a:txBody>
                    <a:bodyPr wrap="square"/>
                    <a:lstStyle/>
                    <a:p>
                      <a:pPr algn="l"/>
                      <a:r>
                        <a:rPr sz="1400" b="0">
                          <a:solidFill>
                            <a:srgbClr val="141C1E"/>
                          </a:solidFill>
                          <a:latin typeface="Segoe UI"/>
                        </a:rPr>
                        <a:t>73.4</a:t>
                      </a:r>
                    </a:p>
                  </a:txBody>
                  <a:tcPr marL="128016" marR="128016" marT="45720" marB="45720" anchor="ctr">
                    <a:solidFill>
                      <a:srgbClr val="FFFFFF"/>
                    </a:solidFill>
                  </a:tcPr>
                </a:tc>
              </a:tr>
              <a:tr h="402336">
                <a:tc>
                  <a:txBody>
                    <a:bodyPr wrap="square"/>
                    <a:lstStyle/>
                    <a:p>
                      <a:pPr algn="l"/>
                      <a:r>
                        <a:rPr sz="1400" b="1">
                          <a:solidFill>
                            <a:srgbClr val="141C1E"/>
                          </a:solidFill>
                          <a:latin typeface="Segoe UI"/>
                        </a:rPr>
                        <a:t>AnyAnomaly [9] — 3 LVLM queries per segment</a:t>
                      </a:r>
                    </a:p>
                  </a:txBody>
                  <a:tcPr marL="128016" marR="128016" marT="45720" marB="45720" anchor="ctr">
                    <a:solidFill>
                      <a:srgbClr val="DDEDEB"/>
                    </a:solidFill>
                  </a:tcPr>
                </a:tc>
                <a:tc>
                  <a:txBody>
                    <a:bodyPr wrap="square"/>
                    <a:lstStyle/>
                    <a:p>
                      <a:pPr algn="l"/>
                      <a:r>
                        <a:rPr sz="1400" b="1">
                          <a:solidFill>
                            <a:srgbClr val="141C1E"/>
                          </a:solidFill>
                          <a:latin typeface="Segoe UI"/>
                        </a:rPr>
                        <a:t>87.3</a:t>
                      </a:r>
                    </a:p>
                  </a:txBody>
                  <a:tcPr marL="128016" marR="128016" marT="45720" marB="45720" anchor="ctr">
                    <a:solidFill>
                      <a:srgbClr val="DDEDEB"/>
                    </a:solidFill>
                  </a:tcPr>
                </a:tc>
                <a:tc>
                  <a:txBody>
                    <a:bodyPr wrap="square"/>
                    <a:lstStyle/>
                    <a:p>
                      <a:pPr algn="l"/>
                      <a:r>
                        <a:rPr sz="1400" b="1">
                          <a:solidFill>
                            <a:srgbClr val="141C1E"/>
                          </a:solidFill>
                          <a:latin typeface="Segoe UI"/>
                        </a:rPr>
                        <a:t>79.7</a:t>
                      </a:r>
                    </a:p>
                  </a:txBody>
                  <a:tcPr marL="128016" marR="128016" marT="45720" marB="45720" anchor="ctr">
                    <a:solidFill>
                      <a:srgbClr val="DDEDEB"/>
                    </a:solidFill>
                  </a:tcPr>
                </a:tc>
              </a:tr>
            </a:tbl>
          </a:graphicData>
        </a:graphic>
      </p:graphicFrame>
      <p:sp>
        <p:nvSpPr>
          <p:cNvPr id="8" name="Rectangle 7"/>
          <p:cNvSpPr/>
          <p:nvPr/>
        </p:nvSpPr>
        <p:spPr>
          <a:xfrm>
            <a:off x="777240" y="45537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3" y="4425696"/>
            <a:ext cx="10399471" cy="365760"/>
          </a:xfrm>
          <a:prstGeom prst="rect">
            <a:avLst/>
          </a:prstGeom>
          <a:noFill/>
        </p:spPr>
        <p:txBody>
          <a:bodyPr wrap="square" lIns="0" rIns="0" tIns="0" bIns="0">
            <a:spAutoFit/>
          </a:bodyPr>
          <a:lstStyle/>
          <a:p>
            <a:pPr>
              <a:lnSpc>
                <a:spcPct val="125000"/>
              </a:lnSpc>
            </a:pPr>
            <a:r>
              <a:rPr sz="1400" b="1">
                <a:solidFill>
                  <a:srgbClr val="141C1E"/>
                </a:solidFill>
                <a:latin typeface="Segoe UI"/>
              </a:rPr>
              <a:t>AnyAnomaly asks “is the thing I named happening?”  We ask “is anything happening that doesn’t belong here?”  </a:t>
            </a:r>
            <a:r>
              <a:rPr sz="1400">
                <a:solidFill>
                  <a:srgbClr val="3A4A4C"/>
                </a:solidFill>
                <a:latin typeface="Segoe UI"/>
              </a:rPr>
              <a:t>Theirs needs the operator to list what could go wrong. Ours needs a description of the ordinary. Their 79.7 is obtained by handing the model the benchmark’s own anomaly classes.</a:t>
            </a:r>
          </a:p>
        </p:txBody>
      </p:sp>
      <p:sp>
        <p:nvSpPr>
          <p:cNvPr id="10" name="Rectangle 9"/>
          <p:cNvSpPr/>
          <p:nvPr/>
        </p:nvSpPr>
        <p:spPr>
          <a:xfrm>
            <a:off x="777240" y="5376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3" y="5248656"/>
            <a:ext cx="10399471" cy="365760"/>
          </a:xfrm>
          <a:prstGeom prst="rect">
            <a:avLst/>
          </a:prstGeom>
          <a:noFill/>
        </p:spPr>
        <p:txBody>
          <a:bodyPr wrap="square" lIns="0" rIns="0" tIns="0" bIns="0">
            <a:spAutoFit/>
          </a:bodyPr>
          <a:lstStyle/>
          <a:p>
            <a:pPr>
              <a:lnSpc>
                <a:spcPct val="125000"/>
              </a:lnSpc>
            </a:pPr>
            <a:r>
              <a:rPr sz="1400" b="1">
                <a:solidFill>
                  <a:srgbClr val="141C1E"/>
                </a:solidFill>
                <a:latin typeface="Segoe UI"/>
              </a:rPr>
              <a:t>Most of our margin over the plain baselines is protocol, not language.  </a:t>
            </a:r>
            <a:r>
              <a:rPr sz="1400">
                <a:solidFill>
                  <a:srgbClr val="3A4A4C"/>
                </a:solidFill>
                <a:latin typeface="Segoe UI"/>
              </a:rPr>
              <a:t>With no descriptor we already reach 0.707 against zero-shot CLIP’s 60.9. The sentence adds 2.7 — the evidence for it is the mismatched condition, not this table.</a:t>
            </a:r>
          </a:p>
        </p:txBody>
      </p:sp>
      <p:sp>
        <p:nvSpPr>
          <p:cNvPr id="12" name="Rectangle 11"/>
          <p:cNvSpPr/>
          <p:nvPr/>
        </p:nvSpPr>
        <p:spPr>
          <a:xfrm>
            <a:off x="777240" y="5888736"/>
            <a:ext cx="10637215" cy="74980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888736"/>
            <a:ext cx="45720" cy="74980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3271" y="6035040"/>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WHAT WE SOLVE THAT THEY DO NOT</a:t>
            </a:r>
          </a:p>
        </p:txBody>
      </p:sp>
      <p:sp>
        <p:nvSpPr>
          <p:cNvPr id="15" name="TextBox 14"/>
          <p:cNvSpPr txBox="1"/>
          <p:nvPr/>
        </p:nvSpPr>
        <p:spPr>
          <a:xfrm>
            <a:off x="1033271" y="6327648"/>
            <a:ext cx="10134295" cy="18287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Detection of anomalies nobody enumerated in advance — and two findings that transfer: injection point beats wording, and the benefit scales with scene diversity.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24</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nearly vanishes on Avenue. The scene-diversity explanation rests on two datasets and is not established.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 is scale-sensitive.  </a:t>
            </a:r>
            <a:r>
              <a:rPr sz="1450">
                <a:solidFill>
                  <a:srgbClr val="3A4A4C"/>
                </a:solidFill>
                <a:latin typeface="Segoe UI"/>
              </a:rPr>
              <a:t>Per-clip normalisation is affine, so a monotone rescaling of the score changes the pooled figure even though the ranking is identical. We found this the hard way.</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Both video domains are outdoor pedestrian surveillance.  </a:t>
            </a:r>
            <a:r>
              <a:rPr sz="1450">
                <a:solidFill>
                  <a:srgbClr val="3A4A4C"/>
                </a:solidFill>
                <a:latin typeface="Segoe UI"/>
              </a:rPr>
              <a:t>The industrial contrast is evaluated for detection but not for the sweep.</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M4 not yet run.  </a:t>
            </a:r>
            <a:r>
              <a:rPr sz="1450">
                <a:solidFill>
                  <a:srgbClr val="3A4A4C"/>
                </a:solidFill>
                <a:latin typeface="Segoe UI"/>
              </a:rPr>
              <a:t>The explanation module has produced no video results.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Phase 3 plan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25</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Sweep within a single ShanghaiTech camera view</a:t>
                      </a:r>
                    </a:p>
                  </a:txBody>
                  <a:tcPr marL="128016" marR="128016" marT="45720" marB="45720" anchor="ctr">
                    <a:solidFill>
                      <a:srgbClr val="FFFFFF"/>
                    </a:solidFill>
                  </a:tcPr>
                </a:tc>
                <a:tc>
                  <a:txBody>
                    <a:bodyPr wrap="square"/>
                    <a:lstStyle/>
                    <a:p>
                      <a:pPr algn="l"/>
                      <a:r>
                        <a:rPr sz="1350" b="0">
                          <a:solidFill>
                            <a:srgbClr val="141C1E"/>
                          </a:solidFill>
                          <a:latin typeface="Segoe UI"/>
                        </a:rPr>
                        <a:t>Settles whether scene diversity is the operative variable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Context sweep on MVTec AD [5]</a:t>
                      </a:r>
                    </a:p>
                  </a:txBody>
                  <a:tcPr marL="128016" marR="128016" marT="45720" marB="45720" anchor="ctr">
                    <a:solidFill>
                      <a:srgbClr val="F5F7F7"/>
                    </a:solidFill>
                  </a:tcPr>
                </a:tc>
                <a:tc>
                  <a:txBody>
                    <a:bodyPr wrap="square"/>
                    <a:lstStyle/>
                    <a:p>
                      <a:pPr algn="l"/>
                      <a:r>
                        <a:rPr sz="1350" b="0">
                          <a:solidFill>
                            <a:srgbClr val="141C1E"/>
                          </a:solidFill>
                          <a:latin typeface="Segoe UI"/>
                        </a:rPr>
                        <a:t>Gives the industrial–surveillance contrast for adaptation, not just detection</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Patch-level scoring against spatial tokens</a:t>
                      </a:r>
                    </a:p>
                  </a:txBody>
                  <a:tcPr marL="128016" marR="128016" marT="45720" marB="45720" anchor="ctr">
                    <a:solidFill>
                      <a:srgbClr val="FFFFFF"/>
                    </a:solidFill>
                  </a:tcPr>
                </a:tc>
                <a:tc>
                  <a:txBody>
                    <a:bodyPr wrap="square"/>
                    <a:lstStyle/>
                    <a:p>
                      <a:pPr algn="l"/>
                      <a:r>
                        <a:rPr sz="1350" b="0">
                          <a:solidFill>
                            <a:srgbClr val="141C1E"/>
                          </a:solidFill>
                          <a:latin typeface="Segoe UI"/>
                        </a:rPr>
                        <a:t>Most likely route to a materially higher figure</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Run M4 — explanations under matched vs mismatched context</a:t>
                      </a:r>
                    </a:p>
                  </a:txBody>
                  <a:tcPr marL="128016" marR="128016" marT="45720" marB="45720" anchor="ctr">
                    <a:solidFill>
                      <a:srgbClr val="F5F7F7"/>
                    </a:solidFill>
                  </a:tcPr>
                </a:tc>
                <a:tc>
                  <a:txBody>
                    <a:bodyPr wrap="square"/>
                    <a:lstStyle/>
                    <a:p>
                      <a:pPr algn="l"/>
                      <a:r>
                        <a:rPr sz="1350" b="0">
                          <a:solidFill>
                            <a:srgbClr val="141C1E"/>
                          </a:solidFill>
                          <a:latin typeface="Segoe UI"/>
                        </a:rPr>
                        <a:t>Completes the framework; supplies the qualitative result</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INFRASTRUCTURE IS NOW BUILT</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Server, datasets, driver and embedding cache are in place. Encoding a benchmark once takes 21 minutes, after which a new scoring hypothesis is evaluated in seconds rather than 50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26</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[14, 15].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entirely by a sentence — which is what makes the claim identifiable.</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0.734 AUROC on ShanghaiTech with no training, and a wrong description costs 0.105 — evidence the text is load-bearing.</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does not replicate on a single-scene benchmark, and a within-view control shows why: the sentence tells the model which scene it is in. The claim is scoped, and the scoping is measured.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1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27</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  </a:t>
            </a:r>
            <a:r>
              <a:rPr sz="900">
                <a:solidFill>
                  <a:srgbClr val="141C1E"/>
                </a:solidFill>
                <a:latin typeface="Segoe UI"/>
              </a:rPr>
              <a:t>K. Wilkinghoff, N. Madan, J. M. Valverde, K. Nasrollahi, R. T. Ionescu, R. Wisniewski, T. B. Moeslund, W. Wang, Z.-H. Tan, Out of context: Reliability in multimodal anomaly detection requires contextual inference, arXiv preprint arXiv:2604.13252 (2026).</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  </a:t>
            </a:r>
            <a:r>
              <a:rPr sz="900">
                <a:solidFill>
                  <a:srgbClr val="141C1E"/>
                </a:solidFill>
                <a:latin typeface="Segoe UI"/>
              </a:rPr>
              <a:t>A. Radford, J. W. Kim, C. Hallacy, A. Ramesh, G. Goh, S. Agarwal, G. Sastry, A. Askell, P. Mishkin, J. Clark, G. Krueger, I. Sutskever, Learning transferable visual models from natural language supervision, in: Proc. Int. Conf. Mach. Learn. (ICML), 2021, pp. 8748–8763.</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  </a:t>
            </a:r>
            <a:r>
              <a:rPr sz="900">
                <a:solidFill>
                  <a:srgbClr val="141C1E"/>
                </a:solidFill>
                <a:latin typeface="Segoe UI"/>
              </a:rPr>
              <a:t>J. Jeong, Y. Zou, T. Kim, D. Zhang, A. Ravichandran, O. Dabeer, WinCLIP: Zero-/few-shot anomaly classification and segmentation, in: Proc. IEEE/CVF Conf. Comput. Vis. Pattern Recognit. (CVPR), 2023, pp. 19606–19616.</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[4]  </a:t>
            </a:r>
            <a:r>
              <a:rPr sz="900">
                <a:solidFill>
                  <a:srgbClr val="141C1E"/>
                </a:solidFill>
                <a:latin typeface="Segoe UI"/>
              </a:rPr>
              <a:t>Q. Zhou, G. Pang, Y. Tian, S. He, J. Chen, AnomalyCLIP: Object-agnostic prompt learning for zero-shot anomaly detection, in: Proc. Int. Conf. Learn. Represent. (ICLR), 2024.</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[5]  </a:t>
            </a:r>
            <a:r>
              <a:rPr sz="900">
                <a:solidFill>
                  <a:srgbClr val="141C1E"/>
                </a:solidFill>
                <a:latin typeface="Segoe UI"/>
              </a:rPr>
              <a:t>P. Bergmann, M. Fauser, D. Sattlegger, C. Steger, MVTec AD — A comprehensive real-world dataset for unsupervised anomaly detection, in: Proc. IEEE/CVF Conf. Comput. Vis. Pattern Recognit. (CVPR), 2019, pp. 9592–9600.</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[6]  </a:t>
            </a:r>
            <a:r>
              <a:rPr sz="900">
                <a:solidFill>
                  <a:srgbClr val="141C1E"/>
                </a:solidFill>
                <a:latin typeface="Segoe UI"/>
              </a:rPr>
              <a:t>K. Roth, L. Pemula, J. Zepeda, B. Schölkopf, T. Brox, P. Gehler, Towards total recall in industrial anomaly detection, in: Proc. IEEE/CVF Conf. Comput. Vis. Pattern Recognit. (CVPR), 2022, pp. 14318–14328.</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[7]  </a:t>
            </a:r>
            <a:r>
              <a:rPr sz="900">
                <a:solidFill>
                  <a:srgbClr val="141C1E"/>
                </a:solidFill>
                <a:latin typeface="Segoe UI"/>
              </a:rPr>
              <a:t>L. Zanella, W. Menapace, M. Mancini, Y. Wang, E. Ricci, Harnessing large language models for training-free video anomaly detection, in: Proc. IEEE/CVF Conf. Comput. Vis. Pattern Recognit. (CVPR), 2024, pp. 18527–18536.</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[8]  </a:t>
            </a:r>
            <a:r>
              <a:rPr sz="900">
                <a:solidFill>
                  <a:srgbClr val="141C1E"/>
                </a:solidFill>
                <a:latin typeface="Segoe UI"/>
              </a:rPr>
              <a:t>M. Ye, W. Liu, P. He, VERA: Explainable video anomaly detection via verbalized learning of vision-language models, in: Proc. IEEE/CVF Conf. Comput. Vis. Pattern Recognit. (CVPR), 2025. ArXiv:2412.01095.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[9]  </a:t>
            </a:r>
            <a:r>
              <a:rPr sz="900">
                <a:solidFill>
                  <a:srgbClr val="141C1E"/>
                </a:solidFill>
                <a:latin typeface="Segoe UI"/>
              </a:rPr>
              <a:t>S. Ahn, Y. Jo, K. Lee, S. Kwon, I. Hong, S. Park, AnyAnomaly: Zero-shot customizable video anomaly detection with LVLM, in: Proc. IEEE/CVF Winter Conf. Appl. Comput. Vis. (WACV), 2026, pp. 3026–3035.</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[10]  </a:t>
            </a:r>
            <a:r>
              <a:rPr sz="900">
                <a:solidFill>
                  <a:srgbClr val="141C1E"/>
                </a:solidFill>
                <a:latin typeface="Segoe UI"/>
              </a:rPr>
              <a:t>P. Wu, X. Zhou, G. Pang, Y. Sun, J. Liu, P. Wang, Y. Zhang, Open-vocabulary video anomaly detection, in: Proc. IEEE/CVF Conf. Comput. Vis. Pattern Recognit. (CVPR), 2024, pp. 18297–18307.</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[11]  </a:t>
            </a:r>
            <a:r>
              <a:rPr sz="900">
                <a:solidFill>
                  <a:srgbClr val="141C1E"/>
                </a:solidFill>
                <a:latin typeface="Segoe UI"/>
              </a:rPr>
              <a:t>V. M. Patel, R. Gopalan, R. Li, R. Chellappa, Visual domain adaptation: A survey of recent advances, IEEE Signal Process. Mag. 32 (2015) 53–69.</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[12]  </a:t>
            </a:r>
            <a:r>
              <a:rPr sz="900">
                <a:solidFill>
                  <a:srgbClr val="141C1E"/>
                </a:solidFill>
                <a:latin typeface="Segoe UI"/>
              </a:rPr>
              <a:t>M. Wang, W. Deng, Deep visual domain adaptation: A survey, Neurocomputing 312 (2018) 135–153.</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[13]  </a:t>
            </a:r>
            <a:r>
              <a:rPr sz="900">
                <a:solidFill>
                  <a:srgbClr val="141C1E"/>
                </a:solidFill>
                <a:latin typeface="Segoe UI"/>
              </a:rPr>
              <a:t>G. Wilson, D. J. Cook, A survey of unsupervised deep domain adaptation, ACM Comput. Surv. 51 (2020) 1–46.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2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28</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[14]  </a:t>
            </a:r>
            <a:r>
              <a:rPr sz="900">
                <a:solidFill>
                  <a:srgbClr val="141C1E"/>
                </a:solidFill>
                <a:latin typeface="Segoe UI"/>
              </a:rPr>
              <a:t>X. Liu, C. Yoo, F. Xing, H. Oh, G. El Fakhri, J.-W. Kang, J. Woo, Deep unsupervised domain adaptation: A review of recent advances and perspectives, APSIPA Trans. Signal Inf. Process. 11 (2022). ArXiv:2208.07422.</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[15]  </a:t>
            </a:r>
            <a:r>
              <a:rPr sz="900">
                <a:solidFill>
                  <a:srgbClr val="141C1E"/>
                </a:solidFill>
                <a:latin typeface="Segoe UI"/>
              </a:rPr>
              <a:t>P. Singhal, R. Walambe, S. Ramanna, K. Kotecha, Domain adaptation: Challenges, methods, datasets, and applications, IEEE Access 11 (2023) 6973–7020.</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[16]  </a:t>
            </a:r>
            <a:r>
              <a:rPr sz="900">
                <a:solidFill>
                  <a:srgbClr val="141C1E"/>
                </a:solidFill>
                <a:latin typeface="Segoe UI"/>
              </a:rPr>
              <a:t>L. Fan, F. Liu, C. Chen, Domain adaptation of large language models for geotechnical applications, Solid Earth Sci. (2026). Art. no. 100285.</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[17]  </a:t>
            </a:r>
            <a:r>
              <a:rPr sz="900">
                <a:solidFill>
                  <a:srgbClr val="141C1E"/>
                </a:solidFill>
                <a:latin typeface="Segoe UI"/>
              </a:rPr>
              <a:t>D. Guo, Y. Fu, S. Li, Ada-VAD: Domain adaptable video anomaly detection, in: Proc. SIAM Int. Conf. Data Min. (SDM), 2024, pp. 634–642.</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[18]  </a:t>
            </a:r>
            <a:r>
              <a:rPr sz="900">
                <a:solidFill>
                  <a:srgbClr val="141C1E"/>
                </a:solidFill>
                <a:latin typeface="Segoe UI"/>
              </a:rPr>
              <a:t>Y. Lu, F. Yu, M. K. K. Reddy, Y. Wang, Few-shot scene-adaptive anomaly detection, in: Proc. Eur. Conf. Comput. Vis. (ECCV), 2020, pp. 125–141.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[19]  </a:t>
            </a:r>
            <a:r>
              <a:rPr sz="900">
                <a:solidFill>
                  <a:srgbClr val="141C1E"/>
                </a:solidFill>
                <a:latin typeface="Segoe UI"/>
              </a:rPr>
              <a:t>A. Aich, K.-C. Peng, A. K. Roy-Chowdhury, Cross-domain video anomaly detection without target domain adaptation, in: Proc. IEEE/CVF Winter Conf. Appl. Comput. Vis. (WACV), 2023, pp. 2578–2590.</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[20]  </a:t>
            </a:r>
            <a:r>
              <a:rPr sz="900">
                <a:solidFill>
                  <a:srgbClr val="141C1E"/>
                </a:solidFill>
                <a:latin typeface="Segoe UI"/>
              </a:rPr>
              <a:t>W. M. Kouw, M. Loog, An introduction to domain adaptation and transfer learning, arXiv preprint arXiv:1812.11806 (2018).</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[21]  </a:t>
            </a:r>
            <a:r>
              <a:rPr sz="900">
                <a:solidFill>
                  <a:srgbClr val="141C1E"/>
                </a:solidFill>
                <a:latin typeface="Segoe UI"/>
              </a:rPr>
              <a:t>W. Liu, W. Luo, D. Lian, S. Gao, Future frame prediction for anomaly detection — A new baseline, in: Proc. IEEE/CVF Conf. Comput. Vis. Pattern Recognit. (CVPR), 2018, pp. 6536–6545.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[22]  </a:t>
            </a:r>
            <a:r>
              <a:rPr sz="900">
                <a:solidFill>
                  <a:srgbClr val="141C1E"/>
                </a:solidFill>
                <a:latin typeface="Segoe UI"/>
              </a:rPr>
              <a:t>A. Dosovitskiy, L. Beyer, A. Kolesnikov, D. Weissenborn, X. Zhai, T. Unterthiner, M. Dehghani, M. Minderer, G. Heigold, S. Gelly, J. Uszkoreit, N. Houlsby, An image is worth 16x16 words: Transformers for image recognition at scale, in: Proc. Int. Conf. Learn. Represent. (ICLR), 2021.</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[23]  </a:t>
            </a:r>
            <a:r>
              <a:rPr sz="900">
                <a:solidFill>
                  <a:srgbClr val="141C1E"/>
                </a:solidFill>
                <a:latin typeface="Segoe UI"/>
              </a:rPr>
              <a:t>A. Vaswani, N. Shazeer, N. Parmar, J. Uszkoreit, L. Jones, A. N. Gomez, L. Kaiser, I. Polosukhin, Attention is all you need, in: Adv. Neural Inf. Process. Syst. (NeurIPS), 2017, pp. 5998–6008.</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[24]  </a:t>
            </a:r>
            <a:r>
              <a:rPr sz="900">
                <a:solidFill>
                  <a:srgbClr val="141C1E"/>
                </a:solidFill>
                <a:latin typeface="Segoe UI"/>
              </a:rPr>
              <a:t>H. Liu, C. Li, Q. Wu, Y. J. Lee, Visual instruction tuning, in: Adv. Neural Inf. Process. Syst. (NeurIPS), 2023, pp. 34892–34916.</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[25]  </a:t>
            </a:r>
            <a:r>
              <a:rPr sz="900">
                <a:solidFill>
                  <a:srgbClr val="141C1E"/>
                </a:solidFill>
                <a:latin typeface="Segoe UI"/>
              </a:rPr>
              <a:t>T. Dettmers, A. Pagnoni, A. Holtzman, L. Zettlemoyer, QLoRA: Efficient finetuning of quantized LLMs, in: Adv. Neural Inf. Process. Syst. (NeurIPS), 2023, pp. 10088–10115.</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[26]  </a:t>
            </a:r>
            <a:r>
              <a:rPr sz="900">
                <a:solidFill>
                  <a:srgbClr val="141C1E"/>
                </a:solidFill>
                <a:latin typeface="Segoe UI"/>
              </a:rPr>
              <a:t>C. Lu, J. Shi, J. Jia, Abnormal event detection at 150 FPS in MATLAB, in: Proc. IEEE Int. Conf. Comput. Vis. (ICCV), 2013, pp. 2720–2727.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3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29</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[27]  </a:t>
            </a:r>
            <a:r>
              <a:rPr sz="900">
                <a:solidFill>
                  <a:srgbClr val="141C1E"/>
                </a:solidFill>
                <a:latin typeface="Segoe UI"/>
              </a:rPr>
              <a:t>T. Fawcett, An introduction to ROC analysis, Pattern Recognit. Lett. 27 (2006) 861–874.</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[28]  </a:t>
            </a:r>
            <a:r>
              <a:rPr sz="900">
                <a:solidFill>
                  <a:srgbClr val="141C1E"/>
                </a:solidFill>
                <a:latin typeface="Segoe UI"/>
              </a:rPr>
              <a:t>A. P. Bradley, The use of the area under the ROC curve in the evaluation of machine learning algorithms, Pattern Recognit. 30 (1997) 1145–1159.</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[29]  </a:t>
            </a:r>
            <a:r>
              <a:rPr sz="900">
                <a:solidFill>
                  <a:srgbClr val="141C1E"/>
                </a:solidFill>
                <a:latin typeface="Segoe UI"/>
              </a:rPr>
              <a:t>J. Davis, M. Goadrich, The relationship between precision-recall and ROC curves, in: Proc. Int. Conf. Mach. Learn. (ICML), 2006, pp. 233–240.</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[30]  </a:t>
            </a:r>
            <a:r>
              <a:rPr sz="900">
                <a:solidFill>
                  <a:srgbClr val="141C1E"/>
                </a:solidFill>
                <a:latin typeface="Segoe UI"/>
              </a:rPr>
              <a:t>B. Schölkopf, J. C. Platt, J. Shawe-Taylor, A. J. Smola, R. C. Williamson, Estimating the support of a high-dimensional distribution, Neural Comput. 13 (2001) 1443–1471.</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[31]  </a:t>
            </a:r>
            <a:r>
              <a:rPr sz="900">
                <a:solidFill>
                  <a:srgbClr val="141C1E"/>
                </a:solidFill>
                <a:latin typeface="Segoe UI"/>
              </a:rPr>
              <a:t>Y. Tian, G. Pang, Y. Chen, R. Singh, J. W. Verjans, G. Carneiro, Weakly-supervised video anomaly detection with robust temporal feature magnitude learning, in: Proc. IEEE/CVF Int. Conf. Comput. Vis. (ICCV), 2021, pp. 4975–4986.</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[32]  </a:t>
            </a:r>
            <a:r>
              <a:rPr sz="900">
                <a:solidFill>
                  <a:srgbClr val="141C1E"/>
                </a:solidFill>
                <a:latin typeface="Segoe UI"/>
              </a:rPr>
              <a:t>D. Gong, L. Liu, V. Le, B. Saha, M. R. Mansour, S. Venkatesh, A. van den Hengel, Memorizing normality to detect anomaly: Memory-augmented deep autoencoder for unsupervised anomaly detection, in: Proc. IEEE/CVF Int. Conf. Comput. Vis. (ICCV), 2019, pp. 1705–1714.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[33]  </a:t>
            </a:r>
            <a:r>
              <a:rPr sz="900">
                <a:solidFill>
                  <a:srgbClr val="141C1E"/>
                </a:solidFill>
                <a:latin typeface="Segoe UI"/>
              </a:rPr>
              <a:t>H. Park, J. Noh, B. Ham, Learning memory-guided normality for anomaly detection, in: Proc. IEEE/CVF Conf. Comput. Vis. Pattern Recognit. (CVPR), 2020, pp. 14372–14381.</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[34]  </a:t>
            </a:r>
            <a:r>
              <a:rPr sz="900">
                <a:solidFill>
                  <a:srgbClr val="141C1E"/>
                </a:solidFill>
                <a:latin typeface="Segoe UI"/>
              </a:rPr>
              <a:t>Z. Liu, Y. Nie, C. Long, Q. Zhang, G. Li, A hybrid video anomaly detection framework via memory-augmented flow reconstruction and flow-guided frame prediction, in: Proc. IEEE/CVF Int. Conf. Comput. Vis. (ICCV), 2021, pp. 13588–13597.</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[35]  </a:t>
            </a:r>
            <a:r>
              <a:rPr sz="900">
                <a:solidFill>
                  <a:srgbClr val="141C1E"/>
                </a:solidFill>
                <a:latin typeface="Segoe UI"/>
              </a:rPr>
              <a:t>J. Micorek, H. Possegger, D. Narnhofer, H. Bischof, M. Kampel, MULDE: Multiscale log-density estimation via denoising score matching for video anomaly detection, in: Proc. IEEE/CVF Conf. Comput. Vis. Pattern Recognit. (CVPR), 2024, pp. 18868–18877.</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[36]  </a:t>
            </a:r>
            <a:r>
              <a:rPr sz="900">
                <a:solidFill>
                  <a:srgbClr val="141C1E"/>
                </a:solidFill>
                <a:latin typeface="Segoe UI"/>
              </a:rPr>
              <a:t>R. Girdhar, A. El-Nouby, Z. Liu, M. Singh, K. V. Alwala, A. Joulin, I. Misra, ImageBind: One embedding space to bind them all, in: Proc. IEEE/CVF Conf. Comput. Vis. Pattern Recognit. (CVPR), 2023, pp. 15180–15190.</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[37]  </a:t>
            </a:r>
            <a:r>
              <a:rPr sz="900">
                <a:solidFill>
                  <a:srgbClr val="141C1E"/>
                </a:solidFill>
                <a:latin typeface="Segoe UI"/>
              </a:rPr>
              <a:t>M. Maaz, H. Rasheed, S. Khan, F. Khan, Video-ChatGPT: Towards detailed video understanding via large vision and language models, in: Proc. 62nd Annu. Meet. Assoc. Comput. Linguist. (ACL), 2024, pp. 12585–12602.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