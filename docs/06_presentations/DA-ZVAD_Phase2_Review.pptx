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Introduce yourself and the one-line premise: adapting an anomaly detector to a new place by writing a sentence, with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example, not the definition. Mall versus factory - the same forklift, opposite answers. Then the cost: every new customer means new footage and a retraining cycle. That cost is what we are removing.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you read the six surveys. Read the Liu quote aloud - the field scopes concept shift OUT by explicit decision. Make clear you are not criticising them: for object recognition it is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land the consequence. In anomaly detection normality IS the deployment context, so concept shift is not a corner case - it is the whole task. Appearance-alignment methods cannot help when the appearance is identical.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modules left to right in about thirty seconds. Then stop on M3 - the orange box - and say that is the only place the domain enters, and the entire research question.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methodological point in the deck. Say it slowly. Because nothing can change except the text, any effect is attributable to the text. Methods that update weights cannot make that argument.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interpretation was fixed BEFORE any measurement, and that the mismatched condition is designed to refute us. A panel will respect a test you could have failed.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 is the credibility slide. If anyone doubts the work is yours, offer to open a manifest. It records the commit, the machine and the frame counts.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past this and do not apologise for it. Say plainly: the first run was chance, and the key experiment came out backwards. Then pause. The next two slides are what makes this presentation worth listening 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schools analogy works on everyone - use it. Stress twice that the fix uses no labels and is the benchmark's own published protocol, and that both figures appear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slide. Point at the two prompts on screen and let them see the shared words. Then deliver the punchline: the more accurate the description, the more damage it does. That is why the result inverted.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Point at the none column being identical in both rows - that is the control, and it proves only the injection point changed. Then point at 0.592 and say a wrong sentence costs ten points.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scrupulous here. Say out loud that you do NOT claim the correct description improves detection - it gains 0.007, which is nothing. The claim rests entirely on the mismatched condition. Understating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complementarity with the bicycle: a parked bicycle is not an anomaly, a brisk walk is not an anomaly, a bicycle at cycling speed on a footpath is. Then volunteer the awkward part about motion alone.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you are showing failures: anyone can report the runs that worked. If the panel suspects generated work, this slide is your best answer - a clean table is easy to fabricate, four diagnosed failures are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 the obvious challenge. LAVAD is better and you say so. But it runs three large models per frame; you run one encoder and a sentence. You are not competing on accuracy and the paper states that.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these confidently rather than apologetically. Naming the single-domain limitation yourself is the point - if they raise it first you look like you had not noticed.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Priority one is the second dataset because it tests the transfer claim, which is currently untested. Note that the infrastructure cost is now paid: 21 minutes of encoding buys unlimited scoring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finding rather than the number: where the description is injected dominates what it says. Then state the missing piece and hand over to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00200"/>
            <a:ext cx="960120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PHASE 2 REVIEW  ·  SEMESTER 3  ·  SUMMER PROGRESS</a:t>
            </a:r>
          </a:p>
        </p:txBody>
      </p:sp>
      <p:sp>
        <p:nvSpPr>
          <p:cNvPr id="5" name="TextBox 4"/>
          <p:cNvSpPr txBox="1"/>
          <p:nvPr/>
        </p:nvSpPr>
        <p:spPr>
          <a:xfrm>
            <a:off x="1371600" y="2057400"/>
            <a:ext cx="9692640" cy="1371600"/>
          </a:xfrm>
          <a:prstGeom prst="rect">
            <a:avLst/>
          </a:prstGeom>
          <a:noFill/>
        </p:spPr>
        <p:txBody>
          <a:bodyPr wrap="square" lIns="0" rIns="0" tIns="0" bIns="0">
            <a:spAutoFit/>
          </a:bodyPr>
          <a:lstStyle/>
          <a:p>
            <a:pPr algn="l">
              <a:lnSpc>
                <a:spcPct val="106000"/>
              </a:lnSpc>
            </a:pPr>
            <a:r>
              <a:rPr sz="3800" b="1" i="0">
                <a:solidFill>
                  <a:srgbClr val="141C1E"/>
                </a:solidFill>
                <a:latin typeface="Segoe UI"/>
              </a:rPr>
              <a:t>Domain-Adaptive Zero-Shot Anomaly Detection Using Vision-Language Models</a:t>
            </a:r>
          </a:p>
        </p:txBody>
      </p:sp>
      <p:sp>
        <p:nvSpPr>
          <p:cNvPr id="6" name="Rectangle 5"/>
          <p:cNvSpPr/>
          <p:nvPr/>
        </p:nvSpPr>
        <p:spPr>
          <a:xfrm>
            <a:off x="1371600" y="3611880"/>
            <a:ext cx="1828800" cy="36576"/>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86200"/>
            <a:ext cx="9144000" cy="457200"/>
          </a:xfrm>
          <a:prstGeom prst="rect">
            <a:avLst/>
          </a:prstGeom>
          <a:noFill/>
        </p:spPr>
        <p:txBody>
          <a:bodyPr wrap="square" lIns="0" rIns="0" tIns="0" bIns="0">
            <a:spAutoFit/>
          </a:bodyPr>
          <a:lstStyle/>
          <a:p>
            <a:pPr algn="l">
              <a:lnSpc>
                <a:spcPct val="130000"/>
              </a:lnSpc>
            </a:pPr>
            <a:r>
              <a:rPr sz="1600" b="0" i="0">
                <a:solidFill>
                  <a:srgbClr val="3A4A4C"/>
                </a:solidFill>
                <a:latin typeface="Segoe UI"/>
              </a:rPr>
              <a:t>Adapting a video anomaly detector to a new environment by writing a sentence — with no training, no target data, and every model frozen.</a:t>
            </a:r>
          </a:p>
        </p:txBody>
      </p:sp>
      <p:sp>
        <p:nvSpPr>
          <p:cNvPr id="8" name="TextBox 7"/>
          <p:cNvSpPr txBox="1"/>
          <p:nvPr/>
        </p:nvSpPr>
        <p:spPr>
          <a:xfrm>
            <a:off x="1371600" y="5074920"/>
            <a:ext cx="5486400" cy="320040"/>
          </a:xfrm>
          <a:prstGeom prst="rect">
            <a:avLst/>
          </a:prstGeom>
          <a:noFill/>
        </p:spPr>
        <p:txBody>
          <a:bodyPr wrap="square" lIns="0" rIns="0" tIns="0" bIns="0">
            <a:spAutoFit/>
          </a:bodyPr>
          <a:lstStyle/>
          <a:p>
            <a:pPr algn="l">
              <a:lnSpc>
                <a:spcPct val="100000"/>
              </a:lnSpc>
            </a:pPr>
            <a:r>
              <a:rPr sz="1700" b="1" i="0">
                <a:solidFill>
                  <a:srgbClr val="141C1E"/>
                </a:solidFill>
                <a:latin typeface="Segoe UI"/>
              </a:rPr>
              <a:t>Prakash Kumar Sarangi</a:t>
            </a:r>
          </a:p>
        </p:txBody>
      </p:sp>
      <p:sp>
        <p:nvSpPr>
          <p:cNvPr id="9" name="TextBox 8"/>
          <p:cNvSpPr txBox="1"/>
          <p:nvPr/>
        </p:nvSpPr>
        <p:spPr>
          <a:xfrm>
            <a:off x="1371600" y="5413248"/>
            <a:ext cx="6400800" cy="548640"/>
          </a:xfrm>
          <a:prstGeom prst="rect">
            <a:avLst/>
          </a:prstGeom>
          <a:noFill/>
        </p:spPr>
        <p:txBody>
          <a:bodyPr wrap="square" lIns="0" rIns="0" tIns="0" bIns="0">
            <a:spAutoFit/>
          </a:bodyPr>
          <a:lstStyle/>
          <a:p>
            <a:pPr algn="l">
              <a:lnSpc>
                <a:spcPct val="135000"/>
              </a:lnSpc>
            </a:pPr>
            <a:r>
              <a:rPr sz="1250" b="0" i="0">
                <a:solidFill>
                  <a:srgbClr val="617274"/>
                </a:solidFill>
                <a:latin typeface="Segoe UI"/>
              </a:rPr>
              <a:t>M.Tech Computer Science and Engineering
Supervisors: Dr. Pranesh Das  ·  Dr. Raju Hazari</a:t>
            </a:r>
          </a:p>
        </p:txBody>
      </p:sp>
      <p:sp>
        <p:nvSpPr>
          <p:cNvPr id="10" name="TextBox 9"/>
          <p:cNvSpPr txBox="1"/>
          <p:nvPr/>
        </p:nvSpPr>
        <p:spPr>
          <a:xfrm>
            <a:off x="1371600" y="6172200"/>
            <a:ext cx="6400800" cy="274320"/>
          </a:xfrm>
          <a:prstGeom prst="rect">
            <a:avLst/>
          </a:prstGeom>
          <a:noFill/>
        </p:spPr>
        <p:txBody>
          <a:bodyPr wrap="square" lIns="0" rIns="0" tIns="0" bIns="0">
            <a:spAutoFit/>
          </a:bodyPr>
          <a:lstStyle/>
          <a:p>
            <a:pPr algn="l">
              <a:lnSpc>
                <a:spcPct val="100000"/>
              </a:lnSpc>
            </a:pPr>
            <a:r>
              <a:rPr sz="1250" b="1" i="0">
                <a:solidFill>
                  <a:srgbClr val="0D6B67"/>
                </a:solidFill>
                <a:latin typeface="Segoe UI"/>
              </a:rPr>
              <a:t>National Institute of Technology Calicut</a:t>
            </a:r>
          </a:p>
        </p:txBody>
      </p:sp>
      <p:sp>
        <p:nvSpPr>
          <p:cNvPr id="11" name="TextBox 10"/>
          <p:cNvSpPr txBox="1"/>
          <p:nvPr/>
        </p:nvSpPr>
        <p:spPr>
          <a:xfrm>
            <a:off x="9402775" y="6172200"/>
            <a:ext cx="2011680" cy="274320"/>
          </a:xfrm>
          <a:prstGeom prst="rect">
            <a:avLst/>
          </a:prstGeom>
          <a:noFill/>
        </p:spPr>
        <p:txBody>
          <a:bodyPr wrap="square" lIns="0" rIns="0" tIns="0" bIns="0">
            <a:spAutoFit/>
          </a:bodyPr>
          <a:lstStyle/>
          <a:p>
            <a:pPr algn="r">
              <a:lnSpc>
                <a:spcPct val="100000"/>
              </a:lnSpc>
            </a:pPr>
            <a:r>
              <a:rPr sz="1250" b="0" i="0">
                <a:solidFill>
                  <a:srgbClr val="617274"/>
                </a:solidFill>
                <a:latin typeface="Segoe UI"/>
              </a:rPr>
              <a:t>14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THE PROBLEM</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detector is tied to the place it learned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Standard approach.  </a:t>
            </a:r>
            <a:r>
              <a:rPr sz="1650">
                <a:solidFill>
                  <a:srgbClr val="3A4A4C"/>
                </a:solidFill>
                <a:latin typeface="Segoe UI"/>
              </a:rPr>
              <a:t>Show the system weeks of ordinary footage from one camera until it learns what normal looks like there.</a:t>
            </a:r>
          </a:p>
        </p:txBody>
      </p:sp>
      <p:sp>
        <p:nvSpPr>
          <p:cNvPr id="9" name="Rectangle 8"/>
          <p:cNvSpPr/>
          <p:nvPr/>
        </p:nvSpPr>
        <p:spPr>
          <a:xfrm>
            <a:off x="777240" y="22951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167128"/>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cost.  </a:t>
            </a:r>
            <a:r>
              <a:rPr sz="1650">
                <a:solidFill>
                  <a:srgbClr val="3A4A4C"/>
                </a:solidFill>
                <a:latin typeface="Segoe UI"/>
              </a:rPr>
              <a:t>Move it anywhere else and it fails — new site means new footage collection and a full retraining cycle.</a:t>
            </a:r>
          </a:p>
        </p:txBody>
      </p:sp>
      <p:sp>
        <p:nvSpPr>
          <p:cNvPr id="11" name="Rectangle 10"/>
          <p:cNvSpPr/>
          <p:nvPr/>
        </p:nvSpPr>
        <p:spPr>
          <a:xfrm>
            <a:off x="777240" y="2880360"/>
            <a:ext cx="5074920" cy="228600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127248"/>
            <a:ext cx="448056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SHOPPING MALL</a:t>
            </a:r>
          </a:p>
        </p:txBody>
      </p:sp>
      <p:sp>
        <p:nvSpPr>
          <p:cNvPr id="13" name="TextBox 12"/>
          <p:cNvSpPr txBox="1"/>
          <p:nvPr/>
        </p:nvSpPr>
        <p:spPr>
          <a:xfrm>
            <a:off x="1097280" y="352044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A forklift moving through the aisles is
an immediate alarm.</a:t>
            </a:r>
          </a:p>
        </p:txBody>
      </p:sp>
      <p:sp>
        <p:nvSpPr>
          <p:cNvPr id="14" name="Rectangle 13"/>
          <p:cNvSpPr/>
          <p:nvPr/>
        </p:nvSpPr>
        <p:spPr>
          <a:xfrm>
            <a:off x="6217920" y="2880360"/>
            <a:ext cx="5074920" cy="228600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127248"/>
            <a:ext cx="4480560" cy="274320"/>
          </a:xfrm>
          <a:prstGeom prst="rect">
            <a:avLst/>
          </a:prstGeom>
          <a:noFill/>
        </p:spPr>
        <p:txBody>
          <a:bodyPr wrap="square" lIns="0" rIns="0" tIns="0" bIns="0">
            <a:spAutoFit/>
          </a:bodyPr>
          <a:lstStyle/>
          <a:p>
            <a:pPr algn="l">
              <a:lnSpc>
                <a:spcPct val="100000"/>
              </a:lnSpc>
            </a:pPr>
            <a:r>
              <a:rPr sz="1200" b="1" i="0">
                <a:solidFill>
                  <a:srgbClr val="8A5715"/>
                </a:solidFill>
                <a:latin typeface="Segoe UI"/>
              </a:rPr>
              <a:t>FACTORY FLOOR</a:t>
            </a:r>
          </a:p>
        </p:txBody>
      </p:sp>
      <p:sp>
        <p:nvSpPr>
          <p:cNvPr id="16" name="TextBox 15"/>
          <p:cNvSpPr txBox="1"/>
          <p:nvPr/>
        </p:nvSpPr>
        <p:spPr>
          <a:xfrm>
            <a:off x="6537959" y="352044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The identical forklift is completely
routine.</a:t>
            </a:r>
          </a:p>
        </p:txBody>
      </p:sp>
      <p:sp>
        <p:nvSpPr>
          <p:cNvPr id="17" name="TextBox 16"/>
          <p:cNvSpPr txBox="1"/>
          <p:nvPr/>
        </p:nvSpPr>
        <p:spPr>
          <a:xfrm>
            <a:off x="777240" y="5440680"/>
            <a:ext cx="10637215" cy="457200"/>
          </a:xfrm>
          <a:prstGeom prst="rect">
            <a:avLst/>
          </a:prstGeom>
          <a:noFill/>
        </p:spPr>
        <p:txBody>
          <a:bodyPr wrap="square" lIns="0" rIns="0" tIns="0" bIns="0">
            <a:spAutoFit/>
          </a:bodyPr>
          <a:lstStyle/>
          <a:p>
            <a:pPr algn="ctr">
              <a:lnSpc>
                <a:spcPct val="100000"/>
              </a:lnSpc>
            </a:pPr>
            <a:r>
              <a:rPr sz="1700" b="1" i="0">
                <a:solidFill>
                  <a:srgbClr val="141C1E"/>
                </a:solidFill>
                <a:latin typeface="Segoe UI"/>
              </a:rPr>
              <a:t>Same footage. Opposite answers. The picture did not change — the rule did.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literature solves the adjacent problem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Domain adaptation distinguishes between kinds of difference between places.</a:t>
            </a:r>
          </a:p>
        </p:txBody>
      </p:sp>
      <p:graphicFrame>
        <p:nvGraphicFramePr>
          <p:cNvPr id="8" name="Table 7"/>
          <p:cNvGraphicFramePr>
            <a:graphicFrameLocks noGrp="1"/>
          </p:cNvGraphicFramePr>
          <p:nvPr/>
        </p:nvGraphicFramePr>
        <p:xfrm>
          <a:off x="777240" y="2331720"/>
          <a:ext cx="10634472" cy="1975104"/>
        </p:xfrm>
        <a:graphic>
          <a:graphicData uri="http://schemas.openxmlformats.org/drawingml/2006/table">
            <a:tbl>
              <a:tblPr firstRow="1">
                <a:tableStyleId>{5C22544A-7EE6-4342-B048-85BDC9FD1C3A}</a:tableStyleId>
              </a:tblPr>
              <a:tblGrid>
                <a:gridCol w="2651760"/>
                <a:gridCol w="2011680"/>
                <a:gridCol w="5971032"/>
              </a:tblGrid>
              <a:tr h="658368">
                <a:tc>
                  <a:txBody>
                    <a:bodyPr wrap="square"/>
                    <a:lstStyle/>
                    <a:p>
                      <a:pPr algn="l"/>
                      <a:r>
                        <a:rPr sz="1400" b="1">
                          <a:solidFill>
                            <a:srgbClr val="FFFFFF"/>
                          </a:solidFill>
                          <a:latin typeface="Segoe UI"/>
                        </a:rPr>
                        <a:t>Type of shift</a:t>
                      </a:r>
                    </a:p>
                  </a:txBody>
                  <a:tcPr marL="128016" marR="128016" marT="45720" marB="45720" anchor="ctr">
                    <a:solidFill>
                      <a:srgbClr val="141C1E"/>
                    </a:solidFill>
                  </a:tcPr>
                </a:tc>
                <a:tc>
                  <a:txBody>
                    <a:bodyPr wrap="square"/>
                    <a:lstStyle/>
                    <a:p>
                      <a:pPr algn="l"/>
                      <a:r>
                        <a:rPr sz="1400" b="1">
                          <a:solidFill>
                            <a:srgbClr val="FFFFFF"/>
                          </a:solidFill>
                          <a:latin typeface="Segoe UI"/>
                        </a:rPr>
                        <a:t>What moves</a:t>
                      </a:r>
                    </a:p>
                  </a:txBody>
                  <a:tcPr marL="128016" marR="128016" marT="45720" marB="45720" anchor="ctr">
                    <a:solidFill>
                      <a:srgbClr val="141C1E"/>
                    </a:solidFill>
                  </a:tcPr>
                </a:tc>
                <a:tc>
                  <a:txBody>
                    <a:bodyPr wrap="square"/>
                    <a:lstStyle/>
                    <a:p>
                      <a:pPr algn="l"/>
                      <a:r>
                        <a:rPr sz="1400" b="1">
                          <a:solidFill>
                            <a:srgbClr val="FFFFFF"/>
                          </a:solidFill>
                          <a:latin typeface="Segoe UI"/>
                        </a:rPr>
                        <a:t>Example</a:t>
                      </a:r>
                    </a:p>
                  </a:txBody>
                  <a:tcPr marL="128016" marR="128016" marT="45720" marB="45720" anchor="ctr">
                    <a:solidFill>
                      <a:srgbClr val="141C1E"/>
                    </a:solidFill>
                  </a:tcPr>
                </a:tc>
              </a:tr>
              <a:tr h="658368">
                <a:tc>
                  <a:txBody>
                    <a:bodyPr wrap="square"/>
                    <a:lstStyle/>
                    <a:p>
                      <a:pPr algn="l"/>
                      <a:r>
                        <a:rPr sz="1400" b="0">
                          <a:solidFill>
                            <a:srgbClr val="141C1E"/>
                          </a:solidFill>
                          <a:latin typeface="Segoe UI"/>
                        </a:rPr>
                        <a:t>Covariate shift</a:t>
                      </a:r>
                    </a:p>
                  </a:txBody>
                  <a:tcPr marL="128016" marR="128016" marT="45720" marB="45720" anchor="ctr">
                    <a:solidFill>
                      <a:srgbClr val="FFFFFF"/>
                    </a:solidFill>
                  </a:tcPr>
                </a:tc>
                <a:tc>
                  <a:txBody>
                    <a:bodyPr wrap="square"/>
                    <a:lstStyle/>
                    <a:p>
                      <a:pPr algn="l"/>
                      <a:r>
                        <a:rPr sz="1400" b="0">
                          <a:solidFill>
                            <a:srgbClr val="141C1E"/>
                          </a:solidFill>
                          <a:latin typeface="Segoe UI"/>
                        </a:rPr>
                        <a:t>Appearance</a:t>
                      </a:r>
                    </a:p>
                  </a:txBody>
                  <a:tcPr marL="128016" marR="128016" marT="45720" marB="45720" anchor="ctr">
                    <a:solidFill>
                      <a:srgbClr val="FFFFFF"/>
                    </a:solidFill>
                  </a:tcPr>
                </a:tc>
                <a:tc>
                  <a:txBody>
                    <a:bodyPr wrap="square"/>
                    <a:lstStyle/>
                    <a:p>
                      <a:pPr algn="l"/>
                      <a:r>
                        <a:rPr sz="1400" b="0">
                          <a:solidFill>
                            <a:srgbClr val="141C1E"/>
                          </a:solidFill>
                          <a:latin typeface="Segoe UI"/>
                        </a:rPr>
                        <a:t>A stop sign in fog versus sunshine. Still a stop sign.</a:t>
                      </a:r>
                    </a:p>
                  </a:txBody>
                  <a:tcPr marL="128016" marR="128016" marT="45720" marB="45720" anchor="ctr">
                    <a:solidFill>
                      <a:srgbClr val="FFFFFF"/>
                    </a:solidFill>
                  </a:tcPr>
                </a:tc>
              </a:tr>
              <a:tr h="658368">
                <a:tc>
                  <a:txBody>
                    <a:bodyPr wrap="square"/>
                    <a:lstStyle/>
                    <a:p>
                      <a:pPr algn="l"/>
                      <a:r>
                        <a:rPr sz="1400" b="1">
                          <a:solidFill>
                            <a:srgbClr val="141C1E"/>
                          </a:solidFill>
                          <a:latin typeface="Segoe UI"/>
                        </a:rPr>
                        <a:t>Concept shift</a:t>
                      </a:r>
                    </a:p>
                  </a:txBody>
                  <a:tcPr marL="128016" marR="128016" marT="45720" marB="45720" anchor="ctr">
                    <a:solidFill>
                      <a:srgbClr val="DDEDEB"/>
                    </a:solidFill>
                  </a:tcPr>
                </a:tc>
                <a:tc>
                  <a:txBody>
                    <a:bodyPr wrap="square"/>
                    <a:lstStyle/>
                    <a:p>
                      <a:pPr algn="l"/>
                      <a:r>
                        <a:rPr sz="1400" b="1">
                          <a:solidFill>
                            <a:srgbClr val="141C1E"/>
                          </a:solidFill>
                          <a:latin typeface="Segoe UI"/>
                        </a:rPr>
                        <a:t>The rule itself</a:t>
                      </a:r>
                    </a:p>
                  </a:txBody>
                  <a:tcPr marL="128016" marR="128016" marT="45720" marB="45720" anchor="ctr">
                    <a:solidFill>
                      <a:srgbClr val="DDEDEB"/>
                    </a:solidFill>
                  </a:tcPr>
                </a:tc>
                <a:tc>
                  <a:txBody>
                    <a:bodyPr wrap="square"/>
                    <a:lstStyle/>
                    <a:p>
                      <a:pPr algn="l"/>
                      <a:r>
                        <a:rPr sz="1400" b="1">
                          <a:solidFill>
                            <a:srgbClr val="141C1E"/>
                          </a:solidFill>
                          <a:latin typeface="Segoe UI"/>
                        </a:rPr>
                        <a:t>A bicycle on a road versus on a footpath. Identical image, opposite label.</a:t>
                      </a:r>
                    </a:p>
                  </a:txBody>
                  <a:tcPr marL="128016" marR="128016" marT="45720" marB="45720" anchor="ctr">
                    <a:solidFill>
                      <a:srgbClr val="DDEDEB"/>
                    </a:solidFill>
                  </a:tcPr>
                </a:tc>
              </a:tr>
            </a:tbl>
          </a:graphicData>
        </a:graphic>
      </p:graphicFrame>
      <p:sp>
        <p:nvSpPr>
          <p:cNvPr id="9" name="Rectangle 8"/>
          <p:cNvSpPr/>
          <p:nvPr/>
        </p:nvSpPr>
        <p:spPr>
          <a:xfrm>
            <a:off x="777240" y="4434840"/>
            <a:ext cx="10637215" cy="123444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34840"/>
            <a:ext cx="45720" cy="123444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58114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SURVEYS SAY</a:t>
            </a:r>
          </a:p>
        </p:txBody>
      </p:sp>
      <p:sp>
        <p:nvSpPr>
          <p:cNvPr id="12" name="TextBox 11"/>
          <p:cNvSpPr txBox="1"/>
          <p:nvPr/>
        </p:nvSpPr>
        <p:spPr>
          <a:xfrm>
            <a:off x="1033271" y="487375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“Concept shift is usually not a common problem in popular object classification… this review mainly focuses on covariate shift.”   — Liu et al., 2022.   Singhal et al. (2023) list stable p(y|x) as the first condition under which domain adaptation is justified.</a:t>
            </a:r>
          </a:p>
        </p:txBody>
      </p:sp>
      <p:sp>
        <p:nvSpPr>
          <p:cNvPr id="13" name="TextBox 12"/>
          <p:cNvSpPr txBox="1"/>
          <p:nvPr/>
        </p:nvSpPr>
        <p:spPr>
          <a:xfrm>
            <a:off x="777240" y="5897880"/>
            <a:ext cx="10637215" cy="365760"/>
          </a:xfrm>
          <a:prstGeom prst="rect">
            <a:avLst/>
          </a:prstGeom>
          <a:noFill/>
        </p:spPr>
        <p:txBody>
          <a:bodyPr wrap="square" lIns="0" rIns="0" tIns="0" bIns="0">
            <a:spAutoFit/>
          </a:bodyPr>
          <a:lstStyle/>
          <a:p>
            <a:pPr algn="l">
              <a:lnSpc>
                <a:spcPct val="100000"/>
              </a:lnSpc>
            </a:pPr>
            <a:r>
              <a:rPr sz="1600" b="1" i="0">
                <a:solidFill>
                  <a:srgbClr val="141C1E"/>
                </a:solidFill>
                <a:latin typeface="Segoe UI"/>
              </a:rPr>
              <a:t>Fair for object recognition — a cat is a cat everywhere. But anomaly detection is built on concept shift.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that matters for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a:t>
            </a:r>
          </a:p>
        </p:txBody>
      </p:sp>
      <p:sp>
        <p:nvSpPr>
          <p:cNvPr id="7" name="TextBox 6"/>
          <p:cNvSpPr txBox="1"/>
          <p:nvPr/>
        </p:nvSpPr>
        <p:spPr>
          <a:xfrm>
            <a:off x="777240" y="1737360"/>
            <a:ext cx="10637215" cy="365760"/>
          </a:xfrm>
          <a:prstGeom prst="rect">
            <a:avLst/>
          </a:prstGeom>
          <a:noFill/>
        </p:spPr>
        <p:txBody>
          <a:bodyPr wrap="square" lIns="0" rIns="0" tIns="0" bIns="0">
            <a:spAutoFit/>
          </a:bodyPr>
          <a:lstStyle/>
          <a:p>
            <a:pPr algn="l">
              <a:lnSpc>
                <a:spcPct val="130000"/>
              </a:lnSpc>
            </a:pPr>
            <a:r>
              <a:rPr sz="1650" b="0" i="0">
                <a:solidFill>
                  <a:srgbClr val="3A4A4C"/>
                </a:solidFill>
                <a:latin typeface="Segoe UI"/>
              </a:rPr>
              <a:t>In anomaly detection, “normal” is defined by the deployment context — not by the object. That is the definition of the task.</a:t>
            </a:r>
          </a:p>
        </p:txBody>
      </p:sp>
      <p:graphicFrame>
        <p:nvGraphicFramePr>
          <p:cNvPr id="8" name="Table 7"/>
          <p:cNvGraphicFramePr>
            <a:graphicFrameLocks noGrp="1"/>
          </p:cNvGraphicFramePr>
          <p:nvPr/>
        </p:nvGraphicFramePr>
        <p:xfrm>
          <a:off x="777240" y="2468880"/>
          <a:ext cx="10634472" cy="1828800"/>
        </p:xfrm>
        <a:graphic>
          <a:graphicData uri="http://schemas.openxmlformats.org/drawingml/2006/table">
            <a:tbl>
              <a:tblPr firstRow="1">
                <a:tableStyleId>{5C22544A-7EE6-4342-B048-85BDC9FD1C3A}</a:tableStyleId>
              </a:tblPr>
              <a:tblGrid>
                <a:gridCol w="3291840"/>
                <a:gridCol w="3657600"/>
                <a:gridCol w="3685032"/>
              </a:tblGrid>
              <a:tr h="457200">
                <a:tc>
                  <a:txBody>
                    <a:bodyPr wrap="square"/>
                    <a:lstStyle/>
                    <a:p>
                      <a:pPr algn="l"/>
                      <a:r>
                        <a:rPr sz="1450" b="1">
                          <a:solidFill>
                            <a:srgbClr val="FFFFFF"/>
                          </a:solidFill>
                          <a:latin typeface="Segoe UI"/>
                        </a:rPr>
                        <a:t>Input</a:t>
                      </a:r>
                    </a:p>
                  </a:txBody>
                  <a:tcPr marL="128016" marR="128016" marT="45720" marB="45720" anchor="ctr">
                    <a:solidFill>
                      <a:srgbClr val="141C1E"/>
                    </a:solidFill>
                  </a:tcPr>
                </a:tc>
                <a:tc>
                  <a:txBody>
                    <a:bodyPr wrap="square"/>
                    <a:lstStyle/>
                    <a:p>
                      <a:pPr algn="l"/>
                      <a:r>
                        <a:rPr sz="1450" b="1">
                          <a:solidFill>
                            <a:srgbClr val="FFFFFF"/>
                          </a:solidFill>
                          <a:latin typeface="Segoe UI"/>
                        </a:rPr>
                        <a:t>Domain A</a:t>
                      </a:r>
                    </a:p>
                  </a:txBody>
                  <a:tcPr marL="128016" marR="128016" marT="45720" marB="45720" anchor="ctr">
                    <a:solidFill>
                      <a:srgbClr val="141C1E"/>
                    </a:solidFill>
                  </a:tcPr>
                </a:tc>
                <a:tc>
                  <a:txBody>
                    <a:bodyPr wrap="square"/>
                    <a:lstStyle/>
                    <a:p>
                      <a:pPr algn="l"/>
                      <a:r>
                        <a:rPr sz="1450" b="1">
                          <a:solidFill>
                            <a:srgbClr val="FFFFFF"/>
                          </a:solidFill>
                          <a:latin typeface="Segoe UI"/>
                        </a:rPr>
                        <a:t>Domain B</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A person running</a:t>
                      </a:r>
                    </a:p>
                  </a:txBody>
                  <a:tcPr marL="128016" marR="128016" marT="45720" marB="45720" anchor="ctr">
                    <a:solidFill>
                      <a:srgbClr val="FFFFFF"/>
                    </a:solidFill>
                  </a:tcPr>
                </a:tc>
                <a:tc>
                  <a:txBody>
                    <a:bodyPr wrap="square"/>
                    <a:lstStyle/>
                    <a:p>
                      <a:pPr algn="l"/>
                      <a:r>
                        <a:rPr sz="1450" b="0">
                          <a:solidFill>
                            <a:srgbClr val="141C1E"/>
                          </a:solidFill>
                          <a:latin typeface="Segoe UI"/>
                        </a:rPr>
                        <a:t>Park — normal</a:t>
                      </a:r>
                    </a:p>
                  </a:txBody>
                  <a:tcPr marL="128016" marR="128016" marT="45720" marB="45720" anchor="ctr">
                    <a:solidFill>
                      <a:srgbClr val="FFFFFF"/>
                    </a:solidFill>
                  </a:tcPr>
                </a:tc>
                <a:tc>
                  <a:txBody>
                    <a:bodyPr wrap="square"/>
                    <a:lstStyle/>
                    <a:p>
                      <a:pPr algn="l"/>
                      <a:r>
                        <a:rPr sz="1450" b="0">
                          <a:solidFill>
                            <a:srgbClr val="141C1E"/>
                          </a:solidFill>
                          <a:latin typeface="Segoe UI"/>
                        </a:rPr>
                        <a:t>Bank vault — anomalous</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A person lying down</a:t>
                      </a:r>
                    </a:p>
                  </a:txBody>
                  <a:tcPr marL="128016" marR="128016" marT="45720" marB="45720" anchor="ctr">
                    <a:solidFill>
                      <a:srgbClr val="F5F7F7"/>
                    </a:solidFill>
                  </a:tcPr>
                </a:tc>
                <a:tc>
                  <a:txBody>
                    <a:bodyPr wrap="square"/>
                    <a:lstStyle/>
                    <a:p>
                      <a:pPr algn="l"/>
                      <a:r>
                        <a:rPr sz="1450" b="0">
                          <a:solidFill>
                            <a:srgbClr val="141C1E"/>
                          </a:solidFill>
                          <a:latin typeface="Segoe UI"/>
                        </a:rPr>
                        <a:t>Beach — normal</a:t>
                      </a:r>
                    </a:p>
                  </a:txBody>
                  <a:tcPr marL="128016" marR="128016" marT="45720" marB="45720" anchor="ctr">
                    <a:solidFill>
                      <a:srgbClr val="F5F7F7"/>
                    </a:solidFill>
                  </a:tcPr>
                </a:tc>
                <a:tc>
                  <a:txBody>
                    <a:bodyPr wrap="square"/>
                    <a:lstStyle/>
                    <a:p>
                      <a:pPr algn="l"/>
                      <a:r>
                        <a:rPr sz="1450" b="0">
                          <a:solidFill>
                            <a:srgbClr val="141C1E"/>
                          </a:solidFill>
                          <a:latin typeface="Segoe UI"/>
                        </a:rPr>
                        <a:t>Factory aisle — anomalous</a:t>
                      </a:r>
                    </a:p>
                  </a:txBody>
                  <a:tcPr marL="128016" marR="128016" marT="45720" marB="45720" anchor="ctr">
                    <a:solidFill>
                      <a:srgbClr val="F5F7F7"/>
                    </a:solidFill>
                  </a:tcPr>
                </a:tc>
              </a:tr>
              <a:tr h="457200">
                <a:tc>
                  <a:txBody>
                    <a:bodyPr wrap="square"/>
                    <a:lstStyle/>
                    <a:p>
                      <a:pPr algn="l"/>
                      <a:r>
                        <a:rPr sz="1450" b="0">
                          <a:solidFill>
                            <a:srgbClr val="141C1E"/>
                          </a:solidFill>
                          <a:latin typeface="Segoe UI"/>
                        </a:rPr>
                        <a:t>A vehicle</a:t>
                      </a:r>
                    </a:p>
                  </a:txBody>
                  <a:tcPr marL="128016" marR="128016" marT="45720" marB="45720" anchor="ctr">
                    <a:solidFill>
                      <a:srgbClr val="FFFFFF"/>
                    </a:solidFill>
                  </a:tcPr>
                </a:tc>
                <a:tc>
                  <a:txBody>
                    <a:bodyPr wrap="square"/>
                    <a:lstStyle/>
                    <a:p>
                      <a:pPr algn="l"/>
                      <a:r>
                        <a:rPr sz="1450" b="0">
                          <a:solidFill>
                            <a:srgbClr val="141C1E"/>
                          </a:solidFill>
                          <a:latin typeface="Segoe UI"/>
                        </a:rPr>
                        <a:t>Road — normal</a:t>
                      </a:r>
                    </a:p>
                  </a:txBody>
                  <a:tcPr marL="128016" marR="128016" marT="45720" marB="45720" anchor="ctr">
                    <a:solidFill>
                      <a:srgbClr val="FFFFFF"/>
                    </a:solidFill>
                  </a:tcPr>
                </a:tc>
                <a:tc>
                  <a:txBody>
                    <a:bodyPr wrap="square"/>
                    <a:lstStyle/>
                    <a:p>
                      <a:pPr algn="l"/>
                      <a:r>
                        <a:rPr sz="1450" b="0">
                          <a:solidFill>
                            <a:srgbClr val="141C1E"/>
                          </a:solidFill>
                          <a:latin typeface="Segoe UI"/>
                        </a:rPr>
                        <a:t>Walkway — anomalous</a:t>
                      </a:r>
                    </a:p>
                  </a:txBody>
                  <a:tcPr marL="128016" marR="128016" marT="45720" marB="45720" anchor="ctr">
                    <a:solidFill>
                      <a:srgbClr val="FFFFFF"/>
                    </a:solidFill>
                  </a:tcPr>
                </a:tc>
              </a:tr>
            </a:tbl>
          </a:graphicData>
        </a:graphic>
      </p:graphicFrame>
      <p:sp>
        <p:nvSpPr>
          <p:cNvPr id="9" name="Rectangle 8"/>
          <p:cNvSpPr/>
          <p:nvPr/>
        </p:nvSpPr>
        <p:spPr>
          <a:xfrm>
            <a:off x="777240" y="457200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57200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GAP WE TARGET</a:t>
            </a:r>
          </a:p>
        </p:txBody>
      </p:sp>
      <p:sp>
        <p:nvSpPr>
          <p:cNvPr id="12" name="TextBox 11"/>
          <p:cNvSpPr txBox="1"/>
          <p:nvPr/>
        </p:nvSpPr>
        <p:spPr>
          <a:xfrm>
            <a:off x="1033271" y="5010912"/>
            <a:ext cx="10134295" cy="66751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Methods that align appearance cannot help here — the appearance is already identical. Two domains can share p(x) exactly while the labelling function differs. No existing work characterises video anomaly detection in these terms.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PROPOSED FRAMEWORK</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DA-ZVAD: adapt by writing a sentence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4</a:t>
            </a:r>
          </a:p>
        </p:txBody>
      </p:sp>
      <p:pic>
        <p:nvPicPr>
          <p:cNvPr id="7" name="Picture 6" descr="dazvad_architecture.png"/>
          <p:cNvPicPr>
            <a:picLocks noChangeAspect="1"/>
          </p:cNvPicPr>
          <p:nvPr/>
        </p:nvPicPr>
        <p:blipFill>
          <a:blip r:embed="rId2"/>
          <a:stretch>
            <a:fillRect/>
          </a:stretch>
        </p:blipFill>
        <p:spPr>
          <a:xfrm>
            <a:off x="777240" y="1783080"/>
            <a:ext cx="6858000" cy="4263216"/>
          </a:xfrm>
          <a:prstGeom prst="rect">
            <a:avLst/>
          </a:prstGeom>
        </p:spPr>
      </p:pic>
      <p:sp>
        <p:nvSpPr>
          <p:cNvPr id="8" name="TextBox 7"/>
          <p:cNvSpPr txBox="1"/>
          <p:nvPr/>
        </p:nvSpPr>
        <p:spPr>
          <a:xfrm>
            <a:off x="7955279" y="1783080"/>
            <a:ext cx="3364992"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EVERY MODEL FROZEN</a:t>
            </a:r>
          </a:p>
        </p:txBody>
      </p:sp>
      <p:sp>
        <p:nvSpPr>
          <p:cNvPr id="9" name="Rectangle 8"/>
          <p:cNvSpPr/>
          <p:nvPr/>
        </p:nvSpPr>
        <p:spPr>
          <a:xfrm>
            <a:off x="7955279" y="2331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3" y="2203704"/>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M1  </a:t>
            </a:r>
            <a:r>
              <a:rPr sz="1300">
                <a:solidFill>
                  <a:srgbClr val="3A4A4C"/>
                </a:solidFill>
                <a:latin typeface="Segoe UI"/>
              </a:rPr>
              <a:t>Frozen CLIP scores each frame against “normal” and “abnormal” text.</a:t>
            </a:r>
          </a:p>
        </p:txBody>
      </p:sp>
      <p:sp>
        <p:nvSpPr>
          <p:cNvPr id="11" name="Rectangle 10"/>
          <p:cNvSpPr/>
          <p:nvPr/>
        </p:nvSpPr>
        <p:spPr>
          <a:xfrm>
            <a:off x="7955279" y="304495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2916936"/>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M2  </a:t>
            </a:r>
            <a:r>
              <a:rPr sz="1300">
                <a:solidFill>
                  <a:srgbClr val="3A4A4C"/>
                </a:solidFill>
                <a:latin typeface="Segoe UI"/>
              </a:rPr>
              <a:t>Moving average over time — no parameters.</a:t>
            </a:r>
          </a:p>
        </p:txBody>
      </p:sp>
      <p:sp>
        <p:nvSpPr>
          <p:cNvPr id="13" name="Rectangle 12"/>
          <p:cNvSpPr/>
          <p:nvPr/>
        </p:nvSpPr>
        <p:spPr>
          <a:xfrm>
            <a:off x="7955279" y="375818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3023" y="3630168"/>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M3  </a:t>
            </a:r>
            <a:r>
              <a:rPr sz="1300">
                <a:solidFill>
                  <a:srgbClr val="3A4A4C"/>
                </a:solidFill>
                <a:latin typeface="Segoe UI"/>
              </a:rPr>
              <a:t>The scene description. The adaptation mechanism.</a:t>
            </a:r>
          </a:p>
        </p:txBody>
      </p:sp>
      <p:sp>
        <p:nvSpPr>
          <p:cNvPr id="15" name="Rectangle 14"/>
          <p:cNvSpPr/>
          <p:nvPr/>
        </p:nvSpPr>
        <p:spPr>
          <a:xfrm>
            <a:off x="7955279" y="447141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3" y="4343400"/>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M4  </a:t>
            </a:r>
            <a:r>
              <a:rPr sz="1300">
                <a:solidFill>
                  <a:srgbClr val="3A4A4C"/>
                </a:solidFill>
                <a:latin typeface="Segoe UI"/>
              </a:rPr>
              <a:t>Frozen LLaVA explains each detected event.</a:t>
            </a:r>
          </a:p>
        </p:txBody>
      </p:sp>
      <p:sp>
        <p:nvSpPr>
          <p:cNvPr id="17" name="Rectangle 16"/>
          <p:cNvSpPr/>
          <p:nvPr/>
        </p:nvSpPr>
        <p:spPr>
          <a:xfrm>
            <a:off x="7955279" y="5166360"/>
            <a:ext cx="3364992"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55279" y="51663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1" y="5312664"/>
            <a:ext cx="2862072"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DEPLOYMENT</a:t>
            </a:r>
          </a:p>
        </p:txBody>
      </p:sp>
      <p:sp>
        <p:nvSpPr>
          <p:cNvPr id="20" name="TextBox 19"/>
          <p:cNvSpPr txBox="1"/>
          <p:nvPr/>
        </p:nvSpPr>
        <p:spPr>
          <a:xfrm>
            <a:off x="8211311" y="5605272"/>
            <a:ext cx="2862072" cy="484631"/>
          </a:xfrm>
          <a:prstGeom prst="rect">
            <a:avLst/>
          </a:prstGeom>
          <a:noFill/>
        </p:spPr>
        <p:txBody>
          <a:bodyPr wrap="square" lIns="0" rIns="0" tIns="0" bIns="0">
            <a:spAutoFit/>
          </a:bodyPr>
          <a:lstStyle/>
          <a:p>
            <a:pPr algn="l">
              <a:lnSpc>
                <a:spcPct val="100000"/>
              </a:lnSpc>
            </a:pPr>
            <a:r>
              <a:rPr sz="1300" b="0" i="0">
                <a:solidFill>
                  <a:srgbClr val="141C1E"/>
                </a:solidFill>
                <a:latin typeface="Segoe UI"/>
              </a:rPr>
              <a:t>Moving to a new site = editing one sentence. No target data. No gradients.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METHOD  ·  DESIGN RATIONALE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freezing everything is the point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5</a:t>
            </a:r>
          </a:p>
        </p:txBody>
      </p:sp>
      <p:sp>
        <p:nvSpPr>
          <p:cNvPr id="7" name="Rectangle 6"/>
          <p:cNvSpPr/>
          <p:nvPr/>
        </p:nvSpPr>
        <p:spPr>
          <a:xfrm>
            <a:off x="777240" y="19202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9222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risk.  </a:t>
            </a:r>
            <a:r>
              <a:rPr sz="1650">
                <a:solidFill>
                  <a:srgbClr val="3A4A4C"/>
                </a:solidFill>
                <a:latin typeface="Segoe UI"/>
              </a:rPr>
              <a:t>If the system learned even a little from the new site, and performance improved, we could not say what caused it — the sentence, or the learning.</a:t>
            </a:r>
          </a:p>
        </p:txBody>
      </p:sp>
      <p:sp>
        <p:nvSpPr>
          <p:cNvPr id="9" name="Rectangle 8"/>
          <p:cNvSpPr/>
          <p:nvPr/>
        </p:nvSpPr>
        <p:spPr>
          <a:xfrm>
            <a:off x="777240" y="2788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609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Our design.  </a:t>
            </a:r>
            <a:r>
              <a:rPr sz="1650">
                <a:solidFill>
                  <a:srgbClr val="3A4A4C"/>
                </a:solidFill>
                <a:latin typeface="Segoe UI"/>
              </a:rPr>
              <a:t>No parameter anywhere is allowed to change. Exactly one thing in the system can vary: the text.</a:t>
            </a:r>
          </a:p>
        </p:txBody>
      </p:sp>
      <p:sp>
        <p:nvSpPr>
          <p:cNvPr id="11" name="Rectangle 10"/>
          <p:cNvSpPr/>
          <p:nvPr/>
        </p:nvSpPr>
        <p:spPr>
          <a:xfrm>
            <a:off x="777240" y="36576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52958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consequence.  </a:t>
            </a:r>
            <a:r>
              <a:rPr sz="1650">
                <a:solidFill>
                  <a:srgbClr val="3A4A4C"/>
                </a:solidFill>
                <a:latin typeface="Segoe UI"/>
              </a:rPr>
              <a:t>Any measured difference is attributable to the sentence. There is no other candidate.</a:t>
            </a:r>
          </a:p>
        </p:txBody>
      </p:sp>
      <p:sp>
        <p:nvSpPr>
          <p:cNvPr id="13" name="Rectangle 12"/>
          <p:cNvSpPr/>
          <p:nvPr/>
        </p:nvSpPr>
        <p:spPr>
          <a:xfrm>
            <a:off x="777240" y="434340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34340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489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IDENTIFIABILITY</a:t>
            </a:r>
          </a:p>
        </p:txBody>
      </p:sp>
      <p:sp>
        <p:nvSpPr>
          <p:cNvPr id="16" name="TextBox 15"/>
          <p:cNvSpPr txBox="1"/>
          <p:nvPr/>
        </p:nvSpPr>
        <p:spPr>
          <a:xfrm>
            <a:off x="1033271" y="4782312"/>
            <a:ext cx="10134295" cy="8046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This is what makes the adaptation claim testable rather than asserted. Methods that update weights cannot isolate the contribution of a contextual input, because weights and context move together.</a:t>
            </a:r>
          </a:p>
        </p:txBody>
      </p:sp>
      <p:sp>
        <p:nvSpPr>
          <p:cNvPr id="17" name="TextBox 16"/>
          <p:cNvSpPr txBox="1"/>
          <p:nvPr/>
        </p:nvSpPr>
        <p:spPr>
          <a:xfrm>
            <a:off x="777240" y="5943600"/>
            <a:ext cx="10637215" cy="365760"/>
          </a:xfrm>
          <a:prstGeom prst="rect">
            <a:avLst/>
          </a:prstGeom>
          <a:noFill/>
        </p:spPr>
        <p:txBody>
          <a:bodyPr wrap="square" lIns="0" rIns="0" tIns="0" bIns="0">
            <a:spAutoFit/>
          </a:bodyPr>
          <a:lstStyle/>
          <a:p>
            <a:pPr algn="l">
              <a:lnSpc>
                <a:spcPct val="100000"/>
              </a:lnSpc>
            </a:pPr>
            <a:r>
              <a:rPr sz="1500" b="0" i="1">
                <a:solidFill>
                  <a:srgbClr val="617274"/>
                </a:solidFill>
                <a:latin typeface="Segoe UI"/>
              </a:rPr>
              <a:t>It also means the claim can be falsified — which is the next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EVALUATION DESIGN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protocol that can prove us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6</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50" b="0" i="0">
                <a:solidFill>
                  <a:srgbClr val="3A4A4C"/>
                </a:solidFill>
                <a:latin typeface="Segoe UI"/>
              </a:rPr>
              <a:t>Run the identical pipeline four times. Change only the sentence.</a:t>
            </a:r>
          </a:p>
        </p:txBody>
      </p:sp>
      <p:graphicFrame>
        <p:nvGraphicFramePr>
          <p:cNvPr id="8" name="Table 7"/>
          <p:cNvGraphicFramePr>
            <a:graphicFrameLocks noGrp="1"/>
          </p:cNvGraphicFramePr>
          <p:nvPr/>
        </p:nvGraphicFramePr>
        <p:xfrm>
          <a:off x="777240" y="2377440"/>
          <a:ext cx="10634472" cy="2377440"/>
        </p:xfrm>
        <a:graphic>
          <a:graphicData uri="http://schemas.openxmlformats.org/drawingml/2006/table">
            <a:tbl>
              <a:tblPr firstRow="1">
                <a:tableStyleId>{5C22544A-7EE6-4342-B048-85BDC9FD1C3A}</a:tableStyleId>
              </a:tblPr>
              <a:tblGrid>
                <a:gridCol w="2194560"/>
                <a:gridCol w="4206240"/>
                <a:gridCol w="4233672"/>
              </a:tblGrid>
              <a:tr h="475488">
                <a:tc>
                  <a:txBody>
                    <a:bodyPr wrap="square"/>
                    <a:lstStyle/>
                    <a:p>
                      <a:pPr algn="l"/>
                      <a:r>
                        <a:rPr sz="1400" b="1">
                          <a:solidFill>
                            <a:srgbClr val="FFFFFF"/>
                          </a:solidFill>
                          <a:latin typeface="Segoe UI"/>
                        </a:rPr>
                        <a:t>Condition</a:t>
                      </a:r>
                    </a:p>
                  </a:txBody>
                  <a:tcPr marL="128016" marR="128016" marT="45720" marB="45720" anchor="ctr">
                    <a:solidFill>
                      <a:srgbClr val="141C1E"/>
                    </a:solidFill>
                  </a:tcPr>
                </a:tc>
                <a:tc>
                  <a:txBody>
                    <a:bodyPr wrap="square"/>
                    <a:lstStyle/>
                    <a:p>
                      <a:pPr algn="l"/>
                      <a:r>
                        <a:rPr sz="1400" b="1">
                          <a:solidFill>
                            <a:srgbClr val="FFFFFF"/>
                          </a:solidFill>
                          <a:latin typeface="Segoe UI"/>
                        </a:rPr>
                        <a:t>Sentence supplied</a:t>
                      </a:r>
                    </a:p>
                  </a:txBody>
                  <a:tcPr marL="128016" marR="128016" marT="45720" marB="45720" anchor="ctr">
                    <a:solidFill>
                      <a:srgbClr val="141C1E"/>
                    </a:solidFill>
                  </a:tcPr>
                </a:tc>
                <a:tc>
                  <a:txBody>
                    <a:bodyPr wrap="square"/>
                    <a:lstStyle/>
                    <a:p>
                      <a:pPr algn="l"/>
                      <a:r>
                        <a:rPr sz="1400" b="1">
                          <a:solidFill>
                            <a:srgbClr val="FFFFFF"/>
                          </a:solidFill>
                          <a:latin typeface="Segoe UI"/>
                        </a:rPr>
                        <a:t>Purpose</a:t>
                      </a:r>
                    </a:p>
                  </a:txBody>
                  <a:tcPr marL="128016" marR="128016" marT="45720" marB="45720" anchor="ctr">
                    <a:solidFill>
                      <a:srgbClr val="141C1E"/>
                    </a:solidFill>
                  </a:tcPr>
                </a:tc>
              </a:tr>
              <a:tr h="475488">
                <a:tc>
                  <a:txBody>
                    <a:bodyPr wrap="square"/>
                    <a:lstStyle/>
                    <a:p>
                      <a:pPr algn="l"/>
                      <a:r>
                        <a:rPr sz="1400" b="0">
                          <a:solidFill>
                            <a:srgbClr val="141C1E"/>
                          </a:solidFill>
                          <a:latin typeface="Segoe UI"/>
                        </a:rPr>
                        <a:t>none</a:t>
                      </a:r>
                    </a:p>
                  </a:txBody>
                  <a:tcPr marL="128016" marR="128016" marT="45720" marB="45720" anchor="ctr">
                    <a:solidFill>
                      <a:srgbClr val="FFFFFF"/>
                    </a:solidFill>
                  </a:tcPr>
                </a:tc>
                <a:tc>
                  <a:txBody>
                    <a:bodyPr wrap="square"/>
                    <a:lstStyle/>
                    <a:p>
                      <a:pPr algn="l"/>
                      <a:r>
                        <a:rPr sz="1400" b="0">
                          <a:solidFill>
                            <a:srgbClr val="141C1E"/>
                          </a:solidFill>
                          <a:latin typeface="Segoe UI"/>
                        </a:rPr>
                        <a:t>M3 disabled</a:t>
                      </a:r>
                    </a:p>
                  </a:txBody>
                  <a:tcPr marL="128016" marR="128016" marT="45720" marB="45720" anchor="ctr">
                    <a:solidFill>
                      <a:srgbClr val="FFFFFF"/>
                    </a:solidFill>
                  </a:tcPr>
                </a:tc>
                <a:tc>
                  <a:txBody>
                    <a:bodyPr wrap="square"/>
                    <a:lstStyle/>
                    <a:p>
                      <a:pPr algn="l"/>
                      <a:r>
                        <a:rPr sz="1400" b="0">
                          <a:solidFill>
                            <a:srgbClr val="141C1E"/>
                          </a:solidFill>
                          <a:latin typeface="Segoe UI"/>
                        </a:rPr>
                        <a:t>Lower reference</a:t>
                      </a:r>
                    </a:p>
                  </a:txBody>
                  <a:tcPr marL="128016" marR="128016" marT="45720" marB="45720" anchor="ctr">
                    <a:solidFill>
                      <a:srgbClr val="FFFFFF"/>
                    </a:solidFill>
                  </a:tcPr>
                </a:tc>
              </a:tr>
              <a:tr h="475488">
                <a:tc>
                  <a:txBody>
                    <a:bodyPr wrap="square"/>
                    <a:lstStyle/>
                    <a:p>
                      <a:pPr algn="l"/>
                      <a:r>
                        <a:rPr sz="1400" b="0">
                          <a:solidFill>
                            <a:srgbClr val="141C1E"/>
                          </a:solidFill>
                          <a:latin typeface="Segoe UI"/>
                        </a:rPr>
                        <a:t>generic</a:t>
                      </a:r>
                    </a:p>
                  </a:txBody>
                  <a:tcPr marL="128016" marR="128016" marT="45720" marB="45720" anchor="ctr">
                    <a:solidFill>
                      <a:srgbClr val="F5F7F7"/>
                    </a:solidFill>
                  </a:tcPr>
                </a:tc>
                <a:tc>
                  <a:txBody>
                    <a:bodyPr wrap="square"/>
                    <a:lstStyle/>
                    <a:p>
                      <a:pPr algn="l"/>
                      <a:r>
                        <a:rPr sz="1400" b="0">
                          <a:solidFill>
                            <a:srgbClr val="141C1E"/>
                          </a:solidFill>
                          <a:latin typeface="Segoe UI"/>
                        </a:rPr>
                        <a:t>“a generic scene”</a:t>
                      </a:r>
                    </a:p>
                  </a:txBody>
                  <a:tcPr marL="128016" marR="128016" marT="45720" marB="45720" anchor="ctr">
                    <a:solidFill>
                      <a:srgbClr val="F5F7F7"/>
                    </a:solidFill>
                  </a:tcPr>
                </a:tc>
                <a:tc>
                  <a:txBody>
                    <a:bodyPr wrap="square"/>
                    <a:lstStyle/>
                    <a:p>
                      <a:pPr algn="l"/>
                      <a:r>
                        <a:rPr sz="1400" b="0">
                          <a:solidFill>
                            <a:srgbClr val="141C1E"/>
                          </a:solidFill>
                          <a:latin typeface="Segoe UI"/>
                        </a:rPr>
                        <a:t>Controls for merely having context</a:t>
                      </a:r>
                    </a:p>
                  </a:txBody>
                  <a:tcPr marL="128016" marR="128016" marT="45720" marB="45720" anchor="ctr">
                    <a:solidFill>
                      <a:srgbClr val="F5F7F7"/>
                    </a:solidFill>
                  </a:tcPr>
                </a:tc>
              </a:tr>
              <a:tr h="475488">
                <a:tc>
                  <a:txBody>
                    <a:bodyPr wrap="square"/>
                    <a:lstStyle/>
                    <a:p>
                      <a:pPr algn="l"/>
                      <a:r>
                        <a:rPr sz="1400" b="0">
                          <a:solidFill>
                            <a:srgbClr val="141C1E"/>
                          </a:solidFill>
                          <a:latin typeface="Segoe UI"/>
                        </a:rPr>
                        <a:t>matched</a:t>
                      </a:r>
                    </a:p>
                  </a:txBody>
                  <a:tcPr marL="128016" marR="128016" marT="45720" marB="45720" anchor="ctr">
                    <a:solidFill>
                      <a:srgbClr val="FFFFFF"/>
                    </a:solidFill>
                  </a:tcPr>
                </a:tc>
                <a:tc>
                  <a:txBody>
                    <a:bodyPr wrap="square"/>
                    <a:lstStyle/>
                    <a:p>
                      <a:pPr algn="l"/>
                      <a:r>
                        <a:rPr sz="1400" b="0">
                          <a:solidFill>
                            <a:srgbClr val="141C1E"/>
                          </a:solidFill>
                          <a:latin typeface="Segoe UI"/>
                        </a:rPr>
                        <a:t>Correct description of the scene</a:t>
                      </a:r>
                    </a:p>
                  </a:txBody>
                  <a:tcPr marL="128016" marR="128016" marT="45720" marB="45720" anchor="ctr">
                    <a:solidFill>
                      <a:srgbClr val="FFFFFF"/>
                    </a:solidFill>
                  </a:tcPr>
                </a:tc>
                <a:tc>
                  <a:txBody>
                    <a:bodyPr wrap="square"/>
                    <a:lstStyle/>
                    <a:p>
                      <a:pPr algn="l"/>
                      <a:r>
                        <a:rPr sz="1400" b="0">
                          <a:solidFill>
                            <a:srgbClr val="141C1E"/>
                          </a:solidFill>
                          <a:latin typeface="Segoe UI"/>
                        </a:rPr>
                        <a:t>The proposed operating condition</a:t>
                      </a:r>
                    </a:p>
                  </a:txBody>
                  <a:tcPr marL="128016" marR="128016" marT="45720" marB="45720" anchor="ctr">
                    <a:solidFill>
                      <a:srgbClr val="FFFFFF"/>
                    </a:solidFill>
                  </a:tcPr>
                </a:tc>
              </a:tr>
              <a:tr h="475488">
                <a:tc>
                  <a:txBody>
                    <a:bodyPr wrap="square"/>
                    <a:lstStyle/>
                    <a:p>
                      <a:pPr algn="l"/>
                      <a:r>
                        <a:rPr sz="1400" b="1">
                          <a:solidFill>
                            <a:srgbClr val="141C1E"/>
                          </a:solidFill>
                          <a:latin typeface="Segoe UI"/>
                        </a:rPr>
                        <a:t>mismatched</a:t>
                      </a:r>
                    </a:p>
                  </a:txBody>
                  <a:tcPr marL="128016" marR="128016" marT="45720" marB="45720" anchor="ctr">
                    <a:solidFill>
                      <a:srgbClr val="DDEDEB"/>
                    </a:solidFill>
                  </a:tcPr>
                </a:tc>
                <a:tc>
                  <a:txBody>
                    <a:bodyPr wrap="square"/>
                    <a:lstStyle/>
                    <a:p>
                      <a:pPr algn="l"/>
                      <a:r>
                        <a:rPr sz="1400" b="1">
                          <a:solidFill>
                            <a:srgbClr val="141C1E"/>
                          </a:solidFill>
                          <a:latin typeface="Segoe UI"/>
                        </a:rPr>
                        <a:t>Description of the wrong domain</a:t>
                      </a:r>
                    </a:p>
                  </a:txBody>
                  <a:tcPr marL="128016" marR="128016" marT="45720" marB="45720" anchor="ctr">
                    <a:solidFill>
                      <a:srgbClr val="DDEDEB"/>
                    </a:solidFill>
                  </a:tcPr>
                </a:tc>
                <a:tc>
                  <a:txBody>
                    <a:bodyPr wrap="square"/>
                    <a:lstStyle/>
                    <a:p>
                      <a:pPr algn="l"/>
                      <a:r>
                        <a:rPr sz="1400" b="1">
                          <a:solidFill>
                            <a:srgbClr val="141C1E"/>
                          </a:solidFill>
                          <a:latin typeface="Segoe UI"/>
                        </a:rPr>
                        <a:t>FALSIFYING CONTROL</a:t>
                      </a:r>
                    </a:p>
                  </a:txBody>
                  <a:tcPr marL="128016" marR="128016" marT="45720" marB="45720" anchor="ctr">
                    <a:solidFill>
                      <a:srgbClr val="DDEDEB"/>
                    </a:solidFill>
                  </a:tcPr>
                </a:tc>
              </a:tr>
            </a:tbl>
          </a:graphicData>
        </a:graphic>
      </p:graphicFrame>
      <p:sp>
        <p:nvSpPr>
          <p:cNvPr id="9" name="Rectangle 8"/>
          <p:cNvSpPr/>
          <p:nvPr/>
        </p:nvSpPr>
        <p:spPr>
          <a:xfrm>
            <a:off x="777240" y="470916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70916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8554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PREDICTED SIGNATURE, FIXED BEFORE MEASUREMENT</a:t>
            </a:r>
          </a:p>
        </p:txBody>
      </p:sp>
      <p:sp>
        <p:nvSpPr>
          <p:cNvPr id="12" name="TextBox 11"/>
          <p:cNvSpPr txBox="1"/>
          <p:nvPr/>
        </p:nvSpPr>
        <p:spPr>
          <a:xfrm>
            <a:off x="1033271" y="5148072"/>
            <a:ext cx="10134295" cy="66751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matched ≥ generic ≥ none, with mismatched measurably WORSE. If a deliberately wrong description costs nothing, the method ignores its context and our claim is refuted.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SETUP</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we ran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7</a:t>
            </a:r>
          </a:p>
        </p:txBody>
      </p:sp>
      <p:graphicFrame>
        <p:nvGraphicFramePr>
          <p:cNvPr id="7" name="Table 6"/>
          <p:cNvGraphicFramePr>
            <a:graphicFrameLocks noGrp="1"/>
          </p:cNvGraphicFramePr>
          <p:nvPr/>
        </p:nvGraphicFramePr>
        <p:xfrm>
          <a:off x="777240" y="1828800"/>
          <a:ext cx="10634472" cy="2377440"/>
        </p:xfrm>
        <a:graphic>
          <a:graphicData uri="http://schemas.openxmlformats.org/drawingml/2006/table">
            <a:tbl>
              <a:tblPr>
                <a:tableStyleId>{5C22544A-7EE6-4342-B048-85BDC9FD1C3A}</a:tableStyleId>
              </a:tblPr>
              <a:tblGrid>
                <a:gridCol w="2194560"/>
                <a:gridCol w="8439912"/>
              </a:tblGrid>
              <a:tr h="475488">
                <a:tc>
                  <a:txBody>
                    <a:bodyPr wrap="square"/>
                    <a:lstStyle/>
                    <a:p>
                      <a:pPr algn="l"/>
                      <a:r>
                        <a:rPr sz="1500" b="0">
                          <a:solidFill>
                            <a:srgbClr val="141C1E"/>
                          </a:solidFill>
                          <a:latin typeface="Segoe UI"/>
                        </a:rPr>
                        <a:t>Benchmark</a:t>
                      </a:r>
                    </a:p>
                  </a:txBody>
                  <a:tcPr marL="128016" marR="128016" marT="45720" marB="45720" anchor="ctr">
                    <a:solidFill>
                      <a:srgbClr val="F5F7F7"/>
                    </a:solidFill>
                  </a:tcPr>
                </a:tc>
                <a:tc>
                  <a:txBody>
                    <a:bodyPr wrap="square"/>
                    <a:lstStyle/>
                    <a:p>
                      <a:pPr algn="l"/>
                      <a:r>
                        <a:rPr sz="1500" b="0">
                          <a:solidFill>
                            <a:srgbClr val="141C1E"/>
                          </a:solidFill>
                          <a:latin typeface="Segoe UI"/>
                        </a:rPr>
                        <a:t>ShanghaiTech — campus CCTV, 13 camera views</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Scale</a:t>
                      </a:r>
                    </a:p>
                  </a:txBody>
                  <a:tcPr marL="128016" marR="128016" marT="45720" marB="45720" anchor="ctr">
                    <a:solidFill>
                      <a:srgbClr val="FFFFFF"/>
                    </a:solidFill>
                  </a:tcPr>
                </a:tc>
                <a:tc>
                  <a:txBody>
                    <a:bodyPr wrap="square"/>
                    <a:lstStyle/>
                    <a:p>
                      <a:pPr algn="l"/>
                      <a:r>
                        <a:rPr sz="1500" b="0">
                          <a:solidFill>
                            <a:srgbClr val="141C1E"/>
                          </a:solidFill>
                          <a:latin typeface="Segoe UI"/>
                        </a:rPr>
                        <a:t>107 test clips · 40,791 frames · frame-level ground truth</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Hardware</a:t>
                      </a:r>
                    </a:p>
                  </a:txBody>
                  <a:tcPr marL="128016" marR="128016" marT="45720" marB="45720" anchor="ctr">
                    <a:solidFill>
                      <a:srgbClr val="F5F7F7"/>
                    </a:solidFill>
                  </a:tcPr>
                </a:tc>
                <a:tc>
                  <a:txBody>
                    <a:bodyPr wrap="square"/>
                    <a:lstStyle/>
                    <a:p>
                      <a:pPr algn="l"/>
                      <a:r>
                        <a:rPr sz="1500" b="0">
                          <a:solidFill>
                            <a:srgbClr val="141C1E"/>
                          </a:solidFill>
                          <a:latin typeface="Segoe UI"/>
                        </a:rPr>
                        <a:t>NVIDIA A40, college GPU server</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Backbone</a:t>
                      </a:r>
                    </a:p>
                  </a:txBody>
                  <a:tcPr marL="128016" marR="128016" marT="45720" marB="45720" anchor="ctr">
                    <a:solidFill>
                      <a:srgbClr val="FFFFFF"/>
                    </a:solidFill>
                  </a:tcPr>
                </a:tc>
                <a:tc>
                  <a:txBody>
                    <a:bodyPr wrap="square"/>
                    <a:lstStyle/>
                    <a:p>
                      <a:pPr algn="l"/>
                      <a:r>
                        <a:rPr sz="1500" b="0">
                          <a:solidFill>
                            <a:srgbClr val="141C1E"/>
                          </a:solidFill>
                          <a:latin typeface="Segoe UI"/>
                        </a:rPr>
                        <a:t>CLIP ViT-L/14 (LAION-2B), frozen · PyTorch 2.3.1 / CUDA 12.1</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Runs</a:t>
                      </a:r>
                    </a:p>
                  </a:txBody>
                  <a:tcPr marL="128016" marR="128016" marT="45720" marB="45720" anchor="ctr">
                    <a:solidFill>
                      <a:srgbClr val="F5F7F7"/>
                    </a:solidFill>
                  </a:tcPr>
                </a:tc>
                <a:tc>
                  <a:txBody>
                    <a:bodyPr wrap="square"/>
                    <a:lstStyle/>
                    <a:p>
                      <a:pPr algn="l"/>
                      <a:r>
                        <a:rPr sz="1500" b="0">
                          <a:solidFill>
                            <a:srgbClr val="141C1E"/>
                          </a:solidFill>
                          <a:latin typeface="Segoe UI"/>
                        </a:rPr>
                        <a:t>3 full experiment runs + cached-embedding analysis</a:t>
                      </a:r>
                    </a:p>
                  </a:txBody>
                  <a:tcPr marL="128016" marR="128016" marT="45720" marB="45720" anchor="ctr">
                    <a:solidFill>
                      <a:srgbClr val="F5F7F7"/>
                    </a:solidFill>
                  </a:tcPr>
                </a:tc>
              </a:tr>
            </a:tbl>
          </a:graphicData>
        </a:graphic>
      </p:graphicFrame>
      <p:sp>
        <p:nvSpPr>
          <p:cNvPr id="8" name="Rectangle 7"/>
          <p:cNvSpPr/>
          <p:nvPr/>
        </p:nvSpPr>
        <p:spPr>
          <a:xfrm>
            <a:off x="777240" y="4389120"/>
            <a:ext cx="10637215"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389120"/>
            <a:ext cx="45720" cy="16002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5354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EVERY RUN RECORDS ITS OWN CONDITIONS</a:t>
            </a:r>
          </a:p>
        </p:txBody>
      </p:sp>
      <p:sp>
        <p:nvSpPr>
          <p:cNvPr id="11" name="TextBox 10"/>
          <p:cNvSpPr txBox="1"/>
          <p:nvPr/>
        </p:nvSpPr>
        <p:spPr>
          <a:xfrm>
            <a:off x="1033271" y="4828031"/>
            <a:ext cx="10134295" cy="103327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Each run writes a manifest: the exact code commit, whether the working tree was clean, host, GPU, driver and library versions, full configuration, and per-dataset frame and label counts. Committed alongside the results — every figure in this deck is traceable to the state that produced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WHAT HAPPENED</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first result was a failure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8</a:t>
            </a:r>
          </a:p>
        </p:txBody>
      </p:sp>
      <p:sp>
        <p:nvSpPr>
          <p:cNvPr id="7" name="Rectangle 6"/>
          <p:cNvSpPr/>
          <p:nvPr/>
        </p:nvSpPr>
        <p:spPr>
          <a:xfrm>
            <a:off x="777240" y="1783080"/>
            <a:ext cx="10637215" cy="173736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45720" cy="1737360"/>
          </a:xfrm>
          <a:prstGeom prst="rect">
            <a:avLst/>
          </a:prstGeom>
          <a:solidFill>
            <a:srgbClr val="8C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2743200" cy="1005840"/>
          </a:xfrm>
          <a:prstGeom prst="rect">
            <a:avLst/>
          </a:prstGeom>
          <a:noFill/>
        </p:spPr>
        <p:txBody>
          <a:bodyPr wrap="square" lIns="0" rIns="0" tIns="0" bIns="0">
            <a:spAutoFit/>
          </a:bodyPr>
          <a:lstStyle/>
          <a:p>
            <a:pPr algn="l">
              <a:lnSpc>
                <a:spcPct val="100000"/>
              </a:lnSpc>
            </a:pPr>
            <a:r>
              <a:rPr sz="6400" b="1" i="0">
                <a:solidFill>
                  <a:srgbClr val="8C3A31"/>
                </a:solidFill>
                <a:latin typeface="Segoe UI"/>
              </a:rPr>
              <a:t>0.49</a:t>
            </a:r>
          </a:p>
        </p:txBody>
      </p:sp>
      <p:sp>
        <p:nvSpPr>
          <p:cNvPr id="10" name="TextBox 9"/>
          <p:cNvSpPr txBox="1"/>
          <p:nvPr/>
        </p:nvSpPr>
        <p:spPr>
          <a:xfrm>
            <a:off x="1234440" y="2953512"/>
            <a:ext cx="27432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frame-level AUROC — 0.50 is random guessing</a:t>
            </a:r>
          </a:p>
        </p:txBody>
      </p:sp>
      <p:sp>
        <p:nvSpPr>
          <p:cNvPr id="11" name="TextBox 10"/>
          <p:cNvSpPr txBox="1"/>
          <p:nvPr/>
        </p:nvSpPr>
        <p:spPr>
          <a:xfrm>
            <a:off x="4617720" y="2148840"/>
            <a:ext cx="6583680" cy="1097280"/>
          </a:xfrm>
          <a:prstGeom prst="rect">
            <a:avLst/>
          </a:prstGeom>
          <a:noFill/>
        </p:spPr>
        <p:txBody>
          <a:bodyPr wrap="square" lIns="0" rIns="0" tIns="0" bIns="0">
            <a:spAutoFit/>
          </a:bodyPr>
          <a:lstStyle/>
          <a:p>
            <a:pPr algn="l">
              <a:lnSpc>
                <a:spcPct val="130000"/>
              </a:lnSpc>
            </a:pPr>
            <a:r>
              <a:rPr sz="1700" b="0" i="0">
                <a:solidFill>
                  <a:srgbClr val="141C1E"/>
                </a:solidFill>
                <a:latin typeface="Segoe UI"/>
              </a:rPr>
              <a:t>Fifty minutes of GPU time produced a detector performing exactly as well as a coin flip.</a:t>
            </a:r>
          </a:p>
        </p:txBody>
      </p:sp>
      <p:sp>
        <p:nvSpPr>
          <p:cNvPr id="12" name="TextBox 11"/>
          <p:cNvSpPr txBox="1"/>
          <p:nvPr/>
        </p:nvSpPr>
        <p:spPr>
          <a:xfrm>
            <a:off x="777240" y="3840480"/>
            <a:ext cx="10637215" cy="365760"/>
          </a:xfrm>
          <a:prstGeom prst="rect">
            <a:avLst/>
          </a:prstGeom>
          <a:noFill/>
        </p:spPr>
        <p:txBody>
          <a:bodyPr wrap="square" lIns="0" rIns="0" tIns="0" bIns="0">
            <a:spAutoFit/>
          </a:bodyPr>
          <a:lstStyle/>
          <a:p>
            <a:pPr algn="l">
              <a:lnSpc>
                <a:spcPct val="100000"/>
              </a:lnSpc>
            </a:pPr>
            <a:r>
              <a:rPr sz="1650" b="1" i="0">
                <a:solidFill>
                  <a:srgbClr val="141C1E"/>
                </a:solidFill>
                <a:latin typeface="Segoe UI"/>
              </a:rPr>
              <a:t>And the central experiment came out backwards:</a:t>
            </a:r>
          </a:p>
        </p:txBody>
      </p:sp>
      <p:graphicFrame>
        <p:nvGraphicFramePr>
          <p:cNvPr id="13" name="Table 12"/>
          <p:cNvGraphicFramePr>
            <a:graphicFrameLocks noGrp="1"/>
          </p:cNvGraphicFramePr>
          <p:nvPr/>
        </p:nvGraphicFramePr>
        <p:xfrm>
          <a:off x="777240" y="4389120"/>
          <a:ext cx="10634472" cy="1371600"/>
        </p:xfrm>
        <a:graphic>
          <a:graphicData uri="http://schemas.openxmlformats.org/drawingml/2006/table">
            <a:tbl>
              <a:tblPr firstRow="1">
                <a:tableStyleId>{5C22544A-7EE6-4342-B048-85BDC9FD1C3A}</a:tableStyleId>
              </a:tblPr>
              <a:tblGrid>
                <a:gridCol w="4599432"/>
                <a:gridCol w="3017520"/>
                <a:gridCol w="3017520"/>
              </a:tblGrid>
              <a:tr h="457200">
                <a:tc>
                  <a:txBody>
                    <a:bodyPr wrap="square"/>
                    <a:lstStyle/>
                    <a:p>
                      <a:pPr algn="l"/>
                      <a:r>
                        <a:rPr sz="1450" b="1">
                          <a:solidFill>
                            <a:srgbClr val="FFFFFF"/>
                          </a:solidFill>
                          <a:latin typeface="Segoe UI"/>
                        </a:rPr>
                        <a:t>Condition</a:t>
                      </a:r>
                    </a:p>
                  </a:txBody>
                  <a:tcPr marL="128016" marR="128016" marT="45720" marB="45720" anchor="ctr">
                    <a:solidFill>
                      <a:srgbClr val="141C1E"/>
                    </a:solidFill>
                  </a:tcPr>
                </a:tc>
                <a:tc>
                  <a:txBody>
                    <a:bodyPr wrap="square"/>
                    <a:lstStyle/>
                    <a:p>
                      <a:pPr algn="l"/>
                      <a:r>
                        <a:rPr sz="1450" b="1">
                          <a:solidFill>
                            <a:srgbClr val="FFFFFF"/>
                          </a:solidFill>
                          <a:latin typeface="Segoe UI"/>
                        </a:rPr>
                        <a:t>Predicted</a:t>
                      </a:r>
                    </a:p>
                  </a:txBody>
                  <a:tcPr marL="128016" marR="128016" marT="45720" marB="45720" anchor="ctr">
                    <a:solidFill>
                      <a:srgbClr val="141C1E"/>
                    </a:solidFill>
                  </a:tcPr>
                </a:tc>
                <a:tc>
                  <a:txBody>
                    <a:bodyPr wrap="square"/>
                    <a:lstStyle/>
                    <a:p>
                      <a:pPr algn="l"/>
                      <a:r>
                        <a:rPr sz="1450" b="1">
                          <a:solidFill>
                            <a:srgbClr val="FFFFFF"/>
                          </a:solidFill>
                          <a:latin typeface="Segoe UI"/>
                        </a:rPr>
                        <a:t>Observed</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matched (correct description)</a:t>
                      </a:r>
                    </a:p>
                  </a:txBody>
                  <a:tcPr marL="128016" marR="128016" marT="45720" marB="45720" anchor="ctr">
                    <a:solidFill>
                      <a:srgbClr val="FFFFFF"/>
                    </a:solidFill>
                  </a:tcPr>
                </a:tc>
                <a:tc>
                  <a:txBody>
                    <a:bodyPr wrap="square"/>
                    <a:lstStyle/>
                    <a:p>
                      <a:pPr algn="l"/>
                      <a:r>
                        <a:rPr sz="1450" b="0">
                          <a:solidFill>
                            <a:srgbClr val="141C1E"/>
                          </a:solidFill>
                          <a:latin typeface="Segoe UI"/>
                        </a:rPr>
                        <a:t>Best</a:t>
                      </a:r>
                    </a:p>
                  </a:txBody>
                  <a:tcPr marL="128016" marR="128016" marT="45720" marB="45720" anchor="ctr">
                    <a:solidFill>
                      <a:srgbClr val="FFFFFF"/>
                    </a:solidFill>
                  </a:tcPr>
                </a:tc>
                <a:tc>
                  <a:txBody>
                    <a:bodyPr wrap="square"/>
                    <a:lstStyle/>
                    <a:p>
                      <a:pPr algn="l"/>
                      <a:r>
                        <a:rPr sz="1450" b="0">
                          <a:solidFill>
                            <a:srgbClr val="141C1E"/>
                          </a:solidFill>
                          <a:latin typeface="Segoe UI"/>
                        </a:rPr>
                        <a:t>WORST — 0.637</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mismatched (wrong description)</a:t>
                      </a:r>
                    </a:p>
                  </a:txBody>
                  <a:tcPr marL="128016" marR="128016" marT="45720" marB="45720" anchor="ctr">
                    <a:solidFill>
                      <a:srgbClr val="F5F7F7"/>
                    </a:solidFill>
                  </a:tcPr>
                </a:tc>
                <a:tc>
                  <a:txBody>
                    <a:bodyPr wrap="square"/>
                    <a:lstStyle/>
                    <a:p>
                      <a:pPr algn="l"/>
                      <a:r>
                        <a:rPr sz="1450" b="0">
                          <a:solidFill>
                            <a:srgbClr val="141C1E"/>
                          </a:solidFill>
                          <a:latin typeface="Segoe UI"/>
                        </a:rPr>
                        <a:t>Worst</a:t>
                      </a:r>
                    </a:p>
                  </a:txBody>
                  <a:tcPr marL="128016" marR="128016" marT="45720" marB="45720" anchor="ctr">
                    <a:solidFill>
                      <a:srgbClr val="F5F7F7"/>
                    </a:solidFill>
                  </a:tcPr>
                </a:tc>
                <a:tc>
                  <a:txBody>
                    <a:bodyPr wrap="square"/>
                    <a:lstStyle/>
                    <a:p>
                      <a:pPr algn="l"/>
                      <a:r>
                        <a:rPr sz="1450" b="0">
                          <a:solidFill>
                            <a:srgbClr val="141C1E"/>
                          </a:solidFill>
                          <a:latin typeface="Segoe UI"/>
                        </a:rPr>
                        <a:t>Among the best — 0.678</a:t>
                      </a:r>
                    </a:p>
                  </a:txBody>
                  <a:tcPr marL="128016" marR="128016" marT="45720" marB="45720" anchor="ctr">
                    <a:solidFill>
                      <a:srgbClr val="F5F7F7"/>
                    </a:solidFill>
                  </a:tcPr>
                </a:tc>
              </a:tr>
            </a:tbl>
          </a:graphicData>
        </a:graphic>
      </p:graphicFrame>
      <p:sp>
        <p:nvSpPr>
          <p:cNvPr id="14" name="TextBox 13"/>
          <p:cNvSpPr txBox="1"/>
          <p:nvPr/>
        </p:nvSpPr>
        <p:spPr>
          <a:xfrm>
            <a:off x="777240" y="5989320"/>
            <a:ext cx="10637215" cy="365760"/>
          </a:xfrm>
          <a:prstGeom prst="rect">
            <a:avLst/>
          </a:prstGeom>
          <a:noFill/>
        </p:spPr>
        <p:txBody>
          <a:bodyPr wrap="square" lIns="0" rIns="0" tIns="0" bIns="0">
            <a:spAutoFit/>
          </a:bodyPr>
          <a:lstStyle/>
          <a:p>
            <a:pPr algn="l">
              <a:lnSpc>
                <a:spcPct val="100000"/>
              </a:lnSpc>
            </a:pPr>
            <a:r>
              <a:rPr sz="1600" b="0" i="1">
                <a:solidFill>
                  <a:srgbClr val="8C3A31"/>
                </a:solidFill>
                <a:latin typeface="Segoe UI"/>
              </a:rPr>
              <a:t>This is the point at which the idea looks broken.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1 — we were measuring it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9</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13 camera views.  </a:t>
            </a:r>
            <a:r>
              <a:rPr sz="1600">
                <a:solidFill>
                  <a:srgbClr val="3A4A4C"/>
                </a:solidFill>
                <a:latin typeface="Segoe UI"/>
              </a:rPr>
              <a:t>CLIP sits at a different baseline score under each one — different lighting, different angle.</a:t>
            </a:r>
          </a:p>
        </p:txBody>
      </p:sp>
      <p:sp>
        <p:nvSpPr>
          <p:cNvPr id="9" name="Rectangle 8"/>
          <p:cNvSpPr/>
          <p:nvPr/>
        </p:nvSpPr>
        <p:spPr>
          <a:xfrm>
            <a:off x="777240" y="267919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51176"/>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Our error.  </a:t>
            </a:r>
            <a:r>
              <a:rPr sz="1600">
                <a:solidFill>
                  <a:srgbClr val="3A4A4C"/>
                </a:solidFill>
                <a:latin typeface="Segoe UI"/>
              </a:rPr>
              <a:t>We pooled every frame from all 13 cameras into one ranking.</a:t>
            </a:r>
          </a:p>
        </p:txBody>
      </p:sp>
      <p:sp>
        <p:nvSpPr>
          <p:cNvPr id="11" name="Rectangle 10"/>
          <p:cNvSpPr/>
          <p:nvPr/>
        </p:nvSpPr>
        <p:spPr>
          <a:xfrm>
            <a:off x="777240" y="34838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55848"/>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analogy.  </a:t>
            </a:r>
            <a:r>
              <a:rPr sz="1600">
                <a:solidFill>
                  <a:srgbClr val="3A4A4C"/>
                </a:solidFill>
                <a:latin typeface="Segoe UI"/>
              </a:rPr>
              <a:t>Ranking students from different schools by raw marks when the schools grade differently. The comparison destroys the ordering.</a:t>
            </a:r>
          </a:p>
        </p:txBody>
      </p:sp>
      <p:sp>
        <p:nvSpPr>
          <p:cNvPr id="13" name="TextBox 12"/>
          <p:cNvSpPr txBox="1"/>
          <p:nvPr/>
        </p:nvSpPr>
        <p:spPr>
          <a:xfrm>
            <a:off x="777240" y="4114800"/>
            <a:ext cx="10637215" cy="320040"/>
          </a:xfrm>
          <a:prstGeom prst="rect">
            <a:avLst/>
          </a:prstGeom>
          <a:noFill/>
        </p:spPr>
        <p:txBody>
          <a:bodyPr wrap="square" lIns="0" rIns="0" tIns="0" bIns="0">
            <a:spAutoFit/>
          </a:bodyPr>
          <a:lstStyle/>
          <a:p>
            <a:pPr algn="l">
              <a:lnSpc>
                <a:spcPct val="100000"/>
              </a:lnSpc>
            </a:pPr>
            <a:r>
              <a:rPr sz="1550" b="0" i="0">
                <a:solidFill>
                  <a:srgbClr val="617274"/>
                </a:solidFill>
                <a:latin typeface="Segoe UI"/>
              </a:rPr>
              <a:t>The published protocol for this benchmark normalises each clip first. We were not doing it.</a:t>
            </a:r>
          </a:p>
        </p:txBody>
      </p:sp>
      <p:sp>
        <p:nvSpPr>
          <p:cNvPr id="14" name="Rectangle 13"/>
          <p:cNvSpPr/>
          <p:nvPr/>
        </p:nvSpPr>
        <p:spPr>
          <a:xfrm>
            <a:off x="777240" y="461772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681728"/>
            <a:ext cx="2011680" cy="1005840"/>
          </a:xfrm>
          <a:prstGeom prst="rect">
            <a:avLst/>
          </a:prstGeom>
          <a:noFill/>
        </p:spPr>
        <p:txBody>
          <a:bodyPr wrap="square" lIns="0" rIns="0" tIns="0" bIns="0">
            <a:spAutoFit/>
          </a:bodyPr>
          <a:lstStyle/>
          <a:p>
            <a:pPr algn="l">
              <a:lnSpc>
                <a:spcPct val="100000"/>
              </a:lnSpc>
            </a:pPr>
            <a:r>
              <a:rPr sz="4200" b="1" i="0">
                <a:solidFill>
                  <a:srgbClr val="617274"/>
                </a:solidFill>
                <a:latin typeface="Segoe UI"/>
              </a:rPr>
              <a:t>0.49</a:t>
            </a:r>
          </a:p>
        </p:txBody>
      </p:sp>
      <p:sp>
        <p:nvSpPr>
          <p:cNvPr id="16" name="TextBox 15"/>
          <p:cNvSpPr txBox="1"/>
          <p:nvPr/>
        </p:nvSpPr>
        <p:spPr>
          <a:xfrm>
            <a:off x="1325880" y="5669280"/>
            <a:ext cx="201168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as reported</a:t>
            </a:r>
          </a:p>
        </p:txBody>
      </p:sp>
      <p:sp>
        <p:nvSpPr>
          <p:cNvPr id="17" name="TextBox 16"/>
          <p:cNvSpPr txBox="1"/>
          <p:nvPr/>
        </p:nvSpPr>
        <p:spPr>
          <a:xfrm>
            <a:off x="3520440" y="4956048"/>
            <a:ext cx="822960" cy="548640"/>
          </a:xfrm>
          <a:prstGeom prst="rect">
            <a:avLst/>
          </a:prstGeom>
          <a:noFill/>
        </p:spPr>
        <p:txBody>
          <a:bodyPr wrap="square" lIns="0" rIns="0" tIns="0" bIns="0">
            <a:spAutoFit/>
          </a:bodyPr>
          <a:lstStyle/>
          <a:p>
            <a:pPr algn="l">
              <a:lnSpc>
                <a:spcPct val="100000"/>
              </a:lnSpc>
            </a:pPr>
            <a:r>
              <a:rPr sz="3400" b="1" i="0">
                <a:solidFill>
                  <a:srgbClr val="0D6B67"/>
                </a:solidFill>
                <a:latin typeface="Segoe UI"/>
              </a:rPr>
              <a:t>→</a:t>
            </a:r>
          </a:p>
        </p:txBody>
      </p:sp>
      <p:sp>
        <p:nvSpPr>
          <p:cNvPr id="18" name="TextBox 17"/>
          <p:cNvSpPr txBox="1"/>
          <p:nvPr/>
        </p:nvSpPr>
        <p:spPr>
          <a:xfrm>
            <a:off x="4617720" y="4681728"/>
            <a:ext cx="2194560" cy="1005840"/>
          </a:xfrm>
          <a:prstGeom prst="rect">
            <a:avLst/>
          </a:prstGeom>
          <a:noFill/>
        </p:spPr>
        <p:txBody>
          <a:bodyPr wrap="square" lIns="0" rIns="0" tIns="0" bIns="0">
            <a:spAutoFit/>
          </a:bodyPr>
          <a:lstStyle/>
          <a:p>
            <a:pPr algn="l">
              <a:lnSpc>
                <a:spcPct val="100000"/>
              </a:lnSpc>
            </a:pPr>
            <a:r>
              <a:rPr sz="4200" b="1" i="0">
                <a:solidFill>
                  <a:srgbClr val="0D6B67"/>
                </a:solidFill>
                <a:latin typeface="Segoe UI"/>
              </a:rPr>
              <a:t>0.70</a:t>
            </a:r>
          </a:p>
        </p:txBody>
      </p:sp>
      <p:sp>
        <p:nvSpPr>
          <p:cNvPr id="19" name="TextBox 18"/>
          <p:cNvSpPr txBox="1"/>
          <p:nvPr/>
        </p:nvSpPr>
        <p:spPr>
          <a:xfrm>
            <a:off x="4617720" y="5669280"/>
            <a:ext cx="2194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correctly pooled</a:t>
            </a:r>
          </a:p>
        </p:txBody>
      </p:sp>
      <p:sp>
        <p:nvSpPr>
          <p:cNvPr id="20" name="TextBox 19"/>
          <p:cNvSpPr txBox="1"/>
          <p:nvPr/>
        </p:nvSpPr>
        <p:spPr>
          <a:xfrm>
            <a:off x="7452360" y="4892040"/>
            <a:ext cx="3749039" cy="822960"/>
          </a:xfrm>
          <a:prstGeom prst="rect">
            <a:avLst/>
          </a:prstGeom>
          <a:noFill/>
        </p:spPr>
        <p:txBody>
          <a:bodyPr wrap="square" lIns="0" rIns="0" tIns="0" bIns="0">
            <a:spAutoFit/>
          </a:bodyPr>
          <a:lstStyle/>
          <a:p>
            <a:pPr algn="l">
              <a:lnSpc>
                <a:spcPct val="130000"/>
              </a:lnSpc>
            </a:pPr>
            <a:r>
              <a:rPr sz="1400" b="0" i="0">
                <a:solidFill>
                  <a:srgbClr val="141C1E"/>
                </a:solidFill>
                <a:latin typeface="Segoe UI"/>
              </a:rPr>
              <a:t>Identical scores. Uses no labels.
We report both figures in the paper.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FINDING</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2 — the description cancelled itself out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10</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We were appending the scene sentence to BOTH prompt sets:</a:t>
            </a:r>
          </a:p>
        </p:txBody>
      </p:sp>
      <p:sp>
        <p:nvSpPr>
          <p:cNvPr id="8" name="Rectangle 7"/>
          <p:cNvSpPr/>
          <p:nvPr/>
        </p:nvSpPr>
        <p:spPr>
          <a:xfrm>
            <a:off x="77724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228600"/>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NORMAL PROMPT</a:t>
            </a:r>
          </a:p>
        </p:txBody>
      </p:sp>
      <p:sp>
        <p:nvSpPr>
          <p:cNvPr id="10" name="TextBox 9"/>
          <p:cNvSpPr txBox="1"/>
          <p:nvPr/>
        </p:nvSpPr>
        <p:spPr>
          <a:xfrm>
            <a:off x="105156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everything is normal”</a:t>
            </a:r>
          </a:p>
        </p:txBody>
      </p:sp>
      <p:sp>
        <p:nvSpPr>
          <p:cNvPr id="11" name="Rectangle 10"/>
          <p:cNvSpPr/>
          <p:nvPr/>
        </p:nvSpPr>
        <p:spPr>
          <a:xfrm>
            <a:off x="621792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95728"/>
            <a:ext cx="4572000" cy="228600"/>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ABNORMAL PROMPT</a:t>
            </a:r>
          </a:p>
        </p:txBody>
      </p:sp>
      <p:sp>
        <p:nvSpPr>
          <p:cNvPr id="13" name="TextBox 12"/>
          <p:cNvSpPr txBox="1"/>
          <p:nvPr/>
        </p:nvSpPr>
        <p:spPr>
          <a:xfrm>
            <a:off x="649224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but something is wrong”</a:t>
            </a:r>
          </a:p>
        </p:txBody>
      </p:sp>
      <p:sp>
        <p:nvSpPr>
          <p:cNvPr id="14" name="Rectangle 13"/>
          <p:cNvSpPr/>
          <p:nvPr/>
        </p:nvSpPr>
        <p:spPr>
          <a:xfrm>
            <a:off x="777240" y="361188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3" y="348386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Shared words.  </a:t>
            </a:r>
            <a:r>
              <a:rPr sz="1550">
                <a:solidFill>
                  <a:srgbClr val="3A4A4C"/>
                </a:solidFill>
                <a:latin typeface="Segoe UI"/>
              </a:rPr>
              <a:t>Each prompt set is averaged into one summary vector. Shared text enters both — so the two summaries move toward each other.</a:t>
            </a:r>
          </a:p>
        </p:txBody>
      </p:sp>
      <p:sp>
        <p:nvSpPr>
          <p:cNvPr id="16" name="Rectangle 15"/>
          <p:cNvSpPr/>
          <p:nvPr/>
        </p:nvSpPr>
        <p:spPr>
          <a:xfrm>
            <a:off x="777240" y="43251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4197096"/>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The method depends on them being different.  </a:t>
            </a:r>
            <a:r>
              <a:rPr sz="1550">
                <a:solidFill>
                  <a:srgbClr val="3A4A4C"/>
                </a:solidFill>
                <a:latin typeface="Segoe UI"/>
              </a:rPr>
              <a:t>We were erasing the very contrast the decision rests on.</a:t>
            </a:r>
          </a:p>
        </p:txBody>
      </p:sp>
      <p:sp>
        <p:nvSpPr>
          <p:cNvPr id="18" name="Rectangle 17"/>
          <p:cNvSpPr/>
          <p:nvPr/>
        </p:nvSpPr>
        <p:spPr>
          <a:xfrm>
            <a:off x="777240" y="50383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491032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Which explains the inversion.  </a:t>
            </a:r>
            <a:r>
              <a:rPr sz="1550">
                <a:solidFill>
                  <a:srgbClr val="3A4A4C"/>
                </a:solidFill>
                <a:latin typeface="Segoe UI"/>
              </a:rPr>
              <a:t>An accurate description matches every frame strongly, so it absorbs the most contrast. A wrong one matches nothing, so it does no damage.</a:t>
            </a:r>
          </a:p>
        </p:txBody>
      </p:sp>
      <p:sp>
        <p:nvSpPr>
          <p:cNvPr id="20" name="Rectangle 19"/>
          <p:cNvSpPr/>
          <p:nvPr/>
        </p:nvSpPr>
        <p:spPr>
          <a:xfrm>
            <a:off x="777240" y="5715000"/>
            <a:ext cx="10637215" cy="7772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715000"/>
            <a:ext cx="45720" cy="7772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5861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FIX</a:t>
            </a:r>
          </a:p>
        </p:txBody>
      </p:sp>
      <p:sp>
        <p:nvSpPr>
          <p:cNvPr id="23" name="TextBox 22"/>
          <p:cNvSpPr txBox="1"/>
          <p:nvPr/>
        </p:nvSpPr>
        <p:spPr>
          <a:xfrm>
            <a:off x="1033271" y="6153912"/>
            <a:ext cx="10134295" cy="21031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Attach the description to the normal prompts only — the scene defines what normal looks like here; an anomaly is a departure from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After the fix: the predicted signature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11</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450" b="0" i="0">
                <a:solidFill>
                  <a:srgbClr val="617274"/>
                </a:solidFill>
                <a:latin typeface="Segoe UI"/>
              </a:rPr>
              <a:t>Per-clip normalised frame-level AUROC. Every model frozen; only the sentence and its injection point vary.</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3319272"/>
                <a:gridCol w="1828800"/>
                <a:gridCol w="1828800"/>
                <a:gridCol w="1828800"/>
                <a:gridCol w="1828800"/>
              </a:tblGrid>
              <a:tr h="530352">
                <a:tc>
                  <a:txBody>
                    <a:bodyPr wrap="square"/>
                    <a:lstStyle/>
                    <a:p>
                      <a:pPr algn="l"/>
                      <a:r>
                        <a:rPr sz="1500" b="1">
                          <a:solidFill>
                            <a:srgbClr val="FFFFFF"/>
                          </a:solidFill>
                          <a:latin typeface="Segoe UI"/>
                        </a:rPr>
                        <a:t>Injection point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Both prompt sets</a:t>
                      </a:r>
                    </a:p>
                  </a:txBody>
                  <a:tcPr marL="128016" marR="128016" marT="45720" marB="45720" anchor="ctr">
                    <a:solidFill>
                      <a:srgbClr val="FFFFFF"/>
                    </a:solidFill>
                  </a:tcPr>
                </a:tc>
                <a:tc>
                  <a:txBody>
                    <a:bodyPr wrap="square"/>
                    <a:lstStyle/>
                    <a:p>
                      <a:pPr algn="r"/>
                      <a:r>
                        <a:rPr sz="1500" b="0">
                          <a:solidFill>
                            <a:srgbClr val="141C1E"/>
                          </a:solidFill>
                          <a:latin typeface="Consolas"/>
                        </a:rPr>
                        <a:t>0.685</a:t>
                      </a:r>
                    </a:p>
                  </a:txBody>
                  <a:tcPr marL="128016" marR="128016" marT="45720" marB="45720" anchor="ctr">
                    <a:solidFill>
                      <a:srgbClr val="FFFFFF"/>
                    </a:solidFill>
                  </a:tcPr>
                </a:tc>
                <a:tc>
                  <a:txBody>
                    <a:bodyPr wrap="square"/>
                    <a:lstStyle/>
                    <a:p>
                      <a:pPr algn="r"/>
                      <a:r>
                        <a:rPr sz="1500" b="0">
                          <a:solidFill>
                            <a:srgbClr val="141C1E"/>
                          </a:solidFill>
                          <a:latin typeface="Consolas"/>
                        </a:rPr>
                        <a:t>0.656</a:t>
                      </a:r>
                    </a:p>
                  </a:txBody>
                  <a:tcPr marL="128016" marR="128016" marT="45720" marB="45720" anchor="ctr">
                    <a:solidFill>
                      <a:srgbClr val="FFFFFF"/>
                    </a:solidFill>
                  </a:tcPr>
                </a:tc>
                <a:tc>
                  <a:txBody>
                    <a:bodyPr wrap="square"/>
                    <a:lstStyle/>
                    <a:p>
                      <a:pPr algn="r"/>
                      <a:r>
                        <a:rPr sz="1500" b="0">
                          <a:solidFill>
                            <a:srgbClr val="141C1E"/>
                          </a:solidFill>
                          <a:latin typeface="Consolas"/>
                        </a:rPr>
                        <a:t>0.637</a:t>
                      </a:r>
                    </a:p>
                  </a:txBody>
                  <a:tcPr marL="128016" marR="128016" marT="45720" marB="45720" anchor="ctr">
                    <a:solidFill>
                      <a:srgbClr val="FFFFFF"/>
                    </a:solidFill>
                  </a:tcPr>
                </a:tc>
                <a:tc>
                  <a:txBody>
                    <a:bodyPr wrap="square"/>
                    <a:lstStyle/>
                    <a:p>
                      <a:pPr algn="r"/>
                      <a:r>
                        <a:rPr sz="1500" b="0">
                          <a:solidFill>
                            <a:srgbClr val="141C1E"/>
                          </a:solidFill>
                          <a:latin typeface="Consolas"/>
                        </a:rPr>
                        <a:t>0.678</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Normal set only</a:t>
                      </a:r>
                    </a:p>
                  </a:txBody>
                  <a:tcPr marL="128016" marR="128016" marT="45720" marB="45720" anchor="ctr">
                    <a:solidFill>
                      <a:srgbClr val="DDEDEB"/>
                    </a:solidFill>
                  </a:tcPr>
                </a:tc>
                <a:tc>
                  <a:txBody>
                    <a:bodyPr wrap="square"/>
                    <a:lstStyle/>
                    <a:p>
                      <a:pPr algn="r"/>
                      <a:r>
                        <a:rPr sz="1500" b="1">
                          <a:solidFill>
                            <a:srgbClr val="141C1E"/>
                          </a:solidFill>
                          <a:latin typeface="Consolas"/>
                        </a:rPr>
                        <a:t>0.685</a:t>
                      </a:r>
                    </a:p>
                  </a:txBody>
                  <a:tcPr marL="128016" marR="128016" marT="45720" marB="45720" anchor="ctr">
                    <a:solidFill>
                      <a:srgbClr val="DDEDEB"/>
                    </a:solidFill>
                  </a:tcPr>
                </a:tc>
                <a:tc>
                  <a:txBody>
                    <a:bodyPr wrap="square"/>
                    <a:lstStyle/>
                    <a:p>
                      <a:pPr algn="r"/>
                      <a:r>
                        <a:rPr sz="1500" b="1">
                          <a:solidFill>
                            <a:srgbClr val="141C1E"/>
                          </a:solidFill>
                          <a:latin typeface="Consolas"/>
                        </a:rPr>
                        <a:t>0.677</a:t>
                      </a:r>
                    </a:p>
                  </a:txBody>
                  <a:tcPr marL="128016" marR="128016" marT="45720" marB="45720" anchor="ctr">
                    <a:solidFill>
                      <a:srgbClr val="DDEDEB"/>
                    </a:solidFill>
                  </a:tcPr>
                </a:tc>
                <a:tc>
                  <a:txBody>
                    <a:bodyPr wrap="square"/>
                    <a:lstStyle/>
                    <a:p>
                      <a:pPr algn="r"/>
                      <a:r>
                        <a:rPr sz="1500" b="1">
                          <a:solidFill>
                            <a:srgbClr val="141C1E"/>
                          </a:solidFill>
                          <a:latin typeface="Consolas"/>
                        </a:rPr>
                        <a:t>0.692</a:t>
                      </a:r>
                    </a:p>
                  </a:txBody>
                  <a:tcPr marL="128016" marR="128016" marT="45720" marB="45720" anchor="ctr">
                    <a:solidFill>
                      <a:srgbClr val="DDEDEB"/>
                    </a:solidFill>
                  </a:tcPr>
                </a:tc>
                <a:tc>
                  <a:txBody>
                    <a:bodyPr wrap="square"/>
                    <a:lstStyle/>
                    <a:p>
                      <a:pPr algn="r"/>
                      <a:r>
                        <a:rPr sz="1500" b="1">
                          <a:solidFill>
                            <a:srgbClr val="141C1E"/>
                          </a:solidFill>
                          <a:latin typeface="Consolas"/>
                        </a:rPr>
                        <a:t>0.592</a:t>
                      </a:r>
                    </a:p>
                  </a:txBody>
                  <a:tcPr marL="128016" marR="128016" marT="45720" marB="45720" anchor="ctr">
                    <a:solidFill>
                      <a:srgbClr val="DDEDEB"/>
                    </a:solidFill>
                  </a:tcPr>
                </a:tc>
              </a:tr>
            </a:tbl>
          </a:graphicData>
        </a:graphic>
      </p:graphicFrame>
      <p:sp>
        <p:nvSpPr>
          <p:cNvPr id="9" name="TextBox 8"/>
          <p:cNvSpPr txBox="1"/>
          <p:nvPr/>
        </p:nvSpPr>
        <p:spPr>
          <a:xfrm>
            <a:off x="777240" y="3977639"/>
            <a:ext cx="10637215" cy="320040"/>
          </a:xfrm>
          <a:prstGeom prst="rect">
            <a:avLst/>
          </a:prstGeom>
          <a:noFill/>
        </p:spPr>
        <p:txBody>
          <a:bodyPr wrap="square" lIns="0" rIns="0" tIns="0" bIns="0">
            <a:spAutoFit/>
          </a:bodyPr>
          <a:lstStyle/>
          <a:p>
            <a:pPr algn="l">
              <a:lnSpc>
                <a:spcPct val="100000"/>
              </a:lnSpc>
            </a:pPr>
            <a:r>
              <a:rPr sz="1400" b="0" i="1">
                <a:solidFill>
                  <a:srgbClr val="617274"/>
                </a:solidFill>
                <a:latin typeface="Segoe UI"/>
              </a:rPr>
              <a:t>The “none” column is identical in both rows — confirming nothing but the injection point changed.</a:t>
            </a:r>
          </a:p>
        </p:txBody>
      </p:sp>
      <p:sp>
        <p:nvSpPr>
          <p:cNvPr id="10" name="Rectangle 9"/>
          <p:cNvSpPr/>
          <p:nvPr/>
        </p:nvSpPr>
        <p:spPr>
          <a:xfrm>
            <a:off x="777240" y="4526280"/>
            <a:ext cx="5074920"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663440"/>
            <a:ext cx="3200400" cy="1005840"/>
          </a:xfrm>
          <a:prstGeom prst="rect">
            <a:avLst/>
          </a:prstGeom>
          <a:noFill/>
        </p:spPr>
        <p:txBody>
          <a:bodyPr wrap="square" lIns="0" rIns="0" tIns="0" bIns="0">
            <a:spAutoFit/>
          </a:bodyPr>
          <a:lstStyle/>
          <a:p>
            <a:pPr algn="l">
              <a:lnSpc>
                <a:spcPct val="100000"/>
              </a:lnSpc>
            </a:pPr>
            <a:r>
              <a:rPr sz="4400" b="1" i="0">
                <a:solidFill>
                  <a:srgbClr val="0D6B67"/>
                </a:solidFill>
                <a:latin typeface="Segoe UI"/>
              </a:rPr>
              <a:t>0.692</a:t>
            </a:r>
          </a:p>
        </p:txBody>
      </p:sp>
      <p:sp>
        <p:nvSpPr>
          <p:cNvPr id="12" name="TextBox 11"/>
          <p:cNvSpPr txBox="1"/>
          <p:nvPr/>
        </p:nvSpPr>
        <p:spPr>
          <a:xfrm>
            <a:off x="1188720" y="5650992"/>
            <a:ext cx="32004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 description</a:t>
            </a:r>
          </a:p>
        </p:txBody>
      </p:sp>
      <p:sp>
        <p:nvSpPr>
          <p:cNvPr id="13" name="Rectangle 12"/>
          <p:cNvSpPr/>
          <p:nvPr/>
        </p:nvSpPr>
        <p:spPr>
          <a:xfrm>
            <a:off x="6217920" y="4526280"/>
            <a:ext cx="5074920" cy="16002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663440"/>
            <a:ext cx="4480560" cy="1005840"/>
          </a:xfrm>
          <a:prstGeom prst="rect">
            <a:avLst/>
          </a:prstGeom>
          <a:noFill/>
        </p:spPr>
        <p:txBody>
          <a:bodyPr wrap="square" lIns="0" rIns="0" tIns="0" bIns="0">
            <a:spAutoFit/>
          </a:bodyPr>
          <a:lstStyle/>
          <a:p>
            <a:pPr algn="l">
              <a:lnSpc>
                <a:spcPct val="100000"/>
              </a:lnSpc>
            </a:pPr>
            <a:r>
              <a:rPr sz="4400" b="1" i="0">
                <a:solidFill>
                  <a:srgbClr val="8C3A31"/>
                </a:solidFill>
                <a:latin typeface="Segoe UI"/>
              </a:rPr>
              <a:t>0.592</a:t>
            </a:r>
          </a:p>
        </p:txBody>
      </p:sp>
      <p:sp>
        <p:nvSpPr>
          <p:cNvPr id="15" name="TextBox 14"/>
          <p:cNvSpPr txBox="1"/>
          <p:nvPr/>
        </p:nvSpPr>
        <p:spPr>
          <a:xfrm>
            <a:off x="6629400" y="5650992"/>
            <a:ext cx="4480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wrong description  —  a 10-point penalty</a:t>
            </a:r>
          </a:p>
        </p:txBody>
      </p:sp>
      <p:sp>
        <p:nvSpPr>
          <p:cNvPr id="16" name="TextBox 15"/>
          <p:cNvSpPr txBox="1"/>
          <p:nvPr/>
        </p:nvSpPr>
        <p:spPr>
          <a:xfrm>
            <a:off x="777240" y="6309360"/>
            <a:ext cx="10637215" cy="320040"/>
          </a:xfrm>
          <a:prstGeom prst="rect">
            <a:avLst/>
          </a:prstGeom>
          <a:noFill/>
        </p:spPr>
        <p:txBody>
          <a:bodyPr wrap="square" lIns="0" rIns="0" tIns="0" bIns="0">
            <a:spAutoFit/>
          </a:bodyPr>
          <a:lstStyle/>
          <a:p>
            <a:pPr algn="ctr">
              <a:lnSpc>
                <a:spcPct val="100000"/>
              </a:lnSpc>
            </a:pPr>
            <a:r>
              <a:rPr sz="1550" b="1" i="0">
                <a:solidFill>
                  <a:srgbClr val="141C1E"/>
                </a:solidFill>
                <a:latin typeface="Segoe UI"/>
              </a:rPr>
              <a:t>Nothing else in the system was permitted to change. The text caused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INTERPRETATION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Stating the claim precisely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12</a:t>
            </a:r>
          </a:p>
        </p:txBody>
      </p:sp>
      <p:sp>
        <p:nvSpPr>
          <p:cNvPr id="7" name="Rectangle 6"/>
          <p:cNvSpPr/>
          <p:nvPr/>
        </p:nvSpPr>
        <p:spPr>
          <a:xfrm>
            <a:off x="777240" y="1783080"/>
            <a:ext cx="5074920" cy="19659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4389120" cy="274320"/>
          </a:xfrm>
          <a:prstGeom prst="rect">
            <a:avLst/>
          </a:prstGeom>
          <a:noFill/>
        </p:spPr>
        <p:txBody>
          <a:bodyPr wrap="square" lIns="0" rIns="0" tIns="0" bIns="0">
            <a:spAutoFit/>
          </a:bodyPr>
          <a:lstStyle/>
          <a:p>
            <a:pPr algn="l">
              <a:lnSpc>
                <a:spcPct val="100000"/>
              </a:lnSpc>
            </a:pPr>
            <a:r>
              <a:rPr sz="1150" b="1" i="0">
                <a:solidFill>
                  <a:srgbClr val="617274"/>
                </a:solidFill>
                <a:latin typeface="Segoe UI"/>
              </a:rPr>
              <a:t>WHAT WE DO NOT CLAIM</a:t>
            </a:r>
          </a:p>
        </p:txBody>
      </p:sp>
      <p:sp>
        <p:nvSpPr>
          <p:cNvPr id="9" name="TextBox 8"/>
          <p:cNvSpPr txBox="1"/>
          <p:nvPr/>
        </p:nvSpPr>
        <p:spPr>
          <a:xfrm>
            <a:off x="1143000" y="2377440"/>
            <a:ext cx="4389120" cy="1188720"/>
          </a:xfrm>
          <a:prstGeom prst="rect">
            <a:avLst/>
          </a:prstGeom>
          <a:noFill/>
        </p:spPr>
        <p:txBody>
          <a:bodyPr wrap="square" lIns="0" rIns="0" tIns="0" bIns="0">
            <a:spAutoFit/>
          </a:bodyPr>
          <a:lstStyle/>
          <a:p>
            <a:pPr algn="l">
              <a:lnSpc>
                <a:spcPct val="130000"/>
              </a:lnSpc>
            </a:pPr>
            <a:r>
              <a:rPr sz="1550" b="0" i="0">
                <a:solidFill>
                  <a:srgbClr val="141C1E"/>
                </a:solidFill>
                <a:latin typeface="Segoe UI"/>
              </a:rPr>
              <a:t>That a correct description improves detection.
It beats no description by 0.007 — which is nothing.</a:t>
            </a:r>
          </a:p>
        </p:txBody>
      </p:sp>
      <p:sp>
        <p:nvSpPr>
          <p:cNvPr id="10" name="Rectangle 9"/>
          <p:cNvSpPr/>
          <p:nvPr/>
        </p:nvSpPr>
        <p:spPr>
          <a:xfrm>
            <a:off x="6217920" y="1783080"/>
            <a:ext cx="5074920" cy="19659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79" y="2011680"/>
            <a:ext cx="438912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WHAT WE DO CLAIM</a:t>
            </a:r>
          </a:p>
        </p:txBody>
      </p:sp>
      <p:sp>
        <p:nvSpPr>
          <p:cNvPr id="12" name="TextBox 11"/>
          <p:cNvSpPr txBox="1"/>
          <p:nvPr/>
        </p:nvSpPr>
        <p:spPr>
          <a:xfrm>
            <a:off x="6583679" y="2377440"/>
            <a:ext cx="4389120" cy="1188720"/>
          </a:xfrm>
          <a:prstGeom prst="rect">
            <a:avLst/>
          </a:prstGeom>
          <a:noFill/>
        </p:spPr>
        <p:txBody>
          <a:bodyPr wrap="square" lIns="0" rIns="0" tIns="0" bIns="0">
            <a:spAutoFit/>
          </a:bodyPr>
          <a:lstStyle/>
          <a:p>
            <a:pPr algn="l">
              <a:lnSpc>
                <a:spcPct val="130000"/>
              </a:lnSpc>
            </a:pPr>
            <a:r>
              <a:rPr sz="1550" b="0" i="0">
                <a:solidFill>
                  <a:srgbClr val="141C1E"/>
                </a:solidFill>
                <a:latin typeface="Segoe UI"/>
              </a:rPr>
              <a:t>That the description is load-bearing.
Corrupting it costs 0.100 — and nothing else could have caused that.</a:t>
            </a:r>
          </a:p>
        </p:txBody>
      </p:sp>
      <p:sp>
        <p:nvSpPr>
          <p:cNvPr id="13" name="Rectangle 12"/>
          <p:cNvSpPr/>
          <p:nvPr/>
        </p:nvSpPr>
        <p:spPr>
          <a:xfrm>
            <a:off x="777240" y="402336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2336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1696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THE MECHANISM</a:t>
            </a:r>
          </a:p>
        </p:txBody>
      </p:sp>
      <p:sp>
        <p:nvSpPr>
          <p:cNvPr id="16" name="TextBox 15"/>
          <p:cNvSpPr txBox="1"/>
          <p:nvPr/>
        </p:nvSpPr>
        <p:spPr>
          <a:xfrm>
            <a:off x="1033271" y="4462272"/>
            <a:ext cx="10134295" cy="7132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The description constrains a decision boundary rather than adding information. It does not lift performance when correct; it degrades performance sharply when misdirected.</a:t>
            </a:r>
          </a:p>
        </p:txBody>
      </p:sp>
      <p:sp>
        <p:nvSpPr>
          <p:cNvPr id="17" name="TextBox 16"/>
          <p:cNvSpPr txBox="1"/>
          <p:nvPr/>
        </p:nvSpPr>
        <p:spPr>
          <a:xfrm>
            <a:off x="777240" y="5623560"/>
            <a:ext cx="10637215" cy="640080"/>
          </a:xfrm>
          <a:prstGeom prst="rect">
            <a:avLst/>
          </a:prstGeom>
          <a:noFill/>
        </p:spPr>
        <p:txBody>
          <a:bodyPr wrap="square" lIns="0" rIns="0" tIns="0" bIns="0">
            <a:spAutoFit/>
          </a:bodyPr>
          <a:lstStyle/>
          <a:p>
            <a:pPr algn="l">
              <a:lnSpc>
                <a:spcPct val="130000"/>
              </a:lnSpc>
            </a:pPr>
            <a:r>
              <a:rPr sz="1600" b="1" i="0">
                <a:solidFill>
                  <a:srgbClr val="141C1E"/>
                </a:solidFill>
                <a:latin typeface="Segoe UI"/>
              </a:rPr>
              <a:t>A secondary finding, and one not present in the literature: WHERE the description is injected dominates WHAT it says — to the point of reversing the direction of the effect.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COMPONENT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Which components earn their place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13</a:t>
            </a:r>
          </a:p>
        </p:txBody>
      </p:sp>
      <p:graphicFrame>
        <p:nvGraphicFramePr>
          <p:cNvPr id="7" name="Table 6"/>
          <p:cNvGraphicFramePr>
            <a:graphicFrameLocks noGrp="1"/>
          </p:cNvGraphicFramePr>
          <p:nvPr/>
        </p:nvGraphicFramePr>
        <p:xfrm>
          <a:off x="777240" y="1828800"/>
          <a:ext cx="10634472" cy="2578608"/>
        </p:xfrm>
        <a:graphic>
          <a:graphicData uri="http://schemas.openxmlformats.org/drawingml/2006/table">
            <a:tbl>
              <a:tblPr firstRow="1">
                <a:tableStyleId>{5C22544A-7EE6-4342-B048-85BDC9FD1C3A}</a:tableStyleId>
              </a:tblPr>
              <a:tblGrid>
                <a:gridCol w="4754880"/>
                <a:gridCol w="2971800"/>
                <a:gridCol w="2907792"/>
              </a:tblGrid>
              <a:tr h="429768">
                <a:tc>
                  <a:txBody>
                    <a:bodyPr wrap="square"/>
                    <a:lstStyle/>
                    <a:p>
                      <a:pPr algn="l"/>
                      <a:r>
                        <a:rPr sz="1450" b="1">
                          <a:solidFill>
                            <a:srgbClr val="FFFFFF"/>
                          </a:solidFill>
                          <a:latin typeface="Segoe UI"/>
                        </a:rPr>
                        <a:t>Scoring signal</a:t>
                      </a:r>
                    </a:p>
                  </a:txBody>
                  <a:tcPr marL="128016" marR="128016" marT="45720" marB="45720" anchor="ctr">
                    <a:solidFill>
                      <a:srgbClr val="141C1E"/>
                    </a:solidFill>
                  </a:tcPr>
                </a:tc>
                <a:tc>
                  <a:txBody>
                    <a:bodyPr wrap="square"/>
                    <a:lstStyle/>
                    <a:p>
                      <a:pPr algn="r"/>
                      <a:r>
                        <a:rPr sz="1450" b="1">
                          <a:solidFill>
                            <a:srgbClr val="FFFFFF"/>
                          </a:solidFill>
                          <a:latin typeface="Segoe UI"/>
                        </a:rPr>
                        <a:t>Held-out AUROC</a:t>
                      </a:r>
                    </a:p>
                  </a:txBody>
                  <a:tcPr marL="128016" marR="128016" marT="45720" marB="45720" anchor="ctr">
                    <a:solidFill>
                      <a:srgbClr val="141C1E"/>
                    </a:solidFill>
                  </a:tcPr>
                </a:tc>
                <a:tc>
                  <a:txBody>
                    <a:bodyPr wrap="square"/>
                    <a:lstStyle/>
                    <a:p>
                      <a:pPr algn="r"/>
                      <a:r>
                        <a:rPr sz="1450" b="1">
                          <a:solidFill>
                            <a:srgbClr val="FFFFFF"/>
                          </a:solidFill>
                          <a:latin typeface="Segoe UI"/>
                        </a:rPr>
                        <a:t>Full test set</a:t>
                      </a:r>
                    </a:p>
                  </a:txBody>
                  <a:tcPr marL="128016" marR="128016" marT="45720" marB="45720" anchor="ctr">
                    <a:solidFill>
                      <a:srgbClr val="141C1E"/>
                    </a:solidFill>
                  </a:tcPr>
                </a:tc>
              </a:tr>
              <a:tr h="429768">
                <a:tc>
                  <a:txBody>
                    <a:bodyPr wrap="square"/>
                    <a:lstStyle/>
                    <a:p>
                      <a:pPr algn="l"/>
                      <a:r>
                        <a:rPr sz="1450" b="0">
                          <a:solidFill>
                            <a:srgbClr val="141C1E"/>
                          </a:solidFill>
                          <a:latin typeface="Segoe UI"/>
                        </a:rPr>
                        <a:t>Scene-centre normality only</a:t>
                      </a:r>
                    </a:p>
                  </a:txBody>
                  <a:tcPr marL="128016" marR="128016" marT="45720" marB="45720" anchor="ctr">
                    <a:solidFill>
                      <a:srgbClr val="FFFFFF"/>
                    </a:solidFill>
                  </a:tcPr>
                </a:tc>
                <a:tc>
                  <a:txBody>
                    <a:bodyPr wrap="square"/>
                    <a:lstStyle/>
                    <a:p>
                      <a:pPr algn="r"/>
                      <a:r>
                        <a:rPr sz="1450" b="0">
                          <a:solidFill>
                            <a:srgbClr val="141C1E"/>
                          </a:solidFill>
                          <a:latin typeface="Consolas"/>
                        </a:rPr>
                        <a:t>0.585 ± 0.025</a:t>
                      </a:r>
                    </a:p>
                  </a:txBody>
                  <a:tcPr marL="128016" marR="128016" marT="45720" marB="45720" anchor="ctr">
                    <a:solidFill>
                      <a:srgbClr val="FFFFFF"/>
                    </a:solidFill>
                  </a:tcPr>
                </a:tc>
                <a:tc>
                  <a:txBody>
                    <a:bodyPr wrap="square"/>
                    <a:lstStyle/>
                    <a:p>
                      <a:pPr algn="r"/>
                      <a:r>
                        <a:rPr sz="1450" b="0">
                          <a:solidFill>
                            <a:srgbClr val="141C1E"/>
                          </a:solidFill>
                          <a:latin typeface="Consolas"/>
                        </a:rPr>
                        <a:t>0.585</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language only</a:t>
                      </a:r>
                    </a:p>
                  </a:txBody>
                  <a:tcPr marL="128016" marR="128016" marT="45720" marB="45720" anchor="ctr">
                    <a:solidFill>
                      <a:srgbClr val="F5F7F7"/>
                    </a:solidFill>
                  </a:tcPr>
                </a:tc>
                <a:tc>
                  <a:txBody>
                    <a:bodyPr wrap="square"/>
                    <a:lstStyle/>
                    <a:p>
                      <a:pPr algn="r"/>
                      <a:r>
                        <a:rPr sz="1450" b="0">
                          <a:solidFill>
                            <a:srgbClr val="141C1E"/>
                          </a:solidFill>
                          <a:latin typeface="Consolas"/>
                        </a:rPr>
                        <a:t>0.663 ± 0.021</a:t>
                      </a:r>
                    </a:p>
                  </a:txBody>
                  <a:tcPr marL="128016" marR="128016" marT="45720" marB="45720" anchor="ctr">
                    <a:solidFill>
                      <a:srgbClr val="F5F7F7"/>
                    </a:solidFill>
                  </a:tcPr>
                </a:tc>
                <a:tc>
                  <a:txBody>
                    <a:bodyPr wrap="square"/>
                    <a:lstStyle/>
                    <a:p>
                      <a:pPr algn="r"/>
                      <a:r>
                        <a:rPr sz="1450" b="0">
                          <a:solidFill>
                            <a:srgbClr val="141C1E"/>
                          </a:solidFill>
                          <a:latin typeface="Consolas"/>
                        </a:rPr>
                        <a:t>0.673</a:t>
                      </a:r>
                    </a:p>
                  </a:txBody>
                  <a:tcPr marL="128016" marR="128016" marT="45720" marB="45720" anchor="ctr">
                    <a:solidFill>
                      <a:srgbClr val="F5F7F7"/>
                    </a:solidFill>
                  </a:tcPr>
                </a:tc>
              </a:tr>
              <a:tr h="429768">
                <a:tc>
                  <a:txBody>
                    <a:bodyPr wrap="square"/>
                    <a:lstStyle/>
                    <a:p>
                      <a:pPr algn="l"/>
                      <a:r>
                        <a:rPr sz="1450" b="0">
                          <a:solidFill>
                            <a:srgbClr val="141C1E"/>
                          </a:solidFill>
                          <a:latin typeface="Segoe UI"/>
                        </a:rPr>
                        <a:t>Kinematic — motion only</a:t>
                      </a:r>
                    </a:p>
                  </a:txBody>
                  <a:tcPr marL="128016" marR="128016" marT="45720" marB="45720" anchor="ctr">
                    <a:solidFill>
                      <a:srgbClr val="FFFFFF"/>
                    </a:solidFill>
                  </a:tcPr>
                </a:tc>
                <a:tc>
                  <a:txBody>
                    <a:bodyPr wrap="square"/>
                    <a:lstStyle/>
                    <a:p>
                      <a:pPr algn="r"/>
                      <a:r>
                        <a:rPr sz="1450" b="0">
                          <a:solidFill>
                            <a:srgbClr val="141C1E"/>
                          </a:solidFill>
                          <a:latin typeface="Consolas"/>
                        </a:rPr>
                        <a:t>0.676 ± 0.012</a:t>
                      </a:r>
                    </a:p>
                  </a:txBody>
                  <a:tcPr marL="128016" marR="128016" marT="45720" marB="45720" anchor="ctr">
                    <a:solidFill>
                      <a:srgbClr val="FFFFFF"/>
                    </a:solidFill>
                  </a:tcPr>
                </a:tc>
                <a:tc>
                  <a:txBody>
                    <a:bodyPr wrap="square"/>
                    <a:lstStyle/>
                    <a:p>
                      <a:pPr algn="r"/>
                      <a:r>
                        <a:rPr sz="1450" b="0">
                          <a:solidFill>
                            <a:srgbClr val="141C1E"/>
                          </a:solidFill>
                          <a:latin typeface="Consolas"/>
                        </a:rPr>
                        <a:t>0.684</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scene-centre</a:t>
                      </a:r>
                    </a:p>
                  </a:txBody>
                  <a:tcPr marL="128016" marR="128016" marT="45720" marB="45720" anchor="ctr">
                    <a:solidFill>
                      <a:srgbClr val="F5F7F7"/>
                    </a:solidFill>
                  </a:tcPr>
                </a:tc>
                <a:tc>
                  <a:txBody>
                    <a:bodyPr wrap="square"/>
                    <a:lstStyle/>
                    <a:p>
                      <a:pPr algn="r"/>
                      <a:r>
                        <a:rPr sz="1450" b="0">
                          <a:solidFill>
                            <a:srgbClr val="141C1E"/>
                          </a:solidFill>
                          <a:latin typeface="Consolas"/>
                        </a:rPr>
                        <a:t>0.649 ± 0.022</a:t>
                      </a:r>
                    </a:p>
                  </a:txBody>
                  <a:tcPr marL="128016" marR="128016" marT="45720" marB="45720" anchor="ctr">
                    <a:solidFill>
                      <a:srgbClr val="F5F7F7"/>
                    </a:solidFill>
                  </a:tcPr>
                </a:tc>
                <a:tc>
                  <a:txBody>
                    <a:bodyPr wrap="square"/>
                    <a:lstStyle/>
                    <a:p>
                      <a:pPr algn="r"/>
                      <a:r>
                        <a:rPr sz="1450" b="0">
                          <a:solidFill>
                            <a:srgbClr val="141C1E"/>
                          </a:solidFill>
                          <a:latin typeface="Consolas"/>
                        </a:rPr>
                        <a:t>0.657</a:t>
                      </a:r>
                    </a:p>
                  </a:txBody>
                  <a:tcPr marL="128016" marR="128016" marT="45720" marB="45720" anchor="ctr">
                    <a:solidFill>
                      <a:srgbClr val="F5F7F7"/>
                    </a:solidFill>
                  </a:tcPr>
                </a:tc>
              </a:tr>
              <a:tr h="429768">
                <a:tc>
                  <a:txBody>
                    <a:bodyPr wrap="square"/>
                    <a:lstStyle/>
                    <a:p>
                      <a:pPr algn="l"/>
                      <a:r>
                        <a:rPr sz="1450" b="1">
                          <a:solidFill>
                            <a:srgbClr val="141C1E"/>
                          </a:solidFill>
                          <a:latin typeface="Segoe UI"/>
                        </a:rPr>
                        <a:t>Semantic + kinematic</a:t>
                      </a:r>
                    </a:p>
                  </a:txBody>
                  <a:tcPr marL="128016" marR="128016" marT="45720" marB="45720" anchor="ctr">
                    <a:solidFill>
                      <a:srgbClr val="DDEDEB"/>
                    </a:solidFill>
                  </a:tcPr>
                </a:tc>
                <a:tc>
                  <a:txBody>
                    <a:bodyPr wrap="square"/>
                    <a:lstStyle/>
                    <a:p>
                      <a:pPr algn="r"/>
                      <a:r>
                        <a:rPr sz="1450" b="1">
                          <a:solidFill>
                            <a:srgbClr val="141C1E"/>
                          </a:solidFill>
                          <a:latin typeface="Consolas"/>
                        </a:rPr>
                        <a:t>0.699 ± 0.017</a:t>
                      </a:r>
                    </a:p>
                  </a:txBody>
                  <a:tcPr marL="128016" marR="128016" marT="45720" marB="45720" anchor="ctr">
                    <a:solidFill>
                      <a:srgbClr val="DDEDEB"/>
                    </a:solidFill>
                  </a:tcPr>
                </a:tc>
                <a:tc>
                  <a:txBody>
                    <a:bodyPr wrap="square"/>
                    <a:lstStyle/>
                    <a:p>
                      <a:pPr algn="r"/>
                      <a:r>
                        <a:rPr sz="1450" b="1">
                          <a:solidFill>
                            <a:srgbClr val="141C1E"/>
                          </a:solidFill>
                          <a:latin typeface="Consolas"/>
                        </a:rPr>
                        <a:t>0.706</a:t>
                      </a:r>
                    </a:p>
                  </a:txBody>
                  <a:tcPr marL="128016" marR="128016" marT="45720" marB="45720" anchor="ctr">
                    <a:solidFill>
                      <a:srgbClr val="DDEDEB"/>
                    </a:solidFill>
                  </a:tcPr>
                </a:tc>
              </a:tr>
            </a:tbl>
          </a:graphicData>
        </a:graphic>
      </p:graphicFrame>
      <p:sp>
        <p:nvSpPr>
          <p:cNvPr id="8" name="TextBox 7"/>
          <p:cNvSpPr txBox="1"/>
          <p:nvPr/>
        </p:nvSpPr>
        <p:spPr>
          <a:xfrm>
            <a:off x="777240" y="4251960"/>
            <a:ext cx="10637215" cy="320040"/>
          </a:xfrm>
          <a:prstGeom prst="rect">
            <a:avLst/>
          </a:prstGeom>
          <a:noFill/>
        </p:spPr>
        <p:txBody>
          <a:bodyPr wrap="square" lIns="0" rIns="0" tIns="0" bIns="0">
            <a:spAutoFit/>
          </a:bodyPr>
          <a:lstStyle/>
          <a:p>
            <a:pPr algn="l">
              <a:lnSpc>
                <a:spcPct val="100000"/>
              </a:lnSpc>
            </a:pPr>
            <a:r>
              <a:rPr sz="1350" b="0" i="1">
                <a:solidFill>
                  <a:srgbClr val="617274"/>
                </a:solidFill>
                <a:latin typeface="Segoe UI"/>
              </a:rPr>
              <a:t>Held-out figures are means over five clip-level partitions, with the spread across them.</a:t>
            </a:r>
          </a:p>
        </p:txBody>
      </p:sp>
      <p:sp>
        <p:nvSpPr>
          <p:cNvPr id="9" name="Rectangle 8"/>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Complementary.  </a:t>
            </a:r>
            <a:r>
              <a:rPr sz="1500">
                <a:solidFill>
                  <a:srgbClr val="3A4A4C"/>
                </a:solidFill>
                <a:latin typeface="Segoe UI"/>
              </a:rPr>
              <a:t>Language notices a bicycle is present; motion notices something is moving oddly. A ShanghaiTech anomaly needs both — a parked bicycle is not an anomaly, nor is a brisk walk.</a:t>
            </a:r>
          </a:p>
        </p:txBody>
      </p:sp>
      <p:sp>
        <p:nvSpPr>
          <p:cNvPr id="11" name="Rectangle 10"/>
          <p:cNvSpPr/>
          <p:nvPr/>
        </p:nvSpPr>
        <p:spPr>
          <a:xfrm>
            <a:off x="777240" y="5760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56327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Reported honestly.  </a:t>
            </a:r>
            <a:r>
              <a:rPr sz="1500">
                <a:solidFill>
                  <a:srgbClr val="3A4A4C"/>
                </a:solidFill>
                <a:latin typeface="Segoe UI"/>
              </a:rPr>
              <a:t>Motion alone nearly matches language alone. We state this rather than present the score as evidence of semantic understanding.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NEGATIVE FINDINGS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Four hypotheses that failed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14</a:t>
            </a:r>
          </a:p>
        </p:txBody>
      </p:sp>
      <p:graphicFrame>
        <p:nvGraphicFramePr>
          <p:cNvPr id="7" name="Table 6"/>
          <p:cNvGraphicFramePr>
            <a:graphicFrameLocks noGrp="1"/>
          </p:cNvGraphicFramePr>
          <p:nvPr/>
        </p:nvGraphicFramePr>
        <p:xfrm>
          <a:off x="777240" y="1920240"/>
          <a:ext cx="10634472" cy="2651760"/>
        </p:xfrm>
        <a:graphic>
          <a:graphicData uri="http://schemas.openxmlformats.org/drawingml/2006/table">
            <a:tbl>
              <a:tblPr firstRow="1">
                <a:tableStyleId>{5C22544A-7EE6-4342-B048-85BDC9FD1C3A}</a:tableStyleId>
              </a:tblPr>
              <a:tblGrid>
                <a:gridCol w="6400800"/>
                <a:gridCol w="4233672"/>
              </a:tblGrid>
              <a:tr h="530352">
                <a:tc>
                  <a:txBody>
                    <a:bodyPr wrap="square"/>
                    <a:lstStyle/>
                    <a:p>
                      <a:pPr algn="l"/>
                      <a:r>
                        <a:rPr sz="1450" b="1">
                          <a:solidFill>
                            <a:srgbClr val="FFFFFF"/>
                          </a:solidFill>
                          <a:latin typeface="Segoe UI"/>
                        </a:rPr>
                        <a:t>Hypothesis</a:t>
                      </a:r>
                    </a:p>
                  </a:txBody>
                  <a:tcPr marL="128016" marR="128016" marT="45720" marB="45720" anchor="ctr">
                    <a:solidFill>
                      <a:srgbClr val="141C1E"/>
                    </a:solidFill>
                  </a:tcPr>
                </a:tc>
                <a:tc>
                  <a:txBody>
                    <a:bodyPr wrap="square"/>
                    <a:lstStyle/>
                    <a:p>
                      <a:pPr algn="l"/>
                      <a:r>
                        <a:rPr sz="1450" b="1">
                          <a:solidFill>
                            <a:srgbClr val="FFFFFF"/>
                          </a:solidFill>
                          <a:latin typeface="Segoe UI"/>
                        </a:rPr>
                        <a:t>Outcome</a:t>
                      </a:r>
                    </a:p>
                  </a:txBody>
                  <a:tcPr marL="128016" marR="128016" marT="45720" marB="45720" anchor="ctr">
                    <a:solidFill>
                      <a:srgbClr val="141C1E"/>
                    </a:solidFill>
                  </a:tcPr>
                </a:tc>
              </a:tr>
              <a:tr h="530352">
                <a:tc>
                  <a:txBody>
                    <a:bodyPr wrap="square"/>
                    <a:lstStyle/>
                    <a:p>
                      <a:pPr algn="l"/>
                      <a:r>
                        <a:rPr sz="1450" b="0">
                          <a:solidFill>
                            <a:srgbClr val="141C1E"/>
                          </a:solidFill>
                          <a:latin typeface="Segoe UI"/>
                        </a:rPr>
                        <a:t>Quadrant scoring would recover small objects</a:t>
                      </a:r>
                    </a:p>
                  </a:txBody>
                  <a:tcPr marL="128016" marR="128016" marT="45720" marB="45720" anchor="ctr">
                    <a:solidFill>
                      <a:srgbClr val="FFFFFF"/>
                    </a:solidFill>
                  </a:tcPr>
                </a:tc>
                <a:tc>
                  <a:txBody>
                    <a:bodyPr wrap="square"/>
                    <a:lstStyle/>
                    <a:p>
                      <a:pPr algn="l"/>
                      <a:r>
                        <a:rPr sz="1450" b="0">
                          <a:solidFill>
                            <a:srgbClr val="141C1E"/>
                          </a:solidFill>
                          <a:latin typeface="Segoe UI"/>
                        </a:rPr>
                        <a:t>No improvement in any configuration</a:t>
                      </a:r>
                    </a:p>
                  </a:txBody>
                  <a:tcPr marL="128016" marR="128016" marT="45720" marB="45720" anchor="ctr">
                    <a:solidFill>
                      <a:srgbClr val="FFFFFF"/>
                    </a:solidFill>
                  </a:tcPr>
                </a:tc>
              </a:tr>
              <a:tr h="530352">
                <a:tc>
                  <a:txBody>
                    <a:bodyPr wrap="square"/>
                    <a:lstStyle/>
                    <a:p>
                      <a:pPr algn="l"/>
                      <a:r>
                        <a:rPr sz="1450" b="0">
                          <a:solidFill>
                            <a:srgbClr val="141C1E"/>
                          </a:solidFill>
                          <a:latin typeface="Segoe UI"/>
                        </a:rPr>
                        <a:t>Prompts naming bicycles and vehicles would help</a:t>
                      </a:r>
                    </a:p>
                  </a:txBody>
                  <a:tcPr marL="128016" marR="128016" marT="45720" marB="45720" anchor="ctr">
                    <a:solidFill>
                      <a:srgbClr val="F5F7F7"/>
                    </a:solidFill>
                  </a:tcPr>
                </a:tc>
                <a:tc>
                  <a:txBody>
                    <a:bodyPr wrap="square"/>
                    <a:lstStyle/>
                    <a:p>
                      <a:pPr algn="l"/>
                      <a:r>
                        <a:rPr sz="1450" b="0">
                          <a:solidFill>
                            <a:srgbClr val="141C1E"/>
                          </a:solidFill>
                          <a:latin typeface="Segoe UI"/>
                        </a:rPr>
                        <a:t>Much worse alone — 0.486</a:t>
                      </a:r>
                    </a:p>
                  </a:txBody>
                  <a:tcPr marL="128016" marR="128016" marT="45720" marB="45720" anchor="ctr">
                    <a:solidFill>
                      <a:srgbClr val="F5F7F7"/>
                    </a:solidFill>
                  </a:tcPr>
                </a:tc>
              </a:tr>
              <a:tr h="530352">
                <a:tc>
                  <a:txBody>
                    <a:bodyPr wrap="square"/>
                    <a:lstStyle/>
                    <a:p>
                      <a:pPr algn="l"/>
                      <a:r>
                        <a:rPr sz="1450" b="0">
                          <a:solidFill>
                            <a:srgbClr val="141C1E"/>
                          </a:solidFill>
                          <a:latin typeface="Segoe UI"/>
                        </a:rPr>
                        <a:t>A clip's own average appearance defines normality</a:t>
                      </a:r>
                    </a:p>
                  </a:txBody>
                  <a:tcPr marL="128016" marR="128016" marT="45720" marB="45720" anchor="ctr">
                    <a:solidFill>
                      <a:srgbClr val="FFFFFF"/>
                    </a:solidFill>
                  </a:tcPr>
                </a:tc>
                <a:tc>
                  <a:txBody>
                    <a:bodyPr wrap="square"/>
                    <a:lstStyle/>
                    <a:p>
                      <a:pPr algn="l"/>
                      <a:r>
                        <a:rPr sz="1450" b="0">
                          <a:solidFill>
                            <a:srgbClr val="141C1E"/>
                          </a:solidFill>
                          <a:latin typeface="Segoe UI"/>
                        </a:rPr>
                        <a:t>0.585, and it degrades the language signal</a:t>
                      </a:r>
                    </a:p>
                  </a:txBody>
                  <a:tcPr marL="128016" marR="128016" marT="45720" marB="45720" anchor="ctr">
                    <a:solidFill>
                      <a:srgbClr val="FFFFFF"/>
                    </a:solidFill>
                  </a:tcPr>
                </a:tc>
              </a:tr>
              <a:tr h="530352">
                <a:tc>
                  <a:txBody>
                    <a:bodyPr wrap="square"/>
                    <a:lstStyle/>
                    <a:p>
                      <a:pPr algn="l"/>
                      <a:r>
                        <a:rPr sz="1450" b="0">
                          <a:solidFill>
                            <a:srgbClr val="141C1E"/>
                          </a:solidFill>
                          <a:latin typeface="Segoe UI"/>
                        </a:rPr>
                        <a:t>Scoring prompts individually rather than pooled</a:t>
                      </a:r>
                    </a:p>
                  </a:txBody>
                  <a:tcPr marL="128016" marR="128016" marT="45720" marB="45720" anchor="ctr">
                    <a:solidFill>
                      <a:srgbClr val="F5F7F7"/>
                    </a:solidFill>
                  </a:tcPr>
                </a:tc>
                <a:tc>
                  <a:txBody>
                    <a:bodyPr wrap="square"/>
                    <a:lstStyle/>
                    <a:p>
                      <a:pPr algn="l"/>
                      <a:r>
                        <a:rPr sz="1450" b="0">
                          <a:solidFill>
                            <a:srgbClr val="141C1E"/>
                          </a:solidFill>
                          <a:latin typeface="Segoe UI"/>
                        </a:rPr>
                        <a:t>No measurable difference</a:t>
                      </a:r>
                    </a:p>
                  </a:txBody>
                  <a:tcPr marL="128016" marR="128016" marT="45720" marB="45720" anchor="ctr">
                    <a:solidFill>
                      <a:srgbClr val="F5F7F7"/>
                    </a:solidFill>
                  </a:tcPr>
                </a:tc>
              </a:tr>
            </a:tbl>
          </a:graphicData>
        </a:graphic>
      </p:graphicFrame>
      <p:sp>
        <p:nvSpPr>
          <p:cNvPr id="8" name="Rectangle 7"/>
          <p:cNvSpPr/>
          <p:nvPr/>
        </p:nvSpPr>
        <p:spPr>
          <a:xfrm>
            <a:off x="777240" y="4572000"/>
            <a:ext cx="10637215" cy="14630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572000"/>
            <a:ext cx="45720" cy="14630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WHY THESE ARE IN THE DECK</a:t>
            </a:r>
          </a:p>
        </p:txBody>
      </p:sp>
      <p:sp>
        <p:nvSpPr>
          <p:cNvPr id="11" name="TextBox 10"/>
          <p:cNvSpPr txBox="1"/>
          <p:nvPr/>
        </p:nvSpPr>
        <p:spPr>
          <a:xfrm>
            <a:off x="1033271" y="5010912"/>
            <a:ext cx="10134295" cy="89611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All four are written into the paper. A study that reports only its successful runs is a demonstration; reporting the refuted hypotheses with the reasons they failed is what makes the surviving claims credible.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Where this sits against the literature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15</a:t>
            </a:r>
          </a:p>
        </p:txBody>
      </p:sp>
      <p:graphicFrame>
        <p:nvGraphicFramePr>
          <p:cNvPr id="7" name="Table 6"/>
          <p:cNvGraphicFramePr>
            <a:graphicFrameLocks noGrp="1"/>
          </p:cNvGraphicFramePr>
          <p:nvPr/>
        </p:nvGraphicFramePr>
        <p:xfrm>
          <a:off x="777240" y="1828800"/>
          <a:ext cx="10634472" cy="1536192"/>
        </p:xfrm>
        <a:graphic>
          <a:graphicData uri="http://schemas.openxmlformats.org/drawingml/2006/table">
            <a:tbl>
              <a:tblPr firstRow="1">
                <a:tableStyleId>{5C22544A-7EE6-4342-B048-85BDC9FD1C3A}</a:tableStyleId>
              </a:tblPr>
              <a:tblGrid>
                <a:gridCol w="5120640"/>
                <a:gridCol w="2103120"/>
                <a:gridCol w="3410712"/>
              </a:tblGrid>
              <a:tr h="512064">
                <a:tc>
                  <a:txBody>
                    <a:bodyPr wrap="square"/>
                    <a:lstStyle/>
                    <a:p>
                      <a:pPr algn="l"/>
                      <a:r>
                        <a:rPr sz="1500" b="1">
                          <a:solidFill>
                            <a:srgbClr val="FFFFFF"/>
                          </a:solidFill>
                          <a:latin typeface="Segoe UI"/>
                        </a:rPr>
                        <a:t>Method</a:t>
                      </a:r>
                    </a:p>
                  </a:txBody>
                  <a:tcPr marL="128016" marR="128016" marT="45720" marB="45720" anchor="ctr">
                    <a:solidFill>
                      <a:srgbClr val="141C1E"/>
                    </a:solidFill>
                  </a:tcPr>
                </a:tc>
                <a:tc>
                  <a:txBody>
                    <a:bodyPr wrap="square"/>
                    <a:lstStyle/>
                    <a:p>
                      <a:pPr algn="l"/>
                      <a:r>
                        <a:rPr sz="1500" b="1">
                          <a:solidFill>
                            <a:srgbClr val="FFFFFF"/>
                          </a:solidFill>
                          <a:latin typeface="Segoe UI"/>
                        </a:rPr>
                        <a:t>AUROC</a:t>
                      </a:r>
                    </a:p>
                  </a:txBody>
                  <a:tcPr marL="128016" marR="128016" marT="45720" marB="45720" anchor="ctr">
                    <a:solidFill>
                      <a:srgbClr val="141C1E"/>
                    </a:solidFill>
                  </a:tcPr>
                </a:tc>
                <a:tc>
                  <a:txBody>
                    <a:bodyPr wrap="square"/>
                    <a:lstStyle/>
                    <a:p>
                      <a:pPr algn="l"/>
                      <a:r>
                        <a:rPr sz="1500" b="1">
                          <a:solidFill>
                            <a:srgbClr val="FFFFFF"/>
                          </a:solidFill>
                          <a:latin typeface="Segoe UI"/>
                        </a:rPr>
                        <a:t>Cost per frame</a:t>
                      </a:r>
                    </a:p>
                  </a:txBody>
                  <a:tcPr marL="128016" marR="128016" marT="45720" marB="45720" anchor="ctr">
                    <a:solidFill>
                      <a:srgbClr val="141C1E"/>
                    </a:solidFill>
                  </a:tcPr>
                </a:tc>
              </a:tr>
              <a:tr h="512064">
                <a:tc>
                  <a:txBody>
                    <a:bodyPr wrap="square"/>
                    <a:lstStyle/>
                    <a:p>
                      <a:pPr algn="l"/>
                      <a:r>
                        <a:rPr sz="1500" b="0">
                          <a:solidFill>
                            <a:srgbClr val="141C1E"/>
                          </a:solidFill>
                          <a:latin typeface="Segoe UI"/>
                        </a:rPr>
                        <a:t>LAVAD (CVPR 2024), training-free</a:t>
                      </a:r>
                    </a:p>
                  </a:txBody>
                  <a:tcPr marL="128016" marR="128016" marT="45720" marB="45720" anchor="ctr">
                    <a:solidFill>
                      <a:srgbClr val="FFFFFF"/>
                    </a:solidFill>
                  </a:tcPr>
                </a:tc>
                <a:tc>
                  <a:txBody>
                    <a:bodyPr wrap="square"/>
                    <a:lstStyle/>
                    <a:p>
                      <a:pPr algn="l"/>
                      <a:r>
                        <a:rPr sz="1500" b="0">
                          <a:solidFill>
                            <a:srgbClr val="141C1E"/>
                          </a:solidFill>
                          <a:latin typeface="Segoe UI"/>
                        </a:rPr>
                        <a:t>≈ 0.85</a:t>
                      </a:r>
                    </a:p>
                  </a:txBody>
                  <a:tcPr marL="128016" marR="128016" marT="45720" marB="45720" anchor="ctr">
                    <a:solidFill>
                      <a:srgbClr val="FFFFFF"/>
                    </a:solidFill>
                  </a:tcPr>
                </a:tc>
                <a:tc>
                  <a:txBody>
                    <a:bodyPr wrap="square"/>
                    <a:lstStyle/>
                    <a:p>
                      <a:pPr algn="l"/>
                      <a:r>
                        <a:rPr sz="1500" b="0">
                          <a:solidFill>
                            <a:srgbClr val="141C1E"/>
                          </a:solidFill>
                          <a:latin typeface="Segoe UI"/>
                        </a:rPr>
                        <a:t>Captioner + LLM + refiner</a:t>
                      </a:r>
                    </a:p>
                  </a:txBody>
                  <a:tcPr marL="128016" marR="128016" marT="45720" marB="45720" anchor="ctr">
                    <a:solidFill>
                      <a:srgbClr val="FFFFFF"/>
                    </a:solidFill>
                  </a:tcPr>
                </a:tc>
              </a:tr>
              <a:tr h="512064">
                <a:tc>
                  <a:txBody>
                    <a:bodyPr wrap="square"/>
                    <a:lstStyle/>
                    <a:p>
                      <a:pPr algn="l"/>
                      <a:r>
                        <a:rPr sz="1500" b="1">
                          <a:solidFill>
                            <a:srgbClr val="141C1E"/>
                          </a:solidFill>
                          <a:latin typeface="Segoe UI"/>
                        </a:rPr>
                        <a:t>DA-ZVAD (ours), training-free</a:t>
                      </a:r>
                    </a:p>
                  </a:txBody>
                  <a:tcPr marL="128016" marR="128016" marT="45720" marB="45720" anchor="ctr">
                    <a:solidFill>
                      <a:srgbClr val="DDEDEB"/>
                    </a:solidFill>
                  </a:tcPr>
                </a:tc>
                <a:tc>
                  <a:txBody>
                    <a:bodyPr wrap="square"/>
                    <a:lstStyle/>
                    <a:p>
                      <a:pPr algn="l"/>
                      <a:r>
                        <a:rPr sz="1500" b="1">
                          <a:solidFill>
                            <a:srgbClr val="141C1E"/>
                          </a:solidFill>
                          <a:latin typeface="Segoe UI"/>
                        </a:rPr>
                        <a:t>0.706</a:t>
                      </a:r>
                    </a:p>
                  </a:txBody>
                  <a:tcPr marL="128016" marR="128016" marT="45720" marB="45720" anchor="ctr">
                    <a:solidFill>
                      <a:srgbClr val="DDEDEB"/>
                    </a:solidFill>
                  </a:tcPr>
                </a:tc>
                <a:tc>
                  <a:txBody>
                    <a:bodyPr wrap="square"/>
                    <a:lstStyle/>
                    <a:p>
                      <a:pPr algn="l"/>
                      <a:r>
                        <a:rPr sz="1500" b="1">
                          <a:solidFill>
                            <a:srgbClr val="141C1E"/>
                          </a:solidFill>
                          <a:latin typeface="Segoe UI"/>
                        </a:rPr>
                        <a:t>One frozen encoder + a sentence</a:t>
                      </a:r>
                    </a:p>
                  </a:txBody>
                  <a:tcPr marL="128016" marR="128016" marT="45720" marB="45720" anchor="ctr">
                    <a:solidFill>
                      <a:srgbClr val="DDEDEB"/>
                    </a:solidFill>
                  </a:tcPr>
                </a:tc>
              </a:tr>
            </a:tbl>
          </a:graphicData>
        </a:graphic>
      </p:graphicFrame>
      <p:sp>
        <p:nvSpPr>
          <p:cNvPr id="8" name="Rectangle 7"/>
          <p:cNvSpPr/>
          <p:nvPr/>
        </p:nvSpPr>
        <p:spPr>
          <a:xfrm>
            <a:off x="777240" y="34290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3" y="330098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Not a like-for-like comparison.  </a:t>
            </a:r>
            <a:r>
              <a:rPr sz="1600">
                <a:solidFill>
                  <a:srgbClr val="3A4A4C"/>
                </a:solidFill>
                <a:latin typeface="Segoe UI"/>
              </a:rPr>
              <a:t>LAVAD runs three large models on every frame. Ours runs in roughly 7 GB and is not competing on accuracy.</a:t>
            </a:r>
          </a:p>
        </p:txBody>
      </p:sp>
      <p:sp>
        <p:nvSpPr>
          <p:cNvPr id="10" name="Rectangle 9"/>
          <p:cNvSpPr/>
          <p:nvPr/>
        </p:nvSpPr>
        <p:spPr>
          <a:xfrm>
            <a:off x="777240" y="43434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3" y="421538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contribution is not the number.  </a:t>
            </a:r>
            <a:r>
              <a:rPr sz="1600">
                <a:solidFill>
                  <a:srgbClr val="3A4A4C"/>
                </a:solidFill>
                <a:latin typeface="Segoe UI"/>
              </a:rPr>
              <a:t>It is a characterisation of the shift type, a mechanism, and a measurement protocol with a falsifying control.</a:t>
            </a:r>
          </a:p>
        </p:txBody>
      </p:sp>
      <p:sp>
        <p:nvSpPr>
          <p:cNvPr id="12" name="Rectangle 11"/>
          <p:cNvSpPr/>
          <p:nvPr/>
        </p:nvSpPr>
        <p:spPr>
          <a:xfrm>
            <a:off x="777240" y="5120640"/>
            <a:ext cx="10637215" cy="11430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20640"/>
            <a:ext cx="45720" cy="1143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526694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HONEST POSITION</a:t>
            </a:r>
          </a:p>
        </p:txBody>
      </p:sp>
      <p:sp>
        <p:nvSpPr>
          <p:cNvPr id="15" name="TextBox 14"/>
          <p:cNvSpPr txBox="1"/>
          <p:nvPr/>
        </p:nvSpPr>
        <p:spPr>
          <a:xfrm>
            <a:off x="1033271" y="5559552"/>
            <a:ext cx="10134295" cy="5760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We do not expect to exceed trained state-of-the-art detectors on absolute AUROC, and the paper makes no such claim.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Limitations we are stating ourselves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16</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One domain only.  </a:t>
            </a:r>
            <a:r>
              <a:rPr sz="1550">
                <a:solidFill>
                  <a:srgbClr val="3A4A4C"/>
                </a:solidFill>
                <a:latin typeface="Segoe UI"/>
              </a:rPr>
              <a:t>Every measurement comes from ShanghaiTech. The cross-domain transfer claim central to the framework is NOT yet tested.</a:t>
            </a:r>
          </a:p>
        </p:txBody>
      </p:sp>
      <p:sp>
        <p:nvSpPr>
          <p:cNvPr id="9" name="Rectangle 8"/>
          <p:cNvSpPr/>
          <p:nvPr/>
        </p:nvSpPr>
        <p:spPr>
          <a:xfrm>
            <a:off x="777240" y="280720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79191"/>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Resolution ceiling.  </a:t>
            </a:r>
            <a:r>
              <a:rPr sz="1550">
                <a:solidFill>
                  <a:srgbClr val="3A4A4C"/>
                </a:solidFill>
                <a:latin typeface="Segoe UI"/>
              </a:rPr>
              <a:t>Whole-frame embeddings at 224×224 cannot resolve small objects. Quadrant scoring did not close the gap; patch-level scoring is untested.</a:t>
            </a:r>
          </a:p>
        </p:txBody>
      </p:sp>
      <p:sp>
        <p:nvSpPr>
          <p:cNvPr id="11" name="Rectangle 10"/>
          <p:cNvSpPr/>
          <p:nvPr/>
        </p:nvSpPr>
        <p:spPr>
          <a:xfrm>
            <a:off x="777240" y="373989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611879"/>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Motion is a proxy.  </a:t>
            </a:r>
            <a:r>
              <a:rPr sz="1550">
                <a:solidFill>
                  <a:srgbClr val="3A4A4C"/>
                </a:solidFill>
                <a:latin typeface="Segoe UI"/>
              </a:rPr>
              <a:t>Frame-to-frame drift responds to movement, but also to lighting change and compression artefacts. Not yet isolated.</a:t>
            </a:r>
          </a:p>
        </p:txBody>
      </p:sp>
      <p:sp>
        <p:nvSpPr>
          <p:cNvPr id="13" name="Rectangle 12"/>
          <p:cNvSpPr/>
          <p:nvPr/>
        </p:nvSpPr>
        <p:spPr>
          <a:xfrm>
            <a:off x="777240" y="4672583"/>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3" y="454456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Configuration selection.  </a:t>
            </a:r>
            <a:r>
              <a:rPr sz="1550">
                <a:solidFill>
                  <a:srgbClr val="3A4A4C"/>
                </a:solidFill>
                <a:latin typeface="Segoe UI"/>
              </a:rPr>
              <a:t>No validation split exists for this benchmark, so we split clips and report the half never used for selection.</a:t>
            </a:r>
          </a:p>
        </p:txBody>
      </p:sp>
      <p:sp>
        <p:nvSpPr>
          <p:cNvPr id="15" name="Rectangle 14"/>
          <p:cNvSpPr/>
          <p:nvPr/>
        </p:nvSpPr>
        <p:spPr>
          <a:xfrm>
            <a:off x="777240" y="5605271"/>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3" y="5477255"/>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M4 not yet run.  </a:t>
            </a:r>
            <a:r>
              <a:rPr sz="1550">
                <a:solidFill>
                  <a:srgbClr val="3A4A4C"/>
                </a:solidFill>
                <a:latin typeface="Segoe UI"/>
              </a:rPr>
              <a:t>The explanation module has produced no video results.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NEXT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Phase 3 plan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17</a:t>
            </a:r>
          </a:p>
        </p:txBody>
      </p:sp>
      <p:graphicFrame>
        <p:nvGraphicFramePr>
          <p:cNvPr id="7" name="Table 6"/>
          <p:cNvGraphicFramePr>
            <a:graphicFrameLocks noGrp="1"/>
          </p:cNvGraphicFramePr>
          <p:nvPr/>
        </p:nvGraphicFramePr>
        <p:xfrm>
          <a:off x="777240" y="1828800"/>
          <a:ext cx="10634472" cy="2743200"/>
        </p:xfrm>
        <a:graphic>
          <a:graphicData uri="http://schemas.openxmlformats.org/drawingml/2006/table">
            <a:tbl>
              <a:tblPr firstRow="1">
                <a:tableStyleId>{5C22544A-7EE6-4342-B048-85BDC9FD1C3A}</a:tableStyleId>
              </a:tblPr>
              <a:tblGrid>
                <a:gridCol w="1097280"/>
                <a:gridCol w="5029200"/>
                <a:gridCol w="4507992"/>
              </a:tblGrid>
              <a:tr h="548640">
                <a:tc>
                  <a:txBody>
                    <a:bodyPr wrap="square"/>
                    <a:lstStyle/>
                    <a:p>
                      <a:pPr algn="r"/>
                      <a:r>
                        <a:rPr sz="1400" b="1">
                          <a:solidFill>
                            <a:srgbClr val="FFFFFF"/>
                          </a:solidFill>
                          <a:latin typeface="Segoe UI"/>
                        </a:rPr>
                        <a:t>Priority</a:t>
                      </a:r>
                    </a:p>
                  </a:txBody>
                  <a:tcPr marL="128016" marR="128016" marT="45720" marB="45720" anchor="ctr">
                    <a:solidFill>
                      <a:srgbClr val="141C1E"/>
                    </a:solidFill>
                  </a:tcPr>
                </a:tc>
                <a:tc>
                  <a:txBody>
                    <a:bodyPr wrap="square"/>
                    <a:lstStyle/>
                    <a:p>
                      <a:pPr algn="l"/>
                      <a:r>
                        <a:rPr sz="1400" b="1">
                          <a:solidFill>
                            <a:srgbClr val="FFFFFF"/>
                          </a:solidFill>
                          <a:latin typeface="Segoe UI"/>
                        </a:rPr>
                        <a:t>Work</a:t>
                      </a:r>
                    </a:p>
                  </a:txBody>
                  <a:tcPr marL="128016" marR="128016" marT="45720" marB="45720" anchor="ctr">
                    <a:solidFill>
                      <a:srgbClr val="141C1E"/>
                    </a:solidFill>
                  </a:tcPr>
                </a:tc>
                <a:tc>
                  <a:txBody>
                    <a:bodyPr wrap="square"/>
                    <a:lstStyle/>
                    <a:p>
                      <a:pPr algn="l"/>
                      <a:r>
                        <a:rPr sz="1400" b="1">
                          <a:solidFill>
                            <a:srgbClr val="FFFFFF"/>
                          </a:solidFill>
                          <a:latin typeface="Segoe UI"/>
                        </a:rPr>
                        <a:t>Why it matters</a:t>
                      </a:r>
                    </a:p>
                  </a:txBody>
                  <a:tcPr marL="128016" marR="128016" marT="45720" marB="45720" anchor="ctr">
                    <a:solidFill>
                      <a:srgbClr val="141C1E"/>
                    </a:solidFill>
                  </a:tcPr>
                </a:tc>
              </a:tr>
              <a:tr h="548640">
                <a:tc>
                  <a:txBody>
                    <a:bodyPr wrap="square"/>
                    <a:lstStyle/>
                    <a:p>
                      <a:pPr algn="r"/>
                      <a:r>
                        <a:rPr sz="1400" b="0">
                          <a:solidFill>
                            <a:srgbClr val="141C1E"/>
                          </a:solidFill>
                          <a:latin typeface="Consolas"/>
                        </a:rPr>
                        <a:t>1</a:t>
                      </a:r>
                    </a:p>
                  </a:txBody>
                  <a:tcPr marL="128016" marR="128016" marT="45720" marB="45720" anchor="ctr">
                    <a:solidFill>
                      <a:srgbClr val="FFFFFF"/>
                    </a:solidFill>
                  </a:tcPr>
                </a:tc>
                <a:tc>
                  <a:txBody>
                    <a:bodyPr wrap="square"/>
                    <a:lstStyle/>
                    <a:p>
                      <a:pPr algn="l"/>
                      <a:r>
                        <a:rPr sz="1400" b="0">
                          <a:solidFill>
                            <a:srgbClr val="141C1E"/>
                          </a:solidFill>
                          <a:latin typeface="Segoe UI"/>
                        </a:rPr>
                        <a:t>Second dataset — CUHK Avenue</a:t>
                      </a:r>
                    </a:p>
                  </a:txBody>
                  <a:tcPr marL="128016" marR="128016" marT="45720" marB="45720" anchor="ctr">
                    <a:solidFill>
                      <a:srgbClr val="FFFFFF"/>
                    </a:solidFill>
                  </a:tcPr>
                </a:tc>
                <a:tc>
                  <a:txBody>
                    <a:bodyPr wrap="square"/>
                    <a:lstStyle/>
                    <a:p>
                      <a:pPr algn="l"/>
                      <a:r>
                        <a:rPr sz="1400" b="0">
                          <a:solidFill>
                            <a:srgbClr val="141C1E"/>
                          </a:solidFill>
                          <a:latin typeface="Segoe UI"/>
                        </a:rPr>
                        <a:t>Tests the transfer claim directly. Currently untested.</a:t>
                      </a:r>
                    </a:p>
                  </a:txBody>
                  <a:tcPr marL="128016" marR="128016" marT="45720" marB="45720" anchor="ctr">
                    <a:solidFill>
                      <a:srgbClr val="FFFFFF"/>
                    </a:solidFill>
                  </a:tcPr>
                </a:tc>
              </a:tr>
              <a:tr h="548640">
                <a:tc>
                  <a:txBody>
                    <a:bodyPr wrap="square"/>
                    <a:lstStyle/>
                    <a:p>
                      <a:pPr algn="r"/>
                      <a:r>
                        <a:rPr sz="1400" b="0">
                          <a:solidFill>
                            <a:srgbClr val="141C1E"/>
                          </a:solidFill>
                          <a:latin typeface="Consolas"/>
                        </a:rPr>
                        <a:t>2</a:t>
                      </a:r>
                    </a:p>
                  </a:txBody>
                  <a:tcPr marL="128016" marR="128016" marT="45720" marB="45720" anchor="ctr">
                    <a:solidFill>
                      <a:srgbClr val="F5F7F7"/>
                    </a:solidFill>
                  </a:tcPr>
                </a:tc>
                <a:tc>
                  <a:txBody>
                    <a:bodyPr wrap="square"/>
                    <a:lstStyle/>
                    <a:p>
                      <a:pPr algn="l"/>
                      <a:r>
                        <a:rPr sz="1400" b="0">
                          <a:solidFill>
                            <a:srgbClr val="141C1E"/>
                          </a:solidFill>
                          <a:latin typeface="Segoe UI"/>
                        </a:rPr>
                        <a:t>Patch-level scoring against spatial tokens</a:t>
                      </a:r>
                    </a:p>
                  </a:txBody>
                  <a:tcPr marL="128016" marR="128016" marT="45720" marB="45720" anchor="ctr">
                    <a:solidFill>
                      <a:srgbClr val="F5F7F7"/>
                    </a:solidFill>
                  </a:tcPr>
                </a:tc>
                <a:tc>
                  <a:txBody>
                    <a:bodyPr wrap="square"/>
                    <a:lstStyle/>
                    <a:p>
                      <a:pPr algn="l"/>
                      <a:r>
                        <a:rPr sz="1400" b="0">
                          <a:solidFill>
                            <a:srgbClr val="141C1E"/>
                          </a:solidFill>
                          <a:latin typeface="Segoe UI"/>
                        </a:rPr>
                        <a:t>Most likely route to a materially higher figure.</a:t>
                      </a:r>
                    </a:p>
                  </a:txBody>
                  <a:tcPr marL="128016" marR="128016" marT="45720" marB="45720" anchor="ctr">
                    <a:solidFill>
                      <a:srgbClr val="F5F7F7"/>
                    </a:solidFill>
                  </a:tcPr>
                </a:tc>
              </a:tr>
              <a:tr h="548640">
                <a:tc>
                  <a:txBody>
                    <a:bodyPr wrap="square"/>
                    <a:lstStyle/>
                    <a:p>
                      <a:pPr algn="r"/>
                      <a:r>
                        <a:rPr sz="1400" b="0">
                          <a:solidFill>
                            <a:srgbClr val="141C1E"/>
                          </a:solidFill>
                          <a:latin typeface="Consolas"/>
                        </a:rPr>
                        <a:t>3</a:t>
                      </a:r>
                    </a:p>
                  </a:txBody>
                  <a:tcPr marL="128016" marR="128016" marT="45720" marB="45720" anchor="ctr">
                    <a:solidFill>
                      <a:srgbClr val="FFFFFF"/>
                    </a:solidFill>
                  </a:tcPr>
                </a:tc>
                <a:tc>
                  <a:txBody>
                    <a:bodyPr wrap="square"/>
                    <a:lstStyle/>
                    <a:p>
                      <a:pPr algn="l"/>
                      <a:r>
                        <a:rPr sz="1400" b="0">
                          <a:solidFill>
                            <a:srgbClr val="141C1E"/>
                          </a:solidFill>
                          <a:latin typeface="Segoe UI"/>
                        </a:rPr>
                        <a:t>Run M4 — explanation under matched vs mismatched context</a:t>
                      </a:r>
                    </a:p>
                  </a:txBody>
                  <a:tcPr marL="128016" marR="128016" marT="45720" marB="45720" anchor="ctr">
                    <a:solidFill>
                      <a:srgbClr val="FFFFFF"/>
                    </a:solidFill>
                  </a:tcPr>
                </a:tc>
                <a:tc>
                  <a:txBody>
                    <a:bodyPr wrap="square"/>
                    <a:lstStyle/>
                    <a:p>
                      <a:pPr algn="l"/>
                      <a:r>
                        <a:rPr sz="1400" b="0">
                          <a:solidFill>
                            <a:srgbClr val="141C1E"/>
                          </a:solidFill>
                          <a:latin typeface="Segoe UI"/>
                        </a:rPr>
                        <a:t>Completes the framework; supplies the qualitative result.</a:t>
                      </a:r>
                    </a:p>
                  </a:txBody>
                  <a:tcPr marL="128016" marR="128016" marT="45720" marB="45720" anchor="ctr">
                    <a:solidFill>
                      <a:srgbClr val="FFFFFF"/>
                    </a:solidFill>
                  </a:tcPr>
                </a:tc>
              </a:tr>
              <a:tr h="548640">
                <a:tc>
                  <a:txBody>
                    <a:bodyPr wrap="square"/>
                    <a:lstStyle/>
                    <a:p>
                      <a:pPr algn="r"/>
                      <a:r>
                        <a:rPr sz="1400" b="0">
                          <a:solidFill>
                            <a:srgbClr val="141C1E"/>
                          </a:solidFill>
                          <a:latin typeface="Consolas"/>
                        </a:rPr>
                        <a:t>4</a:t>
                      </a:r>
                    </a:p>
                  </a:txBody>
                  <a:tcPr marL="128016" marR="128016" marT="45720" marB="45720" anchor="ctr">
                    <a:solidFill>
                      <a:srgbClr val="F5F7F7"/>
                    </a:solidFill>
                  </a:tcPr>
                </a:tc>
                <a:tc>
                  <a:txBody>
                    <a:bodyPr wrap="square"/>
                    <a:lstStyle/>
                    <a:p>
                      <a:pPr algn="l"/>
                      <a:r>
                        <a:rPr sz="1400" b="0">
                          <a:solidFill>
                            <a:srgbClr val="141C1E"/>
                          </a:solidFill>
                          <a:latin typeface="Segoe UI"/>
                        </a:rPr>
                        <a:t>Sharper motion signal</a:t>
                      </a:r>
                    </a:p>
                  </a:txBody>
                  <a:tcPr marL="128016" marR="128016" marT="45720" marB="45720" anchor="ctr">
                    <a:solidFill>
                      <a:srgbClr val="F5F7F7"/>
                    </a:solidFill>
                  </a:tcPr>
                </a:tc>
                <a:tc>
                  <a:txBody>
                    <a:bodyPr wrap="square"/>
                    <a:lstStyle/>
                    <a:p>
                      <a:pPr algn="l"/>
                      <a:r>
                        <a:rPr sz="1400" b="0">
                          <a:solidFill>
                            <a:srgbClr val="141C1E"/>
                          </a:solidFill>
                          <a:latin typeface="Segoe UI"/>
                        </a:rPr>
                        <a:t>Isolate movement from lighting and compression effects.</a:t>
                      </a:r>
                    </a:p>
                  </a:txBody>
                  <a:tcPr marL="128016" marR="128016" marT="45720" marB="45720" anchor="ctr">
                    <a:solidFill>
                      <a:srgbClr val="F5F7F7"/>
                    </a:solidFill>
                  </a:tcPr>
                </a:tc>
              </a:tr>
            </a:tbl>
          </a:graphicData>
        </a:graphic>
      </p:graphicFrame>
      <p:sp>
        <p:nvSpPr>
          <p:cNvPr id="8" name="Rectangle 7"/>
          <p:cNvSpPr/>
          <p:nvPr/>
        </p:nvSpPr>
        <p:spPr>
          <a:xfrm>
            <a:off x="777240" y="461772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61772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7640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INFRASTRUCTURE IS NOW BUILT</a:t>
            </a:r>
          </a:p>
        </p:txBody>
      </p:sp>
      <p:sp>
        <p:nvSpPr>
          <p:cNvPr id="11" name="TextBox 10"/>
          <p:cNvSpPr txBox="1"/>
          <p:nvPr/>
        </p:nvSpPr>
        <p:spPr>
          <a:xfrm>
            <a:off x="1033271" y="5056631"/>
            <a:ext cx="10134295" cy="80467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Server, dataset, driver and caching are in place. Encoding the benchmark once takes 21 minutes, after which a new scoring hypothesis is evaluated in seconds rather than 50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Summary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18</a:t>
            </a:r>
          </a:p>
        </p:txBody>
      </p:sp>
      <p:sp>
        <p:nvSpPr>
          <p:cNvPr id="7" name="Rectangle 6"/>
          <p:cNvSpPr/>
          <p:nvPr/>
        </p:nvSpPr>
        <p:spPr>
          <a:xfrm>
            <a:off x="777240" y="178308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0253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1</a:t>
            </a:r>
          </a:p>
        </p:txBody>
      </p:sp>
      <p:sp>
        <p:nvSpPr>
          <p:cNvPr id="9" name="TextBox 8"/>
          <p:cNvSpPr txBox="1"/>
          <p:nvPr/>
        </p:nvSpPr>
        <p:spPr>
          <a:xfrm>
            <a:off x="1645919" y="1892807"/>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gap</a:t>
            </a:r>
          </a:p>
        </p:txBody>
      </p:sp>
      <p:sp>
        <p:nvSpPr>
          <p:cNvPr id="10" name="TextBox 9"/>
          <p:cNvSpPr txBox="1"/>
          <p:nvPr/>
        </p:nvSpPr>
        <p:spPr>
          <a:xfrm>
            <a:off x="1645919" y="216712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Domain adaptation research targets covariate shift by explicit scoping. Anomaly detection is dominated by concept shift.</a:t>
            </a:r>
          </a:p>
        </p:txBody>
      </p:sp>
      <p:sp>
        <p:nvSpPr>
          <p:cNvPr id="11" name="Rectangle 10"/>
          <p:cNvSpPr/>
          <p:nvPr/>
        </p:nvSpPr>
        <p:spPr>
          <a:xfrm>
            <a:off x="777240" y="260604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2549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2</a:t>
            </a:r>
          </a:p>
        </p:txBody>
      </p:sp>
      <p:sp>
        <p:nvSpPr>
          <p:cNvPr id="13" name="TextBox 12"/>
          <p:cNvSpPr txBox="1"/>
          <p:nvPr/>
        </p:nvSpPr>
        <p:spPr>
          <a:xfrm>
            <a:off x="1645919" y="271576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method</a:t>
            </a:r>
          </a:p>
        </p:txBody>
      </p:sp>
      <p:sp>
        <p:nvSpPr>
          <p:cNvPr id="14" name="TextBox 13"/>
          <p:cNvSpPr txBox="1"/>
          <p:nvPr/>
        </p:nvSpPr>
        <p:spPr>
          <a:xfrm>
            <a:off x="1645919" y="299008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Every model frozen; adaptation carried entirely by a sentence — which makes the claim identifiable.</a:t>
            </a:r>
          </a:p>
        </p:txBody>
      </p:sp>
      <p:sp>
        <p:nvSpPr>
          <p:cNvPr id="15" name="Rectangle 14"/>
          <p:cNvSpPr/>
          <p:nvPr/>
        </p:nvSpPr>
        <p:spPr>
          <a:xfrm>
            <a:off x="777240" y="342900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64845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3</a:t>
            </a:r>
          </a:p>
        </p:txBody>
      </p:sp>
      <p:sp>
        <p:nvSpPr>
          <p:cNvPr id="17" name="TextBox 16"/>
          <p:cNvSpPr txBox="1"/>
          <p:nvPr/>
        </p:nvSpPr>
        <p:spPr>
          <a:xfrm>
            <a:off x="1645919" y="353872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result</a:t>
            </a:r>
          </a:p>
        </p:txBody>
      </p:sp>
      <p:sp>
        <p:nvSpPr>
          <p:cNvPr id="18" name="TextBox 17"/>
          <p:cNvSpPr txBox="1"/>
          <p:nvPr/>
        </p:nvSpPr>
        <p:spPr>
          <a:xfrm>
            <a:off x="1645919" y="381304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0.706 AUROC on ShanghaiTech with no training, and a wrong description costs 0.100 — evidence the text is load-bearing.</a:t>
            </a:r>
          </a:p>
        </p:txBody>
      </p:sp>
      <p:sp>
        <p:nvSpPr>
          <p:cNvPr id="19" name="Rectangle 18"/>
          <p:cNvSpPr/>
          <p:nvPr/>
        </p:nvSpPr>
        <p:spPr>
          <a:xfrm>
            <a:off x="777240" y="425196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7141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4</a:t>
            </a:r>
          </a:p>
        </p:txBody>
      </p:sp>
      <p:sp>
        <p:nvSpPr>
          <p:cNvPr id="21" name="TextBox 20"/>
          <p:cNvSpPr txBox="1"/>
          <p:nvPr/>
        </p:nvSpPr>
        <p:spPr>
          <a:xfrm>
            <a:off x="1645919" y="436168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finding</a:t>
            </a:r>
          </a:p>
        </p:txBody>
      </p:sp>
      <p:sp>
        <p:nvSpPr>
          <p:cNvPr id="22" name="TextBox 21"/>
          <p:cNvSpPr txBox="1"/>
          <p:nvPr/>
        </p:nvSpPr>
        <p:spPr>
          <a:xfrm>
            <a:off x="1645919" y="463600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Where the description is injected dominates what it says, to the point of reversing the effect. Not reported in the literature.</a:t>
            </a:r>
          </a:p>
        </p:txBody>
      </p:sp>
      <p:sp>
        <p:nvSpPr>
          <p:cNvPr id="23" name="Rectangle 22"/>
          <p:cNvSpPr/>
          <p:nvPr/>
        </p:nvSpPr>
        <p:spPr>
          <a:xfrm>
            <a:off x="777240" y="507492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29437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5</a:t>
            </a:r>
          </a:p>
        </p:txBody>
      </p:sp>
      <p:sp>
        <p:nvSpPr>
          <p:cNvPr id="25" name="TextBox 24"/>
          <p:cNvSpPr txBox="1"/>
          <p:nvPr/>
        </p:nvSpPr>
        <p:spPr>
          <a:xfrm>
            <a:off x="1645919" y="518464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What is missing</a:t>
            </a:r>
          </a:p>
        </p:txBody>
      </p:sp>
      <p:sp>
        <p:nvSpPr>
          <p:cNvPr id="26" name="TextBox 25"/>
          <p:cNvSpPr txBox="1"/>
          <p:nvPr/>
        </p:nvSpPr>
        <p:spPr>
          <a:xfrm>
            <a:off x="1645919" y="545896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Cross-domain transfer, on a second dataset. This is Phase 3's first task.</a:t>
            </a:r>
          </a:p>
        </p:txBody>
      </p:sp>
      <p:sp>
        <p:nvSpPr>
          <p:cNvPr id="27" name="TextBox 26"/>
          <p:cNvSpPr txBox="1"/>
          <p:nvPr/>
        </p:nvSpPr>
        <p:spPr>
          <a:xfrm>
            <a:off x="777240" y="6172200"/>
            <a:ext cx="10637215" cy="320040"/>
          </a:xfrm>
          <a:prstGeom prst="rect">
            <a:avLst/>
          </a:prstGeom>
          <a:noFill/>
        </p:spPr>
        <p:txBody>
          <a:bodyPr wrap="square" lIns="0" rIns="0" tIns="0" bIns="0">
            <a:spAutoFit/>
          </a:bodyPr>
          <a:lstStyle/>
          <a:p>
            <a:pPr algn="ctr">
              <a:lnSpc>
                <a:spcPct val="100000"/>
              </a:lnSpc>
            </a:pPr>
            <a:r>
              <a:rPr sz="1300" b="0" i="1">
                <a:solidFill>
                  <a:srgbClr val="617274"/>
                </a:solidFill>
                <a:latin typeface="Segoe UI"/>
              </a:rPr>
              <a:t>All results reproducible from committed code and run manifests.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